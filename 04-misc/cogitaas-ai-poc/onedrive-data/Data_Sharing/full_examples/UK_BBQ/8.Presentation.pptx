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8.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ags/tag16.xml" ContentType="application/vnd.openxmlformats-officedocument.presentationml.tags+xml"/>
  <Override PartName="/ppt/notesSlides/notesSlide9.xml" ContentType="application/vnd.openxmlformats-officedocument.presentationml.notesSlide+xml"/>
  <Override PartName="/ppt/tags/tag17.xml" ContentType="application/vnd.openxmlformats-officedocument.presentationml.tags+xml"/>
  <Override PartName="/ppt/notesSlides/notesSlide10.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7" r:id="rId2"/>
    <p:sldId id="2147473736" r:id="rId3"/>
    <p:sldId id="2147473830" r:id="rId4"/>
    <p:sldId id="305" r:id="rId5"/>
    <p:sldId id="2147473474" r:id="rId6"/>
    <p:sldId id="2147473520" r:id="rId7"/>
    <p:sldId id="2147473533" r:id="rId8"/>
    <p:sldId id="2147473826" r:id="rId9"/>
    <p:sldId id="2147473726" r:id="rId10"/>
    <p:sldId id="2147473698" r:id="rId11"/>
    <p:sldId id="2147473833" r:id="rId12"/>
    <p:sldId id="2147473835" r:id="rId13"/>
    <p:sldId id="2147473836" r:id="rId14"/>
    <p:sldId id="2147473834" r:id="rId15"/>
    <p:sldId id="2147473831" r:id="rId16"/>
    <p:sldId id="2147473832" r:id="rId17"/>
    <p:sldId id="2147473774" r:id="rId18"/>
    <p:sldId id="2147473784" r:id="rId19"/>
    <p:sldId id="2147473723" r:id="rId20"/>
    <p:sldId id="214747383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F2D0"/>
    <a:srgbClr val="FFCDCD"/>
    <a:srgbClr val="156082"/>
    <a:srgbClr val="E3F6F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A7383C-D783-47FE-8C0D-1BB445861E0E}" v="241" dt="2025-06-23T08:04:37.510"/>
    <p1510:client id="{F627D950-2E3E-4645-8E2A-B38A9726DE73}" v="6" dt="2025-06-24T13:03:32.7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 Id="rId30"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_7FFFD9A9_96CF6E62.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_7FFFD9AA_2685143.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_7FFFD9AA_26851431.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_7FFFD96E_6B01230C.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_7FFFD93B_D31FA01C.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_7FFFD93B_D31FA01C2.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19198378524092E-3"/>
          <c:y val="0.19430340371996183"/>
          <c:w val="0.98761866633523798"/>
          <c:h val="0.5346790394627231"/>
        </c:manualLayout>
      </c:layout>
      <c:barChart>
        <c:barDir val="col"/>
        <c:grouping val="stacked"/>
        <c:varyColors val="0"/>
        <c:ser>
          <c:idx val="0"/>
          <c:order val="0"/>
          <c:tx>
            <c:strRef>
              <c:f>Sheet1!$B$1</c:f>
              <c:strCache>
                <c:ptCount val="1"/>
                <c:pt idx="0">
                  <c:v>Price</c:v>
                </c:pt>
              </c:strCache>
            </c:strRef>
          </c:tx>
          <c:spPr>
            <a:solidFill>
              <a:schemeClr val="accent1"/>
            </a:solidFill>
            <a:ln>
              <a:noFill/>
            </a:ln>
            <a:effectLst/>
          </c:spPr>
          <c:invertIfNegative val="0"/>
          <c:dPt>
            <c:idx val="0"/>
            <c:invertIfNegative val="0"/>
            <c:bubble3D val="0"/>
            <c:spPr>
              <a:solidFill>
                <a:srgbClr val="FFC000"/>
              </a:solidFill>
              <a:ln>
                <a:noFill/>
              </a:ln>
              <a:effectLst/>
            </c:spPr>
            <c:extLst>
              <c:ext xmlns:c16="http://schemas.microsoft.com/office/drawing/2014/chart" uri="{C3380CC4-5D6E-409C-BE32-E72D297353CC}">
                <c16:uniqueId val="{00000001-3A6E-4D0E-B2FF-684C85E66241}"/>
              </c:ext>
            </c:extLst>
          </c:dPt>
          <c:dPt>
            <c:idx val="1"/>
            <c:invertIfNegative val="0"/>
            <c:bubble3D val="0"/>
            <c:spPr>
              <a:solidFill>
                <a:srgbClr val="FFC000"/>
              </a:solidFill>
              <a:ln>
                <a:noFill/>
              </a:ln>
              <a:effectLst/>
            </c:spPr>
            <c:extLst>
              <c:ext xmlns:c16="http://schemas.microsoft.com/office/drawing/2014/chart" uri="{C3380CC4-5D6E-409C-BE32-E72D297353CC}">
                <c16:uniqueId val="{00000003-3A6E-4D0E-B2FF-684C85E66241}"/>
              </c:ext>
            </c:extLst>
          </c:dPt>
          <c:dPt>
            <c:idx val="2"/>
            <c:invertIfNegative val="0"/>
            <c:bubble3D val="0"/>
            <c:spPr>
              <a:solidFill>
                <a:srgbClr val="FFC000"/>
              </a:solidFill>
              <a:ln>
                <a:noFill/>
              </a:ln>
              <a:effectLst/>
            </c:spPr>
            <c:extLst>
              <c:ext xmlns:c16="http://schemas.microsoft.com/office/drawing/2014/chart" uri="{C3380CC4-5D6E-409C-BE32-E72D297353CC}">
                <c16:uniqueId val="{00000005-3A6E-4D0E-B2FF-684C85E66241}"/>
              </c:ext>
            </c:extLst>
          </c:dPt>
          <c:dPt>
            <c:idx val="4"/>
            <c:invertIfNegative val="0"/>
            <c:bubble3D val="0"/>
            <c:spPr>
              <a:solidFill>
                <a:schemeClr val="accent1"/>
              </a:solidFill>
              <a:ln>
                <a:noFill/>
              </a:ln>
              <a:effectLst/>
            </c:spPr>
            <c:extLst>
              <c:ext xmlns:c16="http://schemas.microsoft.com/office/drawing/2014/chart" uri="{C3380CC4-5D6E-409C-BE32-E72D297353CC}">
                <c16:uniqueId val="{00000009-3A6E-4D0E-B2FF-684C85E66241}"/>
              </c:ext>
            </c:extLst>
          </c:dPt>
          <c:dPt>
            <c:idx val="5"/>
            <c:invertIfNegative val="0"/>
            <c:bubble3D val="0"/>
            <c:spPr>
              <a:solidFill>
                <a:srgbClr val="156082"/>
              </a:solidFill>
              <a:ln>
                <a:noFill/>
              </a:ln>
              <a:effectLst/>
            </c:spPr>
            <c:extLst>
              <c:ext xmlns:c16="http://schemas.microsoft.com/office/drawing/2014/chart" uri="{C3380CC4-5D6E-409C-BE32-E72D297353CC}">
                <c16:uniqueId val="{0000000B-3A6E-4D0E-B2FF-684C85E66241}"/>
              </c:ext>
            </c:extLst>
          </c:dPt>
          <c:dPt>
            <c:idx val="6"/>
            <c:invertIfNegative val="0"/>
            <c:bubble3D val="0"/>
            <c:spPr>
              <a:solidFill>
                <a:schemeClr val="accent1"/>
              </a:solidFill>
              <a:ln>
                <a:noFill/>
              </a:ln>
              <a:effectLst/>
            </c:spPr>
            <c:extLst>
              <c:ext xmlns:c16="http://schemas.microsoft.com/office/drawing/2014/chart" uri="{C3380CC4-5D6E-409C-BE32-E72D297353CC}">
                <c16:uniqueId val="{00000044-0440-4D55-A3D4-9E7B1AC4A6D2}"/>
              </c:ext>
            </c:extLst>
          </c:dPt>
          <c:dPt>
            <c:idx val="9"/>
            <c:invertIfNegative val="0"/>
            <c:bubble3D val="0"/>
            <c:spPr>
              <a:solidFill>
                <a:srgbClr val="FFC000"/>
              </a:solidFill>
              <a:ln>
                <a:noFill/>
              </a:ln>
              <a:effectLst/>
            </c:spPr>
            <c:extLst>
              <c:ext xmlns:c16="http://schemas.microsoft.com/office/drawing/2014/chart" uri="{C3380CC4-5D6E-409C-BE32-E72D297353CC}">
                <c16:uniqueId val="{0000000D-BE48-4705-BFDD-84F5984BD0C7}"/>
              </c:ext>
            </c:extLst>
          </c:dPt>
          <c:dPt>
            <c:idx val="10"/>
            <c:invertIfNegative val="0"/>
            <c:bubble3D val="0"/>
            <c:spPr>
              <a:solidFill>
                <a:srgbClr val="FFC000"/>
              </a:solidFill>
              <a:ln>
                <a:noFill/>
              </a:ln>
              <a:effectLst/>
            </c:spPr>
            <c:extLst>
              <c:ext xmlns:c16="http://schemas.microsoft.com/office/drawing/2014/chart" uri="{C3380CC4-5D6E-409C-BE32-E72D297353CC}">
                <c16:uniqueId val="{00000040-52CF-401C-9E04-A712F6ACA3AD}"/>
              </c:ext>
            </c:extLst>
          </c:dPt>
          <c:dPt>
            <c:idx val="11"/>
            <c:invertIfNegative val="0"/>
            <c:bubble3D val="0"/>
            <c:spPr>
              <a:solidFill>
                <a:srgbClr val="FFC000"/>
              </a:solidFill>
              <a:ln>
                <a:noFill/>
              </a:ln>
              <a:effectLst/>
            </c:spPr>
            <c:extLst>
              <c:ext xmlns:c16="http://schemas.microsoft.com/office/drawing/2014/chart" uri="{C3380CC4-5D6E-409C-BE32-E72D297353CC}">
                <c16:uniqueId val="{00000015-3A6E-4D0E-B2FF-684C85E66241}"/>
              </c:ext>
            </c:extLst>
          </c:dPt>
          <c:dPt>
            <c:idx val="12"/>
            <c:invertIfNegative val="0"/>
            <c:bubble3D val="0"/>
            <c:spPr>
              <a:solidFill>
                <a:srgbClr val="156082"/>
              </a:solidFill>
              <a:ln>
                <a:noFill/>
              </a:ln>
              <a:effectLst/>
            </c:spPr>
            <c:extLst>
              <c:ext xmlns:c16="http://schemas.microsoft.com/office/drawing/2014/chart" uri="{C3380CC4-5D6E-409C-BE32-E72D297353CC}">
                <c16:uniqueId val="{00000017-3A6E-4D0E-B2FF-684C85E66241}"/>
              </c:ext>
            </c:extLst>
          </c:dPt>
          <c:dPt>
            <c:idx val="13"/>
            <c:invertIfNegative val="0"/>
            <c:bubble3D val="0"/>
            <c:spPr>
              <a:solidFill>
                <a:schemeClr val="accent1"/>
              </a:solidFill>
              <a:ln>
                <a:noFill/>
              </a:ln>
              <a:effectLst/>
            </c:spPr>
            <c:extLst>
              <c:ext xmlns:c16="http://schemas.microsoft.com/office/drawing/2014/chart" uri="{C3380CC4-5D6E-409C-BE32-E72D297353CC}">
                <c16:uniqueId val="{00000041-52CF-401C-9E04-A712F6ACA3AD}"/>
              </c:ext>
            </c:extLst>
          </c:dPt>
          <c:dPt>
            <c:idx val="14"/>
            <c:invertIfNegative val="0"/>
            <c:bubble3D val="0"/>
            <c:spPr>
              <a:solidFill>
                <a:schemeClr val="accent1"/>
              </a:solidFill>
              <a:ln>
                <a:noFill/>
              </a:ln>
              <a:effectLst/>
            </c:spPr>
            <c:extLst>
              <c:ext xmlns:c16="http://schemas.microsoft.com/office/drawing/2014/chart" uri="{C3380CC4-5D6E-409C-BE32-E72D297353CC}">
                <c16:uniqueId val="{0000001B-3A6E-4D0E-B2FF-684C85E66241}"/>
              </c:ext>
            </c:extLst>
          </c:dPt>
          <c:dPt>
            <c:idx val="15"/>
            <c:invertIfNegative val="0"/>
            <c:bubble3D val="0"/>
            <c:spPr>
              <a:solidFill>
                <a:schemeClr val="accent1"/>
              </a:solidFill>
              <a:ln>
                <a:noFill/>
              </a:ln>
              <a:effectLst/>
            </c:spPr>
            <c:extLst>
              <c:ext xmlns:c16="http://schemas.microsoft.com/office/drawing/2014/chart" uri="{C3380CC4-5D6E-409C-BE32-E72D297353CC}">
                <c16:uniqueId val="{0000001D-3A6E-4D0E-B2FF-684C85E66241}"/>
              </c:ext>
            </c:extLst>
          </c:dPt>
          <c:dLbls>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01-3A6E-4D0E-B2FF-684C85E66241}"/>
                </c:ext>
              </c:extLst>
            </c:dLbl>
            <c:dLbl>
              <c:idx val="1"/>
              <c:numFmt formatCode="#,##0.0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03-3A6E-4D0E-B2FF-684C85E66241}"/>
                </c:ext>
              </c:extLst>
            </c:dLbl>
            <c:dLbl>
              <c:idx val="2"/>
              <c:layout>
                <c:manualLayout>
                  <c:x val="0"/>
                  <c:y val="-5.5208701934738964E-3"/>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A6E-4D0E-B2FF-684C85E66241}"/>
                </c:ext>
              </c:extLst>
            </c:dLbl>
            <c:dLbl>
              <c:idx val="9"/>
              <c:numFmt formatCode="#,##0.0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0D-BE48-4705-BFDD-84F5984BD0C7}"/>
                </c:ext>
              </c:extLst>
            </c:dLbl>
            <c:dLbl>
              <c:idx val="10"/>
              <c:numFmt formatCode="#,##0.0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40-52CF-401C-9E04-A712F6ACA3AD}"/>
                </c:ext>
              </c:extLst>
            </c:dLbl>
            <c:dLbl>
              <c:idx val="11"/>
              <c:numFmt formatCode="#,##0.0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15-3A6E-4D0E-B2FF-684C85E66241}"/>
                </c:ext>
              </c:extLst>
            </c:dLbl>
            <c:dLbl>
              <c:idx val="13"/>
              <c:layout>
                <c:manualLayout>
                  <c:x val="-8.660120184411348E-17"/>
                  <c:y val="5.1118848706924571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1-52CF-401C-9E04-A712F6ACA3AD}"/>
                </c:ext>
              </c:extLst>
            </c:dLbl>
            <c:numFmt formatCode="#,##0.0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Sheet1!$A$2:$A$17</c:f>
              <c:strCache>
                <c:ptCount val="16"/>
                <c:pt idx="0">
                  <c:v>HEINZ</c:v>
                </c:pt>
                <c:pt idx="1">
                  <c:v>HP</c:v>
                </c:pt>
                <c:pt idx="2">
                  <c:v>BULLS EYE</c:v>
                </c:pt>
                <c:pt idx="3">
                  <c:v>PRIVATE LABEL</c:v>
                </c:pt>
                <c:pt idx="4">
                  <c:v>LEVI ROOTS</c:v>
                </c:pt>
                <c:pt idx="5">
                  <c:v>SWEET BABY RAYS</c:v>
                </c:pt>
                <c:pt idx="6">
                  <c:v>Restofcategory</c:v>
                </c:pt>
                <c:pt idx="9">
                  <c:v>HEINZ</c:v>
                </c:pt>
                <c:pt idx="10">
                  <c:v>HP</c:v>
                </c:pt>
                <c:pt idx="11">
                  <c:v>BULLS EYE</c:v>
                </c:pt>
                <c:pt idx="12">
                  <c:v>PRIVATE LABEL</c:v>
                </c:pt>
                <c:pt idx="13">
                  <c:v>LEVI ROOTS</c:v>
                </c:pt>
                <c:pt idx="14">
                  <c:v>SWEET BABY RAYS</c:v>
                </c:pt>
                <c:pt idx="15">
                  <c:v>Restofcategory</c:v>
                </c:pt>
              </c:strCache>
            </c:strRef>
          </c:cat>
          <c:val>
            <c:numRef>
              <c:f>Sheet1!$B$2:$B$17</c:f>
              <c:numCache>
                <c:formatCode>#,##0.0</c:formatCode>
                <c:ptCount val="16"/>
                <c:pt idx="0">
                  <c:v>5.5712442399652389</c:v>
                </c:pt>
                <c:pt idx="1">
                  <c:v>5.6908929777372181</c:v>
                </c:pt>
                <c:pt idx="2">
                  <c:v>6.8698726680000002</c:v>
                </c:pt>
                <c:pt idx="3">
                  <c:v>2.4546645027288547</c:v>
                </c:pt>
                <c:pt idx="4">
                  <c:v>6.5886519000953871</c:v>
                </c:pt>
                <c:pt idx="5">
                  <c:v>6.8826523464672649</c:v>
                </c:pt>
                <c:pt idx="6">
                  <c:v>6.3997289329895306</c:v>
                </c:pt>
                <c:pt idx="9">
                  <c:v>5.7518282474690707</c:v>
                </c:pt>
                <c:pt idx="10">
                  <c:v>5.4680313391788493</c:v>
                </c:pt>
                <c:pt idx="11">
                  <c:v>6.8948714420000003</c:v>
                </c:pt>
                <c:pt idx="12">
                  <c:v>2.0389747874862336</c:v>
                </c:pt>
                <c:pt idx="13">
                  <c:v>6.7091681230223186</c:v>
                </c:pt>
                <c:pt idx="14">
                  <c:v>6.7931250095927149</c:v>
                </c:pt>
                <c:pt idx="15">
                  <c:v>6.3261862220757026</c:v>
                </c:pt>
              </c:numCache>
            </c:numRef>
          </c:val>
          <c:extLst>
            <c:ext xmlns:c16="http://schemas.microsoft.com/office/drawing/2014/chart" uri="{C3380CC4-5D6E-409C-BE32-E72D297353CC}">
              <c16:uniqueId val="{0000002A-3A6E-4D0E-B2FF-684C85E66241}"/>
            </c:ext>
          </c:extLst>
        </c:ser>
        <c:ser>
          <c:idx val="1"/>
          <c:order val="1"/>
          <c:tx>
            <c:strRef>
              <c:f>Sheet1!$C$1</c:f>
              <c:strCache>
                <c:ptCount val="1"/>
                <c:pt idx="0">
                  <c:v>CSF</c:v>
                </c:pt>
              </c:strCache>
            </c:strRef>
          </c:tx>
          <c:spPr>
            <a:solidFill>
              <a:schemeClr val="accent2"/>
            </a:solidFill>
            <a:ln>
              <a:noFill/>
            </a:ln>
            <a:effectLst/>
          </c:spPr>
          <c:invertIfNegative val="0"/>
          <c:dLbls>
            <c:dLbl>
              <c:idx val="0"/>
              <c:layout>
                <c:manualLayout>
                  <c:x val="-5.4125751152570925E-18"/>
                  <c:y val="-2.2669910214131516E-2"/>
                </c:manualLayout>
              </c:layout>
              <c:tx>
                <c:rich>
                  <a:bodyPr/>
                  <a:lstStyle/>
                  <a:p>
                    <a:fld id="{8A415B0B-C39D-469E-9677-FEDF9141445B}" type="CELLRANGE">
                      <a:rPr lang="en-US"/>
                      <a:pPr/>
                      <a:t>[CELLRANGE]</a:t>
                    </a:fld>
                    <a:endParaRPr 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2B-3A6E-4D0E-B2FF-684C85E66241}"/>
                </c:ext>
              </c:extLst>
            </c:dLbl>
            <c:dLbl>
              <c:idx val="1"/>
              <c:layout>
                <c:manualLayout>
                  <c:x val="-1.0825150230514185E-17"/>
                  <c:y val="-1.1041740386947793E-2"/>
                </c:manualLayout>
              </c:layout>
              <c:tx>
                <c:rich>
                  <a:bodyPr/>
                  <a:lstStyle/>
                  <a:p>
                    <a:fld id="{32CCA78A-BCAE-4186-9C39-C333333D6F24}" type="CELLRANGE">
                      <a:rPr lang="en-US"/>
                      <a:pPr/>
                      <a:t>[CELLRANGE]</a:t>
                    </a:fld>
                    <a:endParaRPr 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2C-3A6E-4D0E-B2FF-684C85E66241}"/>
                </c:ext>
              </c:extLst>
            </c:dLbl>
            <c:dLbl>
              <c:idx val="2"/>
              <c:layout>
                <c:manualLayout>
                  <c:x val="0"/>
                  <c:y val="-2.7604350967369483E-2"/>
                </c:manualLayout>
              </c:layout>
              <c:tx>
                <c:rich>
                  <a:bodyPr/>
                  <a:lstStyle/>
                  <a:p>
                    <a:fld id="{2042B7A6-0199-4EB0-AB1E-EACFBCDD5967}" type="CELLRANGE">
                      <a:rPr lang="en-US"/>
                      <a:pPr/>
                      <a:t>[CELLRANGE]</a:t>
                    </a:fld>
                    <a:endParaRPr 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2D-3A6E-4D0E-B2FF-684C85E66241}"/>
                </c:ext>
              </c:extLst>
            </c:dLbl>
            <c:dLbl>
              <c:idx val="3"/>
              <c:tx>
                <c:rich>
                  <a:bodyPr/>
                  <a:lstStyle/>
                  <a:p>
                    <a:fld id="{848C7110-ED63-4761-A941-67853AAE617B}" type="CELLRANGE">
                      <a:rPr lang="en-US"/>
                      <a:pPr/>
                      <a:t>[CELLRANGE]</a:t>
                    </a:fld>
                    <a:endParaRPr lang="en-US"/>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2E-3A6E-4D0E-B2FF-684C85E66241}"/>
                </c:ext>
              </c:extLst>
            </c:dLbl>
            <c:dLbl>
              <c:idx val="4"/>
              <c:layout>
                <c:manualLayout>
                  <c:x val="0"/>
                  <c:y val="-3.3125221160843481E-2"/>
                </c:manualLayout>
              </c:layout>
              <c:tx>
                <c:rich>
                  <a:bodyPr/>
                  <a:lstStyle/>
                  <a:p>
                    <a:fld id="{65813955-F1F7-4DAB-968C-847823497D8C}" type="CELLRANGE">
                      <a:rPr lang="en-US"/>
                      <a:pPr/>
                      <a:t>[CELLRANGE]</a:t>
                    </a:fld>
                    <a:endParaRPr 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2F-3A6E-4D0E-B2FF-684C85E66241}"/>
                </c:ext>
              </c:extLst>
            </c:dLbl>
            <c:dLbl>
              <c:idx val="5"/>
              <c:layout>
                <c:manualLayout>
                  <c:x val="1.1809391218443703E-3"/>
                  <c:y val="-2.2083480773895586E-2"/>
                </c:manualLayout>
              </c:layout>
              <c:tx>
                <c:rich>
                  <a:bodyPr/>
                  <a:lstStyle/>
                  <a:p>
                    <a:fld id="{F9B9209B-303E-4993-A729-5A867DCB28AB}" type="CELLRANGE">
                      <a:rPr lang="en-US"/>
                      <a:pPr/>
                      <a:t>[CELLRANGE]</a:t>
                    </a:fld>
                    <a:endParaRPr 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30-3A6E-4D0E-B2FF-684C85E66241}"/>
                </c:ext>
              </c:extLst>
            </c:dLbl>
            <c:dLbl>
              <c:idx val="6"/>
              <c:layout>
                <c:manualLayout>
                  <c:x val="0"/>
                  <c:y val="-1.6562610580421692E-2"/>
                </c:manualLayout>
              </c:layout>
              <c:tx>
                <c:rich>
                  <a:bodyPr/>
                  <a:lstStyle/>
                  <a:p>
                    <a:fld id="{37BBB773-A090-4ED1-A593-489C96016FB9}" type="CELLRANGE">
                      <a:rPr lang="en-US"/>
                      <a:pPr/>
                      <a:t>[CELLRANGE]</a:t>
                    </a:fld>
                    <a:endParaRPr 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31-3A6E-4D0E-B2FF-684C85E66241}"/>
                </c:ext>
              </c:extLst>
            </c:dLbl>
            <c:dLbl>
              <c:idx val="7"/>
              <c:tx>
                <c:rich>
                  <a:bodyPr/>
                  <a:lstStyle/>
                  <a:p>
                    <a:endParaRPr lang="en-US"/>
                  </a:p>
                </c:rich>
              </c:tx>
              <c:showLegendKey val="0"/>
              <c:showVal val="0"/>
              <c:showCatName val="0"/>
              <c:showSerName val="0"/>
              <c:showPercent val="0"/>
              <c:showBubbleSize val="0"/>
              <c:extLst>
                <c:ext xmlns:c15="http://schemas.microsoft.com/office/drawing/2012/chart" uri="{CE6537A1-D6FC-4f65-9D91-7224C49458BB}">
                  <c15:xForSave val="1"/>
                  <c15:showDataLabelsRange val="1"/>
                </c:ext>
                <c:ext xmlns:c16="http://schemas.microsoft.com/office/drawing/2014/chart" uri="{C3380CC4-5D6E-409C-BE32-E72D297353CC}">
                  <c16:uniqueId val="{00000032-3A6E-4D0E-B2FF-684C85E66241}"/>
                </c:ext>
              </c:extLst>
            </c:dLbl>
            <c:dLbl>
              <c:idx val="8"/>
              <c:tx>
                <c:rich>
                  <a:bodyPr/>
                  <a:lstStyle/>
                  <a:p>
                    <a:endParaRPr lang="en-US"/>
                  </a:p>
                </c:rich>
              </c:tx>
              <c:showLegendKey val="0"/>
              <c:showVal val="0"/>
              <c:showCatName val="0"/>
              <c:showSerName val="0"/>
              <c:showPercent val="0"/>
              <c:showBubbleSize val="0"/>
              <c:extLst>
                <c:ext xmlns:c15="http://schemas.microsoft.com/office/drawing/2012/chart" uri="{CE6537A1-D6FC-4f65-9D91-7224C49458BB}">
                  <c15:xForSave val="1"/>
                  <c15:showDataLabelsRange val="1"/>
                </c:ext>
                <c:ext xmlns:c16="http://schemas.microsoft.com/office/drawing/2014/chart" uri="{C3380CC4-5D6E-409C-BE32-E72D297353CC}">
                  <c16:uniqueId val="{00000033-3A6E-4D0E-B2FF-684C85E66241}"/>
                </c:ext>
              </c:extLst>
            </c:dLbl>
            <c:dLbl>
              <c:idx val="9"/>
              <c:tx>
                <c:rich>
                  <a:bodyPr/>
                  <a:lstStyle/>
                  <a:p>
                    <a:fld id="{E683BBD7-7B19-4C68-8329-CDB61EA28AD6}" type="CELLRANGE">
                      <a:rPr lang="en-US"/>
                      <a:pPr/>
                      <a:t>[CELLRANGE]</a:t>
                    </a:fld>
                    <a:endParaRPr lang="en-US"/>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34-3A6E-4D0E-B2FF-684C85E66241}"/>
                </c:ext>
              </c:extLst>
            </c:dLbl>
            <c:dLbl>
              <c:idx val="10"/>
              <c:layout>
                <c:manualLayout>
                  <c:x val="-1.2043672823291059E-3"/>
                  <c:y val="-1.1432658378889552E-2"/>
                </c:manualLayout>
              </c:layout>
              <c:tx>
                <c:rich>
                  <a:bodyPr/>
                  <a:lstStyle/>
                  <a:p>
                    <a:fld id="{174E370A-B2F3-4377-9BB5-D1FD2BD273E4}" type="CELLRANGE">
                      <a:rPr lang="en-US" dirty="0"/>
                      <a:pPr/>
                      <a:t>[CELLRANGE]</a:t>
                    </a:fld>
                    <a:endParaRPr 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35-3A6E-4D0E-B2FF-684C85E66241}"/>
                </c:ext>
              </c:extLst>
            </c:dLbl>
            <c:dLbl>
              <c:idx val="11"/>
              <c:tx>
                <c:rich>
                  <a:bodyPr/>
                  <a:lstStyle/>
                  <a:p>
                    <a:fld id="{72A29AC6-FB92-4BC6-95EA-D4C93E792D38}" type="CELLRANGE">
                      <a:rPr lang="en-US"/>
                      <a:pPr/>
                      <a:t>[CELLRANGE]</a:t>
                    </a:fld>
                    <a:endParaRPr lang="en-US"/>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36-3A6E-4D0E-B2FF-684C85E66241}"/>
                </c:ext>
              </c:extLst>
            </c:dLbl>
            <c:dLbl>
              <c:idx val="12"/>
              <c:layout>
                <c:manualLayout>
                  <c:x val="-8.660120184411348E-17"/>
                  <c:y val="-8.1784763492978689E-3"/>
                </c:manualLayout>
              </c:layout>
              <c:tx>
                <c:rich>
                  <a:bodyPr/>
                  <a:lstStyle/>
                  <a:p>
                    <a:fld id="{C494DAC4-A319-432B-A272-E1C6FB23FC82}" type="CELLRANGE">
                      <a:rPr lang="en-US"/>
                      <a:pPr/>
                      <a:t>[CELLRANGE]</a:t>
                    </a:fld>
                    <a:endParaRPr 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37-3A6E-4D0E-B2FF-684C85E66241}"/>
                </c:ext>
              </c:extLst>
            </c:dLbl>
            <c:dLbl>
              <c:idx val="13"/>
              <c:layout>
                <c:manualLayout>
                  <c:x val="-8.660120184411348E-17"/>
                  <c:y val="-1.3802175483684741E-2"/>
                </c:manualLayout>
              </c:layout>
              <c:tx>
                <c:rich>
                  <a:bodyPr/>
                  <a:lstStyle/>
                  <a:p>
                    <a:fld id="{DF8CA8E3-3450-45AA-8D70-16E2E2BD7A3B}" type="CELLRANGE">
                      <a:rPr lang="en-US"/>
                      <a:pPr/>
                      <a:t>[CELLRANGE]</a:t>
                    </a:fld>
                    <a:endParaRPr 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38-3A6E-4D0E-B2FF-684C85E66241}"/>
                </c:ext>
              </c:extLst>
            </c:dLbl>
            <c:dLbl>
              <c:idx val="14"/>
              <c:tx>
                <c:rich>
                  <a:bodyPr/>
                  <a:lstStyle/>
                  <a:p>
                    <a:fld id="{792576C3-7CC5-4BD0-8C81-354222205B69}" type="CELLRANGE">
                      <a:rPr lang="en-US"/>
                      <a:pPr/>
                      <a:t>[CELLRANGE]</a:t>
                    </a:fld>
                    <a:endParaRPr lang="en-US"/>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39-3A6E-4D0E-B2FF-684C85E66241}"/>
                </c:ext>
              </c:extLst>
            </c:dLbl>
            <c:dLbl>
              <c:idx val="15"/>
              <c:layout>
                <c:manualLayout>
                  <c:x val="0"/>
                  <c:y val="-1.2779712176731142E-2"/>
                </c:manualLayout>
              </c:layout>
              <c:tx>
                <c:rich>
                  <a:bodyPr/>
                  <a:lstStyle/>
                  <a:p>
                    <a:fld id="{995A3D8D-0B06-45B6-B2AD-6A33BA9E2864}" type="CELLRANGE">
                      <a:rPr lang="en-US"/>
                      <a:pPr/>
                      <a:t>[CELLRANGE]</a:t>
                    </a:fld>
                    <a:endParaRPr 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3A-3A6E-4D0E-B2FF-684C85E66241}"/>
                </c:ext>
              </c:extLst>
            </c:dLbl>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cat>
            <c:strRef>
              <c:f>Sheet1!$A$2:$A$17</c:f>
              <c:strCache>
                <c:ptCount val="16"/>
                <c:pt idx="0">
                  <c:v>HEINZ</c:v>
                </c:pt>
                <c:pt idx="1">
                  <c:v>HP</c:v>
                </c:pt>
                <c:pt idx="2">
                  <c:v>BULLS EYE</c:v>
                </c:pt>
                <c:pt idx="3">
                  <c:v>PRIVATE LABEL</c:v>
                </c:pt>
                <c:pt idx="4">
                  <c:v>LEVI ROOTS</c:v>
                </c:pt>
                <c:pt idx="5">
                  <c:v>SWEET BABY RAYS</c:v>
                </c:pt>
                <c:pt idx="6">
                  <c:v>Restofcategory</c:v>
                </c:pt>
                <c:pt idx="9">
                  <c:v>HEINZ</c:v>
                </c:pt>
                <c:pt idx="10">
                  <c:v>HP</c:v>
                </c:pt>
                <c:pt idx="11">
                  <c:v>BULLS EYE</c:v>
                </c:pt>
                <c:pt idx="12">
                  <c:v>PRIVATE LABEL</c:v>
                </c:pt>
                <c:pt idx="13">
                  <c:v>LEVI ROOTS</c:v>
                </c:pt>
                <c:pt idx="14">
                  <c:v>SWEET BABY RAYS</c:v>
                </c:pt>
                <c:pt idx="15">
                  <c:v>Restofcategory</c:v>
                </c:pt>
              </c:strCache>
            </c:strRef>
          </c:cat>
          <c:val>
            <c:numRef>
              <c:f>Sheet1!$C$2:$C$17</c:f>
              <c:numCache>
                <c:formatCode>General</c:formatCode>
                <c:ptCount val="16"/>
                <c:pt idx="0">
                  <c:v>0</c:v>
                </c:pt>
                <c:pt idx="1">
                  <c:v>0</c:v>
                </c:pt>
                <c:pt idx="2">
                  <c:v>0</c:v>
                </c:pt>
                <c:pt idx="3">
                  <c:v>0</c:v>
                </c:pt>
                <c:pt idx="4">
                  <c:v>0</c:v>
                </c:pt>
                <c:pt idx="5">
                  <c:v>0</c:v>
                </c:pt>
                <c:pt idx="6">
                  <c:v>0</c:v>
                </c:pt>
                <c:pt idx="9">
                  <c:v>0</c:v>
                </c:pt>
                <c:pt idx="10">
                  <c:v>0</c:v>
                </c:pt>
                <c:pt idx="11">
                  <c:v>0</c:v>
                </c:pt>
                <c:pt idx="12">
                  <c:v>0</c:v>
                </c:pt>
                <c:pt idx="13">
                  <c:v>0</c:v>
                </c:pt>
                <c:pt idx="14">
                  <c:v>0</c:v>
                </c:pt>
                <c:pt idx="15">
                  <c:v>0</c:v>
                </c:pt>
              </c:numCache>
            </c:numRef>
          </c:val>
          <c:extLst>
            <c:ext xmlns:c15="http://schemas.microsoft.com/office/drawing/2012/chart" uri="{02D57815-91ED-43cb-92C2-25804820EDAC}">
              <c15:datalabelsRange>
                <c15:f>Sheet1!$G$2:$G$17</c15:f>
                <c15:dlblRangeCache>
                  <c:ptCount val="16"/>
                  <c:pt idx="0">
                    <c:v>1.80</c:v>
                  </c:pt>
                  <c:pt idx="1">
                    <c:v>1.72</c:v>
                  </c:pt>
                  <c:pt idx="2">
                    <c:v>1.68</c:v>
                  </c:pt>
                  <c:pt idx="3">
                    <c:v>1.75</c:v>
                  </c:pt>
                  <c:pt idx="4">
                    <c:v>1.72</c:v>
                  </c:pt>
                  <c:pt idx="5">
                    <c:v>1.83</c:v>
                  </c:pt>
                  <c:pt idx="6">
                    <c:v>1.88</c:v>
                  </c:pt>
                  <c:pt idx="9">
                    <c:v>1.86</c:v>
                  </c:pt>
                  <c:pt idx="10">
                    <c:v>2.00</c:v>
                  </c:pt>
                  <c:pt idx="11">
                    <c:v>1.63</c:v>
                  </c:pt>
                  <c:pt idx="12">
                    <c:v>1.85</c:v>
                  </c:pt>
                  <c:pt idx="13">
                    <c:v>1.81</c:v>
                  </c:pt>
                  <c:pt idx="14">
                    <c:v>1.83</c:v>
                  </c:pt>
                  <c:pt idx="15">
                    <c:v>1.90</c:v>
                  </c:pt>
                </c15:dlblRangeCache>
              </c15:datalabelsRange>
            </c:ext>
            <c:ext xmlns:c16="http://schemas.microsoft.com/office/drawing/2014/chart" uri="{C3380CC4-5D6E-409C-BE32-E72D297353CC}">
              <c16:uniqueId val="{00000042-3A6E-4D0E-B2FF-684C85E66241}"/>
            </c:ext>
          </c:extLst>
        </c:ser>
        <c:ser>
          <c:idx val="2"/>
          <c:order val="2"/>
          <c:tx>
            <c:strRef>
              <c:f>Sheet1!$D$1</c:f>
              <c:strCache>
                <c:ptCount val="1"/>
                <c:pt idx="0">
                  <c:v>MCV</c:v>
                </c:pt>
              </c:strCache>
            </c:strRef>
          </c:tx>
          <c:spPr>
            <a:solidFill>
              <a:srgbClr val="DCEAF7"/>
            </a:solidFill>
            <a:ln w="19050">
              <a:solidFill>
                <a:srgbClr val="156082"/>
              </a:solidFill>
            </a:ln>
            <a:effectLst/>
          </c:spPr>
          <c:invertIfNegative val="0"/>
          <c:dPt>
            <c:idx val="0"/>
            <c:invertIfNegative val="0"/>
            <c:bubble3D val="0"/>
            <c:spPr>
              <a:solidFill>
                <a:srgbClr val="DCEAF7"/>
              </a:solidFill>
              <a:ln w="19050">
                <a:solidFill>
                  <a:srgbClr val="156082"/>
                </a:solidFill>
              </a:ln>
              <a:effectLst/>
            </c:spPr>
            <c:extLst>
              <c:ext xmlns:c16="http://schemas.microsoft.com/office/drawing/2014/chart" uri="{C3380CC4-5D6E-409C-BE32-E72D297353CC}">
                <c16:uniqueId val="{00000044-3A6E-4D0E-B2FF-684C85E66241}"/>
              </c:ext>
            </c:extLst>
          </c:dPt>
          <c:dPt>
            <c:idx val="1"/>
            <c:invertIfNegative val="0"/>
            <c:bubble3D val="0"/>
            <c:spPr>
              <a:solidFill>
                <a:srgbClr val="DCEAF7"/>
              </a:solidFill>
              <a:ln w="19050">
                <a:solidFill>
                  <a:srgbClr val="156082"/>
                </a:solidFill>
              </a:ln>
              <a:effectLst/>
            </c:spPr>
            <c:extLst>
              <c:ext xmlns:c16="http://schemas.microsoft.com/office/drawing/2014/chart" uri="{C3380CC4-5D6E-409C-BE32-E72D297353CC}">
                <c16:uniqueId val="{00000046-3A6E-4D0E-B2FF-684C85E66241}"/>
              </c:ext>
            </c:extLst>
          </c:dPt>
          <c:dPt>
            <c:idx val="2"/>
            <c:invertIfNegative val="0"/>
            <c:bubble3D val="0"/>
            <c:spPr>
              <a:solidFill>
                <a:srgbClr val="DCEAF7"/>
              </a:solidFill>
              <a:ln w="19050">
                <a:solidFill>
                  <a:srgbClr val="156082"/>
                </a:solidFill>
              </a:ln>
              <a:effectLst/>
            </c:spPr>
            <c:extLst>
              <c:ext xmlns:c16="http://schemas.microsoft.com/office/drawing/2014/chart" uri="{C3380CC4-5D6E-409C-BE32-E72D297353CC}">
                <c16:uniqueId val="{00000048-3A6E-4D0E-B2FF-684C85E66241}"/>
              </c:ext>
            </c:extLst>
          </c:dPt>
          <c:dPt>
            <c:idx val="4"/>
            <c:invertIfNegative val="0"/>
            <c:bubble3D val="0"/>
            <c:spPr>
              <a:solidFill>
                <a:srgbClr val="DCEAF7"/>
              </a:solidFill>
              <a:ln w="19050">
                <a:solidFill>
                  <a:srgbClr val="156082"/>
                </a:solidFill>
              </a:ln>
              <a:effectLst/>
            </c:spPr>
            <c:extLst>
              <c:ext xmlns:c16="http://schemas.microsoft.com/office/drawing/2014/chart" uri="{C3380CC4-5D6E-409C-BE32-E72D297353CC}">
                <c16:uniqueId val="{0000004C-3A6E-4D0E-B2FF-684C85E66241}"/>
              </c:ext>
            </c:extLst>
          </c:dPt>
          <c:dPt>
            <c:idx val="5"/>
            <c:invertIfNegative val="0"/>
            <c:bubble3D val="0"/>
            <c:spPr>
              <a:solidFill>
                <a:srgbClr val="DCEAF7"/>
              </a:solidFill>
              <a:ln w="19050">
                <a:solidFill>
                  <a:srgbClr val="156082"/>
                </a:solidFill>
              </a:ln>
              <a:effectLst/>
            </c:spPr>
            <c:extLst>
              <c:ext xmlns:c16="http://schemas.microsoft.com/office/drawing/2014/chart" uri="{C3380CC4-5D6E-409C-BE32-E72D297353CC}">
                <c16:uniqueId val="{0000004E-3A6E-4D0E-B2FF-684C85E66241}"/>
              </c:ext>
            </c:extLst>
          </c:dPt>
          <c:dPt>
            <c:idx val="6"/>
            <c:invertIfNegative val="0"/>
            <c:bubble3D val="0"/>
            <c:spPr>
              <a:solidFill>
                <a:srgbClr val="DCEAF7"/>
              </a:solidFill>
              <a:ln w="19050">
                <a:solidFill>
                  <a:srgbClr val="156082"/>
                </a:solidFill>
              </a:ln>
              <a:effectLst/>
            </c:spPr>
            <c:extLst>
              <c:ext xmlns:c16="http://schemas.microsoft.com/office/drawing/2014/chart" uri="{C3380CC4-5D6E-409C-BE32-E72D297353CC}">
                <c16:uniqueId val="{00000050-3A6E-4D0E-B2FF-684C85E66241}"/>
              </c:ext>
            </c:extLst>
          </c:dPt>
          <c:dPt>
            <c:idx val="10"/>
            <c:invertIfNegative val="0"/>
            <c:bubble3D val="0"/>
            <c:spPr>
              <a:solidFill>
                <a:srgbClr val="DCEAF7"/>
              </a:solidFill>
              <a:ln w="19050">
                <a:solidFill>
                  <a:srgbClr val="156082"/>
                </a:solidFill>
              </a:ln>
              <a:effectLst/>
            </c:spPr>
            <c:extLst>
              <c:ext xmlns:c16="http://schemas.microsoft.com/office/drawing/2014/chart" uri="{C3380CC4-5D6E-409C-BE32-E72D297353CC}">
                <c16:uniqueId val="{00000056-3A6E-4D0E-B2FF-684C85E66241}"/>
              </c:ext>
            </c:extLst>
          </c:dPt>
          <c:dPt>
            <c:idx val="11"/>
            <c:invertIfNegative val="0"/>
            <c:bubble3D val="0"/>
            <c:spPr>
              <a:solidFill>
                <a:srgbClr val="DCEAF7"/>
              </a:solidFill>
              <a:ln w="19050">
                <a:solidFill>
                  <a:srgbClr val="156082"/>
                </a:solidFill>
              </a:ln>
              <a:effectLst/>
            </c:spPr>
            <c:extLst>
              <c:ext xmlns:c16="http://schemas.microsoft.com/office/drawing/2014/chart" uri="{C3380CC4-5D6E-409C-BE32-E72D297353CC}">
                <c16:uniqueId val="{00000058-3A6E-4D0E-B2FF-684C85E66241}"/>
              </c:ext>
            </c:extLst>
          </c:dPt>
          <c:dPt>
            <c:idx val="12"/>
            <c:invertIfNegative val="0"/>
            <c:bubble3D val="0"/>
            <c:spPr>
              <a:solidFill>
                <a:srgbClr val="DCEAF7"/>
              </a:solidFill>
              <a:ln w="19050">
                <a:solidFill>
                  <a:srgbClr val="156082"/>
                </a:solidFill>
              </a:ln>
              <a:effectLst/>
            </c:spPr>
            <c:extLst>
              <c:ext xmlns:c16="http://schemas.microsoft.com/office/drawing/2014/chart" uri="{C3380CC4-5D6E-409C-BE32-E72D297353CC}">
                <c16:uniqueId val="{0000005A-3A6E-4D0E-B2FF-684C85E66241}"/>
              </c:ext>
            </c:extLst>
          </c:dPt>
          <c:dPt>
            <c:idx val="13"/>
            <c:invertIfNegative val="0"/>
            <c:bubble3D val="0"/>
            <c:spPr>
              <a:solidFill>
                <a:srgbClr val="DCEAF7"/>
              </a:solidFill>
              <a:ln w="19050">
                <a:solidFill>
                  <a:srgbClr val="156082"/>
                </a:solidFill>
              </a:ln>
              <a:effectLst/>
            </c:spPr>
            <c:extLst>
              <c:ext xmlns:c16="http://schemas.microsoft.com/office/drawing/2014/chart" uri="{C3380CC4-5D6E-409C-BE32-E72D297353CC}">
                <c16:uniqueId val="{0000005C-3A6E-4D0E-B2FF-684C85E66241}"/>
              </c:ext>
            </c:extLst>
          </c:dPt>
          <c:dPt>
            <c:idx val="14"/>
            <c:invertIfNegative val="0"/>
            <c:bubble3D val="0"/>
            <c:spPr>
              <a:solidFill>
                <a:srgbClr val="DCEAF7"/>
              </a:solidFill>
              <a:ln w="19050">
                <a:solidFill>
                  <a:srgbClr val="156082"/>
                </a:solidFill>
              </a:ln>
              <a:effectLst/>
            </c:spPr>
            <c:extLst>
              <c:ext xmlns:c16="http://schemas.microsoft.com/office/drawing/2014/chart" uri="{C3380CC4-5D6E-409C-BE32-E72D297353CC}">
                <c16:uniqueId val="{0000005E-3A6E-4D0E-B2FF-684C85E66241}"/>
              </c:ext>
            </c:extLst>
          </c:dPt>
          <c:dPt>
            <c:idx val="15"/>
            <c:invertIfNegative val="0"/>
            <c:bubble3D val="0"/>
            <c:spPr>
              <a:solidFill>
                <a:srgbClr val="DCEAF7"/>
              </a:solidFill>
              <a:ln w="19050">
                <a:solidFill>
                  <a:srgbClr val="156082"/>
                </a:solidFill>
              </a:ln>
              <a:effectLst/>
            </c:spPr>
            <c:extLst>
              <c:ext xmlns:c16="http://schemas.microsoft.com/office/drawing/2014/chart" uri="{C3380CC4-5D6E-409C-BE32-E72D297353CC}">
                <c16:uniqueId val="{00000060-3A6E-4D0E-B2FF-684C85E66241}"/>
              </c:ext>
            </c:extLst>
          </c:dPt>
          <c:dLbls>
            <c:dLbl>
              <c:idx val="0"/>
              <c:tx>
                <c:rich>
                  <a:bodyPr/>
                  <a:lstStyle/>
                  <a:p>
                    <a:fld id="{3B972247-BCEB-419E-849E-A11097A051C2}" type="CELLRANGE">
                      <a:rPr lang="en-US"/>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44-3A6E-4D0E-B2FF-684C85E66241}"/>
                </c:ext>
              </c:extLst>
            </c:dLbl>
            <c:dLbl>
              <c:idx val="1"/>
              <c:tx>
                <c:rich>
                  <a:bodyPr/>
                  <a:lstStyle/>
                  <a:p>
                    <a:fld id="{4FE1D0FD-A424-4220-A95C-47A0A3E2FE4B}" type="CELLRANGE">
                      <a:rPr lang="en-US"/>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46-3A6E-4D0E-B2FF-684C85E66241}"/>
                </c:ext>
              </c:extLst>
            </c:dLbl>
            <c:dLbl>
              <c:idx val="2"/>
              <c:tx>
                <c:rich>
                  <a:bodyPr/>
                  <a:lstStyle/>
                  <a:p>
                    <a:fld id="{16CD23EF-E1C0-4E19-B96B-DF82E04C5BD3}" type="CELLRANGE">
                      <a:rPr lang="en-US"/>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48-3A6E-4D0E-B2FF-684C85E66241}"/>
                </c:ext>
              </c:extLst>
            </c:dLbl>
            <c:dLbl>
              <c:idx val="3"/>
              <c:tx>
                <c:rich>
                  <a:bodyPr/>
                  <a:lstStyle/>
                  <a:p>
                    <a:fld id="{0524AE15-96AC-4118-9B66-514D0A639491}" type="CELLRANGE">
                      <a:rPr lang="en-US"/>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4A-3A6E-4D0E-B2FF-684C85E66241}"/>
                </c:ext>
              </c:extLst>
            </c:dLbl>
            <c:dLbl>
              <c:idx val="4"/>
              <c:tx>
                <c:rich>
                  <a:bodyPr/>
                  <a:lstStyle/>
                  <a:p>
                    <a:fld id="{A4D436C9-DD2E-4D0B-9C6F-36058252CC30}" type="CELLRANGE">
                      <a:rPr lang="en-US"/>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4C-3A6E-4D0E-B2FF-684C85E66241}"/>
                </c:ext>
              </c:extLst>
            </c:dLbl>
            <c:dLbl>
              <c:idx val="5"/>
              <c:tx>
                <c:rich>
                  <a:bodyPr/>
                  <a:lstStyle/>
                  <a:p>
                    <a:fld id="{BAE68902-A5C8-4819-B12A-1DDF4423C367}" type="CELLRANGE">
                      <a:rPr lang="en-US"/>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4E-3A6E-4D0E-B2FF-684C85E66241}"/>
                </c:ext>
              </c:extLst>
            </c:dLbl>
            <c:dLbl>
              <c:idx val="6"/>
              <c:tx>
                <c:rich>
                  <a:bodyPr/>
                  <a:lstStyle/>
                  <a:p>
                    <a:fld id="{73BEDAB8-70D1-402A-A0DF-D20F0D553D57}" type="CELLRANGE">
                      <a:rPr lang="en-US"/>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50-3A6E-4D0E-B2FF-684C85E66241}"/>
                </c:ext>
              </c:extLst>
            </c:dLbl>
            <c:dLbl>
              <c:idx val="7"/>
              <c:tx>
                <c:rich>
                  <a:bodyPr/>
                  <a:lstStyle/>
                  <a:p>
                    <a:endParaRPr lang="en-US"/>
                  </a:p>
                </c:rich>
              </c:tx>
              <c:dLblPos val="inEnd"/>
              <c:showLegendKey val="0"/>
              <c:showVal val="0"/>
              <c:showCatName val="0"/>
              <c:showSerName val="0"/>
              <c:showPercent val="0"/>
              <c:showBubbleSize val="0"/>
              <c:extLst>
                <c:ext xmlns:c15="http://schemas.microsoft.com/office/drawing/2012/chart" uri="{CE6537A1-D6FC-4f65-9D91-7224C49458BB}">
                  <c15:xForSave val="1"/>
                  <c15:showDataLabelsRange val="1"/>
                </c:ext>
                <c:ext xmlns:c16="http://schemas.microsoft.com/office/drawing/2014/chart" uri="{C3380CC4-5D6E-409C-BE32-E72D297353CC}">
                  <c16:uniqueId val="{00000052-3A6E-4D0E-B2FF-684C85E66241}"/>
                </c:ext>
              </c:extLst>
            </c:dLbl>
            <c:dLbl>
              <c:idx val="8"/>
              <c:tx>
                <c:rich>
                  <a:bodyPr/>
                  <a:lstStyle/>
                  <a:p>
                    <a:endParaRPr lang="en-US"/>
                  </a:p>
                </c:rich>
              </c:tx>
              <c:dLblPos val="inEnd"/>
              <c:showLegendKey val="0"/>
              <c:showVal val="0"/>
              <c:showCatName val="0"/>
              <c:showSerName val="0"/>
              <c:showPercent val="0"/>
              <c:showBubbleSize val="0"/>
              <c:extLst>
                <c:ext xmlns:c15="http://schemas.microsoft.com/office/drawing/2012/chart" uri="{CE6537A1-D6FC-4f65-9D91-7224C49458BB}">
                  <c15:xForSave val="1"/>
                  <c15:showDataLabelsRange val="1"/>
                </c:ext>
                <c:ext xmlns:c16="http://schemas.microsoft.com/office/drawing/2014/chart" uri="{C3380CC4-5D6E-409C-BE32-E72D297353CC}">
                  <c16:uniqueId val="{00000054-3A6E-4D0E-B2FF-684C85E66241}"/>
                </c:ext>
              </c:extLst>
            </c:dLbl>
            <c:dLbl>
              <c:idx val="9"/>
              <c:tx>
                <c:rich>
                  <a:bodyPr/>
                  <a:lstStyle/>
                  <a:p>
                    <a:fld id="{351D5C13-7360-4456-892A-1006EC477EC6}" type="CELLRANGE">
                      <a:rPr lang="en-US"/>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6D-3A6E-4D0E-B2FF-684C85E66241}"/>
                </c:ext>
              </c:extLst>
            </c:dLbl>
            <c:dLbl>
              <c:idx val="10"/>
              <c:tx>
                <c:rich>
                  <a:bodyPr/>
                  <a:lstStyle/>
                  <a:p>
                    <a:fld id="{25DF9E45-788D-46DB-B41F-79A8ABD7A416}" type="CELLRANGE">
                      <a:rPr lang="en-US"/>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56-3A6E-4D0E-B2FF-684C85E66241}"/>
                </c:ext>
              </c:extLst>
            </c:dLbl>
            <c:dLbl>
              <c:idx val="11"/>
              <c:tx>
                <c:rich>
                  <a:bodyPr/>
                  <a:lstStyle/>
                  <a:p>
                    <a:fld id="{78826A0B-C978-44F3-9AC8-CA41BF6C021A}" type="CELLRANGE">
                      <a:rPr lang="en-US"/>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58-3A6E-4D0E-B2FF-684C85E66241}"/>
                </c:ext>
              </c:extLst>
            </c:dLbl>
            <c:dLbl>
              <c:idx val="12"/>
              <c:layout>
                <c:manualLayout>
                  <c:x val="-8.660120184411348E-17"/>
                  <c:y val="-5.0185587213485365E-2"/>
                </c:manualLayout>
              </c:layout>
              <c:tx>
                <c:rich>
                  <a:bodyPr/>
                  <a:lstStyle/>
                  <a:p>
                    <a:fld id="{3DE946BC-F7FB-4BBC-80BA-236BE0E245B3}"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5A-3A6E-4D0E-B2FF-684C85E66241}"/>
                </c:ext>
              </c:extLst>
            </c:dLbl>
            <c:dLbl>
              <c:idx val="13"/>
              <c:tx>
                <c:rich>
                  <a:bodyPr/>
                  <a:lstStyle/>
                  <a:p>
                    <a:fld id="{26D12440-7D26-43F5-897D-4CA4835246A3}" type="CELLRANGE">
                      <a:rPr lang="en-US"/>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5C-3A6E-4D0E-B2FF-684C85E66241}"/>
                </c:ext>
              </c:extLst>
            </c:dLbl>
            <c:dLbl>
              <c:idx val="14"/>
              <c:tx>
                <c:rich>
                  <a:bodyPr/>
                  <a:lstStyle/>
                  <a:p>
                    <a:fld id="{5F204683-CCF2-4F4C-A7C8-32DA1BE590EF}" type="CELLRANGE">
                      <a:rPr lang="en-US"/>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5E-3A6E-4D0E-B2FF-684C85E66241}"/>
                </c:ext>
              </c:extLst>
            </c:dLbl>
            <c:dLbl>
              <c:idx val="15"/>
              <c:tx>
                <c:rich>
                  <a:bodyPr/>
                  <a:lstStyle/>
                  <a:p>
                    <a:fld id="{B2078375-515A-45D7-80EA-DE7423563211}" type="CELLRANGE">
                      <a:rPr lang="en-US"/>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60-3A6E-4D0E-B2FF-684C85E66241}"/>
                </c:ext>
              </c:extLst>
            </c:dLbl>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cat>
            <c:strRef>
              <c:f>Sheet1!$A$2:$A$17</c:f>
              <c:strCache>
                <c:ptCount val="16"/>
                <c:pt idx="0">
                  <c:v>HEINZ</c:v>
                </c:pt>
                <c:pt idx="1">
                  <c:v>HP</c:v>
                </c:pt>
                <c:pt idx="2">
                  <c:v>BULLS EYE</c:v>
                </c:pt>
                <c:pt idx="3">
                  <c:v>PRIVATE LABEL</c:v>
                </c:pt>
                <c:pt idx="4">
                  <c:v>LEVI ROOTS</c:v>
                </c:pt>
                <c:pt idx="5">
                  <c:v>SWEET BABY RAYS</c:v>
                </c:pt>
                <c:pt idx="6">
                  <c:v>Restofcategory</c:v>
                </c:pt>
                <c:pt idx="9">
                  <c:v>HEINZ</c:v>
                </c:pt>
                <c:pt idx="10">
                  <c:v>HP</c:v>
                </c:pt>
                <c:pt idx="11">
                  <c:v>BULLS EYE</c:v>
                </c:pt>
                <c:pt idx="12">
                  <c:v>PRIVATE LABEL</c:v>
                </c:pt>
                <c:pt idx="13">
                  <c:v>LEVI ROOTS</c:v>
                </c:pt>
                <c:pt idx="14">
                  <c:v>SWEET BABY RAYS</c:v>
                </c:pt>
                <c:pt idx="15">
                  <c:v>Restofcategory</c:v>
                </c:pt>
              </c:strCache>
            </c:strRef>
          </c:cat>
          <c:val>
            <c:numRef>
              <c:f>Sheet1!$D$2:$D$17</c:f>
              <c:numCache>
                <c:formatCode>#,##0.0</c:formatCode>
                <c:ptCount val="16"/>
                <c:pt idx="0">
                  <c:v>4.4653970300347616</c:v>
                </c:pt>
                <c:pt idx="1">
                  <c:v>4.0882184982627825</c:v>
                </c:pt>
                <c:pt idx="2">
                  <c:v>4.7041006019999996</c:v>
                </c:pt>
                <c:pt idx="3">
                  <c:v>1.838429677271145</c:v>
                </c:pt>
                <c:pt idx="4">
                  <c:v>4.7694467999046122</c:v>
                </c:pt>
                <c:pt idx="5">
                  <c:v>5.6848392435327346</c:v>
                </c:pt>
                <c:pt idx="6">
                  <c:v>5.6129201070104688</c:v>
                </c:pt>
                <c:pt idx="9">
                  <c:v>4.9743503325309284</c:v>
                </c:pt>
                <c:pt idx="10">
                  <c:v>5.4414015408211514</c:v>
                </c:pt>
                <c:pt idx="11">
                  <c:v>4.3484416579999996</c:v>
                </c:pt>
                <c:pt idx="12">
                  <c:v>1.7359213325137666</c:v>
                </c:pt>
                <c:pt idx="13">
                  <c:v>5.403051176977681</c:v>
                </c:pt>
                <c:pt idx="14">
                  <c:v>5.6681448504072849</c:v>
                </c:pt>
                <c:pt idx="15">
                  <c:v>5.7167860679242972</c:v>
                </c:pt>
              </c:numCache>
            </c:numRef>
          </c:val>
          <c:extLst>
            <c:ext xmlns:c15="http://schemas.microsoft.com/office/drawing/2012/chart" uri="{02D57815-91ED-43cb-92C2-25804820EDAC}">
              <c15:datalabelsRange>
                <c15:f>Sheet1!$F$2:$F$17</c15:f>
                <c15:dlblRangeCache>
                  <c:ptCount val="16"/>
                  <c:pt idx="0">
                    <c:v>10.04</c:v>
                  </c:pt>
                  <c:pt idx="1">
                    <c:v>9.78</c:v>
                  </c:pt>
                  <c:pt idx="2">
                    <c:v>11.57</c:v>
                  </c:pt>
                  <c:pt idx="3">
                    <c:v>4.29</c:v>
                  </c:pt>
                  <c:pt idx="4">
                    <c:v>11.36</c:v>
                  </c:pt>
                  <c:pt idx="5">
                    <c:v>12.57</c:v>
                  </c:pt>
                  <c:pt idx="6">
                    <c:v>12.01</c:v>
                  </c:pt>
                  <c:pt idx="9">
                    <c:v>10.73</c:v>
                  </c:pt>
                  <c:pt idx="10">
                    <c:v>10.91</c:v>
                  </c:pt>
                  <c:pt idx="11">
                    <c:v>11.24</c:v>
                  </c:pt>
                  <c:pt idx="12">
                    <c:v>3.77</c:v>
                  </c:pt>
                  <c:pt idx="13">
                    <c:v>12.11</c:v>
                  </c:pt>
                  <c:pt idx="14">
                    <c:v>12.46</c:v>
                  </c:pt>
                  <c:pt idx="15">
                    <c:v>12.04</c:v>
                  </c:pt>
                </c15:dlblRangeCache>
              </c15:datalabelsRange>
            </c:ext>
            <c:ext xmlns:c16="http://schemas.microsoft.com/office/drawing/2014/chart" uri="{C3380CC4-5D6E-409C-BE32-E72D297353CC}">
              <c16:uniqueId val="{0000006F-3A6E-4D0E-B2FF-684C85E66241}"/>
            </c:ext>
          </c:extLst>
        </c:ser>
        <c:dLbls>
          <c:showLegendKey val="0"/>
          <c:showVal val="0"/>
          <c:showCatName val="0"/>
          <c:showSerName val="0"/>
          <c:showPercent val="0"/>
          <c:showBubbleSize val="0"/>
        </c:dLbls>
        <c:gapWidth val="55"/>
        <c:overlap val="100"/>
        <c:axId val="624022336"/>
        <c:axId val="730110688"/>
      </c:barChart>
      <c:catAx>
        <c:axId val="62402233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700" b="0" i="0" u="none" strike="noStrike" kern="1200" baseline="0">
                <a:solidFill>
                  <a:schemeClr val="tx1">
                    <a:lumMod val="65000"/>
                    <a:lumOff val="35000"/>
                  </a:schemeClr>
                </a:solidFill>
                <a:latin typeface="+mn-lt"/>
                <a:ea typeface="+mn-ea"/>
                <a:cs typeface="+mn-cs"/>
              </a:defRPr>
            </a:pPr>
            <a:endParaRPr lang="en-US"/>
          </a:p>
        </c:txPr>
        <c:crossAx val="730110688"/>
        <c:crosses val="autoZero"/>
        <c:auto val="1"/>
        <c:lblAlgn val="ctr"/>
        <c:lblOffset val="100"/>
        <c:noMultiLvlLbl val="0"/>
      </c:catAx>
      <c:valAx>
        <c:axId val="730110688"/>
        <c:scaling>
          <c:orientation val="minMax"/>
        </c:scaling>
        <c:delete val="1"/>
        <c:axPos val="l"/>
        <c:numFmt formatCode="#,##0.0" sourceLinked="1"/>
        <c:majorTickMark val="none"/>
        <c:minorTickMark val="none"/>
        <c:tickLblPos val="nextTo"/>
        <c:crossAx val="62402233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3466875470093155E-2"/>
          <c:y val="3.5801655445995596E-2"/>
          <c:w val="0.98334335960859709"/>
          <c:h val="0.92123635801880965"/>
        </c:manualLayout>
      </c:layout>
      <c:barChart>
        <c:barDir val="col"/>
        <c:grouping val="stacked"/>
        <c:varyColors val="0"/>
        <c:ser>
          <c:idx val="0"/>
          <c:order val="0"/>
          <c:tx>
            <c:strRef>
              <c:f>Sheet1!$B$1</c:f>
              <c:strCache>
                <c:ptCount val="1"/>
                <c:pt idx="0">
                  <c:v>Price</c:v>
                </c:pt>
              </c:strCache>
            </c:strRef>
          </c:tx>
          <c:spPr>
            <a:solidFill>
              <a:schemeClr val="accent1"/>
            </a:solidFill>
            <a:ln>
              <a:noFill/>
            </a:ln>
            <a:effectLst/>
          </c:spPr>
          <c:invertIfNegative val="0"/>
          <c:dPt>
            <c:idx val="1"/>
            <c:invertIfNegative val="0"/>
            <c:bubble3D val="0"/>
            <c:spPr>
              <a:solidFill>
                <a:schemeClr val="accent1"/>
              </a:solidFill>
              <a:ln>
                <a:noFill/>
              </a:ln>
              <a:effectLst/>
            </c:spPr>
            <c:extLst>
              <c:ext xmlns:c16="http://schemas.microsoft.com/office/drawing/2014/chart" uri="{C3380CC4-5D6E-409C-BE32-E72D297353CC}">
                <c16:uniqueId val="{00000001-ABD7-417F-978D-2A6B40421357}"/>
              </c:ext>
            </c:extLst>
          </c:dPt>
          <c:dPt>
            <c:idx val="2"/>
            <c:invertIfNegative val="0"/>
            <c:bubble3D val="0"/>
            <c:spPr>
              <a:solidFill>
                <a:schemeClr val="accent1"/>
              </a:solidFill>
              <a:ln>
                <a:noFill/>
              </a:ln>
              <a:effectLst/>
            </c:spPr>
            <c:extLst>
              <c:ext xmlns:c16="http://schemas.microsoft.com/office/drawing/2014/chart" uri="{C3380CC4-5D6E-409C-BE32-E72D297353CC}">
                <c16:uniqueId val="{00000003-ABD7-417F-978D-2A6B40421357}"/>
              </c:ext>
            </c:extLst>
          </c:dPt>
          <c:cat>
            <c:strRef>
              <c:f>Sheet1!$A$2:$A$4</c:f>
              <c:strCache>
                <c:ptCount val="3"/>
                <c:pt idx="0">
                  <c:v>Brand 1</c:v>
                </c:pt>
                <c:pt idx="1">
                  <c:v>Brand 1</c:v>
                </c:pt>
                <c:pt idx="2">
                  <c:v>Brand 1</c:v>
                </c:pt>
              </c:strCache>
            </c:strRef>
          </c:cat>
          <c:val>
            <c:numRef>
              <c:f>Sheet1!$B$2:$B$4</c:f>
              <c:numCache>
                <c:formatCode>_ * #,##0.0_ ;_ * \-#,##0.0_ ;_ * "-"??_ ;_ @_ </c:formatCode>
                <c:ptCount val="3"/>
                <c:pt idx="0">
                  <c:v>1</c:v>
                </c:pt>
                <c:pt idx="1">
                  <c:v>1</c:v>
                </c:pt>
                <c:pt idx="2">
                  <c:v>1</c:v>
                </c:pt>
              </c:numCache>
            </c:numRef>
          </c:val>
          <c:extLst>
            <c:ext xmlns:c16="http://schemas.microsoft.com/office/drawing/2014/chart" uri="{C3380CC4-5D6E-409C-BE32-E72D297353CC}">
              <c16:uniqueId val="{00000004-ABD7-417F-978D-2A6B40421357}"/>
            </c:ext>
          </c:extLst>
        </c:ser>
        <c:ser>
          <c:idx val="1"/>
          <c:order val="1"/>
          <c:tx>
            <c:strRef>
              <c:f>Sheet1!$C$1</c:f>
              <c:strCache>
                <c:ptCount val="1"/>
                <c:pt idx="0">
                  <c:v>CSF</c:v>
                </c:pt>
              </c:strCache>
            </c:strRef>
          </c:tx>
          <c:spPr>
            <a:solidFill>
              <a:schemeClr val="accent2"/>
            </a:solidFill>
            <a:ln>
              <a:noFill/>
            </a:ln>
            <a:effectLst/>
          </c:spPr>
          <c:invertIfNegative val="0"/>
          <c:dLbls>
            <c:dLbl>
              <c:idx val="0"/>
              <c:tx>
                <c:rich>
                  <a:bodyPr/>
                  <a:lstStyle/>
                  <a:p>
                    <a:fld id="{DA84BAB2-5466-49AC-A77C-649ADB1F8D07}"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5-ABD7-417F-978D-2A6B40421357}"/>
                </c:ext>
              </c:extLst>
            </c:dLbl>
            <c:dLbl>
              <c:idx val="1"/>
              <c:tx>
                <c:rich>
                  <a:bodyPr/>
                  <a:lstStyle/>
                  <a:p>
                    <a:fld id="{4B939321-3EE2-4F8C-B84B-906D064D3A64}"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6-ABD7-417F-978D-2A6B40421357}"/>
                </c:ext>
              </c:extLst>
            </c:dLbl>
            <c:dLbl>
              <c:idx val="2"/>
              <c:tx>
                <c:rich>
                  <a:bodyPr/>
                  <a:lstStyle/>
                  <a:p>
                    <a:fld id="{5506EF2B-B124-450E-8A63-AEF9ED1EDDFA}"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7-ABD7-417F-978D-2A6B40421357}"/>
                </c:ext>
              </c:extLst>
            </c:dLbl>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700" b="1" i="0" u="none" strike="noStrike" kern="1200" baseline="0">
                    <a:solidFill>
                      <a:schemeClr val="tx1"/>
                    </a:solidFill>
                    <a:latin typeface="+mn-lt"/>
                    <a:ea typeface="+mn-ea"/>
                    <a:cs typeface="+mn-cs"/>
                  </a:defRPr>
                </a:pPr>
                <a:endParaRPr lang="en-US"/>
              </a:p>
            </c:txPr>
            <c:dLblPos val="ct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cat>
            <c:strRef>
              <c:f>Sheet1!$A$2:$A$4</c:f>
              <c:strCache>
                <c:ptCount val="3"/>
                <c:pt idx="0">
                  <c:v>Brand 1</c:v>
                </c:pt>
                <c:pt idx="1">
                  <c:v>Brand 1</c:v>
                </c:pt>
                <c:pt idx="2">
                  <c:v>Brand 1</c:v>
                </c:pt>
              </c:strCache>
            </c:strRef>
          </c:cat>
          <c:val>
            <c:numRef>
              <c:f>Sheet1!$C$2:$C$4</c:f>
              <c:numCache>
                <c:formatCode>General</c:formatCode>
                <c:ptCount val="3"/>
                <c:pt idx="0">
                  <c:v>0</c:v>
                </c:pt>
                <c:pt idx="1">
                  <c:v>0</c:v>
                </c:pt>
                <c:pt idx="2">
                  <c:v>0</c:v>
                </c:pt>
              </c:numCache>
            </c:numRef>
          </c:val>
          <c:extLst>
            <c:ext xmlns:c15="http://schemas.microsoft.com/office/drawing/2012/chart" uri="{02D57815-91ED-43cb-92C2-25804820EDAC}">
              <c15:datalabelsRange>
                <c15:f>Sheet1!$F$2:$F$4</c15:f>
                <c15:dlblRangeCache>
                  <c:ptCount val="3"/>
                  <c:pt idx="0">
                    <c:v>CSF1</c:v>
                  </c:pt>
                  <c:pt idx="1">
                    <c:v>CSF2</c:v>
                  </c:pt>
                  <c:pt idx="2">
                    <c:v>CSF3</c:v>
                  </c:pt>
                </c15:dlblRangeCache>
              </c15:datalabelsRange>
            </c:ext>
            <c:ext xmlns:c16="http://schemas.microsoft.com/office/drawing/2014/chart" uri="{C3380CC4-5D6E-409C-BE32-E72D297353CC}">
              <c16:uniqueId val="{00000009-ABD7-417F-978D-2A6B40421357}"/>
            </c:ext>
          </c:extLst>
        </c:ser>
        <c:ser>
          <c:idx val="2"/>
          <c:order val="2"/>
          <c:tx>
            <c:strRef>
              <c:f>Sheet1!$D$1</c:f>
              <c:strCache>
                <c:ptCount val="1"/>
                <c:pt idx="0">
                  <c:v>MCV</c:v>
                </c:pt>
              </c:strCache>
            </c:strRef>
          </c:tx>
          <c:spPr>
            <a:solidFill>
              <a:schemeClr val="accent4">
                <a:lumMod val="20000"/>
                <a:lumOff val="80000"/>
              </a:schemeClr>
            </a:solidFill>
            <a:ln w="19050">
              <a:noFill/>
            </a:ln>
            <a:effectLst/>
          </c:spPr>
          <c:invertIfNegative val="0"/>
          <c:dPt>
            <c:idx val="1"/>
            <c:invertIfNegative val="0"/>
            <c:bubble3D val="0"/>
            <c:spPr>
              <a:solidFill>
                <a:schemeClr val="accent4">
                  <a:lumMod val="20000"/>
                  <a:lumOff val="80000"/>
                </a:schemeClr>
              </a:solidFill>
              <a:ln w="19050">
                <a:noFill/>
              </a:ln>
              <a:effectLst/>
            </c:spPr>
            <c:extLst>
              <c:ext xmlns:c16="http://schemas.microsoft.com/office/drawing/2014/chart" uri="{C3380CC4-5D6E-409C-BE32-E72D297353CC}">
                <c16:uniqueId val="{0000000B-ABD7-417F-978D-2A6B40421357}"/>
              </c:ext>
            </c:extLst>
          </c:dPt>
          <c:dPt>
            <c:idx val="2"/>
            <c:invertIfNegative val="0"/>
            <c:bubble3D val="0"/>
            <c:spPr>
              <a:solidFill>
                <a:schemeClr val="accent4">
                  <a:lumMod val="20000"/>
                  <a:lumOff val="80000"/>
                </a:schemeClr>
              </a:solidFill>
              <a:ln w="19050">
                <a:noFill/>
              </a:ln>
              <a:effectLst/>
            </c:spPr>
            <c:extLst>
              <c:ext xmlns:c16="http://schemas.microsoft.com/office/drawing/2014/chart" uri="{C3380CC4-5D6E-409C-BE32-E72D297353CC}">
                <c16:uniqueId val="{0000000D-ABD7-417F-978D-2A6B40421357}"/>
              </c:ext>
            </c:extLst>
          </c:dPt>
          <c:cat>
            <c:strRef>
              <c:f>Sheet1!$A$2:$A$4</c:f>
              <c:strCache>
                <c:ptCount val="3"/>
                <c:pt idx="0">
                  <c:v>Brand 1</c:v>
                </c:pt>
                <c:pt idx="1">
                  <c:v>Brand 1</c:v>
                </c:pt>
                <c:pt idx="2">
                  <c:v>Brand 1</c:v>
                </c:pt>
              </c:strCache>
            </c:strRef>
          </c:cat>
          <c:val>
            <c:numRef>
              <c:f>Sheet1!$D$2:$D$4</c:f>
              <c:numCache>
                <c:formatCode>_ * #,##0.0_ ;_ * \-#,##0.0_ ;_ * "-"??_ ;_ @_ </c:formatCode>
                <c:ptCount val="3"/>
                <c:pt idx="0">
                  <c:v>1</c:v>
                </c:pt>
                <c:pt idx="1">
                  <c:v>1</c:v>
                </c:pt>
                <c:pt idx="2">
                  <c:v>1</c:v>
                </c:pt>
              </c:numCache>
            </c:numRef>
          </c:val>
          <c:extLst>
            <c:ext xmlns:c16="http://schemas.microsoft.com/office/drawing/2014/chart" uri="{C3380CC4-5D6E-409C-BE32-E72D297353CC}">
              <c16:uniqueId val="{0000000E-ABD7-417F-978D-2A6B40421357}"/>
            </c:ext>
          </c:extLst>
        </c:ser>
        <c:dLbls>
          <c:showLegendKey val="0"/>
          <c:showVal val="0"/>
          <c:showCatName val="0"/>
          <c:showSerName val="0"/>
          <c:showPercent val="0"/>
          <c:showBubbleSize val="0"/>
        </c:dLbls>
        <c:gapWidth val="55"/>
        <c:overlap val="100"/>
        <c:axId val="624022336"/>
        <c:axId val="730110688"/>
      </c:barChart>
      <c:catAx>
        <c:axId val="624022336"/>
        <c:scaling>
          <c:orientation val="minMax"/>
        </c:scaling>
        <c:delete val="1"/>
        <c:axPos val="b"/>
        <c:numFmt formatCode="General" sourceLinked="1"/>
        <c:majorTickMark val="out"/>
        <c:minorTickMark val="none"/>
        <c:tickLblPos val="nextTo"/>
        <c:crossAx val="730110688"/>
        <c:crosses val="autoZero"/>
        <c:auto val="1"/>
        <c:lblAlgn val="ctr"/>
        <c:lblOffset val="100"/>
        <c:noMultiLvlLbl val="0"/>
      </c:catAx>
      <c:valAx>
        <c:axId val="730110688"/>
        <c:scaling>
          <c:orientation val="minMax"/>
        </c:scaling>
        <c:delete val="1"/>
        <c:axPos val="l"/>
        <c:numFmt formatCode="_ * #,##0.0_ ;_ * \-#,##0.0_ ;_ * &quot;-&quot;??_ ;_ @_ " sourceLinked="1"/>
        <c:majorTickMark val="none"/>
        <c:minorTickMark val="none"/>
        <c:tickLblPos val="nextTo"/>
        <c:crossAx val="62402233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6656636004553884E-2"/>
          <c:y val="5.7700113733774781E-2"/>
          <c:w val="0.98334336229569907"/>
          <c:h val="0.92582962887321774"/>
        </c:manualLayout>
      </c:layout>
      <c:barChart>
        <c:barDir val="col"/>
        <c:grouping val="stacked"/>
        <c:varyColors val="0"/>
        <c:ser>
          <c:idx val="0"/>
          <c:order val="0"/>
          <c:tx>
            <c:strRef>
              <c:f>Sheet1!$B$1</c:f>
              <c:strCache>
                <c:ptCount val="1"/>
                <c:pt idx="0">
                  <c:v>Price</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Sheet1!$A$2:$A$28</c:f>
              <c:strCache>
                <c:ptCount val="27"/>
                <c:pt idx="0">
                  <c:v>heinz</c:v>
                </c:pt>
                <c:pt idx="1">
                  <c:v>heinz</c:v>
                </c:pt>
                <c:pt idx="2">
                  <c:v>heinz</c:v>
                </c:pt>
                <c:pt idx="4">
                  <c:v>hp</c:v>
                </c:pt>
                <c:pt idx="5">
                  <c:v>hp</c:v>
                </c:pt>
                <c:pt idx="6">
                  <c:v>hp</c:v>
                </c:pt>
                <c:pt idx="8">
                  <c:v>bulls eye</c:v>
                </c:pt>
                <c:pt idx="9">
                  <c:v>bulls eye</c:v>
                </c:pt>
                <c:pt idx="10">
                  <c:v>bulls eye</c:v>
                </c:pt>
                <c:pt idx="12">
                  <c:v>private label</c:v>
                </c:pt>
                <c:pt idx="13">
                  <c:v>private label</c:v>
                </c:pt>
                <c:pt idx="14">
                  <c:v>private label</c:v>
                </c:pt>
                <c:pt idx="16">
                  <c:v>levi roots</c:v>
                </c:pt>
                <c:pt idx="17">
                  <c:v>levi roots</c:v>
                </c:pt>
                <c:pt idx="18">
                  <c:v>levi roots</c:v>
                </c:pt>
                <c:pt idx="20">
                  <c:v>sweet baby rays</c:v>
                </c:pt>
                <c:pt idx="21">
                  <c:v>sweet baby rays</c:v>
                </c:pt>
                <c:pt idx="22">
                  <c:v>sweet baby rays</c:v>
                </c:pt>
                <c:pt idx="24">
                  <c:v>restofcategory</c:v>
                </c:pt>
                <c:pt idx="25">
                  <c:v>restofcategory</c:v>
                </c:pt>
                <c:pt idx="26">
                  <c:v>restofcategory</c:v>
                </c:pt>
              </c:strCache>
            </c:strRef>
          </c:cat>
          <c:val>
            <c:numRef>
              <c:f>Sheet1!$B$2:$B$28</c:f>
              <c:numCache>
                <c:formatCode>0.00</c:formatCode>
                <c:ptCount val="27"/>
                <c:pt idx="0">
                  <c:v>5.2658880000000003</c:v>
                </c:pt>
                <c:pt idx="1">
                  <c:v>5.6581939999999999</c:v>
                </c:pt>
                <c:pt idx="2">
                  <c:v>5.5654669999999999</c:v>
                </c:pt>
                <c:pt idx="4">
                  <c:v>5.2036579999999999</c:v>
                </c:pt>
                <c:pt idx="5">
                  <c:v>5.5843230000000004</c:v>
                </c:pt>
                <c:pt idx="6">
                  <c:v>5.6204070000000002</c:v>
                </c:pt>
                <c:pt idx="8">
                  <c:v>6.5706280000000001</c:v>
                </c:pt>
                <c:pt idx="9">
                  <c:v>6.826619</c:v>
                </c:pt>
                <c:pt idx="10">
                  <c:v>6.87</c:v>
                </c:pt>
                <c:pt idx="12">
                  <c:v>2.5036610000000001</c:v>
                </c:pt>
                <c:pt idx="13">
                  <c:v>2.7302590000000002</c:v>
                </c:pt>
                <c:pt idx="14">
                  <c:v>2.4500160000000002</c:v>
                </c:pt>
                <c:pt idx="16">
                  <c:v>5.5879029999999998</c:v>
                </c:pt>
                <c:pt idx="17">
                  <c:v>6.5930010000000001</c:v>
                </c:pt>
                <c:pt idx="18">
                  <c:v>6.6075759999999999</c:v>
                </c:pt>
                <c:pt idx="20">
                  <c:v>6.0584030000000002</c:v>
                </c:pt>
                <c:pt idx="21">
                  <c:v>6.733695</c:v>
                </c:pt>
                <c:pt idx="22">
                  <c:v>6.9265220000000003</c:v>
                </c:pt>
                <c:pt idx="24">
                  <c:v>6.4507640000000004</c:v>
                </c:pt>
                <c:pt idx="25">
                  <c:v>6.6011439999999997</c:v>
                </c:pt>
                <c:pt idx="26">
                  <c:v>6.4243949999999996</c:v>
                </c:pt>
              </c:numCache>
            </c:numRef>
          </c:val>
          <c:extLst>
            <c:ext xmlns:c16="http://schemas.microsoft.com/office/drawing/2014/chart" uri="{C3380CC4-5D6E-409C-BE32-E72D297353CC}">
              <c16:uniqueId val="{00000002-F7B2-4E42-BB39-D7D1D8505C2C}"/>
            </c:ext>
          </c:extLst>
        </c:ser>
        <c:ser>
          <c:idx val="1"/>
          <c:order val="1"/>
          <c:tx>
            <c:strRef>
              <c:f>Sheet1!$C$1</c:f>
              <c:strCache>
                <c:ptCount val="1"/>
                <c:pt idx="0">
                  <c:v>CSF</c:v>
                </c:pt>
              </c:strCache>
            </c:strRef>
          </c:tx>
          <c:spPr>
            <a:solidFill>
              <a:schemeClr val="accent2"/>
            </a:solidFill>
            <a:ln>
              <a:noFill/>
            </a:ln>
            <a:effectLst/>
          </c:spPr>
          <c:invertIfNegative val="0"/>
          <c:dLbls>
            <c:dLbl>
              <c:idx val="0"/>
              <c:tx>
                <c:rich>
                  <a:bodyPr/>
                  <a:lstStyle/>
                  <a:p>
                    <a:fld id="{81315A85-9C98-4FB9-8717-88381840C2A7}"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3-F7B2-4E42-BB39-D7D1D8505C2C}"/>
                </c:ext>
              </c:extLst>
            </c:dLbl>
            <c:dLbl>
              <c:idx val="1"/>
              <c:tx>
                <c:rich>
                  <a:bodyPr/>
                  <a:lstStyle/>
                  <a:p>
                    <a:fld id="{11B7E03E-6864-4302-96C2-E881C7660E57}"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4-F7B2-4E42-BB39-D7D1D8505C2C}"/>
                </c:ext>
              </c:extLst>
            </c:dLbl>
            <c:dLbl>
              <c:idx val="2"/>
              <c:tx>
                <c:rich>
                  <a:bodyPr/>
                  <a:lstStyle/>
                  <a:p>
                    <a:fld id="{53D76B84-E292-42E8-A991-F800778E3975}"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5-F7B2-4E42-BB39-D7D1D8505C2C}"/>
                </c:ext>
              </c:extLst>
            </c:dLbl>
            <c:dLbl>
              <c:idx val="3"/>
              <c:tx>
                <c:rich>
                  <a:bodyPr/>
                  <a:lstStyle/>
                  <a:p>
                    <a:endParaRPr lang="en-US"/>
                  </a:p>
                </c:rich>
              </c:tx>
              <c:dLblPos val="ctr"/>
              <c:showLegendKey val="0"/>
              <c:showVal val="0"/>
              <c:showCatName val="0"/>
              <c:showSerName val="0"/>
              <c:showPercent val="0"/>
              <c:showBubbleSize val="0"/>
              <c:extLst>
                <c:ext xmlns:c15="http://schemas.microsoft.com/office/drawing/2012/chart" uri="{CE6537A1-D6FC-4f65-9D91-7224C49458BB}">
                  <c15:xForSave val="1"/>
                  <c15:showDataLabelsRange val="1"/>
                </c:ext>
                <c:ext xmlns:c16="http://schemas.microsoft.com/office/drawing/2014/chart" uri="{C3380CC4-5D6E-409C-BE32-E72D297353CC}">
                  <c16:uniqueId val="{00000006-F7B2-4E42-BB39-D7D1D8505C2C}"/>
                </c:ext>
              </c:extLst>
            </c:dLbl>
            <c:dLbl>
              <c:idx val="4"/>
              <c:layout>
                <c:manualLayout>
                  <c:x val="4.0728407797191767E-3"/>
                  <c:y val="-6.587999725067728E-2"/>
                </c:manualLayout>
              </c:layout>
              <c:tx>
                <c:rich>
                  <a:bodyPr/>
                  <a:lstStyle/>
                  <a:p>
                    <a:fld id="{84E3A061-A10A-4582-A924-BB1CD32776DB}"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7-F7B2-4E42-BB39-D7D1D8505C2C}"/>
                </c:ext>
              </c:extLst>
            </c:dLbl>
            <c:dLbl>
              <c:idx val="5"/>
              <c:layout>
                <c:manualLayout>
                  <c:x val="2.7152271864794514E-3"/>
                  <c:y val="-3.293999862533864E-2"/>
                </c:manualLayout>
              </c:layout>
              <c:tx>
                <c:rich>
                  <a:bodyPr/>
                  <a:lstStyle/>
                  <a:p>
                    <a:fld id="{36FA043D-6F6E-40B6-A8BD-5857BA55BEA4}"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8-F7B2-4E42-BB39-D7D1D8505C2C}"/>
                </c:ext>
              </c:extLst>
            </c:dLbl>
            <c:dLbl>
              <c:idx val="6"/>
              <c:layout>
                <c:manualLayout>
                  <c:x val="0"/>
                  <c:y val="-1.6469999312669473E-2"/>
                </c:manualLayout>
              </c:layout>
              <c:tx>
                <c:rich>
                  <a:bodyPr/>
                  <a:lstStyle/>
                  <a:p>
                    <a:fld id="{D194E4B8-2283-4B68-828C-53C521C35181}"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9-F7B2-4E42-BB39-D7D1D8505C2C}"/>
                </c:ext>
              </c:extLst>
            </c:dLbl>
            <c:dLbl>
              <c:idx val="7"/>
              <c:tx>
                <c:rich>
                  <a:bodyPr/>
                  <a:lstStyle/>
                  <a:p>
                    <a:endParaRPr lang="en-US"/>
                  </a:p>
                </c:rich>
              </c:tx>
              <c:dLblPos val="ctr"/>
              <c:showLegendKey val="0"/>
              <c:showVal val="0"/>
              <c:showCatName val="0"/>
              <c:showSerName val="0"/>
              <c:showPercent val="0"/>
              <c:showBubbleSize val="0"/>
              <c:extLst>
                <c:ext xmlns:c15="http://schemas.microsoft.com/office/drawing/2012/chart" uri="{CE6537A1-D6FC-4f65-9D91-7224C49458BB}">
                  <c15:xForSave val="1"/>
                  <c15:showDataLabelsRange val="1"/>
                </c:ext>
                <c:ext xmlns:c16="http://schemas.microsoft.com/office/drawing/2014/chart" uri="{C3380CC4-5D6E-409C-BE32-E72D297353CC}">
                  <c16:uniqueId val="{0000000A-F7B2-4E42-BB39-D7D1D8505C2C}"/>
                </c:ext>
              </c:extLst>
            </c:dLbl>
            <c:dLbl>
              <c:idx val="8"/>
              <c:tx>
                <c:rich>
                  <a:bodyPr/>
                  <a:lstStyle/>
                  <a:p>
                    <a:fld id="{3658F739-0BF2-4FD8-BA56-865DBCAAAB94}"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B-F7B2-4E42-BB39-D7D1D8505C2C}"/>
                </c:ext>
              </c:extLst>
            </c:dLbl>
            <c:dLbl>
              <c:idx val="9"/>
              <c:tx>
                <c:rich>
                  <a:bodyPr/>
                  <a:lstStyle/>
                  <a:p>
                    <a:fld id="{F31BF93F-8BBB-4FCB-A7E0-473C4030D9B7}"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C-F7B2-4E42-BB39-D7D1D8505C2C}"/>
                </c:ext>
              </c:extLst>
            </c:dLbl>
            <c:dLbl>
              <c:idx val="10"/>
              <c:tx>
                <c:rich>
                  <a:bodyPr/>
                  <a:lstStyle/>
                  <a:p>
                    <a:fld id="{595DDBCE-81A6-44DF-A7EE-AA9BA6676CA4}"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D-F7B2-4E42-BB39-D7D1D8505C2C}"/>
                </c:ext>
              </c:extLst>
            </c:dLbl>
            <c:dLbl>
              <c:idx val="11"/>
              <c:tx>
                <c:rich>
                  <a:bodyPr/>
                  <a:lstStyle/>
                  <a:p>
                    <a:endParaRPr lang="en-US"/>
                  </a:p>
                </c:rich>
              </c:tx>
              <c:dLblPos val="ctr"/>
              <c:showLegendKey val="0"/>
              <c:showVal val="0"/>
              <c:showCatName val="0"/>
              <c:showSerName val="0"/>
              <c:showPercent val="0"/>
              <c:showBubbleSize val="0"/>
              <c:extLst>
                <c:ext xmlns:c15="http://schemas.microsoft.com/office/drawing/2012/chart" uri="{CE6537A1-D6FC-4f65-9D91-7224C49458BB}">
                  <c15:xForSave val="1"/>
                  <c15:showDataLabelsRange val="1"/>
                </c:ext>
                <c:ext xmlns:c16="http://schemas.microsoft.com/office/drawing/2014/chart" uri="{C3380CC4-5D6E-409C-BE32-E72D297353CC}">
                  <c16:uniqueId val="{0000000E-F7B2-4E42-BB39-D7D1D8505C2C}"/>
                </c:ext>
              </c:extLst>
            </c:dLbl>
            <c:dLbl>
              <c:idx val="12"/>
              <c:layout>
                <c:manualLayout>
                  <c:x val="-1.3576135932397257E-3"/>
                  <c:y val="-3.293999862533864E-2"/>
                </c:manualLayout>
              </c:layout>
              <c:tx>
                <c:rich>
                  <a:bodyPr/>
                  <a:lstStyle/>
                  <a:p>
                    <a:fld id="{02D4714F-3697-4809-A931-EADDABC384C8}"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F-F7B2-4E42-BB39-D7D1D8505C2C}"/>
                </c:ext>
              </c:extLst>
            </c:dLbl>
            <c:dLbl>
              <c:idx val="13"/>
              <c:layout>
                <c:manualLayout>
                  <c:x val="1.3576135932397257E-3"/>
                  <c:y val="-1.646999931266932E-2"/>
                </c:manualLayout>
              </c:layout>
              <c:tx>
                <c:rich>
                  <a:bodyPr/>
                  <a:lstStyle/>
                  <a:p>
                    <a:fld id="{4BDDD154-DDCD-41F0-AE2A-6D2CF799894A}"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0-F7B2-4E42-BB39-D7D1D8505C2C}"/>
                </c:ext>
              </c:extLst>
            </c:dLbl>
            <c:dLbl>
              <c:idx val="14"/>
              <c:layout>
                <c:manualLayout>
                  <c:x val="0"/>
                  <c:y val="-2.470499896900398E-2"/>
                </c:manualLayout>
              </c:layout>
              <c:tx>
                <c:rich>
                  <a:bodyPr/>
                  <a:lstStyle/>
                  <a:p>
                    <a:fld id="{5B1418AF-B6D3-4E3E-8F31-191F68551E14}"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1-F7B2-4E42-BB39-D7D1D8505C2C}"/>
                </c:ext>
              </c:extLst>
            </c:dLbl>
            <c:dLbl>
              <c:idx val="15"/>
              <c:tx>
                <c:rich>
                  <a:bodyPr/>
                  <a:lstStyle/>
                  <a:p>
                    <a:endParaRPr lang="en-US"/>
                  </a:p>
                </c:rich>
              </c:tx>
              <c:dLblPos val="ctr"/>
              <c:showLegendKey val="0"/>
              <c:showVal val="0"/>
              <c:showCatName val="0"/>
              <c:showSerName val="0"/>
              <c:showPercent val="0"/>
              <c:showBubbleSize val="0"/>
              <c:extLst>
                <c:ext xmlns:c15="http://schemas.microsoft.com/office/drawing/2012/chart" uri="{CE6537A1-D6FC-4f65-9D91-7224C49458BB}">
                  <c15:xForSave val="1"/>
                  <c15:showDataLabelsRange val="1"/>
                </c:ext>
                <c:ext xmlns:c16="http://schemas.microsoft.com/office/drawing/2014/chart" uri="{C3380CC4-5D6E-409C-BE32-E72D297353CC}">
                  <c16:uniqueId val="{00000012-F7B2-4E42-BB39-D7D1D8505C2C}"/>
                </c:ext>
              </c:extLst>
            </c:dLbl>
            <c:dLbl>
              <c:idx val="16"/>
              <c:tx>
                <c:rich>
                  <a:bodyPr/>
                  <a:lstStyle/>
                  <a:p>
                    <a:fld id="{B72CA124-83A6-444F-8DC7-216522398F4F}"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3-F7B2-4E42-BB39-D7D1D8505C2C}"/>
                </c:ext>
              </c:extLst>
            </c:dLbl>
            <c:dLbl>
              <c:idx val="17"/>
              <c:tx>
                <c:rich>
                  <a:bodyPr/>
                  <a:lstStyle/>
                  <a:p>
                    <a:fld id="{F2712B3B-71EB-4B35-B415-F2BA4A053E62}"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4-F7B2-4E42-BB39-D7D1D8505C2C}"/>
                </c:ext>
              </c:extLst>
            </c:dLbl>
            <c:dLbl>
              <c:idx val="18"/>
              <c:tx>
                <c:rich>
                  <a:bodyPr/>
                  <a:lstStyle/>
                  <a:p>
                    <a:fld id="{A660F634-2488-43D9-8B01-58718BF17681}"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5-F7B2-4E42-BB39-D7D1D8505C2C}"/>
                </c:ext>
              </c:extLst>
            </c:dLbl>
            <c:dLbl>
              <c:idx val="19"/>
              <c:tx>
                <c:rich>
                  <a:bodyPr/>
                  <a:lstStyle/>
                  <a:p>
                    <a:endParaRPr lang="en-US"/>
                  </a:p>
                </c:rich>
              </c:tx>
              <c:dLblPos val="ctr"/>
              <c:showLegendKey val="0"/>
              <c:showVal val="0"/>
              <c:showCatName val="0"/>
              <c:showSerName val="0"/>
              <c:showPercent val="0"/>
              <c:showBubbleSize val="0"/>
              <c:extLst>
                <c:ext xmlns:c15="http://schemas.microsoft.com/office/drawing/2012/chart" uri="{CE6537A1-D6FC-4f65-9D91-7224C49458BB}">
                  <c15:xForSave val="1"/>
                  <c15:showDataLabelsRange val="1"/>
                </c:ext>
                <c:ext xmlns:c16="http://schemas.microsoft.com/office/drawing/2014/chart" uri="{C3380CC4-5D6E-409C-BE32-E72D297353CC}">
                  <c16:uniqueId val="{00000000-DF1B-4DEB-865D-C0427EC2992F}"/>
                </c:ext>
              </c:extLst>
            </c:dLbl>
            <c:dLbl>
              <c:idx val="20"/>
              <c:tx>
                <c:rich>
                  <a:bodyPr/>
                  <a:lstStyle/>
                  <a:p>
                    <a:fld id="{747B3823-06EC-446C-8794-410DD6FA407B}"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DF1B-4DEB-865D-C0427EC2992F}"/>
                </c:ext>
              </c:extLst>
            </c:dLbl>
            <c:dLbl>
              <c:idx val="21"/>
              <c:tx>
                <c:rich>
                  <a:bodyPr/>
                  <a:lstStyle/>
                  <a:p>
                    <a:fld id="{28F1879A-D4DC-45E5-BFBF-3539099C1961}"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2-DF1B-4DEB-865D-C0427EC2992F}"/>
                </c:ext>
              </c:extLst>
            </c:dLbl>
            <c:dLbl>
              <c:idx val="22"/>
              <c:tx>
                <c:rich>
                  <a:bodyPr/>
                  <a:lstStyle/>
                  <a:p>
                    <a:fld id="{E5F9DE42-30F7-42C2-82CB-ADE23CAC3539}"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3-DF1B-4DEB-865D-C0427EC2992F}"/>
                </c:ext>
              </c:extLst>
            </c:dLbl>
            <c:dLbl>
              <c:idx val="23"/>
              <c:tx>
                <c:rich>
                  <a:bodyPr/>
                  <a:lstStyle/>
                  <a:p>
                    <a:endParaRPr lang="en-US"/>
                  </a:p>
                </c:rich>
              </c:tx>
              <c:dLblPos val="ctr"/>
              <c:showLegendKey val="0"/>
              <c:showVal val="0"/>
              <c:showCatName val="0"/>
              <c:showSerName val="0"/>
              <c:showPercent val="0"/>
              <c:showBubbleSize val="0"/>
              <c:extLst>
                <c:ext xmlns:c15="http://schemas.microsoft.com/office/drawing/2012/chart" uri="{CE6537A1-D6FC-4f65-9D91-7224C49458BB}">
                  <c15:xForSave val="1"/>
                  <c15:showDataLabelsRange val="1"/>
                </c:ext>
                <c:ext xmlns:c16="http://schemas.microsoft.com/office/drawing/2014/chart" uri="{C3380CC4-5D6E-409C-BE32-E72D297353CC}">
                  <c16:uniqueId val="{00000004-DF1B-4DEB-865D-C0427EC2992F}"/>
                </c:ext>
              </c:extLst>
            </c:dLbl>
            <c:dLbl>
              <c:idx val="24"/>
              <c:tx>
                <c:rich>
                  <a:bodyPr/>
                  <a:lstStyle/>
                  <a:p>
                    <a:fld id="{5C39C227-228A-4BAC-BAA9-0F396A3F0E21}"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5-DF1B-4DEB-865D-C0427EC2992F}"/>
                </c:ext>
              </c:extLst>
            </c:dLbl>
            <c:dLbl>
              <c:idx val="25"/>
              <c:tx>
                <c:rich>
                  <a:bodyPr/>
                  <a:lstStyle/>
                  <a:p>
                    <a:fld id="{6B2601DE-FADE-43DD-B2B7-BAD93C33E45B}"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6-DF1B-4DEB-865D-C0427EC2992F}"/>
                </c:ext>
              </c:extLst>
            </c:dLbl>
            <c:dLbl>
              <c:idx val="26"/>
              <c:tx>
                <c:rich>
                  <a:bodyPr/>
                  <a:lstStyle/>
                  <a:p>
                    <a:fld id="{86C475C2-86DB-4561-BE74-86C3632FC5C9}"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7-DF1B-4DEB-865D-C0427EC2992F}"/>
                </c:ext>
              </c:extLst>
            </c:dLbl>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mn-lt"/>
                    <a:ea typeface="+mn-ea"/>
                    <a:cs typeface="+mn-cs"/>
                  </a:defRPr>
                </a:pPr>
                <a:endParaRPr lang="en-US"/>
              </a:p>
            </c:txPr>
            <c:dLblPos val="ct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cat>
            <c:strRef>
              <c:f>Sheet1!$A$2:$A$28</c:f>
              <c:strCache>
                <c:ptCount val="27"/>
                <c:pt idx="0">
                  <c:v>heinz</c:v>
                </c:pt>
                <c:pt idx="1">
                  <c:v>heinz</c:v>
                </c:pt>
                <c:pt idx="2">
                  <c:v>heinz</c:v>
                </c:pt>
                <c:pt idx="4">
                  <c:v>hp</c:v>
                </c:pt>
                <c:pt idx="5">
                  <c:v>hp</c:v>
                </c:pt>
                <c:pt idx="6">
                  <c:v>hp</c:v>
                </c:pt>
                <c:pt idx="8">
                  <c:v>bulls eye</c:v>
                </c:pt>
                <c:pt idx="9">
                  <c:v>bulls eye</c:v>
                </c:pt>
                <c:pt idx="10">
                  <c:v>bulls eye</c:v>
                </c:pt>
                <c:pt idx="12">
                  <c:v>private label</c:v>
                </c:pt>
                <c:pt idx="13">
                  <c:v>private label</c:v>
                </c:pt>
                <c:pt idx="14">
                  <c:v>private label</c:v>
                </c:pt>
                <c:pt idx="16">
                  <c:v>levi roots</c:v>
                </c:pt>
                <c:pt idx="17">
                  <c:v>levi roots</c:v>
                </c:pt>
                <c:pt idx="18">
                  <c:v>levi roots</c:v>
                </c:pt>
                <c:pt idx="20">
                  <c:v>sweet baby rays</c:v>
                </c:pt>
                <c:pt idx="21">
                  <c:v>sweet baby rays</c:v>
                </c:pt>
                <c:pt idx="22">
                  <c:v>sweet baby rays</c:v>
                </c:pt>
                <c:pt idx="24">
                  <c:v>restofcategory</c:v>
                </c:pt>
                <c:pt idx="25">
                  <c:v>restofcategory</c:v>
                </c:pt>
                <c:pt idx="26">
                  <c:v>restofcategory</c:v>
                </c:pt>
              </c:strCache>
            </c:strRef>
          </c:cat>
          <c:val>
            <c:numRef>
              <c:f>Sheet1!$C$2:$C$28</c:f>
              <c:numCache>
                <c:formatCode>0.00</c:formatCode>
                <c:ptCount val="27"/>
                <c:pt idx="0">
                  <c:v>0</c:v>
                </c:pt>
                <c:pt idx="1">
                  <c:v>0</c:v>
                </c:pt>
                <c:pt idx="2">
                  <c:v>0</c:v>
                </c:pt>
                <c:pt idx="4">
                  <c:v>0</c:v>
                </c:pt>
                <c:pt idx="5">
                  <c:v>0</c:v>
                </c:pt>
                <c:pt idx="6">
                  <c:v>0</c:v>
                </c:pt>
                <c:pt idx="8">
                  <c:v>0</c:v>
                </c:pt>
                <c:pt idx="9">
                  <c:v>0</c:v>
                </c:pt>
                <c:pt idx="10">
                  <c:v>0</c:v>
                </c:pt>
                <c:pt idx="12">
                  <c:v>0</c:v>
                </c:pt>
                <c:pt idx="13">
                  <c:v>0</c:v>
                </c:pt>
                <c:pt idx="14">
                  <c:v>0</c:v>
                </c:pt>
                <c:pt idx="16">
                  <c:v>0</c:v>
                </c:pt>
                <c:pt idx="17">
                  <c:v>0</c:v>
                </c:pt>
                <c:pt idx="18">
                  <c:v>0</c:v>
                </c:pt>
                <c:pt idx="20">
                  <c:v>0</c:v>
                </c:pt>
                <c:pt idx="21">
                  <c:v>0</c:v>
                </c:pt>
                <c:pt idx="22">
                  <c:v>0</c:v>
                </c:pt>
                <c:pt idx="24">
                  <c:v>0</c:v>
                </c:pt>
                <c:pt idx="25">
                  <c:v>0</c:v>
                </c:pt>
                <c:pt idx="26">
                  <c:v>0</c:v>
                </c:pt>
              </c:numCache>
            </c:numRef>
          </c:val>
          <c:extLst>
            <c:ext xmlns:c15="http://schemas.microsoft.com/office/drawing/2012/chart" uri="{02D57815-91ED-43cb-92C2-25804820EDAC}">
              <c15:datalabelsRange>
                <c15:f>Sheet1!$F$2:$F$28</c15:f>
                <c15:dlblRangeCache>
                  <c:ptCount val="27"/>
                  <c:pt idx="0">
                    <c:v>2.14</c:v>
                  </c:pt>
                  <c:pt idx="1">
                    <c:v>1.85</c:v>
                  </c:pt>
                  <c:pt idx="2">
                    <c:v>1.80</c:v>
                  </c:pt>
                  <c:pt idx="4">
                    <c:v>1.96</c:v>
                  </c:pt>
                  <c:pt idx="5">
                    <c:v>1.73</c:v>
                  </c:pt>
                  <c:pt idx="6">
                    <c:v>1.74</c:v>
                  </c:pt>
                  <c:pt idx="8">
                    <c:v>1.80</c:v>
                  </c:pt>
                  <c:pt idx="9">
                    <c:v>1.67</c:v>
                  </c:pt>
                  <c:pt idx="10">
                    <c:v>1.68</c:v>
                  </c:pt>
                  <c:pt idx="12">
                    <c:v>1.86</c:v>
                  </c:pt>
                  <c:pt idx="13">
                    <c:v>1.58</c:v>
                  </c:pt>
                  <c:pt idx="14">
                    <c:v>1.75</c:v>
                  </c:pt>
                  <c:pt idx="16">
                    <c:v>2.19</c:v>
                  </c:pt>
                  <c:pt idx="17">
                    <c:v>1.79</c:v>
                  </c:pt>
                  <c:pt idx="18">
                    <c:v>1.72</c:v>
                  </c:pt>
                  <c:pt idx="20">
                    <c:v>2.11</c:v>
                  </c:pt>
                  <c:pt idx="21">
                    <c:v>1.89</c:v>
                  </c:pt>
                  <c:pt idx="22">
                    <c:v>1.81</c:v>
                  </c:pt>
                  <c:pt idx="24">
                    <c:v>1.87</c:v>
                  </c:pt>
                  <c:pt idx="25">
                    <c:v>1.82</c:v>
                  </c:pt>
                  <c:pt idx="26">
                    <c:v>1.87</c:v>
                  </c:pt>
                </c15:dlblRangeCache>
              </c15:datalabelsRange>
            </c:ext>
            <c:ext xmlns:c16="http://schemas.microsoft.com/office/drawing/2014/chart" uri="{C3380CC4-5D6E-409C-BE32-E72D297353CC}">
              <c16:uniqueId val="{0000002A-F7B2-4E42-BB39-D7D1D8505C2C}"/>
            </c:ext>
          </c:extLst>
        </c:ser>
        <c:ser>
          <c:idx val="2"/>
          <c:order val="2"/>
          <c:tx>
            <c:strRef>
              <c:f>Sheet1!$D$1</c:f>
              <c:strCache>
                <c:ptCount val="1"/>
                <c:pt idx="0">
                  <c:v>MCV</c:v>
                </c:pt>
              </c:strCache>
            </c:strRef>
          </c:tx>
          <c:spPr>
            <a:solidFill>
              <a:schemeClr val="accent4">
                <a:lumMod val="20000"/>
                <a:lumOff val="80000"/>
              </a:schemeClr>
            </a:solidFill>
            <a:ln w="19050">
              <a:noFill/>
            </a:ln>
            <a:effectLst/>
          </c:spPr>
          <c:invertIfNegative val="0"/>
          <c:dLbls>
            <c:dLbl>
              <c:idx val="0"/>
              <c:tx>
                <c:rich>
                  <a:bodyPr/>
                  <a:lstStyle/>
                  <a:p>
                    <a:fld id="{3232DCB0-588E-44DA-9E8A-305BA2203D23}" type="CELLRANGE">
                      <a:rPr lang="en-US"/>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2D-F7B2-4E42-BB39-D7D1D8505C2C}"/>
                </c:ext>
              </c:extLst>
            </c:dLbl>
            <c:dLbl>
              <c:idx val="1"/>
              <c:tx>
                <c:rich>
                  <a:bodyPr/>
                  <a:lstStyle/>
                  <a:p>
                    <a:fld id="{D60CC9BB-F928-448E-8086-E6B6A8BC3943}" type="CELLRANGE">
                      <a:rPr lang="en-US"/>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2E-F7B2-4E42-BB39-D7D1D8505C2C}"/>
                </c:ext>
              </c:extLst>
            </c:dLbl>
            <c:dLbl>
              <c:idx val="2"/>
              <c:tx>
                <c:rich>
                  <a:bodyPr/>
                  <a:lstStyle/>
                  <a:p>
                    <a:fld id="{85267131-BC3A-4592-893F-270CD314ED17}" type="CELLRANGE">
                      <a:rPr lang="en-US"/>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2F-F7B2-4E42-BB39-D7D1D8505C2C}"/>
                </c:ext>
              </c:extLst>
            </c:dLbl>
            <c:dLbl>
              <c:idx val="3"/>
              <c:tx>
                <c:rich>
                  <a:bodyPr/>
                  <a:lstStyle/>
                  <a:p>
                    <a:fld id="{1C0B55FC-8A21-45A8-8A53-D10A63DB445D}" type="CELLRANGE">
                      <a:rPr lang="en-GB"/>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30-F7B2-4E42-BB39-D7D1D8505C2C}"/>
                </c:ext>
              </c:extLst>
            </c:dLbl>
            <c:dLbl>
              <c:idx val="4"/>
              <c:tx>
                <c:rich>
                  <a:bodyPr/>
                  <a:lstStyle/>
                  <a:p>
                    <a:fld id="{7925F702-99E0-42D7-B3F5-568C383F3FB0}" type="CELLRANGE">
                      <a:rPr lang="en-US"/>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31-F7B2-4E42-BB39-D7D1D8505C2C}"/>
                </c:ext>
              </c:extLst>
            </c:dLbl>
            <c:dLbl>
              <c:idx val="5"/>
              <c:tx>
                <c:rich>
                  <a:bodyPr/>
                  <a:lstStyle/>
                  <a:p>
                    <a:fld id="{E48C5EF8-C526-4D81-9692-1AF2ABB0BA83}" type="CELLRANGE">
                      <a:rPr lang="en-US"/>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32-F7B2-4E42-BB39-D7D1D8505C2C}"/>
                </c:ext>
              </c:extLst>
            </c:dLbl>
            <c:dLbl>
              <c:idx val="6"/>
              <c:tx>
                <c:rich>
                  <a:bodyPr/>
                  <a:lstStyle/>
                  <a:p>
                    <a:fld id="{064267BE-48F3-477E-8060-6AA9EFD5240B}" type="CELLRANGE">
                      <a:rPr lang="en-US"/>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33-F7B2-4E42-BB39-D7D1D8505C2C}"/>
                </c:ext>
              </c:extLst>
            </c:dLbl>
            <c:dLbl>
              <c:idx val="7"/>
              <c:tx>
                <c:rich>
                  <a:bodyPr/>
                  <a:lstStyle/>
                  <a:p>
                    <a:fld id="{145C4825-8886-4BDD-AF30-3E24C9E0BEDE}" type="CELLRANGE">
                      <a:rPr lang="en-GB"/>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34-F7B2-4E42-BB39-D7D1D8505C2C}"/>
                </c:ext>
              </c:extLst>
            </c:dLbl>
            <c:dLbl>
              <c:idx val="8"/>
              <c:tx>
                <c:rich>
                  <a:bodyPr/>
                  <a:lstStyle/>
                  <a:p>
                    <a:fld id="{5F7A74F0-208F-413F-B850-6B613DDA89C3}" type="CELLRANGE">
                      <a:rPr lang="en-US"/>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35-F7B2-4E42-BB39-D7D1D8505C2C}"/>
                </c:ext>
              </c:extLst>
            </c:dLbl>
            <c:dLbl>
              <c:idx val="9"/>
              <c:tx>
                <c:rich>
                  <a:bodyPr/>
                  <a:lstStyle/>
                  <a:p>
                    <a:fld id="{0E668B02-E8EB-4CD5-B9A1-E9A0A7A70567}" type="CELLRANGE">
                      <a:rPr lang="en-US"/>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36-F7B2-4E42-BB39-D7D1D8505C2C}"/>
                </c:ext>
              </c:extLst>
            </c:dLbl>
            <c:dLbl>
              <c:idx val="10"/>
              <c:tx>
                <c:rich>
                  <a:bodyPr/>
                  <a:lstStyle/>
                  <a:p>
                    <a:fld id="{530914DC-5177-4F54-8C37-841BFB252586}" type="CELLRANGE">
                      <a:rPr lang="en-US"/>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37-F7B2-4E42-BB39-D7D1D8505C2C}"/>
                </c:ext>
              </c:extLst>
            </c:dLbl>
            <c:dLbl>
              <c:idx val="11"/>
              <c:tx>
                <c:rich>
                  <a:bodyPr/>
                  <a:lstStyle/>
                  <a:p>
                    <a:fld id="{32BA5DFE-6EDE-4484-88BD-BEA29E041F6C}" type="CELLRANGE">
                      <a:rPr lang="en-GB"/>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38-F7B2-4E42-BB39-D7D1D8505C2C}"/>
                </c:ext>
              </c:extLst>
            </c:dLbl>
            <c:dLbl>
              <c:idx val="12"/>
              <c:layout>
                <c:manualLayout>
                  <c:x val="-9.9557180077873415E-17"/>
                  <c:y val="-0.11557141171237423"/>
                </c:manualLayout>
              </c:layout>
              <c:tx>
                <c:rich>
                  <a:bodyPr/>
                  <a:lstStyle/>
                  <a:p>
                    <a:fld id="{32BE75DA-47EF-4600-8F5C-EE8679A99044}"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2C-F7B2-4E42-BB39-D7D1D8505C2C}"/>
                </c:ext>
              </c:extLst>
            </c:dLbl>
            <c:dLbl>
              <c:idx val="13"/>
              <c:layout>
                <c:manualLayout>
                  <c:x val="0"/>
                  <c:y val="-0.1067320797977951"/>
                </c:manualLayout>
              </c:layout>
              <c:tx>
                <c:rich>
                  <a:bodyPr/>
                  <a:lstStyle/>
                  <a:p>
                    <a:fld id="{E4552AE2-15D5-4CC8-9C40-6EF5B8FAAD5A}"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39-F7B2-4E42-BB39-D7D1D8505C2C}"/>
                </c:ext>
              </c:extLst>
            </c:dLbl>
            <c:dLbl>
              <c:idx val="14"/>
              <c:layout>
                <c:manualLayout>
                  <c:x val="1.3576135932396262E-3"/>
                  <c:y val="-0.11458580545429309"/>
                </c:manualLayout>
              </c:layout>
              <c:tx>
                <c:rich>
                  <a:bodyPr/>
                  <a:lstStyle/>
                  <a:p>
                    <a:fld id="{A1CE534F-6AD6-4709-BF35-07FDD1CA5E05}"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3A-F7B2-4E42-BB39-D7D1D8505C2C}"/>
                </c:ext>
              </c:extLst>
            </c:dLbl>
            <c:dLbl>
              <c:idx val="15"/>
              <c:tx>
                <c:rich>
                  <a:bodyPr/>
                  <a:lstStyle/>
                  <a:p>
                    <a:fld id="{32DD6950-D7E8-4C8E-83DB-90DA5F94058B}" type="CELLRANGE">
                      <a:rPr lang="en-GB"/>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3B-F7B2-4E42-BB39-D7D1D8505C2C}"/>
                </c:ext>
              </c:extLst>
            </c:dLbl>
            <c:dLbl>
              <c:idx val="16"/>
              <c:tx>
                <c:rich>
                  <a:bodyPr/>
                  <a:lstStyle/>
                  <a:p>
                    <a:fld id="{C0629AC8-3576-4813-81A2-8CFCC882BE0F}" type="CELLRANGE">
                      <a:rPr lang="en-US"/>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3C-F7B2-4E42-BB39-D7D1D8505C2C}"/>
                </c:ext>
              </c:extLst>
            </c:dLbl>
            <c:dLbl>
              <c:idx val="17"/>
              <c:tx>
                <c:rich>
                  <a:bodyPr/>
                  <a:lstStyle/>
                  <a:p>
                    <a:fld id="{81BEE52A-9A95-4E8F-B8B6-7DC1E48F7FA6}" type="CELLRANGE">
                      <a:rPr lang="en-US"/>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3D-F7B2-4E42-BB39-D7D1D8505C2C}"/>
                </c:ext>
              </c:extLst>
            </c:dLbl>
            <c:dLbl>
              <c:idx val="18"/>
              <c:tx>
                <c:rich>
                  <a:bodyPr/>
                  <a:lstStyle/>
                  <a:p>
                    <a:fld id="{040F1E28-E0C7-4BB7-A957-5EF5CCF6F587}" type="CELLRANGE">
                      <a:rPr lang="en-US"/>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3E-F7B2-4E42-BB39-D7D1D8505C2C}"/>
                </c:ext>
              </c:extLst>
            </c:dLbl>
            <c:dLbl>
              <c:idx val="19"/>
              <c:tx>
                <c:rich>
                  <a:bodyPr/>
                  <a:lstStyle/>
                  <a:p>
                    <a:fld id="{3512F80D-EC4C-4484-8F0D-DF5E93906C8D}" type="CELLRANGE">
                      <a:rPr lang="en-GB"/>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8-DF1B-4DEB-865D-C0427EC2992F}"/>
                </c:ext>
              </c:extLst>
            </c:dLbl>
            <c:dLbl>
              <c:idx val="20"/>
              <c:tx>
                <c:rich>
                  <a:bodyPr/>
                  <a:lstStyle/>
                  <a:p>
                    <a:fld id="{F36953E1-1945-45B3-BBCF-66ED4C25DAAC}" type="CELLRANGE">
                      <a:rPr lang="en-US"/>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9-DF1B-4DEB-865D-C0427EC2992F}"/>
                </c:ext>
              </c:extLst>
            </c:dLbl>
            <c:dLbl>
              <c:idx val="21"/>
              <c:tx>
                <c:rich>
                  <a:bodyPr/>
                  <a:lstStyle/>
                  <a:p>
                    <a:fld id="{C6D81271-BBD8-4FD7-A30E-B2A40AD95389}" type="CELLRANGE">
                      <a:rPr lang="en-US"/>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A-DF1B-4DEB-865D-C0427EC2992F}"/>
                </c:ext>
              </c:extLst>
            </c:dLbl>
            <c:dLbl>
              <c:idx val="22"/>
              <c:tx>
                <c:rich>
                  <a:bodyPr/>
                  <a:lstStyle/>
                  <a:p>
                    <a:fld id="{174AE3D0-F781-4AEB-9686-740601A921E9}" type="CELLRANGE">
                      <a:rPr lang="en-US"/>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B-DF1B-4DEB-865D-C0427EC2992F}"/>
                </c:ext>
              </c:extLst>
            </c:dLbl>
            <c:dLbl>
              <c:idx val="23"/>
              <c:tx>
                <c:rich>
                  <a:bodyPr/>
                  <a:lstStyle/>
                  <a:p>
                    <a:fld id="{C1E3371B-14BD-41A2-AA83-83E0E730CE8E}" type="CELLRANGE">
                      <a:rPr lang="en-GB"/>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C-DF1B-4DEB-865D-C0427EC2992F}"/>
                </c:ext>
              </c:extLst>
            </c:dLbl>
            <c:dLbl>
              <c:idx val="24"/>
              <c:tx>
                <c:rich>
                  <a:bodyPr/>
                  <a:lstStyle/>
                  <a:p>
                    <a:fld id="{D2BADA0A-A79D-4DF9-9F41-668A9F5C0A2A}" type="CELLRANGE">
                      <a:rPr lang="en-US"/>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D-DF1B-4DEB-865D-C0427EC2992F}"/>
                </c:ext>
              </c:extLst>
            </c:dLbl>
            <c:dLbl>
              <c:idx val="25"/>
              <c:tx>
                <c:rich>
                  <a:bodyPr/>
                  <a:lstStyle/>
                  <a:p>
                    <a:fld id="{2D28820D-E5E2-47D7-A96F-77FFDC7C6294}" type="CELLRANGE">
                      <a:rPr lang="en-US"/>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E-DF1B-4DEB-865D-C0427EC2992F}"/>
                </c:ext>
              </c:extLst>
            </c:dLbl>
            <c:dLbl>
              <c:idx val="26"/>
              <c:tx>
                <c:rich>
                  <a:bodyPr/>
                  <a:lstStyle/>
                  <a:p>
                    <a:fld id="{E8B2BFF7-7CDC-4D1D-A691-E4AFFD5185B4}" type="CELLRANGE">
                      <a:rPr lang="en-US"/>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F-DF1B-4DEB-865D-C0427EC2992F}"/>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Sheet1!$A$2:$A$28</c:f>
              <c:strCache>
                <c:ptCount val="27"/>
                <c:pt idx="0">
                  <c:v>heinz</c:v>
                </c:pt>
                <c:pt idx="1">
                  <c:v>heinz</c:v>
                </c:pt>
                <c:pt idx="2">
                  <c:v>heinz</c:v>
                </c:pt>
                <c:pt idx="4">
                  <c:v>hp</c:v>
                </c:pt>
                <c:pt idx="5">
                  <c:v>hp</c:v>
                </c:pt>
                <c:pt idx="6">
                  <c:v>hp</c:v>
                </c:pt>
                <c:pt idx="8">
                  <c:v>bulls eye</c:v>
                </c:pt>
                <c:pt idx="9">
                  <c:v>bulls eye</c:v>
                </c:pt>
                <c:pt idx="10">
                  <c:v>bulls eye</c:v>
                </c:pt>
                <c:pt idx="12">
                  <c:v>private label</c:v>
                </c:pt>
                <c:pt idx="13">
                  <c:v>private label</c:v>
                </c:pt>
                <c:pt idx="14">
                  <c:v>private label</c:v>
                </c:pt>
                <c:pt idx="16">
                  <c:v>levi roots</c:v>
                </c:pt>
                <c:pt idx="17">
                  <c:v>levi roots</c:v>
                </c:pt>
                <c:pt idx="18">
                  <c:v>levi roots</c:v>
                </c:pt>
                <c:pt idx="20">
                  <c:v>sweet baby rays</c:v>
                </c:pt>
                <c:pt idx="21">
                  <c:v>sweet baby rays</c:v>
                </c:pt>
                <c:pt idx="22">
                  <c:v>sweet baby rays</c:v>
                </c:pt>
                <c:pt idx="24">
                  <c:v>restofcategory</c:v>
                </c:pt>
                <c:pt idx="25">
                  <c:v>restofcategory</c:v>
                </c:pt>
                <c:pt idx="26">
                  <c:v>restofcategory</c:v>
                </c:pt>
              </c:strCache>
            </c:strRef>
          </c:cat>
          <c:val>
            <c:numRef>
              <c:f>Sheet1!$D$2:$D$28</c:f>
              <c:numCache>
                <c:formatCode>0.00</c:formatCode>
                <c:ptCount val="27"/>
                <c:pt idx="0">
                  <c:v>6.0133795699999997</c:v>
                </c:pt>
                <c:pt idx="1">
                  <c:v>4.8289399599999996</c:v>
                </c:pt>
                <c:pt idx="2">
                  <c:v>4.4711742700000006</c:v>
                </c:pt>
                <c:pt idx="3">
                  <c:v>0</c:v>
                </c:pt>
                <c:pt idx="4">
                  <c:v>5.0158265099999992</c:v>
                </c:pt>
                <c:pt idx="5">
                  <c:v>4.091848656999999</c:v>
                </c:pt>
                <c:pt idx="6">
                  <c:v>4.1587044760000005</c:v>
                </c:pt>
                <c:pt idx="7">
                  <c:v>0</c:v>
                </c:pt>
                <c:pt idx="8">
                  <c:v>5.2661960399999996</c:v>
                </c:pt>
                <c:pt idx="9">
                  <c:v>4.5568456700000004</c:v>
                </c:pt>
                <c:pt idx="10">
                  <c:v>4.7039732699999997</c:v>
                </c:pt>
                <c:pt idx="11">
                  <c:v>0</c:v>
                </c:pt>
                <c:pt idx="12">
                  <c:v>2.1418616400000001</c:v>
                </c:pt>
                <c:pt idx="13">
                  <c:v>1.5886060849999994</c:v>
                </c:pt>
                <c:pt idx="14">
                  <c:v>1.8430781799999996</c:v>
                </c:pt>
                <c:pt idx="15">
                  <c:v>0</c:v>
                </c:pt>
                <c:pt idx="16">
                  <c:v>6.6570827400000008</c:v>
                </c:pt>
                <c:pt idx="17">
                  <c:v>5.1934683999999995</c:v>
                </c:pt>
                <c:pt idx="18">
                  <c:v>4.7505226999999994</c:v>
                </c:pt>
                <c:pt idx="19">
                  <c:v>0</c:v>
                </c:pt>
                <c:pt idx="20">
                  <c:v>6.7400089399999992</c:v>
                </c:pt>
                <c:pt idx="21">
                  <c:v>6.0156345300000007</c:v>
                </c:pt>
                <c:pt idx="22">
                  <c:v>5.6409695899999992</c:v>
                </c:pt>
                <c:pt idx="23">
                  <c:v>0</c:v>
                </c:pt>
                <c:pt idx="24">
                  <c:v>5.5860286700000001</c:v>
                </c:pt>
                <c:pt idx="25">
                  <c:v>5.38458565</c:v>
                </c:pt>
                <c:pt idx="26">
                  <c:v>5.5882540399999998</c:v>
                </c:pt>
              </c:numCache>
            </c:numRef>
          </c:val>
          <c:extLst>
            <c:ext xmlns:c15="http://schemas.microsoft.com/office/drawing/2012/chart" uri="{02D57815-91ED-43cb-92C2-25804820EDAC}">
              <c15:datalabelsRange>
                <c15:f>Sheet1!$E$2:$E$28</c15:f>
                <c15:dlblRangeCache>
                  <c:ptCount val="27"/>
                  <c:pt idx="0">
                    <c:v>11.28</c:v>
                  </c:pt>
                  <c:pt idx="1">
                    <c:v>10.49</c:v>
                  </c:pt>
                  <c:pt idx="2">
                    <c:v>10.04</c:v>
                  </c:pt>
                  <c:pt idx="4">
                    <c:v>10.22</c:v>
                  </c:pt>
                  <c:pt idx="5">
                    <c:v>9.68</c:v>
                  </c:pt>
                  <c:pt idx="6">
                    <c:v>9.78</c:v>
                  </c:pt>
                  <c:pt idx="8">
                    <c:v>11.84</c:v>
                  </c:pt>
                  <c:pt idx="9">
                    <c:v>11.38</c:v>
                  </c:pt>
                  <c:pt idx="10">
                    <c:v>11.57</c:v>
                  </c:pt>
                  <c:pt idx="12">
                    <c:v>4.65</c:v>
                  </c:pt>
                  <c:pt idx="13">
                    <c:v>4.32</c:v>
                  </c:pt>
                  <c:pt idx="14">
                    <c:v>4.29</c:v>
                  </c:pt>
                  <c:pt idx="16">
                    <c:v>12.24</c:v>
                  </c:pt>
                  <c:pt idx="17">
                    <c:v>11.79</c:v>
                  </c:pt>
                  <c:pt idx="18">
                    <c:v>11.36</c:v>
                  </c:pt>
                  <c:pt idx="20">
                    <c:v>12.80</c:v>
                  </c:pt>
                  <c:pt idx="21">
                    <c:v>12.75</c:v>
                  </c:pt>
                  <c:pt idx="22">
                    <c:v>12.57</c:v>
                  </c:pt>
                  <c:pt idx="24">
                    <c:v>12.04</c:v>
                  </c:pt>
                  <c:pt idx="25">
                    <c:v>11.99</c:v>
                  </c:pt>
                  <c:pt idx="26">
                    <c:v>12.01</c:v>
                  </c:pt>
                </c15:dlblRangeCache>
              </c15:datalabelsRange>
            </c:ext>
            <c:ext xmlns:c16="http://schemas.microsoft.com/office/drawing/2014/chart" uri="{C3380CC4-5D6E-409C-BE32-E72D297353CC}">
              <c16:uniqueId val="{00000053-F7B2-4E42-BB39-D7D1D8505C2C}"/>
            </c:ext>
          </c:extLst>
        </c:ser>
        <c:dLbls>
          <c:showLegendKey val="0"/>
          <c:showVal val="0"/>
          <c:showCatName val="0"/>
          <c:showSerName val="0"/>
          <c:showPercent val="0"/>
          <c:showBubbleSize val="0"/>
        </c:dLbls>
        <c:gapWidth val="20"/>
        <c:overlap val="100"/>
        <c:axId val="624022336"/>
        <c:axId val="730110688"/>
      </c:barChart>
      <c:catAx>
        <c:axId val="624022336"/>
        <c:scaling>
          <c:orientation val="minMax"/>
        </c:scaling>
        <c:delete val="1"/>
        <c:axPos val="b"/>
        <c:numFmt formatCode="General" sourceLinked="1"/>
        <c:majorTickMark val="out"/>
        <c:minorTickMark val="none"/>
        <c:tickLblPos val="nextTo"/>
        <c:crossAx val="730110688"/>
        <c:crosses val="autoZero"/>
        <c:auto val="1"/>
        <c:lblAlgn val="ctr"/>
        <c:lblOffset val="100"/>
        <c:noMultiLvlLbl val="0"/>
      </c:catAx>
      <c:valAx>
        <c:axId val="730110688"/>
        <c:scaling>
          <c:orientation val="minMax"/>
        </c:scaling>
        <c:delete val="1"/>
        <c:axPos val="l"/>
        <c:numFmt formatCode="0.00" sourceLinked="1"/>
        <c:majorTickMark val="none"/>
        <c:minorTickMark val="none"/>
        <c:tickLblPos val="nextTo"/>
        <c:crossAx val="62402233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575998128350971E-3"/>
          <c:y val="0.16594390893877878"/>
          <c:w val="0.98761866633523798"/>
          <c:h val="0.5346790394627231"/>
        </c:manualLayout>
      </c:layout>
      <c:barChart>
        <c:barDir val="col"/>
        <c:grouping val="stacked"/>
        <c:varyColors val="0"/>
        <c:ser>
          <c:idx val="0"/>
          <c:order val="0"/>
          <c:tx>
            <c:strRef>
              <c:f>Sheet1!$B$1</c:f>
              <c:strCache>
                <c:ptCount val="1"/>
                <c:pt idx="0">
                  <c:v>Price</c:v>
                </c:pt>
              </c:strCache>
            </c:strRef>
          </c:tx>
          <c:spPr>
            <a:solidFill>
              <a:schemeClr val="accent1"/>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3A6E-4D0E-B2FF-684C85E66241}"/>
              </c:ext>
            </c:extLst>
          </c:dPt>
          <c:dPt>
            <c:idx val="1"/>
            <c:invertIfNegative val="0"/>
            <c:bubble3D val="0"/>
            <c:spPr>
              <a:solidFill>
                <a:schemeClr val="accent1"/>
              </a:solidFill>
              <a:ln>
                <a:noFill/>
              </a:ln>
              <a:effectLst/>
            </c:spPr>
            <c:extLst>
              <c:ext xmlns:c16="http://schemas.microsoft.com/office/drawing/2014/chart" uri="{C3380CC4-5D6E-409C-BE32-E72D297353CC}">
                <c16:uniqueId val="{00000003-3A6E-4D0E-B2FF-684C85E66241}"/>
              </c:ext>
            </c:extLst>
          </c:dPt>
          <c:dPt>
            <c:idx val="3"/>
            <c:invertIfNegative val="0"/>
            <c:bubble3D val="0"/>
            <c:spPr>
              <a:solidFill>
                <a:schemeClr val="accent1"/>
              </a:solidFill>
              <a:ln>
                <a:noFill/>
              </a:ln>
              <a:effectLst/>
            </c:spPr>
            <c:extLst>
              <c:ext xmlns:c16="http://schemas.microsoft.com/office/drawing/2014/chart" uri="{C3380CC4-5D6E-409C-BE32-E72D297353CC}">
                <c16:uniqueId val="{00000005-7E94-4FC0-855F-6145A60E1F7E}"/>
              </c:ext>
            </c:extLst>
          </c:dPt>
          <c:dLbls>
            <c:dLbl>
              <c:idx val="3"/>
              <c:layout>
                <c:manualLayout>
                  <c:x val="0"/>
                  <c:y val="-5.5208701934738964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E94-4FC0-855F-6145A60E1F7E}"/>
                </c:ext>
              </c:extLst>
            </c:dLbl>
            <c:numFmt formatCode="#,##0.00" sourceLinked="0"/>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HEINZ</c:v>
                </c:pt>
                <c:pt idx="1">
                  <c:v>PRIVATE LABEL</c:v>
                </c:pt>
                <c:pt idx="3">
                  <c:v>HEINZ</c:v>
                </c:pt>
                <c:pt idx="4">
                  <c:v>PRIVATE LABEL</c:v>
                </c:pt>
              </c:strCache>
            </c:strRef>
          </c:cat>
          <c:val>
            <c:numRef>
              <c:f>Sheet1!$B$2:$B$6</c:f>
              <c:numCache>
                <c:formatCode>#,##0.0</c:formatCode>
                <c:ptCount val="5"/>
                <c:pt idx="0">
                  <c:v>6.0336609313086145</c:v>
                </c:pt>
                <c:pt idx="1">
                  <c:v>2.778535958897618</c:v>
                </c:pt>
                <c:pt idx="3">
                  <c:v>5.9515503257389728</c:v>
                </c:pt>
                <c:pt idx="4">
                  <c:v>2.6525037872133659</c:v>
                </c:pt>
              </c:numCache>
            </c:numRef>
          </c:val>
          <c:extLst>
            <c:ext xmlns:c16="http://schemas.microsoft.com/office/drawing/2014/chart" uri="{C3380CC4-5D6E-409C-BE32-E72D297353CC}">
              <c16:uniqueId val="{0000002A-3A6E-4D0E-B2FF-684C85E66241}"/>
            </c:ext>
          </c:extLst>
        </c:ser>
        <c:ser>
          <c:idx val="1"/>
          <c:order val="1"/>
          <c:tx>
            <c:strRef>
              <c:f>Sheet1!$C$1</c:f>
              <c:strCache>
                <c:ptCount val="1"/>
                <c:pt idx="0">
                  <c:v>CSF</c:v>
                </c:pt>
              </c:strCache>
            </c:strRef>
          </c:tx>
          <c:spPr>
            <a:solidFill>
              <a:schemeClr val="accent2"/>
            </a:solidFill>
            <a:ln>
              <a:noFill/>
            </a:ln>
            <a:effectLst/>
          </c:spPr>
          <c:invertIfNegative val="0"/>
          <c:dLbls>
            <c:dLbl>
              <c:idx val="0"/>
              <c:layout>
                <c:manualLayout>
                  <c:x val="-5.4125751152570925E-18"/>
                  <c:y val="-2.2669910214131516E-2"/>
                </c:manualLayout>
              </c:layout>
              <c:tx>
                <c:rich>
                  <a:bodyPr/>
                  <a:lstStyle/>
                  <a:p>
                    <a:fld id="{B882239F-FCA9-4BD6-9713-ECA9C6E79B88}" type="CELLRANGE">
                      <a:rPr lang="en-US"/>
                      <a:pPr/>
                      <a:t>[CELLRANGE]</a:t>
                    </a:fld>
                    <a:endParaRPr 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2B-3A6E-4D0E-B2FF-684C85E66241}"/>
                </c:ext>
              </c:extLst>
            </c:dLbl>
            <c:dLbl>
              <c:idx val="1"/>
              <c:layout>
                <c:manualLayout>
                  <c:x val="-1.0825150230514185E-17"/>
                  <c:y val="-1.1041740386947793E-2"/>
                </c:manualLayout>
              </c:layout>
              <c:tx>
                <c:rich>
                  <a:bodyPr/>
                  <a:lstStyle/>
                  <a:p>
                    <a:fld id="{E4D6CC3F-2810-4216-AAC7-979413DAB901}" type="CELLRANGE">
                      <a:rPr lang="en-US"/>
                      <a:pPr/>
                      <a:t>[CELLRANGE]</a:t>
                    </a:fld>
                    <a:endParaRPr 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2C-3A6E-4D0E-B2FF-684C85E66241}"/>
                </c:ext>
              </c:extLst>
            </c:dLbl>
            <c:dLbl>
              <c:idx val="2"/>
              <c:tx>
                <c:rich>
                  <a:bodyPr/>
                  <a:lstStyle/>
                  <a:p>
                    <a:endParaRPr lang="en-US"/>
                  </a:p>
                </c:rich>
              </c:tx>
              <c:showLegendKey val="0"/>
              <c:showVal val="0"/>
              <c:showCatName val="0"/>
              <c:showSerName val="0"/>
              <c:showPercent val="0"/>
              <c:showBubbleSize val="0"/>
              <c:extLst>
                <c:ext xmlns:c15="http://schemas.microsoft.com/office/drawing/2012/chart" uri="{CE6537A1-D6FC-4f65-9D91-7224C49458BB}">
                  <c15:xForSave val="1"/>
                  <c15:showDataLabelsRange val="1"/>
                </c:ext>
                <c:ext xmlns:c16="http://schemas.microsoft.com/office/drawing/2014/chart" uri="{C3380CC4-5D6E-409C-BE32-E72D297353CC}">
                  <c16:uniqueId val="{0000002D-3A6E-4D0E-B2FF-684C85E66241}"/>
                </c:ext>
              </c:extLst>
            </c:dLbl>
            <c:dLbl>
              <c:idx val="3"/>
              <c:layout>
                <c:manualLayout>
                  <c:x val="0"/>
                  <c:y val="-2.7604350967369483E-2"/>
                </c:manualLayout>
              </c:layout>
              <c:tx>
                <c:rich>
                  <a:bodyPr/>
                  <a:lstStyle/>
                  <a:p>
                    <a:fld id="{FF4B5E7D-C519-4825-A133-020B496B67FA}" type="CELLRANGE">
                      <a:rPr lang="en-US"/>
                      <a:pPr/>
                      <a:t>[CELLRANGE]</a:t>
                    </a:fld>
                    <a:endParaRPr 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2E-3A6E-4D0E-B2FF-684C85E66241}"/>
                </c:ext>
              </c:extLst>
            </c:dLbl>
            <c:dLbl>
              <c:idx val="4"/>
              <c:tx>
                <c:rich>
                  <a:bodyPr/>
                  <a:lstStyle/>
                  <a:p>
                    <a:fld id="{6CA916C0-20CC-48DC-89D8-9F8BC2075F49}" type="CELLRANGE">
                      <a:rPr lang="en-US"/>
                      <a:pPr/>
                      <a:t>[CELLRANGE]</a:t>
                    </a:fld>
                    <a:endParaRPr lang="en-US"/>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2F-3A6E-4D0E-B2FF-684C85E66241}"/>
                </c:ext>
              </c:extLst>
            </c:dLbl>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cat>
            <c:strRef>
              <c:f>Sheet1!$A$2:$A$6</c:f>
              <c:strCache>
                <c:ptCount val="5"/>
                <c:pt idx="0">
                  <c:v>HEINZ</c:v>
                </c:pt>
                <c:pt idx="1">
                  <c:v>PRIVATE LABEL</c:v>
                </c:pt>
                <c:pt idx="3">
                  <c:v>HEINZ</c:v>
                </c:pt>
                <c:pt idx="4">
                  <c:v>PRIVATE LABEL</c:v>
                </c:pt>
              </c:strCache>
            </c:strRef>
          </c:cat>
          <c:val>
            <c:numRef>
              <c:f>Sheet1!$C$2:$C$6</c:f>
              <c:numCache>
                <c:formatCode>General</c:formatCode>
                <c:ptCount val="5"/>
                <c:pt idx="0">
                  <c:v>0</c:v>
                </c:pt>
                <c:pt idx="1">
                  <c:v>0</c:v>
                </c:pt>
                <c:pt idx="3">
                  <c:v>0</c:v>
                </c:pt>
                <c:pt idx="4">
                  <c:v>0</c:v>
                </c:pt>
              </c:numCache>
            </c:numRef>
          </c:val>
          <c:extLst>
            <c:ext xmlns:c15="http://schemas.microsoft.com/office/drawing/2012/chart" uri="{02D57815-91ED-43cb-92C2-25804820EDAC}">
              <c15:datalabelsRange>
                <c15:f>Sheet1!$G$2:$G$6</c15:f>
                <c15:dlblRangeCache>
                  <c:ptCount val="5"/>
                  <c:pt idx="0">
                    <c:v>2.13</c:v>
                  </c:pt>
                  <c:pt idx="1">
                    <c:v>2.26</c:v>
                  </c:pt>
                  <c:pt idx="3">
                    <c:v>2.24</c:v>
                  </c:pt>
                  <c:pt idx="4">
                    <c:v>2.47</c:v>
                  </c:pt>
                </c15:dlblRangeCache>
              </c15:datalabelsRange>
            </c:ext>
            <c:ext xmlns:c16="http://schemas.microsoft.com/office/drawing/2014/chart" uri="{C3380CC4-5D6E-409C-BE32-E72D297353CC}">
              <c16:uniqueId val="{00000042-3A6E-4D0E-B2FF-684C85E66241}"/>
            </c:ext>
          </c:extLst>
        </c:ser>
        <c:ser>
          <c:idx val="2"/>
          <c:order val="2"/>
          <c:tx>
            <c:strRef>
              <c:f>Sheet1!$D$1</c:f>
              <c:strCache>
                <c:ptCount val="1"/>
                <c:pt idx="0">
                  <c:v>MCV</c:v>
                </c:pt>
              </c:strCache>
            </c:strRef>
          </c:tx>
          <c:spPr>
            <a:solidFill>
              <a:srgbClr val="DCEAF7"/>
            </a:solidFill>
            <a:ln w="19050">
              <a:solidFill>
                <a:schemeClr val="accent1"/>
              </a:solidFill>
            </a:ln>
            <a:effectLst/>
          </c:spPr>
          <c:invertIfNegative val="0"/>
          <c:dPt>
            <c:idx val="0"/>
            <c:invertIfNegative val="0"/>
            <c:bubble3D val="0"/>
            <c:spPr>
              <a:solidFill>
                <a:srgbClr val="DCEAF7"/>
              </a:solidFill>
              <a:ln w="19050">
                <a:solidFill>
                  <a:schemeClr val="accent1"/>
                </a:solidFill>
              </a:ln>
              <a:effectLst/>
            </c:spPr>
            <c:extLst>
              <c:ext xmlns:c16="http://schemas.microsoft.com/office/drawing/2014/chart" uri="{C3380CC4-5D6E-409C-BE32-E72D297353CC}">
                <c16:uniqueId val="{00000044-3A6E-4D0E-B2FF-684C85E66241}"/>
              </c:ext>
            </c:extLst>
          </c:dPt>
          <c:dPt>
            <c:idx val="1"/>
            <c:invertIfNegative val="0"/>
            <c:bubble3D val="0"/>
            <c:spPr>
              <a:solidFill>
                <a:srgbClr val="DCEAF7"/>
              </a:solidFill>
              <a:ln w="19050">
                <a:solidFill>
                  <a:schemeClr val="accent1"/>
                </a:solidFill>
              </a:ln>
              <a:effectLst/>
            </c:spPr>
            <c:extLst>
              <c:ext xmlns:c16="http://schemas.microsoft.com/office/drawing/2014/chart" uri="{C3380CC4-5D6E-409C-BE32-E72D297353CC}">
                <c16:uniqueId val="{00000046-3A6E-4D0E-B2FF-684C85E66241}"/>
              </c:ext>
            </c:extLst>
          </c:dPt>
          <c:dPt>
            <c:idx val="3"/>
            <c:invertIfNegative val="0"/>
            <c:bubble3D val="0"/>
            <c:spPr>
              <a:solidFill>
                <a:srgbClr val="DCEAF7"/>
              </a:solidFill>
              <a:ln w="19050">
                <a:solidFill>
                  <a:schemeClr val="accent1"/>
                </a:solidFill>
              </a:ln>
              <a:effectLst/>
            </c:spPr>
            <c:extLst>
              <c:ext xmlns:c16="http://schemas.microsoft.com/office/drawing/2014/chart" uri="{C3380CC4-5D6E-409C-BE32-E72D297353CC}">
                <c16:uniqueId val="{0000004A-3A6E-4D0E-B2FF-684C85E66241}"/>
              </c:ext>
            </c:extLst>
          </c:dPt>
          <c:dLbls>
            <c:dLbl>
              <c:idx val="0"/>
              <c:layout>
                <c:manualLayout>
                  <c:x val="-1.1809391218443595E-3"/>
                  <c:y val="-0.13796871880734707"/>
                </c:manualLayout>
              </c:layout>
              <c:tx>
                <c:rich>
                  <a:bodyPr/>
                  <a:lstStyle/>
                  <a:p>
                    <a:fld id="{CA920459-E788-441D-B0E3-2C138E5C0F05}"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44-3A6E-4D0E-B2FF-684C85E66241}"/>
                </c:ext>
              </c:extLst>
            </c:dLbl>
            <c:dLbl>
              <c:idx val="1"/>
              <c:layout>
                <c:manualLayout>
                  <c:x val="-3.5428173655331109E-3"/>
                  <c:y val="-9.3981132673755546E-2"/>
                </c:manualLayout>
              </c:layout>
              <c:tx>
                <c:rich>
                  <a:bodyPr/>
                  <a:lstStyle/>
                  <a:p>
                    <a:fld id="{4A6A9110-ADB9-4DF2-8D3C-FA9445BE4F83}"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46-3A6E-4D0E-B2FF-684C85E66241}"/>
                </c:ext>
              </c:extLst>
            </c:dLbl>
            <c:dLbl>
              <c:idx val="2"/>
              <c:tx>
                <c:rich>
                  <a:bodyPr/>
                  <a:lstStyle/>
                  <a:p>
                    <a:endParaRPr lang="en-US"/>
                  </a:p>
                </c:rich>
              </c:tx>
              <c:dLblPos val="inEnd"/>
              <c:showLegendKey val="0"/>
              <c:showVal val="0"/>
              <c:showCatName val="0"/>
              <c:showSerName val="0"/>
              <c:showPercent val="0"/>
              <c:showBubbleSize val="0"/>
              <c:extLst>
                <c:ext xmlns:c15="http://schemas.microsoft.com/office/drawing/2012/chart" uri="{CE6537A1-D6FC-4f65-9D91-7224C49458BB}">
                  <c15:xForSave val="1"/>
                  <c15:showDataLabelsRange val="1"/>
                </c:ext>
                <c:ext xmlns:c16="http://schemas.microsoft.com/office/drawing/2014/chart" uri="{C3380CC4-5D6E-409C-BE32-E72D297353CC}">
                  <c16:uniqueId val="{00000048-3A6E-4D0E-B2FF-684C85E66241}"/>
                </c:ext>
              </c:extLst>
            </c:dLbl>
            <c:dLbl>
              <c:idx val="3"/>
              <c:layout>
                <c:manualLayout>
                  <c:x val="-2.3618782436888273E-3"/>
                  <c:y val="-0.15296754199996521"/>
                </c:manualLayout>
              </c:layout>
              <c:tx>
                <c:rich>
                  <a:bodyPr/>
                  <a:lstStyle/>
                  <a:p>
                    <a:fld id="{9E17AB8B-20A8-4989-839F-0B9DB73D0661}"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4A-3A6E-4D0E-B2FF-684C85E66241}"/>
                </c:ext>
              </c:extLst>
            </c:dLbl>
            <c:dLbl>
              <c:idx val="4"/>
              <c:layout>
                <c:manualLayout>
                  <c:x val="-2.3618782436889136E-3"/>
                  <c:y val="-0.10337058178052083"/>
                </c:manualLayout>
              </c:layout>
              <c:tx>
                <c:rich>
                  <a:bodyPr/>
                  <a:lstStyle/>
                  <a:p>
                    <a:fld id="{C616B496-63B4-48F1-B3C5-A4AD53A7145C}"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4C-3A6E-4D0E-B2FF-684C85E66241}"/>
                </c:ext>
              </c:extLst>
            </c:dLbl>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cat>
            <c:strRef>
              <c:f>Sheet1!$A$2:$A$6</c:f>
              <c:strCache>
                <c:ptCount val="5"/>
                <c:pt idx="0">
                  <c:v>HEINZ</c:v>
                </c:pt>
                <c:pt idx="1">
                  <c:v>PRIVATE LABEL</c:v>
                </c:pt>
                <c:pt idx="3">
                  <c:v>HEINZ</c:v>
                </c:pt>
                <c:pt idx="4">
                  <c:v>PRIVATE LABEL</c:v>
                </c:pt>
              </c:strCache>
            </c:strRef>
          </c:cat>
          <c:val>
            <c:numRef>
              <c:f>Sheet1!$D$2:$D$6</c:f>
              <c:numCache>
                <c:formatCode>#,##0.0</c:formatCode>
                <c:ptCount val="5"/>
                <c:pt idx="0">
                  <c:v>6.7922739227194855</c:v>
                </c:pt>
                <c:pt idx="1">
                  <c:v>3.4976127884187322</c:v>
                </c:pt>
                <c:pt idx="3">
                  <c:v>7.4070784920910278</c:v>
                </c:pt>
                <c:pt idx="4">
                  <c:v>3.8919877800595941</c:v>
                </c:pt>
              </c:numCache>
            </c:numRef>
          </c:val>
          <c:extLst>
            <c:ext xmlns:c15="http://schemas.microsoft.com/office/drawing/2012/chart" uri="{02D57815-91ED-43cb-92C2-25804820EDAC}">
              <c15:datalabelsRange>
                <c15:f>Sheet1!$F$2:$F$6</c15:f>
                <c15:dlblRangeCache>
                  <c:ptCount val="5"/>
                  <c:pt idx="0">
                    <c:v>12.83</c:v>
                  </c:pt>
                  <c:pt idx="1">
                    <c:v>6.28</c:v>
                  </c:pt>
                  <c:pt idx="3">
                    <c:v>13.36</c:v>
                  </c:pt>
                  <c:pt idx="4">
                    <c:v>6.54</c:v>
                  </c:pt>
                </c15:dlblRangeCache>
              </c15:datalabelsRange>
            </c:ext>
            <c:ext xmlns:c16="http://schemas.microsoft.com/office/drawing/2014/chart" uri="{C3380CC4-5D6E-409C-BE32-E72D297353CC}">
              <c16:uniqueId val="{0000006F-3A6E-4D0E-B2FF-684C85E66241}"/>
            </c:ext>
          </c:extLst>
        </c:ser>
        <c:dLbls>
          <c:showLegendKey val="0"/>
          <c:showVal val="0"/>
          <c:showCatName val="0"/>
          <c:showSerName val="0"/>
          <c:showPercent val="0"/>
          <c:showBubbleSize val="0"/>
        </c:dLbls>
        <c:gapWidth val="55"/>
        <c:overlap val="100"/>
        <c:axId val="624022336"/>
        <c:axId val="730110688"/>
      </c:barChart>
      <c:catAx>
        <c:axId val="62402233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700" b="0" i="0" u="none" strike="noStrike" kern="1200" baseline="0">
                <a:solidFill>
                  <a:schemeClr val="tx1">
                    <a:lumMod val="65000"/>
                    <a:lumOff val="35000"/>
                  </a:schemeClr>
                </a:solidFill>
                <a:latin typeface="+mn-lt"/>
                <a:ea typeface="+mn-ea"/>
                <a:cs typeface="+mn-cs"/>
              </a:defRPr>
            </a:pPr>
            <a:endParaRPr lang="en-US"/>
          </a:p>
        </c:txPr>
        <c:crossAx val="730110688"/>
        <c:crosses val="autoZero"/>
        <c:auto val="1"/>
        <c:lblAlgn val="ctr"/>
        <c:lblOffset val="100"/>
        <c:noMultiLvlLbl val="0"/>
      </c:catAx>
      <c:valAx>
        <c:axId val="730110688"/>
        <c:scaling>
          <c:orientation val="minMax"/>
        </c:scaling>
        <c:delete val="1"/>
        <c:axPos val="l"/>
        <c:numFmt formatCode="#,##0.0" sourceLinked="1"/>
        <c:majorTickMark val="none"/>
        <c:minorTickMark val="none"/>
        <c:tickLblPos val="nextTo"/>
        <c:crossAx val="62402233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6.9746308216584632E-2"/>
          <c:w val="0.98334335960859709"/>
          <c:h val="0.92123635801880965"/>
        </c:manualLayout>
      </c:layout>
      <c:barChart>
        <c:barDir val="col"/>
        <c:grouping val="stacked"/>
        <c:varyColors val="0"/>
        <c:ser>
          <c:idx val="0"/>
          <c:order val="0"/>
          <c:tx>
            <c:strRef>
              <c:f>Sheet1!$B$1</c:f>
              <c:strCache>
                <c:ptCount val="1"/>
                <c:pt idx="0">
                  <c:v>Price</c:v>
                </c:pt>
              </c:strCache>
            </c:strRef>
          </c:tx>
          <c:spPr>
            <a:solidFill>
              <a:schemeClr val="accent1"/>
            </a:solidFill>
            <a:ln>
              <a:noFill/>
            </a:ln>
            <a:effectLst/>
          </c:spPr>
          <c:invertIfNegative val="0"/>
          <c:dPt>
            <c:idx val="1"/>
            <c:invertIfNegative val="0"/>
            <c:bubble3D val="0"/>
            <c:spPr>
              <a:solidFill>
                <a:schemeClr val="accent1"/>
              </a:solidFill>
              <a:ln>
                <a:noFill/>
              </a:ln>
              <a:effectLst/>
            </c:spPr>
            <c:extLst>
              <c:ext xmlns:c16="http://schemas.microsoft.com/office/drawing/2014/chart" uri="{C3380CC4-5D6E-409C-BE32-E72D297353CC}">
                <c16:uniqueId val="{00000001-ABD7-417F-978D-2A6B40421357}"/>
              </c:ext>
            </c:extLst>
          </c:dPt>
          <c:dPt>
            <c:idx val="2"/>
            <c:invertIfNegative val="0"/>
            <c:bubble3D val="0"/>
            <c:spPr>
              <a:solidFill>
                <a:schemeClr val="accent1"/>
              </a:solidFill>
              <a:ln>
                <a:noFill/>
              </a:ln>
              <a:effectLst/>
            </c:spPr>
            <c:extLst>
              <c:ext xmlns:c16="http://schemas.microsoft.com/office/drawing/2014/chart" uri="{C3380CC4-5D6E-409C-BE32-E72D297353CC}">
                <c16:uniqueId val="{00000003-ABD7-417F-978D-2A6B40421357}"/>
              </c:ext>
            </c:extLst>
          </c:dPt>
          <c:cat>
            <c:strRef>
              <c:f>Sheet1!$A$2:$A$4</c:f>
              <c:strCache>
                <c:ptCount val="3"/>
                <c:pt idx="0">
                  <c:v>Brand 1</c:v>
                </c:pt>
                <c:pt idx="1">
                  <c:v>Brand 1</c:v>
                </c:pt>
                <c:pt idx="2">
                  <c:v>Brand 1</c:v>
                </c:pt>
              </c:strCache>
            </c:strRef>
          </c:cat>
          <c:val>
            <c:numRef>
              <c:f>Sheet1!$B$2:$B$4</c:f>
              <c:numCache>
                <c:formatCode>_ * #,##0.0_ ;_ * \-#,##0.0_ ;_ * "-"??_ ;_ @_ </c:formatCode>
                <c:ptCount val="3"/>
                <c:pt idx="0">
                  <c:v>1</c:v>
                </c:pt>
                <c:pt idx="1">
                  <c:v>1</c:v>
                </c:pt>
                <c:pt idx="2">
                  <c:v>1</c:v>
                </c:pt>
              </c:numCache>
            </c:numRef>
          </c:val>
          <c:extLst>
            <c:ext xmlns:c16="http://schemas.microsoft.com/office/drawing/2014/chart" uri="{C3380CC4-5D6E-409C-BE32-E72D297353CC}">
              <c16:uniqueId val="{00000004-ABD7-417F-978D-2A6B40421357}"/>
            </c:ext>
          </c:extLst>
        </c:ser>
        <c:ser>
          <c:idx val="1"/>
          <c:order val="1"/>
          <c:tx>
            <c:strRef>
              <c:f>Sheet1!$C$1</c:f>
              <c:strCache>
                <c:ptCount val="1"/>
                <c:pt idx="0">
                  <c:v>CSF</c:v>
                </c:pt>
              </c:strCache>
            </c:strRef>
          </c:tx>
          <c:spPr>
            <a:solidFill>
              <a:schemeClr val="accent2"/>
            </a:solidFill>
            <a:ln>
              <a:noFill/>
            </a:ln>
            <a:effectLst/>
          </c:spPr>
          <c:invertIfNegative val="0"/>
          <c:dLbls>
            <c:dLbl>
              <c:idx val="0"/>
              <c:tx>
                <c:rich>
                  <a:bodyPr/>
                  <a:lstStyle/>
                  <a:p>
                    <a:fld id="{799C50CC-A9BC-42C9-836B-84598EF69861}"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5-ABD7-417F-978D-2A6B40421357}"/>
                </c:ext>
              </c:extLst>
            </c:dLbl>
            <c:dLbl>
              <c:idx val="1"/>
              <c:tx>
                <c:rich>
                  <a:bodyPr/>
                  <a:lstStyle/>
                  <a:p>
                    <a:fld id="{62385F8E-D5CC-4821-BE7F-312EF4F04322}"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6-ABD7-417F-978D-2A6B40421357}"/>
                </c:ext>
              </c:extLst>
            </c:dLbl>
            <c:dLbl>
              <c:idx val="2"/>
              <c:tx>
                <c:rich>
                  <a:bodyPr/>
                  <a:lstStyle/>
                  <a:p>
                    <a:fld id="{260D0918-2AD0-42C4-BD70-DBD07EBB2125}"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7-ABD7-417F-978D-2A6B40421357}"/>
                </c:ext>
              </c:extLst>
            </c:dLbl>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700" b="1" i="0" u="none" strike="noStrike" kern="1200" baseline="0">
                    <a:solidFill>
                      <a:schemeClr val="tx1"/>
                    </a:solidFill>
                    <a:latin typeface="+mn-lt"/>
                    <a:ea typeface="+mn-ea"/>
                    <a:cs typeface="+mn-cs"/>
                  </a:defRPr>
                </a:pPr>
                <a:endParaRPr lang="en-US"/>
              </a:p>
            </c:txPr>
            <c:dLblPos val="ct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cat>
            <c:strRef>
              <c:f>Sheet1!$A$2:$A$4</c:f>
              <c:strCache>
                <c:ptCount val="3"/>
                <c:pt idx="0">
                  <c:v>Brand 1</c:v>
                </c:pt>
                <c:pt idx="1">
                  <c:v>Brand 1</c:v>
                </c:pt>
                <c:pt idx="2">
                  <c:v>Brand 1</c:v>
                </c:pt>
              </c:strCache>
            </c:strRef>
          </c:cat>
          <c:val>
            <c:numRef>
              <c:f>Sheet1!$C$2:$C$4</c:f>
              <c:numCache>
                <c:formatCode>General</c:formatCode>
                <c:ptCount val="3"/>
                <c:pt idx="0">
                  <c:v>0</c:v>
                </c:pt>
                <c:pt idx="1">
                  <c:v>0</c:v>
                </c:pt>
                <c:pt idx="2">
                  <c:v>0</c:v>
                </c:pt>
              </c:numCache>
            </c:numRef>
          </c:val>
          <c:extLst>
            <c:ext xmlns:c15="http://schemas.microsoft.com/office/drawing/2012/chart" uri="{02D57815-91ED-43cb-92C2-25804820EDAC}">
              <c15:datalabelsRange>
                <c15:f>Sheet1!$F$2:$F$4</c15:f>
                <c15:dlblRangeCache>
                  <c:ptCount val="3"/>
                  <c:pt idx="0">
                    <c:v>CSF1</c:v>
                  </c:pt>
                  <c:pt idx="1">
                    <c:v>CSF2</c:v>
                  </c:pt>
                  <c:pt idx="2">
                    <c:v>CSF3</c:v>
                  </c:pt>
                </c15:dlblRangeCache>
              </c15:datalabelsRange>
            </c:ext>
            <c:ext xmlns:c16="http://schemas.microsoft.com/office/drawing/2014/chart" uri="{C3380CC4-5D6E-409C-BE32-E72D297353CC}">
              <c16:uniqueId val="{00000009-ABD7-417F-978D-2A6B40421357}"/>
            </c:ext>
          </c:extLst>
        </c:ser>
        <c:ser>
          <c:idx val="2"/>
          <c:order val="2"/>
          <c:tx>
            <c:strRef>
              <c:f>Sheet1!$D$1</c:f>
              <c:strCache>
                <c:ptCount val="1"/>
                <c:pt idx="0">
                  <c:v>MCV</c:v>
                </c:pt>
              </c:strCache>
            </c:strRef>
          </c:tx>
          <c:spPr>
            <a:solidFill>
              <a:schemeClr val="accent4">
                <a:lumMod val="20000"/>
                <a:lumOff val="80000"/>
              </a:schemeClr>
            </a:solidFill>
            <a:ln w="19050">
              <a:noFill/>
            </a:ln>
            <a:effectLst/>
          </c:spPr>
          <c:invertIfNegative val="0"/>
          <c:dPt>
            <c:idx val="1"/>
            <c:invertIfNegative val="0"/>
            <c:bubble3D val="0"/>
            <c:spPr>
              <a:solidFill>
                <a:schemeClr val="accent4">
                  <a:lumMod val="20000"/>
                  <a:lumOff val="80000"/>
                </a:schemeClr>
              </a:solidFill>
              <a:ln w="19050">
                <a:noFill/>
              </a:ln>
              <a:effectLst/>
            </c:spPr>
            <c:extLst>
              <c:ext xmlns:c16="http://schemas.microsoft.com/office/drawing/2014/chart" uri="{C3380CC4-5D6E-409C-BE32-E72D297353CC}">
                <c16:uniqueId val="{0000000B-ABD7-417F-978D-2A6B40421357}"/>
              </c:ext>
            </c:extLst>
          </c:dPt>
          <c:dPt>
            <c:idx val="2"/>
            <c:invertIfNegative val="0"/>
            <c:bubble3D val="0"/>
            <c:spPr>
              <a:solidFill>
                <a:schemeClr val="accent4">
                  <a:lumMod val="20000"/>
                  <a:lumOff val="80000"/>
                </a:schemeClr>
              </a:solidFill>
              <a:ln w="19050">
                <a:noFill/>
              </a:ln>
              <a:effectLst/>
            </c:spPr>
            <c:extLst>
              <c:ext xmlns:c16="http://schemas.microsoft.com/office/drawing/2014/chart" uri="{C3380CC4-5D6E-409C-BE32-E72D297353CC}">
                <c16:uniqueId val="{0000000D-ABD7-417F-978D-2A6B40421357}"/>
              </c:ext>
            </c:extLst>
          </c:dPt>
          <c:cat>
            <c:strRef>
              <c:f>Sheet1!$A$2:$A$4</c:f>
              <c:strCache>
                <c:ptCount val="3"/>
                <c:pt idx="0">
                  <c:v>Brand 1</c:v>
                </c:pt>
                <c:pt idx="1">
                  <c:v>Brand 1</c:v>
                </c:pt>
                <c:pt idx="2">
                  <c:v>Brand 1</c:v>
                </c:pt>
              </c:strCache>
            </c:strRef>
          </c:cat>
          <c:val>
            <c:numRef>
              <c:f>Sheet1!$D$2:$D$4</c:f>
              <c:numCache>
                <c:formatCode>_ * #,##0.0_ ;_ * \-#,##0.0_ ;_ * "-"??_ ;_ @_ </c:formatCode>
                <c:ptCount val="3"/>
                <c:pt idx="0">
                  <c:v>1</c:v>
                </c:pt>
                <c:pt idx="1">
                  <c:v>1</c:v>
                </c:pt>
                <c:pt idx="2">
                  <c:v>1</c:v>
                </c:pt>
              </c:numCache>
            </c:numRef>
          </c:val>
          <c:extLst>
            <c:ext xmlns:c16="http://schemas.microsoft.com/office/drawing/2014/chart" uri="{C3380CC4-5D6E-409C-BE32-E72D297353CC}">
              <c16:uniqueId val="{0000000E-ABD7-417F-978D-2A6B40421357}"/>
            </c:ext>
          </c:extLst>
        </c:ser>
        <c:dLbls>
          <c:showLegendKey val="0"/>
          <c:showVal val="0"/>
          <c:showCatName val="0"/>
          <c:showSerName val="0"/>
          <c:showPercent val="0"/>
          <c:showBubbleSize val="0"/>
        </c:dLbls>
        <c:gapWidth val="55"/>
        <c:overlap val="100"/>
        <c:axId val="624022336"/>
        <c:axId val="730110688"/>
      </c:barChart>
      <c:catAx>
        <c:axId val="624022336"/>
        <c:scaling>
          <c:orientation val="minMax"/>
        </c:scaling>
        <c:delete val="1"/>
        <c:axPos val="b"/>
        <c:numFmt formatCode="General" sourceLinked="1"/>
        <c:majorTickMark val="out"/>
        <c:minorTickMark val="none"/>
        <c:tickLblPos val="nextTo"/>
        <c:crossAx val="730110688"/>
        <c:crosses val="autoZero"/>
        <c:auto val="1"/>
        <c:lblAlgn val="ctr"/>
        <c:lblOffset val="100"/>
        <c:noMultiLvlLbl val="0"/>
      </c:catAx>
      <c:valAx>
        <c:axId val="730110688"/>
        <c:scaling>
          <c:orientation val="minMax"/>
        </c:scaling>
        <c:delete val="1"/>
        <c:axPos val="l"/>
        <c:numFmt formatCode="_ * #,##0.0_ ;_ * \-#,##0.0_ ;_ * &quot;-&quot;??_ ;_ @_ " sourceLinked="1"/>
        <c:majorTickMark val="none"/>
        <c:minorTickMark val="none"/>
        <c:tickLblPos val="nextTo"/>
        <c:crossAx val="62402233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6656636004553884E-2"/>
          <c:y val="7.4170113046444094E-2"/>
          <c:w val="0.98334336229569907"/>
          <c:h val="0.92582962887321774"/>
        </c:manualLayout>
      </c:layout>
      <c:barChart>
        <c:barDir val="col"/>
        <c:grouping val="stacked"/>
        <c:varyColors val="0"/>
        <c:ser>
          <c:idx val="0"/>
          <c:order val="0"/>
          <c:tx>
            <c:strRef>
              <c:f>Sheet1!$B$1</c:f>
              <c:strCache>
                <c:ptCount val="1"/>
                <c:pt idx="0">
                  <c:v>Price</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7"/>
                <c:pt idx="0">
                  <c:v>heinz</c:v>
                </c:pt>
                <c:pt idx="1">
                  <c:v>heinz</c:v>
                </c:pt>
                <c:pt idx="2">
                  <c:v>heinz</c:v>
                </c:pt>
                <c:pt idx="4">
                  <c:v>private label</c:v>
                </c:pt>
                <c:pt idx="5">
                  <c:v>private label</c:v>
                </c:pt>
                <c:pt idx="6">
                  <c:v>private label</c:v>
                </c:pt>
              </c:strCache>
            </c:strRef>
          </c:cat>
          <c:val>
            <c:numRef>
              <c:f>Sheet1!$B$2:$B$9</c:f>
              <c:numCache>
                <c:formatCode>0.00</c:formatCode>
                <c:ptCount val="8"/>
                <c:pt idx="0">
                  <c:v>5.4806470000000003</c:v>
                </c:pt>
                <c:pt idx="1">
                  <c:v>6.1919639999999996</c:v>
                </c:pt>
                <c:pt idx="2">
                  <c:v>6.0336610000000004</c:v>
                </c:pt>
                <c:pt idx="4">
                  <c:v>1.8031429999999999</c:v>
                </c:pt>
                <c:pt idx="5">
                  <c:v>2.5205060000000001</c:v>
                </c:pt>
                <c:pt idx="6">
                  <c:v>2.7785359999999999</c:v>
                </c:pt>
              </c:numCache>
            </c:numRef>
          </c:val>
          <c:extLst>
            <c:ext xmlns:c16="http://schemas.microsoft.com/office/drawing/2014/chart" uri="{C3380CC4-5D6E-409C-BE32-E72D297353CC}">
              <c16:uniqueId val="{00000002-F7B2-4E42-BB39-D7D1D8505C2C}"/>
            </c:ext>
          </c:extLst>
        </c:ser>
        <c:ser>
          <c:idx val="1"/>
          <c:order val="1"/>
          <c:tx>
            <c:strRef>
              <c:f>Sheet1!$C$1</c:f>
              <c:strCache>
                <c:ptCount val="1"/>
                <c:pt idx="0">
                  <c:v>CSF</c:v>
                </c:pt>
              </c:strCache>
            </c:strRef>
          </c:tx>
          <c:spPr>
            <a:solidFill>
              <a:schemeClr val="accent2"/>
            </a:solidFill>
            <a:ln>
              <a:noFill/>
            </a:ln>
            <a:effectLst/>
          </c:spPr>
          <c:invertIfNegative val="0"/>
          <c:dLbls>
            <c:dLbl>
              <c:idx val="0"/>
              <c:tx>
                <c:rich>
                  <a:bodyPr/>
                  <a:lstStyle/>
                  <a:p>
                    <a:fld id="{30DAF044-AAEE-4AB5-A8B7-54381636385F}"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3-F7B2-4E42-BB39-D7D1D8505C2C}"/>
                </c:ext>
              </c:extLst>
            </c:dLbl>
            <c:dLbl>
              <c:idx val="1"/>
              <c:tx>
                <c:rich>
                  <a:bodyPr/>
                  <a:lstStyle/>
                  <a:p>
                    <a:fld id="{D072F33A-013B-431A-AEE5-5416443C5A0E}"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4-F7B2-4E42-BB39-D7D1D8505C2C}"/>
                </c:ext>
              </c:extLst>
            </c:dLbl>
            <c:dLbl>
              <c:idx val="2"/>
              <c:tx>
                <c:rich>
                  <a:bodyPr/>
                  <a:lstStyle/>
                  <a:p>
                    <a:fld id="{8FDC6E90-9769-4C54-AFBE-A16E1AD8D493}"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5-F7B2-4E42-BB39-D7D1D8505C2C}"/>
                </c:ext>
              </c:extLst>
            </c:dLbl>
            <c:dLbl>
              <c:idx val="3"/>
              <c:tx>
                <c:rich>
                  <a:bodyPr/>
                  <a:lstStyle/>
                  <a:p>
                    <a:endParaRPr lang="en-US"/>
                  </a:p>
                </c:rich>
              </c:tx>
              <c:dLblPos val="ctr"/>
              <c:showLegendKey val="0"/>
              <c:showVal val="0"/>
              <c:showCatName val="0"/>
              <c:showSerName val="0"/>
              <c:showPercent val="0"/>
              <c:showBubbleSize val="0"/>
              <c:extLst>
                <c:ext xmlns:c15="http://schemas.microsoft.com/office/drawing/2012/chart" uri="{CE6537A1-D6FC-4f65-9D91-7224C49458BB}">
                  <c15:xForSave val="1"/>
                  <c15:showDataLabelsRange val="1"/>
                </c:ext>
                <c:ext xmlns:c16="http://schemas.microsoft.com/office/drawing/2014/chart" uri="{C3380CC4-5D6E-409C-BE32-E72D297353CC}">
                  <c16:uniqueId val="{00000006-F7B2-4E42-BB39-D7D1D8505C2C}"/>
                </c:ext>
              </c:extLst>
            </c:dLbl>
            <c:dLbl>
              <c:idx val="4"/>
              <c:layout>
                <c:manualLayout>
                  <c:x val="4.0728407797191767E-3"/>
                  <c:y val="-6.587999725067728E-2"/>
                </c:manualLayout>
              </c:layout>
              <c:tx>
                <c:rich>
                  <a:bodyPr/>
                  <a:lstStyle/>
                  <a:p>
                    <a:fld id="{71533646-EF5E-4A2C-9F7E-D27C4AE59347}"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7-F7B2-4E42-BB39-D7D1D8505C2C}"/>
                </c:ext>
              </c:extLst>
            </c:dLbl>
            <c:dLbl>
              <c:idx val="5"/>
              <c:layout>
                <c:manualLayout>
                  <c:x val="2.7152271864794514E-3"/>
                  <c:y val="-3.293999862533864E-2"/>
                </c:manualLayout>
              </c:layout>
              <c:tx>
                <c:rich>
                  <a:bodyPr/>
                  <a:lstStyle/>
                  <a:p>
                    <a:fld id="{830F936A-CA9D-49B4-B11F-0616BA43CAFC}"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8-F7B2-4E42-BB39-D7D1D8505C2C}"/>
                </c:ext>
              </c:extLst>
            </c:dLbl>
            <c:dLbl>
              <c:idx val="6"/>
              <c:layout>
                <c:manualLayout>
                  <c:x val="0"/>
                  <c:y val="-1.6469999312669473E-2"/>
                </c:manualLayout>
              </c:layout>
              <c:tx>
                <c:rich>
                  <a:bodyPr/>
                  <a:lstStyle/>
                  <a:p>
                    <a:fld id="{717401C0-79E5-4E6C-A15F-2D740F62FE59}"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9-F7B2-4E42-BB39-D7D1D8505C2C}"/>
                </c:ext>
              </c:extLst>
            </c:dLbl>
            <c:dLbl>
              <c:idx val="7"/>
              <c:tx>
                <c:rich>
                  <a:bodyPr/>
                  <a:lstStyle/>
                  <a:p>
                    <a:endParaRPr lang="en-US"/>
                  </a:p>
                </c:rich>
              </c:tx>
              <c:dLblPos val="ctr"/>
              <c:showLegendKey val="0"/>
              <c:showVal val="0"/>
              <c:showCatName val="0"/>
              <c:showSerName val="0"/>
              <c:showPercent val="0"/>
              <c:showBubbleSize val="0"/>
              <c:extLst>
                <c:ext xmlns:c15="http://schemas.microsoft.com/office/drawing/2012/chart" uri="{CE6537A1-D6FC-4f65-9D91-7224C49458BB}">
                  <c15:xForSave val="1"/>
                  <c15:showDataLabelsRange val="1"/>
                </c:ext>
                <c:ext xmlns:c16="http://schemas.microsoft.com/office/drawing/2014/chart" uri="{C3380CC4-5D6E-409C-BE32-E72D297353CC}">
                  <c16:uniqueId val="{0000000A-F7B2-4E42-BB39-D7D1D8505C2C}"/>
                </c:ext>
              </c:extLst>
            </c:dLbl>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mn-lt"/>
                    <a:ea typeface="+mn-ea"/>
                    <a:cs typeface="+mn-cs"/>
                  </a:defRPr>
                </a:pPr>
                <a:endParaRPr lang="en-US"/>
              </a:p>
            </c:txPr>
            <c:dLblPos val="ct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cat>
            <c:strRef>
              <c:f>Sheet1!$A$2:$A$9</c:f>
              <c:strCache>
                <c:ptCount val="7"/>
                <c:pt idx="0">
                  <c:v>heinz</c:v>
                </c:pt>
                <c:pt idx="1">
                  <c:v>heinz</c:v>
                </c:pt>
                <c:pt idx="2">
                  <c:v>heinz</c:v>
                </c:pt>
                <c:pt idx="4">
                  <c:v>private label</c:v>
                </c:pt>
                <c:pt idx="5">
                  <c:v>private label</c:v>
                </c:pt>
                <c:pt idx="6">
                  <c:v>private label</c:v>
                </c:pt>
              </c:strCache>
            </c:strRef>
          </c:cat>
          <c:val>
            <c:numRef>
              <c:f>Sheet1!$C$2:$C$9</c:f>
              <c:numCache>
                <c:formatCode>0.00</c:formatCode>
                <c:ptCount val="8"/>
                <c:pt idx="0">
                  <c:v>0</c:v>
                </c:pt>
                <c:pt idx="1">
                  <c:v>0</c:v>
                </c:pt>
                <c:pt idx="2">
                  <c:v>0</c:v>
                </c:pt>
                <c:pt idx="4">
                  <c:v>0</c:v>
                </c:pt>
                <c:pt idx="5">
                  <c:v>0</c:v>
                </c:pt>
                <c:pt idx="6">
                  <c:v>0</c:v>
                </c:pt>
              </c:numCache>
            </c:numRef>
          </c:val>
          <c:extLst>
            <c:ext xmlns:c15="http://schemas.microsoft.com/office/drawing/2012/chart" uri="{02D57815-91ED-43cb-92C2-25804820EDAC}">
              <c15:datalabelsRange>
                <c15:f>Sheet1!$F$2:$F$9</c15:f>
                <c15:dlblRangeCache>
                  <c:ptCount val="8"/>
                  <c:pt idx="0">
                    <c:v>2.24</c:v>
                  </c:pt>
                  <c:pt idx="1">
                    <c:v>2.04</c:v>
                  </c:pt>
                  <c:pt idx="2">
                    <c:v>2.13</c:v>
                  </c:pt>
                  <c:pt idx="4">
                    <c:v>3.35</c:v>
                  </c:pt>
                  <c:pt idx="5">
                    <c:v>2.43</c:v>
                  </c:pt>
                  <c:pt idx="6">
                    <c:v>2.26</c:v>
                  </c:pt>
                </c15:dlblRangeCache>
              </c15:datalabelsRange>
            </c:ext>
            <c:ext xmlns:c16="http://schemas.microsoft.com/office/drawing/2014/chart" uri="{C3380CC4-5D6E-409C-BE32-E72D297353CC}">
              <c16:uniqueId val="{0000002A-F7B2-4E42-BB39-D7D1D8505C2C}"/>
            </c:ext>
          </c:extLst>
        </c:ser>
        <c:ser>
          <c:idx val="2"/>
          <c:order val="2"/>
          <c:tx>
            <c:strRef>
              <c:f>Sheet1!$D$1</c:f>
              <c:strCache>
                <c:ptCount val="1"/>
                <c:pt idx="0">
                  <c:v>MCV</c:v>
                </c:pt>
              </c:strCache>
            </c:strRef>
          </c:tx>
          <c:spPr>
            <a:solidFill>
              <a:schemeClr val="accent4">
                <a:lumMod val="20000"/>
                <a:lumOff val="80000"/>
              </a:schemeClr>
            </a:solidFill>
            <a:ln w="19050">
              <a:noFill/>
            </a:ln>
            <a:effectLst/>
          </c:spPr>
          <c:invertIfNegative val="0"/>
          <c:dLbls>
            <c:dLbl>
              <c:idx val="0"/>
              <c:tx>
                <c:rich>
                  <a:bodyPr/>
                  <a:lstStyle/>
                  <a:p>
                    <a:fld id="{5DE5D39D-A21C-4E5D-813D-FA29CEC67893}" type="CELLRANGE">
                      <a:rPr lang="en-US"/>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2D-F7B2-4E42-BB39-D7D1D8505C2C}"/>
                </c:ext>
              </c:extLst>
            </c:dLbl>
            <c:dLbl>
              <c:idx val="1"/>
              <c:tx>
                <c:rich>
                  <a:bodyPr/>
                  <a:lstStyle/>
                  <a:p>
                    <a:fld id="{68325AB7-D71C-480C-9ABB-55B0B0DD2F12}" type="CELLRANGE">
                      <a:rPr lang="en-US"/>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2E-F7B2-4E42-BB39-D7D1D8505C2C}"/>
                </c:ext>
              </c:extLst>
            </c:dLbl>
            <c:dLbl>
              <c:idx val="2"/>
              <c:tx>
                <c:rich>
                  <a:bodyPr/>
                  <a:lstStyle/>
                  <a:p>
                    <a:fld id="{19CFEAC8-1531-4165-9B48-89C2134F98C8}" type="CELLRANGE">
                      <a:rPr lang="en-US"/>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2F-F7B2-4E42-BB39-D7D1D8505C2C}"/>
                </c:ext>
              </c:extLst>
            </c:dLbl>
            <c:dLbl>
              <c:idx val="3"/>
              <c:tx>
                <c:rich>
                  <a:bodyPr/>
                  <a:lstStyle/>
                  <a:p>
                    <a:fld id="{4CDCAD28-45C1-4AE2-983E-2B84E7472CB6}" type="CELLRANGE">
                      <a:rPr lang="en-GB"/>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30-F7B2-4E42-BB39-D7D1D8505C2C}"/>
                </c:ext>
              </c:extLst>
            </c:dLbl>
            <c:dLbl>
              <c:idx val="4"/>
              <c:tx>
                <c:rich>
                  <a:bodyPr/>
                  <a:lstStyle/>
                  <a:p>
                    <a:fld id="{62C41F8E-1D5D-4553-8B52-0120A9917C27}" type="CELLRANGE">
                      <a:rPr lang="en-US"/>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31-F7B2-4E42-BB39-D7D1D8505C2C}"/>
                </c:ext>
              </c:extLst>
            </c:dLbl>
            <c:dLbl>
              <c:idx val="5"/>
              <c:tx>
                <c:rich>
                  <a:bodyPr/>
                  <a:lstStyle/>
                  <a:p>
                    <a:fld id="{145CEA23-CCCC-4298-8475-101E30FC2A43}" type="CELLRANGE">
                      <a:rPr lang="en-US"/>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32-F7B2-4E42-BB39-D7D1D8505C2C}"/>
                </c:ext>
              </c:extLst>
            </c:dLbl>
            <c:dLbl>
              <c:idx val="6"/>
              <c:tx>
                <c:rich>
                  <a:bodyPr/>
                  <a:lstStyle/>
                  <a:p>
                    <a:fld id="{724A8E3B-4003-45A9-8B7C-C9F73413796C}" type="CELLRANGE">
                      <a:rPr lang="en-US"/>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33-F7B2-4E42-BB39-D7D1D8505C2C}"/>
                </c:ext>
              </c:extLst>
            </c:dLbl>
            <c:dLbl>
              <c:idx val="7"/>
              <c:tx>
                <c:rich>
                  <a:bodyPr/>
                  <a:lstStyle/>
                  <a:p>
                    <a:fld id="{4A1E57D1-72C6-46F9-80DD-9C8D7E6CF34C}" type="CELLRANGE">
                      <a:rPr lang="en-GB"/>
                      <a:pPr/>
                      <a:t>[CELLRANGE]</a:t>
                    </a:fld>
                    <a:endParaRPr lang="en-US"/>
                  </a:p>
                </c:rich>
              </c:tx>
              <c:dLblPos val="inEnd"/>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34-F7B2-4E42-BB39-D7D1D8505C2C}"/>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Sheet1!$A$2:$A$9</c:f>
              <c:strCache>
                <c:ptCount val="7"/>
                <c:pt idx="0">
                  <c:v>heinz</c:v>
                </c:pt>
                <c:pt idx="1">
                  <c:v>heinz</c:v>
                </c:pt>
                <c:pt idx="2">
                  <c:v>heinz</c:v>
                </c:pt>
                <c:pt idx="4">
                  <c:v>private label</c:v>
                </c:pt>
                <c:pt idx="5">
                  <c:v>private label</c:v>
                </c:pt>
                <c:pt idx="6">
                  <c:v>private label</c:v>
                </c:pt>
              </c:strCache>
            </c:strRef>
          </c:cat>
          <c:val>
            <c:numRef>
              <c:f>Sheet1!$D$2:$D$9</c:f>
              <c:numCache>
                <c:formatCode>0.00</c:formatCode>
                <c:ptCount val="8"/>
                <c:pt idx="0">
                  <c:v>6.8191607064981001</c:v>
                </c:pt>
                <c:pt idx="1">
                  <c:v>6.4503096173768997</c:v>
                </c:pt>
                <c:pt idx="2">
                  <c:v>6.7922738540280996</c:v>
                </c:pt>
                <c:pt idx="3">
                  <c:v>0</c:v>
                </c:pt>
                <c:pt idx="4">
                  <c:v>4.2435628965151402</c:v>
                </c:pt>
                <c:pt idx="5">
                  <c:v>3.6058374995985396</c:v>
                </c:pt>
                <c:pt idx="6">
                  <c:v>3.4976127473163503</c:v>
                </c:pt>
                <c:pt idx="7">
                  <c:v>0</c:v>
                </c:pt>
              </c:numCache>
            </c:numRef>
          </c:val>
          <c:extLst>
            <c:ext xmlns:c15="http://schemas.microsoft.com/office/drawing/2012/chart" uri="{02D57815-91ED-43cb-92C2-25804820EDAC}">
              <c15:datalabelsRange>
                <c15:f>Sheet1!$E$2:$E$9</c15:f>
                <c15:dlblRangeCache>
                  <c:ptCount val="8"/>
                  <c:pt idx="0">
                    <c:v>12.30</c:v>
                  </c:pt>
                  <c:pt idx="1">
                    <c:v>12.64</c:v>
                  </c:pt>
                  <c:pt idx="2">
                    <c:v>12.83</c:v>
                  </c:pt>
                  <c:pt idx="4">
                    <c:v>6.05</c:v>
                  </c:pt>
                  <c:pt idx="5">
                    <c:v>6.13</c:v>
                  </c:pt>
                  <c:pt idx="6">
                    <c:v>6.28</c:v>
                  </c:pt>
                </c15:dlblRangeCache>
              </c15:datalabelsRange>
            </c:ext>
            <c:ext xmlns:c16="http://schemas.microsoft.com/office/drawing/2014/chart" uri="{C3380CC4-5D6E-409C-BE32-E72D297353CC}">
              <c16:uniqueId val="{00000053-F7B2-4E42-BB39-D7D1D8505C2C}"/>
            </c:ext>
          </c:extLst>
        </c:ser>
        <c:dLbls>
          <c:showLegendKey val="0"/>
          <c:showVal val="0"/>
          <c:showCatName val="0"/>
          <c:showSerName val="0"/>
          <c:showPercent val="0"/>
          <c:showBubbleSize val="0"/>
        </c:dLbls>
        <c:gapWidth val="20"/>
        <c:overlap val="100"/>
        <c:axId val="624022336"/>
        <c:axId val="730110688"/>
      </c:barChart>
      <c:catAx>
        <c:axId val="624022336"/>
        <c:scaling>
          <c:orientation val="minMax"/>
        </c:scaling>
        <c:delete val="1"/>
        <c:axPos val="b"/>
        <c:numFmt formatCode="General" sourceLinked="1"/>
        <c:majorTickMark val="out"/>
        <c:minorTickMark val="none"/>
        <c:tickLblPos val="nextTo"/>
        <c:crossAx val="730110688"/>
        <c:crosses val="autoZero"/>
        <c:auto val="1"/>
        <c:lblAlgn val="ctr"/>
        <c:lblOffset val="100"/>
        <c:noMultiLvlLbl val="0"/>
      </c:catAx>
      <c:valAx>
        <c:axId val="730110688"/>
        <c:scaling>
          <c:orientation val="minMax"/>
        </c:scaling>
        <c:delete val="1"/>
        <c:axPos val="l"/>
        <c:numFmt formatCode="0.00" sourceLinked="1"/>
        <c:majorTickMark val="none"/>
        <c:minorTickMark val="none"/>
        <c:tickLblPos val="nextTo"/>
        <c:crossAx val="62402233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4D81336-8909-4B77-A1AD-A375F36A956D}"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IN"/>
        </a:p>
      </dgm:t>
    </dgm:pt>
    <dgm:pt modelId="{F66971C4-CAB3-452B-A19F-E6EA34F8123D}">
      <dgm:prSet phldrT="[Text]" custT="1"/>
      <dgm:spPr>
        <a:noFill/>
        <a:ln>
          <a:solidFill>
            <a:schemeClr val="accent1">
              <a:lumMod val="75000"/>
            </a:schemeClr>
          </a:solidFill>
        </a:ln>
      </dgm:spPr>
      <dgm:t>
        <a:bodyPr/>
        <a:lstStyle/>
        <a:p>
          <a:r>
            <a:rPr lang="en-IN" sz="1500">
              <a:solidFill>
                <a:schemeClr val="tx2"/>
              </a:solidFill>
              <a:latin typeface="Rockwell" panose="02060603020205020403" pitchFamily="18" charset="0"/>
            </a:rPr>
            <a:t>Measure cross elasticities with key competitors to identify </a:t>
          </a:r>
          <a:r>
            <a:rPr lang="en-IN" sz="1500" b="1">
              <a:solidFill>
                <a:schemeClr val="tx2"/>
              </a:solidFill>
              <a:latin typeface="Rockwell" panose="02060603020205020403" pitchFamily="18" charset="0"/>
            </a:rPr>
            <a:t>who our brands interact with most</a:t>
          </a:r>
        </a:p>
      </dgm:t>
    </dgm:pt>
    <dgm:pt modelId="{6D993732-8463-4897-8C24-32DAB974BEF4}" type="parTrans" cxnId="{86FF3564-45AD-455F-97D2-6EB5D70906EE}">
      <dgm:prSet/>
      <dgm:spPr/>
      <dgm:t>
        <a:bodyPr/>
        <a:lstStyle/>
        <a:p>
          <a:endParaRPr lang="en-IN">
            <a:latin typeface="Rockwell" panose="02060603020205020403" pitchFamily="18" charset="0"/>
          </a:endParaRPr>
        </a:p>
      </dgm:t>
    </dgm:pt>
    <dgm:pt modelId="{FCD4B02C-AB25-4C99-BED2-DEDCB514B742}" type="sibTrans" cxnId="{86FF3564-45AD-455F-97D2-6EB5D70906EE}">
      <dgm:prSet/>
      <dgm:spPr/>
      <dgm:t>
        <a:bodyPr/>
        <a:lstStyle/>
        <a:p>
          <a:endParaRPr lang="en-IN">
            <a:latin typeface="Rockwell" panose="02060603020205020403" pitchFamily="18" charset="0"/>
          </a:endParaRPr>
        </a:p>
      </dgm:t>
    </dgm:pt>
    <dgm:pt modelId="{E27ABD87-073B-4DE4-831A-E07FB4CA0337}">
      <dgm:prSet phldrT="[Text]" custT="1"/>
      <dgm:spPr>
        <a:noFill/>
        <a:ln>
          <a:solidFill>
            <a:schemeClr val="accent1">
              <a:lumMod val="75000"/>
            </a:schemeClr>
          </a:solidFill>
        </a:ln>
      </dgm:spPr>
      <dgm:t>
        <a:bodyPr/>
        <a:lstStyle/>
        <a:p>
          <a:r>
            <a:rPr lang="en-IN" sz="1500">
              <a:solidFill>
                <a:schemeClr val="tx2"/>
              </a:solidFill>
              <a:latin typeface="Rockwell" panose="02060603020205020403" pitchFamily="18" charset="0"/>
            </a:rPr>
            <a:t>Have a long term planning tool that enables </a:t>
          </a:r>
          <a:r>
            <a:rPr lang="en-IN" sz="1500" b="1">
              <a:solidFill>
                <a:schemeClr val="tx2"/>
              </a:solidFill>
              <a:latin typeface="Rockwell" panose="02060603020205020403" pitchFamily="18" charset="0"/>
            </a:rPr>
            <a:t>scenario planning </a:t>
          </a:r>
          <a:r>
            <a:rPr lang="en-IN" sz="1500">
              <a:solidFill>
                <a:schemeClr val="tx2"/>
              </a:solidFill>
              <a:latin typeface="Rockwell" panose="02060603020205020403" pitchFamily="18" charset="0"/>
            </a:rPr>
            <a:t>basis price modulation</a:t>
          </a:r>
        </a:p>
      </dgm:t>
    </dgm:pt>
    <dgm:pt modelId="{A7796E4C-3431-476D-836E-4DC40068C92A}" type="parTrans" cxnId="{43FE3053-1F72-4257-A036-A6622181EF61}">
      <dgm:prSet/>
      <dgm:spPr/>
      <dgm:t>
        <a:bodyPr/>
        <a:lstStyle/>
        <a:p>
          <a:endParaRPr lang="en-IN">
            <a:latin typeface="Rockwell" panose="02060603020205020403" pitchFamily="18" charset="0"/>
          </a:endParaRPr>
        </a:p>
      </dgm:t>
    </dgm:pt>
    <dgm:pt modelId="{CE237ADB-9AD7-4589-AB01-D82FDE18C5F6}" type="sibTrans" cxnId="{43FE3053-1F72-4257-A036-A6622181EF61}">
      <dgm:prSet/>
      <dgm:spPr/>
      <dgm:t>
        <a:bodyPr/>
        <a:lstStyle/>
        <a:p>
          <a:endParaRPr lang="en-IN">
            <a:latin typeface="Rockwell" panose="02060603020205020403" pitchFamily="18" charset="0"/>
          </a:endParaRPr>
        </a:p>
      </dgm:t>
    </dgm:pt>
    <dgm:pt modelId="{FA367991-1F4F-496D-B4DF-AAD454212BF3}">
      <dgm:prSet custT="1"/>
      <dgm:spPr>
        <a:noFill/>
        <a:ln>
          <a:solidFill>
            <a:schemeClr val="accent1">
              <a:lumMod val="75000"/>
            </a:schemeClr>
          </a:solidFill>
        </a:ln>
      </dgm:spPr>
      <dgm:t>
        <a:bodyPr/>
        <a:lstStyle/>
        <a:p>
          <a:r>
            <a:rPr lang="en-US" sz="1500">
              <a:solidFill>
                <a:schemeClr val="tx2"/>
              </a:solidFill>
              <a:latin typeface="Rockwell" panose="02060603020205020403" pitchFamily="18" charset="0"/>
            </a:rPr>
            <a:t>Develop a </a:t>
          </a:r>
          <a:r>
            <a:rPr lang="en-US" sz="1500" b="1">
              <a:solidFill>
                <a:schemeClr val="tx2"/>
              </a:solidFill>
              <a:latin typeface="Rockwell" panose="02060603020205020403" pitchFamily="18" charset="0"/>
            </a:rPr>
            <a:t>strategic price index </a:t>
          </a:r>
          <a:r>
            <a:rPr lang="en-US" sz="1500">
              <a:solidFill>
                <a:schemeClr val="tx2"/>
              </a:solidFill>
              <a:latin typeface="Rockwell" panose="02060603020205020403" pitchFamily="18" charset="0"/>
            </a:rPr>
            <a:t>vs critical competitors by brand, segment or channel</a:t>
          </a:r>
          <a:endParaRPr lang="en-IN" sz="1500">
            <a:solidFill>
              <a:schemeClr val="tx2"/>
            </a:solidFill>
            <a:latin typeface="Rockwell" panose="02060603020205020403" pitchFamily="18" charset="0"/>
          </a:endParaRPr>
        </a:p>
      </dgm:t>
    </dgm:pt>
    <dgm:pt modelId="{C6FE534C-40C4-4903-87A3-BAF365D5730B}" type="parTrans" cxnId="{A7B33024-28A4-4B59-8ABF-5B77BF2A3DC2}">
      <dgm:prSet/>
      <dgm:spPr/>
      <dgm:t>
        <a:bodyPr/>
        <a:lstStyle/>
        <a:p>
          <a:endParaRPr lang="en-IN">
            <a:latin typeface="Rockwell" panose="02060603020205020403" pitchFamily="18" charset="0"/>
          </a:endParaRPr>
        </a:p>
      </dgm:t>
    </dgm:pt>
    <dgm:pt modelId="{0CE571C3-6EA8-4E4D-B228-35BB5CAA818B}" type="sibTrans" cxnId="{A7B33024-28A4-4B59-8ABF-5B77BF2A3DC2}">
      <dgm:prSet/>
      <dgm:spPr/>
      <dgm:t>
        <a:bodyPr/>
        <a:lstStyle/>
        <a:p>
          <a:endParaRPr lang="en-IN">
            <a:latin typeface="Rockwell" panose="02060603020205020403" pitchFamily="18" charset="0"/>
          </a:endParaRPr>
        </a:p>
      </dgm:t>
    </dgm:pt>
    <dgm:pt modelId="{20433C1C-91B9-4A58-9C30-DD4E93A37AA4}" type="pres">
      <dgm:prSet presAssocID="{C4D81336-8909-4B77-A1AD-A375F36A956D}" presName="Name0" presStyleCnt="0">
        <dgm:presLayoutVars>
          <dgm:chMax val="7"/>
          <dgm:chPref val="7"/>
          <dgm:dir/>
        </dgm:presLayoutVars>
      </dgm:prSet>
      <dgm:spPr/>
    </dgm:pt>
    <dgm:pt modelId="{4817C075-B568-4CED-948F-2D949151EA04}" type="pres">
      <dgm:prSet presAssocID="{C4D81336-8909-4B77-A1AD-A375F36A956D}" presName="Name1" presStyleCnt="0"/>
      <dgm:spPr/>
    </dgm:pt>
    <dgm:pt modelId="{9C906BB6-C1BA-4411-B892-EA779ED7531E}" type="pres">
      <dgm:prSet presAssocID="{C4D81336-8909-4B77-A1AD-A375F36A956D}" presName="cycle" presStyleCnt="0"/>
      <dgm:spPr/>
    </dgm:pt>
    <dgm:pt modelId="{4111CC9E-2024-4F0A-BB75-85F6FBDFE348}" type="pres">
      <dgm:prSet presAssocID="{C4D81336-8909-4B77-A1AD-A375F36A956D}" presName="srcNode" presStyleLbl="node1" presStyleIdx="0" presStyleCnt="3"/>
      <dgm:spPr/>
    </dgm:pt>
    <dgm:pt modelId="{FBCDAF78-9A8A-4A6A-A4F1-12A564843AB5}" type="pres">
      <dgm:prSet presAssocID="{C4D81336-8909-4B77-A1AD-A375F36A956D}" presName="conn" presStyleLbl="parChTrans1D2" presStyleIdx="0" presStyleCnt="1"/>
      <dgm:spPr/>
    </dgm:pt>
    <dgm:pt modelId="{305AA1C0-89DD-4AB9-BA70-2A8B693CDAF8}" type="pres">
      <dgm:prSet presAssocID="{C4D81336-8909-4B77-A1AD-A375F36A956D}" presName="extraNode" presStyleLbl="node1" presStyleIdx="0" presStyleCnt="3"/>
      <dgm:spPr/>
    </dgm:pt>
    <dgm:pt modelId="{DD47AEA5-7D4C-4B2C-B977-4D1416C173D1}" type="pres">
      <dgm:prSet presAssocID="{C4D81336-8909-4B77-A1AD-A375F36A956D}" presName="dstNode" presStyleLbl="node1" presStyleIdx="0" presStyleCnt="3"/>
      <dgm:spPr/>
    </dgm:pt>
    <dgm:pt modelId="{31DB1D15-D20C-45AB-9589-AF6869026804}" type="pres">
      <dgm:prSet presAssocID="{F66971C4-CAB3-452B-A19F-E6EA34F8123D}" presName="text_1" presStyleLbl="node1" presStyleIdx="0" presStyleCnt="3">
        <dgm:presLayoutVars>
          <dgm:bulletEnabled val="1"/>
        </dgm:presLayoutVars>
      </dgm:prSet>
      <dgm:spPr/>
    </dgm:pt>
    <dgm:pt modelId="{4BA3FF23-6EFE-41D0-A937-B71B43925D7F}" type="pres">
      <dgm:prSet presAssocID="{F66971C4-CAB3-452B-A19F-E6EA34F8123D}" presName="accent_1" presStyleCnt="0"/>
      <dgm:spPr/>
    </dgm:pt>
    <dgm:pt modelId="{5F56D0A2-9C26-44D2-8413-C0EED1A88D9F}" type="pres">
      <dgm:prSet presAssocID="{F66971C4-CAB3-452B-A19F-E6EA34F8123D}" presName="accentRepeatNode" presStyleLbl="solidFgAcc1" presStyleIdx="0" presStyleCnt="3"/>
      <dgm:spPr>
        <a:solidFill>
          <a:srgbClr val="FEFEFE"/>
        </a:solidFill>
      </dgm:spPr>
    </dgm:pt>
    <dgm:pt modelId="{F7774426-0516-46CD-82E3-AD46CCF4E540}" type="pres">
      <dgm:prSet presAssocID="{FA367991-1F4F-496D-B4DF-AAD454212BF3}" presName="text_2" presStyleLbl="node1" presStyleIdx="1" presStyleCnt="3">
        <dgm:presLayoutVars>
          <dgm:bulletEnabled val="1"/>
        </dgm:presLayoutVars>
      </dgm:prSet>
      <dgm:spPr/>
    </dgm:pt>
    <dgm:pt modelId="{3509AFF7-1F19-4D3D-8631-FF052008D8E3}" type="pres">
      <dgm:prSet presAssocID="{FA367991-1F4F-496D-B4DF-AAD454212BF3}" presName="accent_2" presStyleCnt="0"/>
      <dgm:spPr/>
    </dgm:pt>
    <dgm:pt modelId="{6371B580-1662-4D9E-B22E-C932C4C34C40}" type="pres">
      <dgm:prSet presAssocID="{FA367991-1F4F-496D-B4DF-AAD454212BF3}" presName="accentRepeatNode" presStyleLbl="solidFgAcc1" presStyleIdx="1" presStyleCnt="3"/>
      <dgm:spPr>
        <a:solidFill>
          <a:srgbClr val="FFFFFF"/>
        </a:solidFill>
      </dgm:spPr>
    </dgm:pt>
    <dgm:pt modelId="{72001A8B-A6C2-49F7-AD14-0FE8BF890B35}" type="pres">
      <dgm:prSet presAssocID="{E27ABD87-073B-4DE4-831A-E07FB4CA0337}" presName="text_3" presStyleLbl="node1" presStyleIdx="2" presStyleCnt="3">
        <dgm:presLayoutVars>
          <dgm:bulletEnabled val="1"/>
        </dgm:presLayoutVars>
      </dgm:prSet>
      <dgm:spPr/>
    </dgm:pt>
    <dgm:pt modelId="{D01CAE43-B072-4FA4-9A12-A8675EA879B6}" type="pres">
      <dgm:prSet presAssocID="{E27ABD87-073B-4DE4-831A-E07FB4CA0337}" presName="accent_3" presStyleCnt="0"/>
      <dgm:spPr/>
    </dgm:pt>
    <dgm:pt modelId="{EE34CDD3-8DF8-4711-B8D9-64819C43C648}" type="pres">
      <dgm:prSet presAssocID="{E27ABD87-073B-4DE4-831A-E07FB4CA0337}" presName="accentRepeatNode" presStyleLbl="solidFgAcc1" presStyleIdx="2" presStyleCnt="3"/>
      <dgm:spPr>
        <a:solidFill>
          <a:srgbClr val="FFFFFF"/>
        </a:solidFill>
      </dgm:spPr>
    </dgm:pt>
  </dgm:ptLst>
  <dgm:cxnLst>
    <dgm:cxn modelId="{A7B33024-28A4-4B59-8ABF-5B77BF2A3DC2}" srcId="{C4D81336-8909-4B77-A1AD-A375F36A956D}" destId="{FA367991-1F4F-496D-B4DF-AAD454212BF3}" srcOrd="1" destOrd="0" parTransId="{C6FE534C-40C4-4903-87A3-BAF365D5730B}" sibTransId="{0CE571C3-6EA8-4E4D-B228-35BB5CAA818B}"/>
    <dgm:cxn modelId="{B4999D26-A21B-490F-B47E-E8BE95CC2363}" type="presOf" srcId="{C4D81336-8909-4B77-A1AD-A375F36A956D}" destId="{20433C1C-91B9-4A58-9C30-DD4E93A37AA4}" srcOrd="0" destOrd="0" presId="urn:microsoft.com/office/officeart/2008/layout/VerticalCurvedList"/>
    <dgm:cxn modelId="{382D7E37-234A-4C9F-A12D-E1E5350D532E}" type="presOf" srcId="{FCD4B02C-AB25-4C99-BED2-DEDCB514B742}" destId="{FBCDAF78-9A8A-4A6A-A4F1-12A564843AB5}" srcOrd="0" destOrd="0" presId="urn:microsoft.com/office/officeart/2008/layout/VerticalCurvedList"/>
    <dgm:cxn modelId="{9630C563-7DF5-4C69-8B3B-20B4E6719A89}" type="presOf" srcId="{E27ABD87-073B-4DE4-831A-E07FB4CA0337}" destId="{72001A8B-A6C2-49F7-AD14-0FE8BF890B35}" srcOrd="0" destOrd="0" presId="urn:microsoft.com/office/officeart/2008/layout/VerticalCurvedList"/>
    <dgm:cxn modelId="{86FF3564-45AD-455F-97D2-6EB5D70906EE}" srcId="{C4D81336-8909-4B77-A1AD-A375F36A956D}" destId="{F66971C4-CAB3-452B-A19F-E6EA34F8123D}" srcOrd="0" destOrd="0" parTransId="{6D993732-8463-4897-8C24-32DAB974BEF4}" sibTransId="{FCD4B02C-AB25-4C99-BED2-DEDCB514B742}"/>
    <dgm:cxn modelId="{43FE3053-1F72-4257-A036-A6622181EF61}" srcId="{C4D81336-8909-4B77-A1AD-A375F36A956D}" destId="{E27ABD87-073B-4DE4-831A-E07FB4CA0337}" srcOrd="2" destOrd="0" parTransId="{A7796E4C-3431-476D-836E-4DC40068C92A}" sibTransId="{CE237ADB-9AD7-4589-AB01-D82FDE18C5F6}"/>
    <dgm:cxn modelId="{E4C10D8E-619F-4F89-9C47-75EF2A33A7A4}" type="presOf" srcId="{FA367991-1F4F-496D-B4DF-AAD454212BF3}" destId="{F7774426-0516-46CD-82E3-AD46CCF4E540}" srcOrd="0" destOrd="0" presId="urn:microsoft.com/office/officeart/2008/layout/VerticalCurvedList"/>
    <dgm:cxn modelId="{CF2EC3A1-D2C0-4C53-AC71-34941767A46A}" type="presOf" srcId="{F66971C4-CAB3-452B-A19F-E6EA34F8123D}" destId="{31DB1D15-D20C-45AB-9589-AF6869026804}" srcOrd="0" destOrd="0" presId="urn:microsoft.com/office/officeart/2008/layout/VerticalCurvedList"/>
    <dgm:cxn modelId="{38E00CEC-D490-4F50-85B1-18144282F0EE}" type="presParOf" srcId="{20433C1C-91B9-4A58-9C30-DD4E93A37AA4}" destId="{4817C075-B568-4CED-948F-2D949151EA04}" srcOrd="0" destOrd="0" presId="urn:microsoft.com/office/officeart/2008/layout/VerticalCurvedList"/>
    <dgm:cxn modelId="{84C25A7D-7E01-46E1-AD53-27593447FC91}" type="presParOf" srcId="{4817C075-B568-4CED-948F-2D949151EA04}" destId="{9C906BB6-C1BA-4411-B892-EA779ED7531E}" srcOrd="0" destOrd="0" presId="urn:microsoft.com/office/officeart/2008/layout/VerticalCurvedList"/>
    <dgm:cxn modelId="{66A6504E-F73F-4463-9DA8-B2B04E9E4A67}" type="presParOf" srcId="{9C906BB6-C1BA-4411-B892-EA779ED7531E}" destId="{4111CC9E-2024-4F0A-BB75-85F6FBDFE348}" srcOrd="0" destOrd="0" presId="urn:microsoft.com/office/officeart/2008/layout/VerticalCurvedList"/>
    <dgm:cxn modelId="{ED9CBE85-9609-4FA6-BDA6-421B49216852}" type="presParOf" srcId="{9C906BB6-C1BA-4411-B892-EA779ED7531E}" destId="{FBCDAF78-9A8A-4A6A-A4F1-12A564843AB5}" srcOrd="1" destOrd="0" presId="urn:microsoft.com/office/officeart/2008/layout/VerticalCurvedList"/>
    <dgm:cxn modelId="{22094061-BAE1-41CD-886F-B2B4BCE924BA}" type="presParOf" srcId="{9C906BB6-C1BA-4411-B892-EA779ED7531E}" destId="{305AA1C0-89DD-4AB9-BA70-2A8B693CDAF8}" srcOrd="2" destOrd="0" presId="urn:microsoft.com/office/officeart/2008/layout/VerticalCurvedList"/>
    <dgm:cxn modelId="{4C1B9FF9-1258-4CAE-83D2-CD95C3E50AD0}" type="presParOf" srcId="{9C906BB6-C1BA-4411-B892-EA779ED7531E}" destId="{DD47AEA5-7D4C-4B2C-B977-4D1416C173D1}" srcOrd="3" destOrd="0" presId="urn:microsoft.com/office/officeart/2008/layout/VerticalCurvedList"/>
    <dgm:cxn modelId="{83796E98-E082-4C6C-AC5B-C267C7AC303D}" type="presParOf" srcId="{4817C075-B568-4CED-948F-2D949151EA04}" destId="{31DB1D15-D20C-45AB-9589-AF6869026804}" srcOrd="1" destOrd="0" presId="urn:microsoft.com/office/officeart/2008/layout/VerticalCurvedList"/>
    <dgm:cxn modelId="{6ED29DBF-16C3-49B2-8169-BFBEA097BAFF}" type="presParOf" srcId="{4817C075-B568-4CED-948F-2D949151EA04}" destId="{4BA3FF23-6EFE-41D0-A937-B71B43925D7F}" srcOrd="2" destOrd="0" presId="urn:microsoft.com/office/officeart/2008/layout/VerticalCurvedList"/>
    <dgm:cxn modelId="{51F6A555-4CAB-477A-930A-87C297EDD0E0}" type="presParOf" srcId="{4BA3FF23-6EFE-41D0-A937-B71B43925D7F}" destId="{5F56D0A2-9C26-44D2-8413-C0EED1A88D9F}" srcOrd="0" destOrd="0" presId="urn:microsoft.com/office/officeart/2008/layout/VerticalCurvedList"/>
    <dgm:cxn modelId="{A84EB28F-79AE-440D-A7A8-A3AF07DAAE35}" type="presParOf" srcId="{4817C075-B568-4CED-948F-2D949151EA04}" destId="{F7774426-0516-46CD-82E3-AD46CCF4E540}" srcOrd="3" destOrd="0" presId="urn:microsoft.com/office/officeart/2008/layout/VerticalCurvedList"/>
    <dgm:cxn modelId="{45555386-130D-480C-9926-74CAA68C26A4}" type="presParOf" srcId="{4817C075-B568-4CED-948F-2D949151EA04}" destId="{3509AFF7-1F19-4D3D-8631-FF052008D8E3}" srcOrd="4" destOrd="0" presId="urn:microsoft.com/office/officeart/2008/layout/VerticalCurvedList"/>
    <dgm:cxn modelId="{B4A7781C-B332-4983-A633-A393D8F7526F}" type="presParOf" srcId="{3509AFF7-1F19-4D3D-8631-FF052008D8E3}" destId="{6371B580-1662-4D9E-B22E-C932C4C34C40}" srcOrd="0" destOrd="0" presId="urn:microsoft.com/office/officeart/2008/layout/VerticalCurvedList"/>
    <dgm:cxn modelId="{D94F46B9-BC6C-439E-A08B-97A129CF4FBF}" type="presParOf" srcId="{4817C075-B568-4CED-948F-2D949151EA04}" destId="{72001A8B-A6C2-49F7-AD14-0FE8BF890B35}" srcOrd="5" destOrd="0" presId="urn:microsoft.com/office/officeart/2008/layout/VerticalCurvedList"/>
    <dgm:cxn modelId="{4697B319-36FF-4D5D-AEC5-5329FFA8D9C3}" type="presParOf" srcId="{4817C075-B568-4CED-948F-2D949151EA04}" destId="{D01CAE43-B072-4FA4-9A12-A8675EA879B6}" srcOrd="6" destOrd="0" presId="urn:microsoft.com/office/officeart/2008/layout/VerticalCurvedList"/>
    <dgm:cxn modelId="{A56D9D8D-F03B-479A-B195-C68762922E75}" type="presParOf" srcId="{D01CAE43-B072-4FA4-9A12-A8675EA879B6}" destId="{EE34CDD3-8DF8-4711-B8D9-64819C43C648}"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CDAF78-9A8A-4A6A-A4F1-12A564843AB5}">
      <dsp:nvSpPr>
        <dsp:cNvPr id="0" name=""/>
        <dsp:cNvSpPr/>
      </dsp:nvSpPr>
      <dsp:spPr>
        <a:xfrm>
          <a:off x="-5942778" y="-909632"/>
          <a:ext cx="7076429" cy="7076429"/>
        </a:xfrm>
        <a:prstGeom prst="blockArc">
          <a:avLst>
            <a:gd name="adj1" fmla="val 18900000"/>
            <a:gd name="adj2" fmla="val 2700000"/>
            <a:gd name="adj3" fmla="val 305"/>
          </a:avLst>
        </a:pr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1DB1D15-D20C-45AB-9589-AF6869026804}">
      <dsp:nvSpPr>
        <dsp:cNvPr id="0" name=""/>
        <dsp:cNvSpPr/>
      </dsp:nvSpPr>
      <dsp:spPr>
        <a:xfrm>
          <a:off x="729694" y="525716"/>
          <a:ext cx="8402141" cy="1051433"/>
        </a:xfrm>
        <a:prstGeom prst="rect">
          <a:avLst/>
        </a:prstGeom>
        <a:noFill/>
        <a:ln w="1905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4575" tIns="38100" rIns="38100" bIns="38100" numCol="1" spcCol="1270" anchor="ctr" anchorCtr="0">
          <a:noAutofit/>
        </a:bodyPr>
        <a:lstStyle/>
        <a:p>
          <a:pPr marL="0" lvl="0" indent="0" algn="l" defTabSz="666750">
            <a:lnSpc>
              <a:spcPct val="90000"/>
            </a:lnSpc>
            <a:spcBef>
              <a:spcPct val="0"/>
            </a:spcBef>
            <a:spcAft>
              <a:spcPct val="35000"/>
            </a:spcAft>
            <a:buNone/>
          </a:pPr>
          <a:r>
            <a:rPr lang="en-IN" sz="1500" kern="1200">
              <a:solidFill>
                <a:schemeClr val="tx2"/>
              </a:solidFill>
              <a:latin typeface="Rockwell" panose="02060603020205020403" pitchFamily="18" charset="0"/>
            </a:rPr>
            <a:t>Measure cross elasticities with key competitors to identify </a:t>
          </a:r>
          <a:r>
            <a:rPr lang="en-IN" sz="1500" b="1" kern="1200">
              <a:solidFill>
                <a:schemeClr val="tx2"/>
              </a:solidFill>
              <a:latin typeface="Rockwell" panose="02060603020205020403" pitchFamily="18" charset="0"/>
            </a:rPr>
            <a:t>who our brands interact with most</a:t>
          </a:r>
        </a:p>
      </dsp:txBody>
      <dsp:txXfrm>
        <a:off x="729694" y="525716"/>
        <a:ext cx="8402141" cy="1051433"/>
      </dsp:txXfrm>
    </dsp:sp>
    <dsp:sp modelId="{5F56D0A2-9C26-44D2-8413-C0EED1A88D9F}">
      <dsp:nvSpPr>
        <dsp:cNvPr id="0" name=""/>
        <dsp:cNvSpPr/>
      </dsp:nvSpPr>
      <dsp:spPr>
        <a:xfrm>
          <a:off x="72548" y="394287"/>
          <a:ext cx="1314291" cy="1314291"/>
        </a:xfrm>
        <a:prstGeom prst="ellipse">
          <a:avLst/>
        </a:prstGeom>
        <a:solidFill>
          <a:srgbClr val="FEFEFE"/>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7774426-0516-46CD-82E3-AD46CCF4E540}">
      <dsp:nvSpPr>
        <dsp:cNvPr id="0" name=""/>
        <dsp:cNvSpPr/>
      </dsp:nvSpPr>
      <dsp:spPr>
        <a:xfrm>
          <a:off x="1111890" y="2102866"/>
          <a:ext cx="8019945" cy="1051433"/>
        </a:xfrm>
        <a:prstGeom prst="rect">
          <a:avLst/>
        </a:prstGeom>
        <a:noFill/>
        <a:ln w="1905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4575" tIns="38100" rIns="38100" bIns="38100" numCol="1" spcCol="1270" anchor="ctr" anchorCtr="0">
          <a:noAutofit/>
        </a:bodyPr>
        <a:lstStyle/>
        <a:p>
          <a:pPr marL="0" lvl="0" indent="0" algn="l" defTabSz="666750">
            <a:lnSpc>
              <a:spcPct val="90000"/>
            </a:lnSpc>
            <a:spcBef>
              <a:spcPct val="0"/>
            </a:spcBef>
            <a:spcAft>
              <a:spcPct val="35000"/>
            </a:spcAft>
            <a:buNone/>
          </a:pPr>
          <a:r>
            <a:rPr lang="en-US" sz="1500" kern="1200">
              <a:solidFill>
                <a:schemeClr val="tx2"/>
              </a:solidFill>
              <a:latin typeface="Rockwell" panose="02060603020205020403" pitchFamily="18" charset="0"/>
            </a:rPr>
            <a:t>Develop a </a:t>
          </a:r>
          <a:r>
            <a:rPr lang="en-US" sz="1500" b="1" kern="1200">
              <a:solidFill>
                <a:schemeClr val="tx2"/>
              </a:solidFill>
              <a:latin typeface="Rockwell" panose="02060603020205020403" pitchFamily="18" charset="0"/>
            </a:rPr>
            <a:t>strategic price index </a:t>
          </a:r>
          <a:r>
            <a:rPr lang="en-US" sz="1500" kern="1200">
              <a:solidFill>
                <a:schemeClr val="tx2"/>
              </a:solidFill>
              <a:latin typeface="Rockwell" panose="02060603020205020403" pitchFamily="18" charset="0"/>
            </a:rPr>
            <a:t>vs critical competitors by brand, segment or channel</a:t>
          </a:r>
          <a:endParaRPr lang="en-IN" sz="1500" kern="1200">
            <a:solidFill>
              <a:schemeClr val="tx2"/>
            </a:solidFill>
            <a:latin typeface="Rockwell" panose="02060603020205020403" pitchFamily="18" charset="0"/>
          </a:endParaRPr>
        </a:p>
      </dsp:txBody>
      <dsp:txXfrm>
        <a:off x="1111890" y="2102866"/>
        <a:ext cx="8019945" cy="1051433"/>
      </dsp:txXfrm>
    </dsp:sp>
    <dsp:sp modelId="{6371B580-1662-4D9E-B22E-C932C4C34C40}">
      <dsp:nvSpPr>
        <dsp:cNvPr id="0" name=""/>
        <dsp:cNvSpPr/>
      </dsp:nvSpPr>
      <dsp:spPr>
        <a:xfrm>
          <a:off x="454744" y="1971436"/>
          <a:ext cx="1314291" cy="1314291"/>
        </a:xfrm>
        <a:prstGeom prst="ellipse">
          <a:avLst/>
        </a:prstGeom>
        <a:solidFill>
          <a:srgbClr val="FFFFFF"/>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2001A8B-A6C2-49F7-AD14-0FE8BF890B35}">
      <dsp:nvSpPr>
        <dsp:cNvPr id="0" name=""/>
        <dsp:cNvSpPr/>
      </dsp:nvSpPr>
      <dsp:spPr>
        <a:xfrm>
          <a:off x="729694" y="3680015"/>
          <a:ext cx="8402141" cy="1051433"/>
        </a:xfrm>
        <a:prstGeom prst="rect">
          <a:avLst/>
        </a:prstGeom>
        <a:noFill/>
        <a:ln w="1905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4575" tIns="38100" rIns="38100" bIns="38100" numCol="1" spcCol="1270" anchor="ctr" anchorCtr="0">
          <a:noAutofit/>
        </a:bodyPr>
        <a:lstStyle/>
        <a:p>
          <a:pPr marL="0" lvl="0" indent="0" algn="l" defTabSz="666750">
            <a:lnSpc>
              <a:spcPct val="90000"/>
            </a:lnSpc>
            <a:spcBef>
              <a:spcPct val="0"/>
            </a:spcBef>
            <a:spcAft>
              <a:spcPct val="35000"/>
            </a:spcAft>
            <a:buNone/>
          </a:pPr>
          <a:r>
            <a:rPr lang="en-IN" sz="1500" kern="1200">
              <a:solidFill>
                <a:schemeClr val="tx2"/>
              </a:solidFill>
              <a:latin typeface="Rockwell" panose="02060603020205020403" pitchFamily="18" charset="0"/>
            </a:rPr>
            <a:t>Have a long term planning tool that enables </a:t>
          </a:r>
          <a:r>
            <a:rPr lang="en-IN" sz="1500" b="1" kern="1200">
              <a:solidFill>
                <a:schemeClr val="tx2"/>
              </a:solidFill>
              <a:latin typeface="Rockwell" panose="02060603020205020403" pitchFamily="18" charset="0"/>
            </a:rPr>
            <a:t>scenario planning </a:t>
          </a:r>
          <a:r>
            <a:rPr lang="en-IN" sz="1500" kern="1200">
              <a:solidFill>
                <a:schemeClr val="tx2"/>
              </a:solidFill>
              <a:latin typeface="Rockwell" panose="02060603020205020403" pitchFamily="18" charset="0"/>
            </a:rPr>
            <a:t>basis price modulation</a:t>
          </a:r>
        </a:p>
      </dsp:txBody>
      <dsp:txXfrm>
        <a:off x="729694" y="3680015"/>
        <a:ext cx="8402141" cy="1051433"/>
      </dsp:txXfrm>
    </dsp:sp>
    <dsp:sp modelId="{EE34CDD3-8DF8-4711-B8D9-64819C43C648}">
      <dsp:nvSpPr>
        <dsp:cNvPr id="0" name=""/>
        <dsp:cNvSpPr/>
      </dsp:nvSpPr>
      <dsp:spPr>
        <a:xfrm>
          <a:off x="72548" y="3548586"/>
          <a:ext cx="1314291" cy="1314291"/>
        </a:xfrm>
        <a:prstGeom prst="ellipse">
          <a:avLst/>
        </a:prstGeom>
        <a:solidFill>
          <a:srgbClr val="FFFFFF"/>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236D0A-4116-4BE8-B9B0-73328308A55B}" type="datetimeFigureOut">
              <a:rPr lang="en-US" smtClean="0"/>
              <a:t>6/24/2025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3139FE-190F-482A-86BB-4692EB7D40D9}" type="slidenum">
              <a:rPr lang="en-US" smtClean="0"/>
              <a:t>‹#›</a:t>
            </a:fld>
            <a:endParaRPr lang="en-US"/>
          </a:p>
        </p:txBody>
      </p:sp>
    </p:spTree>
    <p:extLst>
      <p:ext uri="{BB962C8B-B14F-4D97-AF65-F5344CB8AC3E}">
        <p14:creationId xmlns:p14="http://schemas.microsoft.com/office/powerpoint/2010/main" val="2090377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E4B1AA0-8348-4DBB-9598-A85AA45DB30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717289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E4B1AA0-8348-4DBB-9598-A85AA45DB30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972149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0FBE9-6A72-530F-D155-A81EF88589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3530DF-656F-E122-6AA2-D133B97AFA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7E9BFF-0BB8-4433-A706-76DEC0CA137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75F3E29-2E38-8383-C50C-396B8C303D4E}"/>
              </a:ext>
            </a:extLst>
          </p:cNvPr>
          <p:cNvSpPr>
            <a:spLocks noGrp="1"/>
          </p:cNvSpPr>
          <p:nvPr>
            <p:ph type="sldNum" sz="quarter" idx="5"/>
          </p:nvPr>
        </p:nvSpPr>
        <p:spPr/>
        <p:txBody>
          <a:bodyPr/>
          <a:lstStyle/>
          <a:p>
            <a:fld id="{F2B8A489-855E-409E-BC50-A1F80FEFCABF}" type="slidenum">
              <a:rPr lang="en-IN" smtClean="0"/>
              <a:t>11</a:t>
            </a:fld>
            <a:endParaRPr lang="en-IN"/>
          </a:p>
        </p:txBody>
      </p:sp>
    </p:spTree>
    <p:extLst>
      <p:ext uri="{BB962C8B-B14F-4D97-AF65-F5344CB8AC3E}">
        <p14:creationId xmlns:p14="http://schemas.microsoft.com/office/powerpoint/2010/main" val="21876261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D661B-61D2-D6B8-8839-5363C0F1CE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9C8076-6572-6D56-9CC9-D8E63E6D0C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2951F8-8513-471F-D0F1-D6E21228F34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1BBB8AC3-A710-89BE-E0C2-756573C624A4}"/>
              </a:ext>
            </a:extLst>
          </p:cNvPr>
          <p:cNvSpPr>
            <a:spLocks noGrp="1"/>
          </p:cNvSpPr>
          <p:nvPr>
            <p:ph type="sldNum" sz="quarter" idx="5"/>
          </p:nvPr>
        </p:nvSpPr>
        <p:spPr/>
        <p:txBody>
          <a:bodyPr/>
          <a:lstStyle/>
          <a:p>
            <a:fld id="{F2B8A489-855E-409E-BC50-A1F80FEFCABF}" type="slidenum">
              <a:rPr lang="en-IN" smtClean="0"/>
              <a:t>12</a:t>
            </a:fld>
            <a:endParaRPr lang="en-IN"/>
          </a:p>
        </p:txBody>
      </p:sp>
    </p:spTree>
    <p:extLst>
      <p:ext uri="{BB962C8B-B14F-4D97-AF65-F5344CB8AC3E}">
        <p14:creationId xmlns:p14="http://schemas.microsoft.com/office/powerpoint/2010/main" val="42305329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A2E99-C566-6AA8-84B1-5C36C179B6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76FBF6-1C8C-9660-604F-904329DDD1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A846AD-3143-BBD8-3FCA-015B6AE01FA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82EDE62-7484-5C63-60A0-8D200B2D0CA8}"/>
              </a:ext>
            </a:extLst>
          </p:cNvPr>
          <p:cNvSpPr>
            <a:spLocks noGrp="1"/>
          </p:cNvSpPr>
          <p:nvPr>
            <p:ph type="sldNum" sz="quarter" idx="5"/>
          </p:nvPr>
        </p:nvSpPr>
        <p:spPr/>
        <p:txBody>
          <a:bodyPr/>
          <a:lstStyle/>
          <a:p>
            <a:fld id="{F2B8A489-855E-409E-BC50-A1F80FEFCABF}" type="slidenum">
              <a:rPr lang="en-IN" smtClean="0"/>
              <a:t>13</a:t>
            </a:fld>
            <a:endParaRPr lang="en-IN"/>
          </a:p>
        </p:txBody>
      </p:sp>
    </p:spTree>
    <p:extLst>
      <p:ext uri="{BB962C8B-B14F-4D97-AF65-F5344CB8AC3E}">
        <p14:creationId xmlns:p14="http://schemas.microsoft.com/office/powerpoint/2010/main" val="22045661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44AA0-69AC-8A43-441D-AEF8DF94A2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7BD1EA-5AD8-B60F-FA65-9633F15E01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75C654-F2FB-323A-CEE3-DEA1D77C0DB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BED497B2-E063-61F5-4186-4EB473B98DC4}"/>
              </a:ext>
            </a:extLst>
          </p:cNvPr>
          <p:cNvSpPr>
            <a:spLocks noGrp="1"/>
          </p:cNvSpPr>
          <p:nvPr>
            <p:ph type="sldNum" sz="quarter" idx="5"/>
          </p:nvPr>
        </p:nvSpPr>
        <p:spPr/>
        <p:txBody>
          <a:bodyPr/>
          <a:lstStyle/>
          <a:p>
            <a:fld id="{F2B8A489-855E-409E-BC50-A1F80FEFCABF}" type="slidenum">
              <a:rPr lang="en-IN" smtClean="0"/>
              <a:t>14</a:t>
            </a:fld>
            <a:endParaRPr lang="en-IN"/>
          </a:p>
        </p:txBody>
      </p:sp>
    </p:spTree>
    <p:extLst>
      <p:ext uri="{BB962C8B-B14F-4D97-AF65-F5344CB8AC3E}">
        <p14:creationId xmlns:p14="http://schemas.microsoft.com/office/powerpoint/2010/main" val="3371396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0FBE9-6A72-530F-D155-A81EF88589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3530DF-656F-E122-6AA2-D133B97AFA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7E9BFF-0BB8-4433-A706-76DEC0CA137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75F3E29-2E38-8383-C50C-396B8C303D4E}"/>
              </a:ext>
            </a:extLst>
          </p:cNvPr>
          <p:cNvSpPr>
            <a:spLocks noGrp="1"/>
          </p:cNvSpPr>
          <p:nvPr>
            <p:ph type="sldNum" sz="quarter" idx="5"/>
          </p:nvPr>
        </p:nvSpPr>
        <p:spPr/>
        <p:txBody>
          <a:bodyPr/>
          <a:lstStyle/>
          <a:p>
            <a:fld id="{F2B8A489-855E-409E-BC50-A1F80FEFCABF}" type="slidenum">
              <a:rPr lang="en-IN" smtClean="0"/>
              <a:t>17</a:t>
            </a:fld>
            <a:endParaRPr lang="en-IN"/>
          </a:p>
        </p:txBody>
      </p:sp>
    </p:spTree>
    <p:extLst>
      <p:ext uri="{BB962C8B-B14F-4D97-AF65-F5344CB8AC3E}">
        <p14:creationId xmlns:p14="http://schemas.microsoft.com/office/powerpoint/2010/main" val="21876261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CDC14-0768-5D6A-10DC-5BC1FD1339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A1A986-C817-1489-C13B-262119A7C4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5D6513-DDA5-05ED-F9B8-C224F9EDB2A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9D63073-702A-0A0D-FD93-7EB72E8A2B5A}"/>
              </a:ext>
            </a:extLst>
          </p:cNvPr>
          <p:cNvSpPr>
            <a:spLocks noGrp="1"/>
          </p:cNvSpPr>
          <p:nvPr>
            <p:ph type="sldNum" sz="quarter" idx="5"/>
          </p:nvPr>
        </p:nvSpPr>
        <p:spPr/>
        <p:txBody>
          <a:bodyPr/>
          <a:lstStyle/>
          <a:p>
            <a:fld id="{F2B8A489-855E-409E-BC50-A1F80FEFCABF}" type="slidenum">
              <a:rPr lang="en-IN" smtClean="0"/>
              <a:t>18</a:t>
            </a:fld>
            <a:endParaRPr lang="en-IN"/>
          </a:p>
        </p:txBody>
      </p:sp>
    </p:spTree>
    <p:extLst>
      <p:ext uri="{BB962C8B-B14F-4D97-AF65-F5344CB8AC3E}">
        <p14:creationId xmlns:p14="http://schemas.microsoft.com/office/powerpoint/2010/main" val="37531679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F8870-5A28-7E58-DD63-FF6346A02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A5AC2C-B975-CDFA-D096-491DE7BA1F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FAE764-934E-47DC-0F09-99926EF08460}"/>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B2F3F11-9960-060F-65A7-478272CB6C07}"/>
              </a:ext>
            </a:extLst>
          </p:cNvPr>
          <p:cNvSpPr>
            <a:spLocks noGrp="1"/>
          </p:cNvSpPr>
          <p:nvPr>
            <p:ph type="sldNum" sz="quarter" idx="5"/>
          </p:nvPr>
        </p:nvSpPr>
        <p:spPr/>
        <p:txBody>
          <a:bodyPr/>
          <a:lstStyle/>
          <a:p>
            <a:fld id="{F2B8A489-855E-409E-BC50-A1F80FEFCABF}" type="slidenum">
              <a:rPr lang="en-IN" smtClean="0"/>
              <a:t>19</a:t>
            </a:fld>
            <a:endParaRPr lang="en-IN"/>
          </a:p>
        </p:txBody>
      </p:sp>
    </p:spTree>
    <p:extLst>
      <p:ext uri="{BB962C8B-B14F-4D97-AF65-F5344CB8AC3E}">
        <p14:creationId xmlns:p14="http://schemas.microsoft.com/office/powerpoint/2010/main" val="11645918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23375-6CEF-CCAC-98A2-DCC317E72E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84F6A9D-0451-B163-E608-9E876F3551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88B6298-3069-CFCC-F88E-610785923FEE}"/>
              </a:ext>
            </a:extLst>
          </p:cNvPr>
          <p:cNvSpPr>
            <a:spLocks noGrp="1"/>
          </p:cNvSpPr>
          <p:nvPr>
            <p:ph type="dt" sz="half" idx="10"/>
          </p:nvPr>
        </p:nvSpPr>
        <p:spPr/>
        <p:txBody>
          <a:bodyPr/>
          <a:lstStyle/>
          <a:p>
            <a:fld id="{87F5FCC0-8ED7-46BE-8703-4CBAF6A8DE3B}" type="datetimeFigureOut">
              <a:rPr lang="en-US" smtClean="0"/>
              <a:t>6/24/2025</a:t>
            </a:fld>
            <a:endParaRPr lang="en-US"/>
          </a:p>
        </p:txBody>
      </p:sp>
      <p:sp>
        <p:nvSpPr>
          <p:cNvPr id="5" name="Footer Placeholder 4">
            <a:extLst>
              <a:ext uri="{FF2B5EF4-FFF2-40B4-BE49-F238E27FC236}">
                <a16:creationId xmlns:a16="http://schemas.microsoft.com/office/drawing/2014/main" id="{BF35BBA5-A039-2E0A-A595-CAC90D70EB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85A05F-A2C2-07B6-8A0A-091F012DC493}"/>
              </a:ext>
            </a:extLst>
          </p:cNvPr>
          <p:cNvSpPr>
            <a:spLocks noGrp="1"/>
          </p:cNvSpPr>
          <p:nvPr>
            <p:ph type="sldNum" sz="quarter" idx="12"/>
          </p:nvPr>
        </p:nvSpPr>
        <p:spPr/>
        <p:txBody>
          <a:bodyPr/>
          <a:lstStyle/>
          <a:p>
            <a:fld id="{1504228D-D2C9-475F-ACA7-7F29AE826713}" type="slidenum">
              <a:rPr lang="en-US" smtClean="0"/>
              <a:t>‹#›</a:t>
            </a:fld>
            <a:endParaRPr lang="en-US"/>
          </a:p>
        </p:txBody>
      </p:sp>
    </p:spTree>
    <p:extLst>
      <p:ext uri="{BB962C8B-B14F-4D97-AF65-F5344CB8AC3E}">
        <p14:creationId xmlns:p14="http://schemas.microsoft.com/office/powerpoint/2010/main" val="3005811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401A2-8C48-19EB-A955-C0C54C1538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05DBC72-405B-1FC9-E25B-1D800F5BDE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8C7DCC-2538-40F1-DCC6-7E1DD1EDC60B}"/>
              </a:ext>
            </a:extLst>
          </p:cNvPr>
          <p:cNvSpPr>
            <a:spLocks noGrp="1"/>
          </p:cNvSpPr>
          <p:nvPr>
            <p:ph type="dt" sz="half" idx="10"/>
          </p:nvPr>
        </p:nvSpPr>
        <p:spPr/>
        <p:txBody>
          <a:bodyPr/>
          <a:lstStyle/>
          <a:p>
            <a:fld id="{87F5FCC0-8ED7-46BE-8703-4CBAF6A8DE3B}" type="datetimeFigureOut">
              <a:rPr lang="en-US" smtClean="0"/>
              <a:t>6/24/2025</a:t>
            </a:fld>
            <a:endParaRPr lang="en-US"/>
          </a:p>
        </p:txBody>
      </p:sp>
      <p:sp>
        <p:nvSpPr>
          <p:cNvPr id="5" name="Footer Placeholder 4">
            <a:extLst>
              <a:ext uri="{FF2B5EF4-FFF2-40B4-BE49-F238E27FC236}">
                <a16:creationId xmlns:a16="http://schemas.microsoft.com/office/drawing/2014/main" id="{8D7C9D11-8CC2-AF03-AA13-42D94755F4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A27E82-F791-E844-925E-8A29FAD70448}"/>
              </a:ext>
            </a:extLst>
          </p:cNvPr>
          <p:cNvSpPr>
            <a:spLocks noGrp="1"/>
          </p:cNvSpPr>
          <p:nvPr>
            <p:ph type="sldNum" sz="quarter" idx="12"/>
          </p:nvPr>
        </p:nvSpPr>
        <p:spPr/>
        <p:txBody>
          <a:bodyPr/>
          <a:lstStyle/>
          <a:p>
            <a:fld id="{1504228D-D2C9-475F-ACA7-7F29AE826713}" type="slidenum">
              <a:rPr lang="en-US" smtClean="0"/>
              <a:t>‹#›</a:t>
            </a:fld>
            <a:endParaRPr lang="en-US"/>
          </a:p>
        </p:txBody>
      </p:sp>
    </p:spTree>
    <p:extLst>
      <p:ext uri="{BB962C8B-B14F-4D97-AF65-F5344CB8AC3E}">
        <p14:creationId xmlns:p14="http://schemas.microsoft.com/office/powerpoint/2010/main" val="34143228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BBAFD-9D05-1959-3062-6A7D4F9E2F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6A7070C-FE97-8475-57D7-F8F982FA020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D42B1EE-D9EC-F6FF-8326-1BB3B4DA5F77}"/>
              </a:ext>
            </a:extLst>
          </p:cNvPr>
          <p:cNvSpPr>
            <a:spLocks noGrp="1"/>
          </p:cNvSpPr>
          <p:nvPr>
            <p:ph type="dt" sz="half" idx="10"/>
          </p:nvPr>
        </p:nvSpPr>
        <p:spPr/>
        <p:txBody>
          <a:bodyPr/>
          <a:lstStyle/>
          <a:p>
            <a:fld id="{87F5FCC0-8ED7-46BE-8703-4CBAF6A8DE3B}" type="datetimeFigureOut">
              <a:rPr lang="en-US" smtClean="0"/>
              <a:t>6/24/2025</a:t>
            </a:fld>
            <a:endParaRPr lang="en-US"/>
          </a:p>
        </p:txBody>
      </p:sp>
      <p:sp>
        <p:nvSpPr>
          <p:cNvPr id="5" name="Footer Placeholder 4">
            <a:extLst>
              <a:ext uri="{FF2B5EF4-FFF2-40B4-BE49-F238E27FC236}">
                <a16:creationId xmlns:a16="http://schemas.microsoft.com/office/drawing/2014/main" id="{B392D928-EAA1-A7C6-E07C-B64070E51B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F14795-E9B9-A8A6-A46B-813FEA270CE4}"/>
              </a:ext>
            </a:extLst>
          </p:cNvPr>
          <p:cNvSpPr>
            <a:spLocks noGrp="1"/>
          </p:cNvSpPr>
          <p:nvPr>
            <p:ph type="sldNum" sz="quarter" idx="12"/>
          </p:nvPr>
        </p:nvSpPr>
        <p:spPr/>
        <p:txBody>
          <a:bodyPr/>
          <a:lstStyle/>
          <a:p>
            <a:fld id="{1504228D-D2C9-475F-ACA7-7F29AE826713}" type="slidenum">
              <a:rPr lang="en-US" smtClean="0"/>
              <a:t>‹#›</a:t>
            </a:fld>
            <a:endParaRPr lang="en-US"/>
          </a:p>
        </p:txBody>
      </p:sp>
    </p:spTree>
    <p:extLst>
      <p:ext uri="{BB962C8B-B14F-4D97-AF65-F5344CB8AC3E}">
        <p14:creationId xmlns:p14="http://schemas.microsoft.com/office/powerpoint/2010/main" val="3711239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4EF3D-CD6E-6D85-8DF6-3D07CDA7CC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7C3E1A2-3C58-CBB2-C067-68DEB3A2BFB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1AD5378-AAED-CB11-7259-50DF83221C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FEB0717-38D8-FA3D-570B-0B88CDB1D7D3}"/>
              </a:ext>
            </a:extLst>
          </p:cNvPr>
          <p:cNvSpPr>
            <a:spLocks noGrp="1"/>
          </p:cNvSpPr>
          <p:nvPr>
            <p:ph type="dt" sz="half" idx="10"/>
          </p:nvPr>
        </p:nvSpPr>
        <p:spPr/>
        <p:txBody>
          <a:bodyPr/>
          <a:lstStyle/>
          <a:p>
            <a:fld id="{87F5FCC0-8ED7-46BE-8703-4CBAF6A8DE3B}" type="datetimeFigureOut">
              <a:rPr lang="en-US" smtClean="0"/>
              <a:t>6/24/2025</a:t>
            </a:fld>
            <a:endParaRPr lang="en-US"/>
          </a:p>
        </p:txBody>
      </p:sp>
      <p:sp>
        <p:nvSpPr>
          <p:cNvPr id="6" name="Footer Placeholder 5">
            <a:extLst>
              <a:ext uri="{FF2B5EF4-FFF2-40B4-BE49-F238E27FC236}">
                <a16:creationId xmlns:a16="http://schemas.microsoft.com/office/drawing/2014/main" id="{FD386F6E-5182-D949-25A9-09388409DA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24C742-2F75-149F-883E-35E98C515BA0}"/>
              </a:ext>
            </a:extLst>
          </p:cNvPr>
          <p:cNvSpPr>
            <a:spLocks noGrp="1"/>
          </p:cNvSpPr>
          <p:nvPr>
            <p:ph type="sldNum" sz="quarter" idx="12"/>
          </p:nvPr>
        </p:nvSpPr>
        <p:spPr/>
        <p:txBody>
          <a:bodyPr/>
          <a:lstStyle/>
          <a:p>
            <a:fld id="{1504228D-D2C9-475F-ACA7-7F29AE826713}" type="slidenum">
              <a:rPr lang="en-US" smtClean="0"/>
              <a:t>‹#›</a:t>
            </a:fld>
            <a:endParaRPr lang="en-US"/>
          </a:p>
        </p:txBody>
      </p:sp>
    </p:spTree>
    <p:extLst>
      <p:ext uri="{BB962C8B-B14F-4D97-AF65-F5344CB8AC3E}">
        <p14:creationId xmlns:p14="http://schemas.microsoft.com/office/powerpoint/2010/main" val="2145800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390B0-6DCE-E327-717C-FDF2DD38DAB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B6C2B50-9A87-9E61-9A98-11E6EB8AA0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D8A3F8-EDCA-97F2-58C6-3634D4131B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D36F100-5501-3D99-7852-9627C99ADA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6A3A3C-4C0F-9DB5-B3F0-30CBABB5B1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5135966-311D-BA64-653C-10D0EB0A9BB4}"/>
              </a:ext>
            </a:extLst>
          </p:cNvPr>
          <p:cNvSpPr>
            <a:spLocks noGrp="1"/>
          </p:cNvSpPr>
          <p:nvPr>
            <p:ph type="dt" sz="half" idx="10"/>
          </p:nvPr>
        </p:nvSpPr>
        <p:spPr/>
        <p:txBody>
          <a:bodyPr/>
          <a:lstStyle/>
          <a:p>
            <a:fld id="{87F5FCC0-8ED7-46BE-8703-4CBAF6A8DE3B}" type="datetimeFigureOut">
              <a:rPr lang="en-US" smtClean="0"/>
              <a:t>6/24/2025</a:t>
            </a:fld>
            <a:endParaRPr lang="en-US"/>
          </a:p>
        </p:txBody>
      </p:sp>
      <p:sp>
        <p:nvSpPr>
          <p:cNvPr id="8" name="Footer Placeholder 7">
            <a:extLst>
              <a:ext uri="{FF2B5EF4-FFF2-40B4-BE49-F238E27FC236}">
                <a16:creationId xmlns:a16="http://schemas.microsoft.com/office/drawing/2014/main" id="{091F7465-A459-CE9C-F2B9-2217F568BA9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707766C-4483-8C23-3CC4-0888BE67D0AA}"/>
              </a:ext>
            </a:extLst>
          </p:cNvPr>
          <p:cNvSpPr>
            <a:spLocks noGrp="1"/>
          </p:cNvSpPr>
          <p:nvPr>
            <p:ph type="sldNum" sz="quarter" idx="12"/>
          </p:nvPr>
        </p:nvSpPr>
        <p:spPr/>
        <p:txBody>
          <a:bodyPr/>
          <a:lstStyle/>
          <a:p>
            <a:fld id="{1504228D-D2C9-475F-ACA7-7F29AE826713}" type="slidenum">
              <a:rPr lang="en-US" smtClean="0"/>
              <a:t>‹#›</a:t>
            </a:fld>
            <a:endParaRPr lang="en-US"/>
          </a:p>
        </p:txBody>
      </p:sp>
    </p:spTree>
    <p:extLst>
      <p:ext uri="{BB962C8B-B14F-4D97-AF65-F5344CB8AC3E}">
        <p14:creationId xmlns:p14="http://schemas.microsoft.com/office/powerpoint/2010/main" val="2551061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56A15-BA47-A887-F867-510941A5C6F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410D0A-5013-8BF5-BB76-E8EDC7A6C27C}"/>
              </a:ext>
            </a:extLst>
          </p:cNvPr>
          <p:cNvSpPr>
            <a:spLocks noGrp="1"/>
          </p:cNvSpPr>
          <p:nvPr>
            <p:ph type="dt" sz="half" idx="10"/>
          </p:nvPr>
        </p:nvSpPr>
        <p:spPr/>
        <p:txBody>
          <a:bodyPr/>
          <a:lstStyle/>
          <a:p>
            <a:fld id="{87F5FCC0-8ED7-46BE-8703-4CBAF6A8DE3B}" type="datetimeFigureOut">
              <a:rPr lang="en-US" smtClean="0"/>
              <a:t>6/24/2025</a:t>
            </a:fld>
            <a:endParaRPr lang="en-US"/>
          </a:p>
        </p:txBody>
      </p:sp>
      <p:sp>
        <p:nvSpPr>
          <p:cNvPr id="4" name="Footer Placeholder 3">
            <a:extLst>
              <a:ext uri="{FF2B5EF4-FFF2-40B4-BE49-F238E27FC236}">
                <a16:creationId xmlns:a16="http://schemas.microsoft.com/office/drawing/2014/main" id="{F71986C2-A782-C3F3-5737-8344F04A762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171CAAA-3974-0ECD-45F5-A2D6A2F873D8}"/>
              </a:ext>
            </a:extLst>
          </p:cNvPr>
          <p:cNvSpPr>
            <a:spLocks noGrp="1"/>
          </p:cNvSpPr>
          <p:nvPr>
            <p:ph type="sldNum" sz="quarter" idx="12"/>
          </p:nvPr>
        </p:nvSpPr>
        <p:spPr/>
        <p:txBody>
          <a:bodyPr/>
          <a:lstStyle/>
          <a:p>
            <a:fld id="{1504228D-D2C9-475F-ACA7-7F29AE826713}" type="slidenum">
              <a:rPr lang="en-US" smtClean="0"/>
              <a:t>‹#›</a:t>
            </a:fld>
            <a:endParaRPr lang="en-US"/>
          </a:p>
        </p:txBody>
      </p:sp>
    </p:spTree>
    <p:extLst>
      <p:ext uri="{BB962C8B-B14F-4D97-AF65-F5344CB8AC3E}">
        <p14:creationId xmlns:p14="http://schemas.microsoft.com/office/powerpoint/2010/main" val="3109923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2AEA7A-A585-67BC-57BD-7920F7DC6115}"/>
              </a:ext>
            </a:extLst>
          </p:cNvPr>
          <p:cNvSpPr>
            <a:spLocks noGrp="1"/>
          </p:cNvSpPr>
          <p:nvPr>
            <p:ph type="dt" sz="half" idx="10"/>
          </p:nvPr>
        </p:nvSpPr>
        <p:spPr/>
        <p:txBody>
          <a:bodyPr/>
          <a:lstStyle/>
          <a:p>
            <a:fld id="{87F5FCC0-8ED7-46BE-8703-4CBAF6A8DE3B}" type="datetimeFigureOut">
              <a:rPr lang="en-US" smtClean="0"/>
              <a:t>6/24/2025</a:t>
            </a:fld>
            <a:endParaRPr lang="en-US"/>
          </a:p>
        </p:txBody>
      </p:sp>
      <p:sp>
        <p:nvSpPr>
          <p:cNvPr id="3" name="Footer Placeholder 2">
            <a:extLst>
              <a:ext uri="{FF2B5EF4-FFF2-40B4-BE49-F238E27FC236}">
                <a16:creationId xmlns:a16="http://schemas.microsoft.com/office/drawing/2014/main" id="{9522CC00-96E0-913A-890A-688144C37A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5F1AC63-AEDD-E73D-5E81-9E1E19740E4D}"/>
              </a:ext>
            </a:extLst>
          </p:cNvPr>
          <p:cNvSpPr>
            <a:spLocks noGrp="1"/>
          </p:cNvSpPr>
          <p:nvPr>
            <p:ph type="sldNum" sz="quarter" idx="12"/>
          </p:nvPr>
        </p:nvSpPr>
        <p:spPr/>
        <p:txBody>
          <a:bodyPr/>
          <a:lstStyle/>
          <a:p>
            <a:fld id="{1504228D-D2C9-475F-ACA7-7F29AE826713}" type="slidenum">
              <a:rPr lang="en-US" smtClean="0"/>
              <a:t>‹#›</a:t>
            </a:fld>
            <a:endParaRPr lang="en-US"/>
          </a:p>
        </p:txBody>
      </p:sp>
    </p:spTree>
    <p:extLst>
      <p:ext uri="{BB962C8B-B14F-4D97-AF65-F5344CB8AC3E}">
        <p14:creationId xmlns:p14="http://schemas.microsoft.com/office/powerpoint/2010/main" val="3590386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2C20E-0B2F-9A44-527D-79BC081C36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A17B241-2D0E-6CF6-B2DF-D2C1BEF092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DE607D0-1DFA-87A2-C267-44B9F7CFB5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E93276-E76C-FD72-6753-0A8DFD6DAA75}"/>
              </a:ext>
            </a:extLst>
          </p:cNvPr>
          <p:cNvSpPr>
            <a:spLocks noGrp="1"/>
          </p:cNvSpPr>
          <p:nvPr>
            <p:ph type="dt" sz="half" idx="10"/>
          </p:nvPr>
        </p:nvSpPr>
        <p:spPr/>
        <p:txBody>
          <a:bodyPr/>
          <a:lstStyle/>
          <a:p>
            <a:fld id="{87F5FCC0-8ED7-46BE-8703-4CBAF6A8DE3B}" type="datetimeFigureOut">
              <a:rPr lang="en-US" smtClean="0"/>
              <a:t>6/24/2025</a:t>
            </a:fld>
            <a:endParaRPr lang="en-US"/>
          </a:p>
        </p:txBody>
      </p:sp>
      <p:sp>
        <p:nvSpPr>
          <p:cNvPr id="6" name="Footer Placeholder 5">
            <a:extLst>
              <a:ext uri="{FF2B5EF4-FFF2-40B4-BE49-F238E27FC236}">
                <a16:creationId xmlns:a16="http://schemas.microsoft.com/office/drawing/2014/main" id="{5E7721EE-EEF8-760A-397A-E5E721CC9E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4E291A-8074-E8FA-0755-469FFE492935}"/>
              </a:ext>
            </a:extLst>
          </p:cNvPr>
          <p:cNvSpPr>
            <a:spLocks noGrp="1"/>
          </p:cNvSpPr>
          <p:nvPr>
            <p:ph type="sldNum" sz="quarter" idx="12"/>
          </p:nvPr>
        </p:nvSpPr>
        <p:spPr/>
        <p:txBody>
          <a:bodyPr/>
          <a:lstStyle/>
          <a:p>
            <a:fld id="{1504228D-D2C9-475F-ACA7-7F29AE826713}" type="slidenum">
              <a:rPr lang="en-US" smtClean="0"/>
              <a:t>‹#›</a:t>
            </a:fld>
            <a:endParaRPr lang="en-US"/>
          </a:p>
        </p:txBody>
      </p:sp>
    </p:spTree>
    <p:extLst>
      <p:ext uri="{BB962C8B-B14F-4D97-AF65-F5344CB8AC3E}">
        <p14:creationId xmlns:p14="http://schemas.microsoft.com/office/powerpoint/2010/main" val="2383273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B4806-4265-0B77-8203-98D73C8808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F41B44F-3C3D-C0DA-B4CE-B37F298B27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31A35E3-D68D-8EB6-4D2A-B7C1E5D050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44CCB8-FA91-F3F1-81B7-BE1A981AAEA9}"/>
              </a:ext>
            </a:extLst>
          </p:cNvPr>
          <p:cNvSpPr>
            <a:spLocks noGrp="1"/>
          </p:cNvSpPr>
          <p:nvPr>
            <p:ph type="dt" sz="half" idx="10"/>
          </p:nvPr>
        </p:nvSpPr>
        <p:spPr/>
        <p:txBody>
          <a:bodyPr/>
          <a:lstStyle/>
          <a:p>
            <a:fld id="{87F5FCC0-8ED7-46BE-8703-4CBAF6A8DE3B}" type="datetimeFigureOut">
              <a:rPr lang="en-US" smtClean="0"/>
              <a:t>6/24/2025</a:t>
            </a:fld>
            <a:endParaRPr lang="en-US"/>
          </a:p>
        </p:txBody>
      </p:sp>
      <p:sp>
        <p:nvSpPr>
          <p:cNvPr id="6" name="Footer Placeholder 5">
            <a:extLst>
              <a:ext uri="{FF2B5EF4-FFF2-40B4-BE49-F238E27FC236}">
                <a16:creationId xmlns:a16="http://schemas.microsoft.com/office/drawing/2014/main" id="{4CC61C27-7BD5-1245-97DC-D3BDC823B5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3BDB7F-8F77-9E9F-CB6E-F62602CBF0DC}"/>
              </a:ext>
            </a:extLst>
          </p:cNvPr>
          <p:cNvSpPr>
            <a:spLocks noGrp="1"/>
          </p:cNvSpPr>
          <p:nvPr>
            <p:ph type="sldNum" sz="quarter" idx="12"/>
          </p:nvPr>
        </p:nvSpPr>
        <p:spPr/>
        <p:txBody>
          <a:bodyPr/>
          <a:lstStyle/>
          <a:p>
            <a:fld id="{1504228D-D2C9-475F-ACA7-7F29AE826713}" type="slidenum">
              <a:rPr lang="en-US" smtClean="0"/>
              <a:t>‹#›</a:t>
            </a:fld>
            <a:endParaRPr lang="en-US"/>
          </a:p>
        </p:txBody>
      </p:sp>
    </p:spTree>
    <p:extLst>
      <p:ext uri="{BB962C8B-B14F-4D97-AF65-F5344CB8AC3E}">
        <p14:creationId xmlns:p14="http://schemas.microsoft.com/office/powerpoint/2010/main" val="18255887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B3763-A15F-9B18-3550-A794042F994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38A7CA-C299-B0D1-51E9-29787A71EF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B82784-9C2E-724E-3BEF-70888F8A9339}"/>
              </a:ext>
            </a:extLst>
          </p:cNvPr>
          <p:cNvSpPr>
            <a:spLocks noGrp="1"/>
          </p:cNvSpPr>
          <p:nvPr>
            <p:ph type="dt" sz="half" idx="10"/>
          </p:nvPr>
        </p:nvSpPr>
        <p:spPr/>
        <p:txBody>
          <a:bodyPr/>
          <a:lstStyle/>
          <a:p>
            <a:fld id="{87F5FCC0-8ED7-46BE-8703-4CBAF6A8DE3B}" type="datetimeFigureOut">
              <a:rPr lang="en-US" smtClean="0"/>
              <a:t>6/24/2025</a:t>
            </a:fld>
            <a:endParaRPr lang="en-US"/>
          </a:p>
        </p:txBody>
      </p:sp>
      <p:sp>
        <p:nvSpPr>
          <p:cNvPr id="5" name="Footer Placeholder 4">
            <a:extLst>
              <a:ext uri="{FF2B5EF4-FFF2-40B4-BE49-F238E27FC236}">
                <a16:creationId xmlns:a16="http://schemas.microsoft.com/office/drawing/2014/main" id="{802F6272-4710-F93D-52D8-DFB4C13478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377C9D-1C41-6F2B-0B96-9FC78B264F62}"/>
              </a:ext>
            </a:extLst>
          </p:cNvPr>
          <p:cNvSpPr>
            <a:spLocks noGrp="1"/>
          </p:cNvSpPr>
          <p:nvPr>
            <p:ph type="sldNum" sz="quarter" idx="12"/>
          </p:nvPr>
        </p:nvSpPr>
        <p:spPr/>
        <p:txBody>
          <a:bodyPr/>
          <a:lstStyle/>
          <a:p>
            <a:fld id="{1504228D-D2C9-475F-ACA7-7F29AE826713}" type="slidenum">
              <a:rPr lang="en-US" smtClean="0"/>
              <a:t>‹#›</a:t>
            </a:fld>
            <a:endParaRPr lang="en-US"/>
          </a:p>
        </p:txBody>
      </p:sp>
    </p:spTree>
    <p:extLst>
      <p:ext uri="{BB962C8B-B14F-4D97-AF65-F5344CB8AC3E}">
        <p14:creationId xmlns:p14="http://schemas.microsoft.com/office/powerpoint/2010/main" val="27772752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CD423F-546F-E843-EB52-3929F541304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97ECF9-2747-2980-33B9-7BCB7C29157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2E5AA3-1214-174C-6227-09D6F31865E7}"/>
              </a:ext>
            </a:extLst>
          </p:cNvPr>
          <p:cNvSpPr>
            <a:spLocks noGrp="1"/>
          </p:cNvSpPr>
          <p:nvPr>
            <p:ph type="dt" sz="half" idx="10"/>
          </p:nvPr>
        </p:nvSpPr>
        <p:spPr/>
        <p:txBody>
          <a:bodyPr/>
          <a:lstStyle/>
          <a:p>
            <a:fld id="{87F5FCC0-8ED7-46BE-8703-4CBAF6A8DE3B}" type="datetimeFigureOut">
              <a:rPr lang="en-US" smtClean="0"/>
              <a:t>6/24/2025</a:t>
            </a:fld>
            <a:endParaRPr lang="en-US"/>
          </a:p>
        </p:txBody>
      </p:sp>
      <p:sp>
        <p:nvSpPr>
          <p:cNvPr id="5" name="Footer Placeholder 4">
            <a:extLst>
              <a:ext uri="{FF2B5EF4-FFF2-40B4-BE49-F238E27FC236}">
                <a16:creationId xmlns:a16="http://schemas.microsoft.com/office/drawing/2014/main" id="{BCCD3101-5D0F-E220-AFAB-05A8DB6E55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2E4D19-1BDF-8189-09A3-C9A78DBA264E}"/>
              </a:ext>
            </a:extLst>
          </p:cNvPr>
          <p:cNvSpPr>
            <a:spLocks noGrp="1"/>
          </p:cNvSpPr>
          <p:nvPr>
            <p:ph type="sldNum" sz="quarter" idx="12"/>
          </p:nvPr>
        </p:nvSpPr>
        <p:spPr/>
        <p:txBody>
          <a:bodyPr/>
          <a:lstStyle/>
          <a:p>
            <a:fld id="{1504228D-D2C9-475F-ACA7-7F29AE826713}" type="slidenum">
              <a:rPr lang="en-US" smtClean="0"/>
              <a:t>‹#›</a:t>
            </a:fld>
            <a:endParaRPr lang="en-US"/>
          </a:p>
        </p:txBody>
      </p:sp>
    </p:spTree>
    <p:extLst>
      <p:ext uri="{BB962C8B-B14F-4D97-AF65-F5344CB8AC3E}">
        <p14:creationId xmlns:p14="http://schemas.microsoft.com/office/powerpoint/2010/main" val="840196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435100" y="2484800"/>
            <a:ext cx="6616800" cy="1888400"/>
          </a:xfrm>
          <a:prstGeom prst="rect">
            <a:avLst/>
          </a:prstGeom>
        </p:spPr>
        <p:txBody>
          <a:bodyPr spcFirstLastPara="1" wrap="square" lIns="0" tIns="0" rIns="0" bIns="0" anchor="ctr" anchorCtr="0">
            <a:noAutofit/>
          </a:bodyPr>
          <a:lstStyle>
            <a:lvl1pPr lvl="0">
              <a:lnSpc>
                <a:spcPct val="90000"/>
              </a:lnSpc>
              <a:spcBef>
                <a:spcPts val="0"/>
              </a:spcBef>
              <a:spcAft>
                <a:spcPts val="0"/>
              </a:spcAft>
              <a:buSzPts val="4800"/>
              <a:buNone/>
              <a:defRPr/>
            </a:lvl1pPr>
            <a:lvl2pPr lvl="1">
              <a:lnSpc>
                <a:spcPct val="90000"/>
              </a:lnSpc>
              <a:spcBef>
                <a:spcPts val="0"/>
              </a:spcBef>
              <a:spcAft>
                <a:spcPts val="0"/>
              </a:spcAft>
              <a:buSzPts val="4800"/>
              <a:buNone/>
              <a:defRPr/>
            </a:lvl2pPr>
            <a:lvl3pPr lvl="2">
              <a:lnSpc>
                <a:spcPct val="90000"/>
              </a:lnSpc>
              <a:spcBef>
                <a:spcPts val="0"/>
              </a:spcBef>
              <a:spcAft>
                <a:spcPts val="0"/>
              </a:spcAft>
              <a:buSzPts val="4800"/>
              <a:buNone/>
              <a:defRPr/>
            </a:lvl3pPr>
            <a:lvl4pPr lvl="3">
              <a:lnSpc>
                <a:spcPct val="90000"/>
              </a:lnSpc>
              <a:spcBef>
                <a:spcPts val="0"/>
              </a:spcBef>
              <a:spcAft>
                <a:spcPts val="0"/>
              </a:spcAft>
              <a:buSzPts val="4800"/>
              <a:buNone/>
              <a:defRPr/>
            </a:lvl4pPr>
            <a:lvl5pPr lvl="4">
              <a:lnSpc>
                <a:spcPct val="90000"/>
              </a:lnSpc>
              <a:spcBef>
                <a:spcPts val="0"/>
              </a:spcBef>
              <a:spcAft>
                <a:spcPts val="0"/>
              </a:spcAft>
              <a:buSzPts val="4800"/>
              <a:buNone/>
              <a:defRPr/>
            </a:lvl5pPr>
            <a:lvl6pPr lvl="5">
              <a:lnSpc>
                <a:spcPct val="90000"/>
              </a:lnSpc>
              <a:spcBef>
                <a:spcPts val="0"/>
              </a:spcBef>
              <a:spcAft>
                <a:spcPts val="0"/>
              </a:spcAft>
              <a:buSzPts val="4800"/>
              <a:buNone/>
              <a:defRPr/>
            </a:lvl6pPr>
            <a:lvl7pPr lvl="6">
              <a:lnSpc>
                <a:spcPct val="90000"/>
              </a:lnSpc>
              <a:spcBef>
                <a:spcPts val="0"/>
              </a:spcBef>
              <a:spcAft>
                <a:spcPts val="0"/>
              </a:spcAft>
              <a:buSzPts val="4800"/>
              <a:buNone/>
              <a:defRPr/>
            </a:lvl7pPr>
            <a:lvl8pPr lvl="7">
              <a:lnSpc>
                <a:spcPct val="90000"/>
              </a:lnSpc>
              <a:spcBef>
                <a:spcPts val="0"/>
              </a:spcBef>
              <a:spcAft>
                <a:spcPts val="0"/>
              </a:spcAft>
              <a:buSzPts val="4800"/>
              <a:buNone/>
              <a:defRPr/>
            </a:lvl8pPr>
            <a:lvl9pPr lvl="8">
              <a:lnSpc>
                <a:spcPct val="90000"/>
              </a:lnSpc>
              <a:spcBef>
                <a:spcPts val="0"/>
              </a:spcBef>
              <a:spcAft>
                <a:spcPts val="0"/>
              </a:spcAft>
              <a:buSzPts val="4800"/>
              <a:buNone/>
              <a:defRPr/>
            </a:lvl9pPr>
          </a:lstStyle>
          <a:p>
            <a:endParaRPr/>
          </a:p>
        </p:txBody>
      </p:sp>
    </p:spTree>
    <p:extLst>
      <p:ext uri="{BB962C8B-B14F-4D97-AF65-F5344CB8AC3E}">
        <p14:creationId xmlns:p14="http://schemas.microsoft.com/office/powerpoint/2010/main" val="22184122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376386-D7D5-EB57-4BFD-B4BEFCD2BB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DDAFD0B-7293-D029-444B-51F3AA7FD2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1019C8-9BEC-13CD-A409-CA4E293CE6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7F5FCC0-8ED7-46BE-8703-4CBAF6A8DE3B}" type="datetimeFigureOut">
              <a:rPr lang="en-US" smtClean="0"/>
              <a:t>6/24/2025</a:t>
            </a:fld>
            <a:endParaRPr lang="en-US"/>
          </a:p>
        </p:txBody>
      </p:sp>
      <p:sp>
        <p:nvSpPr>
          <p:cNvPr id="5" name="Footer Placeholder 4">
            <a:extLst>
              <a:ext uri="{FF2B5EF4-FFF2-40B4-BE49-F238E27FC236}">
                <a16:creationId xmlns:a16="http://schemas.microsoft.com/office/drawing/2014/main" id="{B70BCFF8-4EC9-2C78-B62F-BBD3349F90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FA838CB-D478-3731-E557-B1E29AD59D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504228D-D2C9-475F-ACA7-7F29AE826713}" type="slidenum">
              <a:rPr lang="en-US" smtClean="0"/>
              <a:t>‹#›</a:t>
            </a:fld>
            <a:endParaRPr lang="en-US"/>
          </a:p>
        </p:txBody>
      </p:sp>
      <p:grpSp>
        <p:nvGrpSpPr>
          <p:cNvPr id="7" name="Group 6">
            <a:extLst>
              <a:ext uri="{FF2B5EF4-FFF2-40B4-BE49-F238E27FC236}">
                <a16:creationId xmlns:a16="http://schemas.microsoft.com/office/drawing/2014/main" id="{9D4CCCE1-E9D8-1E3F-FB46-B1D056739881}"/>
              </a:ext>
            </a:extLst>
          </p:cNvPr>
          <p:cNvGrpSpPr/>
          <p:nvPr userDrawn="1"/>
        </p:nvGrpSpPr>
        <p:grpSpPr>
          <a:xfrm>
            <a:off x="10222173" y="6419572"/>
            <a:ext cx="1589814" cy="208760"/>
            <a:chOff x="10222173" y="6419572"/>
            <a:chExt cx="1589814" cy="208760"/>
          </a:xfrm>
        </p:grpSpPr>
        <p:sp>
          <p:nvSpPr>
            <p:cNvPr id="8" name="Freeform 6">
              <a:extLst>
                <a:ext uri="{FF2B5EF4-FFF2-40B4-BE49-F238E27FC236}">
                  <a16:creationId xmlns:a16="http://schemas.microsoft.com/office/drawing/2014/main" id="{53FDB134-D81A-617C-365B-4968C4A32CFC}"/>
                </a:ext>
              </a:extLst>
            </p:cNvPr>
            <p:cNvSpPr/>
            <p:nvPr/>
          </p:nvSpPr>
          <p:spPr>
            <a:xfrm>
              <a:off x="10222173" y="6419572"/>
              <a:ext cx="568994" cy="208760"/>
            </a:xfrm>
            <a:custGeom>
              <a:avLst/>
              <a:gdLst>
                <a:gd name="connsiteX0" fmla="*/ 64262 w 632805"/>
                <a:gd name="connsiteY0" fmla="*/ 48220 h 232171"/>
                <a:gd name="connsiteX1" fmla="*/ 64262 w 632805"/>
                <a:gd name="connsiteY1" fmla="*/ 64294 h 232171"/>
                <a:gd name="connsiteX2" fmla="*/ 64262 w 632805"/>
                <a:gd name="connsiteY2" fmla="*/ 65187 h 232171"/>
                <a:gd name="connsiteX3" fmla="*/ 64262 w 632805"/>
                <a:gd name="connsiteY3" fmla="*/ 65187 h 232171"/>
                <a:gd name="connsiteX4" fmla="*/ 65155 w 632805"/>
                <a:gd name="connsiteY4" fmla="*/ 63401 h 232171"/>
                <a:gd name="connsiteX5" fmla="*/ 108889 w 632805"/>
                <a:gd name="connsiteY5" fmla="*/ 45541 h 232171"/>
                <a:gd name="connsiteX6" fmla="*/ 149053 w 632805"/>
                <a:gd name="connsiteY6" fmla="*/ 78581 h 232171"/>
                <a:gd name="connsiteX7" fmla="*/ 149053 w 632805"/>
                <a:gd name="connsiteY7" fmla="*/ 168771 h 232171"/>
                <a:gd name="connsiteX8" fmla="*/ 149053 w 632805"/>
                <a:gd name="connsiteY8" fmla="*/ 168771 h 232171"/>
                <a:gd name="connsiteX9" fmla="*/ 149053 w 632805"/>
                <a:gd name="connsiteY9" fmla="*/ 191095 h 232171"/>
                <a:gd name="connsiteX10" fmla="*/ 128525 w 632805"/>
                <a:gd name="connsiteY10" fmla="*/ 191095 h 232171"/>
                <a:gd name="connsiteX11" fmla="*/ 128525 w 632805"/>
                <a:gd name="connsiteY11" fmla="*/ 164306 h 232171"/>
                <a:gd name="connsiteX12" fmla="*/ 128525 w 632805"/>
                <a:gd name="connsiteY12" fmla="*/ 87511 h 232171"/>
                <a:gd name="connsiteX13" fmla="*/ 97286 w 632805"/>
                <a:gd name="connsiteY13" fmla="*/ 59829 h 232171"/>
                <a:gd name="connsiteX14" fmla="*/ 64262 w 632805"/>
                <a:gd name="connsiteY14" fmla="*/ 85725 h 232171"/>
                <a:gd name="connsiteX15" fmla="*/ 64262 w 632805"/>
                <a:gd name="connsiteY15" fmla="*/ 167878 h 232171"/>
                <a:gd name="connsiteX16" fmla="*/ 64262 w 632805"/>
                <a:gd name="connsiteY16" fmla="*/ 168771 h 232171"/>
                <a:gd name="connsiteX17" fmla="*/ 64262 w 632805"/>
                <a:gd name="connsiteY17" fmla="*/ 191095 h 232171"/>
                <a:gd name="connsiteX18" fmla="*/ 43734 w 632805"/>
                <a:gd name="connsiteY18" fmla="*/ 191095 h 232171"/>
                <a:gd name="connsiteX19" fmla="*/ 43734 w 632805"/>
                <a:gd name="connsiteY19" fmla="*/ 167878 h 232171"/>
                <a:gd name="connsiteX20" fmla="*/ 43734 w 632805"/>
                <a:gd name="connsiteY20" fmla="*/ 65187 h 232171"/>
                <a:gd name="connsiteX21" fmla="*/ 43734 w 632805"/>
                <a:gd name="connsiteY21" fmla="*/ 46434 h 232171"/>
                <a:gd name="connsiteX22" fmla="*/ 47304 w 632805"/>
                <a:gd name="connsiteY22" fmla="*/ 46434 h 232171"/>
                <a:gd name="connsiteX23" fmla="*/ 58015 w 632805"/>
                <a:gd name="connsiteY23" fmla="*/ 46434 h 232171"/>
                <a:gd name="connsiteX24" fmla="*/ 64262 w 632805"/>
                <a:gd name="connsiteY24" fmla="*/ 46434 h 232171"/>
                <a:gd name="connsiteX25" fmla="*/ 339163 w 632805"/>
                <a:gd name="connsiteY25" fmla="*/ 164306 h 232171"/>
                <a:gd name="connsiteX26" fmla="*/ 382004 w 632805"/>
                <a:gd name="connsiteY26" fmla="*/ 183952 h 232171"/>
                <a:gd name="connsiteX27" fmla="*/ 413243 w 632805"/>
                <a:gd name="connsiteY27" fmla="*/ 160734 h 232171"/>
                <a:gd name="connsiteX28" fmla="*/ 381112 w 632805"/>
                <a:gd name="connsiteY28" fmla="*/ 131266 h 232171"/>
                <a:gd name="connsiteX29" fmla="*/ 343625 w 632805"/>
                <a:gd name="connsiteY29" fmla="*/ 107156 h 232171"/>
                <a:gd name="connsiteX30" fmla="*/ 344518 w 632805"/>
                <a:gd name="connsiteY30" fmla="*/ 121444 h 232171"/>
                <a:gd name="connsiteX31" fmla="*/ 276685 w 632805"/>
                <a:gd name="connsiteY31" fmla="*/ 197346 h 232171"/>
                <a:gd name="connsiteX32" fmla="*/ 208853 w 632805"/>
                <a:gd name="connsiteY32" fmla="*/ 121444 h 232171"/>
                <a:gd name="connsiteX33" fmla="*/ 237414 w 632805"/>
                <a:gd name="connsiteY33" fmla="*/ 59829 h 232171"/>
                <a:gd name="connsiteX34" fmla="*/ 191002 w 632805"/>
                <a:gd name="connsiteY34" fmla="*/ 59829 h 232171"/>
                <a:gd name="connsiteX35" fmla="*/ 191002 w 632805"/>
                <a:gd name="connsiteY35" fmla="*/ 168771 h 232171"/>
                <a:gd name="connsiteX36" fmla="*/ 191002 w 632805"/>
                <a:gd name="connsiteY36" fmla="*/ 168771 h 232171"/>
                <a:gd name="connsiteX37" fmla="*/ 191002 w 632805"/>
                <a:gd name="connsiteY37" fmla="*/ 191095 h 232171"/>
                <a:gd name="connsiteX38" fmla="*/ 170474 w 632805"/>
                <a:gd name="connsiteY38" fmla="*/ 191095 h 232171"/>
                <a:gd name="connsiteX39" fmla="*/ 170474 w 632805"/>
                <a:gd name="connsiteY39" fmla="*/ 169664 h 232171"/>
                <a:gd name="connsiteX40" fmla="*/ 170474 w 632805"/>
                <a:gd name="connsiteY40" fmla="*/ 168771 h 232171"/>
                <a:gd name="connsiteX41" fmla="*/ 170474 w 632805"/>
                <a:gd name="connsiteY41" fmla="*/ 59829 h 232171"/>
                <a:gd name="connsiteX42" fmla="*/ 152623 w 632805"/>
                <a:gd name="connsiteY42" fmla="*/ 59829 h 232171"/>
                <a:gd name="connsiteX43" fmla="*/ 152623 w 632805"/>
                <a:gd name="connsiteY43" fmla="*/ 46434 h 232171"/>
                <a:gd name="connsiteX44" fmla="*/ 171366 w 632805"/>
                <a:gd name="connsiteY44" fmla="*/ 46434 h 232171"/>
                <a:gd name="connsiteX45" fmla="*/ 214208 w 632805"/>
                <a:gd name="connsiteY45" fmla="*/ 2679 h 232171"/>
                <a:gd name="connsiteX46" fmla="*/ 242769 w 632805"/>
                <a:gd name="connsiteY46" fmla="*/ 6251 h 232171"/>
                <a:gd name="connsiteX47" fmla="*/ 242769 w 632805"/>
                <a:gd name="connsiteY47" fmla="*/ 25003 h 232171"/>
                <a:gd name="connsiteX48" fmla="*/ 242769 w 632805"/>
                <a:gd name="connsiteY48" fmla="*/ 27682 h 232171"/>
                <a:gd name="connsiteX49" fmla="*/ 241876 w 632805"/>
                <a:gd name="connsiteY49" fmla="*/ 27682 h 232171"/>
                <a:gd name="connsiteX50" fmla="*/ 209745 w 632805"/>
                <a:gd name="connsiteY50" fmla="*/ 16073 h 232171"/>
                <a:gd name="connsiteX51" fmla="*/ 190110 w 632805"/>
                <a:gd name="connsiteY51" fmla="*/ 46434 h 232171"/>
                <a:gd name="connsiteX52" fmla="*/ 266867 w 632805"/>
                <a:gd name="connsiteY52" fmla="*/ 46434 h 232171"/>
                <a:gd name="connsiteX53" fmla="*/ 276685 w 632805"/>
                <a:gd name="connsiteY53" fmla="*/ 45541 h 232171"/>
                <a:gd name="connsiteX54" fmla="*/ 338270 w 632805"/>
                <a:gd name="connsiteY54" fmla="*/ 89297 h 232171"/>
                <a:gd name="connsiteX55" fmla="*/ 338270 w 632805"/>
                <a:gd name="connsiteY55" fmla="*/ 84832 h 232171"/>
                <a:gd name="connsiteX56" fmla="*/ 391822 w 632805"/>
                <a:gd name="connsiteY56" fmla="*/ 46434 h 232171"/>
                <a:gd name="connsiteX57" fmla="*/ 394500 w 632805"/>
                <a:gd name="connsiteY57" fmla="*/ 46434 h 232171"/>
                <a:gd name="connsiteX58" fmla="*/ 425738 w 632805"/>
                <a:gd name="connsiteY58" fmla="*/ 51792 h 232171"/>
                <a:gd name="connsiteX59" fmla="*/ 432878 w 632805"/>
                <a:gd name="connsiteY59" fmla="*/ 70545 h 232171"/>
                <a:gd name="connsiteX60" fmla="*/ 441804 w 632805"/>
                <a:gd name="connsiteY60" fmla="*/ 91976 h 232171"/>
                <a:gd name="connsiteX61" fmla="*/ 465010 w 632805"/>
                <a:gd name="connsiteY61" fmla="*/ 148233 h 232171"/>
                <a:gd name="connsiteX62" fmla="*/ 467687 w 632805"/>
                <a:gd name="connsiteY62" fmla="*/ 157163 h 232171"/>
                <a:gd name="connsiteX63" fmla="*/ 470365 w 632805"/>
                <a:gd name="connsiteY63" fmla="*/ 148233 h 232171"/>
                <a:gd name="connsiteX64" fmla="*/ 499818 w 632805"/>
                <a:gd name="connsiteY64" fmla="*/ 75902 h 232171"/>
                <a:gd name="connsiteX65" fmla="*/ 549800 w 632805"/>
                <a:gd name="connsiteY65" fmla="*/ 47327 h 232171"/>
                <a:gd name="connsiteX66" fmla="*/ 580146 w 632805"/>
                <a:gd name="connsiteY66" fmla="*/ 52685 h 232171"/>
                <a:gd name="connsiteX67" fmla="*/ 580146 w 632805"/>
                <a:gd name="connsiteY67" fmla="*/ 74116 h 232171"/>
                <a:gd name="connsiteX68" fmla="*/ 543553 w 632805"/>
                <a:gd name="connsiteY68" fmla="*/ 59829 h 232171"/>
                <a:gd name="connsiteX69" fmla="*/ 515884 w 632805"/>
                <a:gd name="connsiteY69" fmla="*/ 83939 h 232171"/>
                <a:gd name="connsiteX70" fmla="*/ 548908 w 632805"/>
                <a:gd name="connsiteY70" fmla="*/ 112514 h 232171"/>
                <a:gd name="connsiteX71" fmla="*/ 588179 w 632805"/>
                <a:gd name="connsiteY71" fmla="*/ 153591 h 232171"/>
                <a:gd name="connsiteX72" fmla="*/ 532842 w 632805"/>
                <a:gd name="connsiteY72" fmla="*/ 198239 h 232171"/>
                <a:gd name="connsiteX73" fmla="*/ 493571 w 632805"/>
                <a:gd name="connsiteY73" fmla="*/ 187523 h 232171"/>
                <a:gd name="connsiteX74" fmla="*/ 493571 w 632805"/>
                <a:gd name="connsiteY74" fmla="*/ 162520 h 232171"/>
                <a:gd name="connsiteX75" fmla="*/ 494463 w 632805"/>
                <a:gd name="connsiteY75" fmla="*/ 163413 h 232171"/>
                <a:gd name="connsiteX76" fmla="*/ 539090 w 632805"/>
                <a:gd name="connsiteY76" fmla="*/ 183952 h 232171"/>
                <a:gd name="connsiteX77" fmla="*/ 570329 w 632805"/>
                <a:gd name="connsiteY77" fmla="*/ 160734 h 232171"/>
                <a:gd name="connsiteX78" fmla="*/ 538197 w 632805"/>
                <a:gd name="connsiteY78" fmla="*/ 131266 h 232171"/>
                <a:gd name="connsiteX79" fmla="*/ 500711 w 632805"/>
                <a:gd name="connsiteY79" fmla="*/ 102691 h 232171"/>
                <a:gd name="connsiteX80" fmla="*/ 447159 w 632805"/>
                <a:gd name="connsiteY80" fmla="*/ 232172 h 232171"/>
                <a:gd name="connsiteX81" fmla="*/ 427523 w 632805"/>
                <a:gd name="connsiteY81" fmla="*/ 232172 h 232171"/>
                <a:gd name="connsiteX82" fmla="*/ 431986 w 632805"/>
                <a:gd name="connsiteY82" fmla="*/ 223242 h 232171"/>
                <a:gd name="connsiteX83" fmla="*/ 436449 w 632805"/>
                <a:gd name="connsiteY83" fmla="*/ 215206 h 232171"/>
                <a:gd name="connsiteX84" fmla="*/ 436449 w 632805"/>
                <a:gd name="connsiteY84" fmla="*/ 215206 h 232171"/>
                <a:gd name="connsiteX85" fmla="*/ 455192 w 632805"/>
                <a:gd name="connsiteY85" fmla="*/ 175022 h 232171"/>
                <a:gd name="connsiteX86" fmla="*/ 416813 w 632805"/>
                <a:gd name="connsiteY86" fmla="*/ 82153 h 232171"/>
                <a:gd name="connsiteX87" fmla="*/ 415028 w 632805"/>
                <a:gd name="connsiteY87" fmla="*/ 76795 h 232171"/>
                <a:gd name="connsiteX88" fmla="*/ 400747 w 632805"/>
                <a:gd name="connsiteY88" fmla="*/ 60722 h 232171"/>
                <a:gd name="connsiteX89" fmla="*/ 385574 w 632805"/>
                <a:gd name="connsiteY89" fmla="*/ 58043 h 232171"/>
                <a:gd name="connsiteX90" fmla="*/ 357013 w 632805"/>
                <a:gd name="connsiteY90" fmla="*/ 82153 h 232171"/>
                <a:gd name="connsiteX91" fmla="*/ 390929 w 632805"/>
                <a:gd name="connsiteY91" fmla="*/ 110728 h 232171"/>
                <a:gd name="connsiteX92" fmla="*/ 430201 w 632805"/>
                <a:gd name="connsiteY92" fmla="*/ 151805 h 232171"/>
                <a:gd name="connsiteX93" fmla="*/ 374864 w 632805"/>
                <a:gd name="connsiteY93" fmla="*/ 196453 h 232171"/>
                <a:gd name="connsiteX94" fmla="*/ 338270 w 632805"/>
                <a:gd name="connsiteY94" fmla="*/ 187523 h 232171"/>
                <a:gd name="connsiteX95" fmla="*/ 338270 w 632805"/>
                <a:gd name="connsiteY95" fmla="*/ 164306 h 232171"/>
                <a:gd name="connsiteX96" fmla="*/ 434664 w 632805"/>
                <a:gd name="connsiteY96" fmla="*/ 70545 h 232171"/>
                <a:gd name="connsiteX97" fmla="*/ 435556 w 632805"/>
                <a:gd name="connsiteY97" fmla="*/ 73223 h 232171"/>
                <a:gd name="connsiteX98" fmla="*/ 443589 w 632805"/>
                <a:gd name="connsiteY98" fmla="*/ 91976 h 232171"/>
                <a:gd name="connsiteX99" fmla="*/ 434664 w 632805"/>
                <a:gd name="connsiteY99" fmla="*/ 70545 h 232171"/>
                <a:gd name="connsiteX100" fmla="*/ 432878 w 632805"/>
                <a:gd name="connsiteY100" fmla="*/ 224135 h 232171"/>
                <a:gd name="connsiteX101" fmla="*/ 437341 w 632805"/>
                <a:gd name="connsiteY101" fmla="*/ 216098 h 232171"/>
                <a:gd name="connsiteX102" fmla="*/ 432878 w 632805"/>
                <a:gd name="connsiteY102" fmla="*/ 224135 h 232171"/>
                <a:gd name="connsiteX103" fmla="*/ 417705 w 632805"/>
                <a:gd name="connsiteY103" fmla="*/ 82153 h 232171"/>
                <a:gd name="connsiteX104" fmla="*/ 416813 w 632805"/>
                <a:gd name="connsiteY104" fmla="*/ 80367 h 232171"/>
                <a:gd name="connsiteX105" fmla="*/ 417705 w 632805"/>
                <a:gd name="connsiteY105" fmla="*/ 82153 h 232171"/>
                <a:gd name="connsiteX106" fmla="*/ 230274 w 632805"/>
                <a:gd name="connsiteY106" fmla="*/ 123230 h 232171"/>
                <a:gd name="connsiteX107" fmla="*/ 277578 w 632805"/>
                <a:gd name="connsiteY107" fmla="*/ 183952 h 232171"/>
                <a:gd name="connsiteX108" fmla="*/ 323097 w 632805"/>
                <a:gd name="connsiteY108" fmla="*/ 121444 h 232171"/>
                <a:gd name="connsiteX109" fmla="*/ 275793 w 632805"/>
                <a:gd name="connsiteY109" fmla="*/ 60722 h 232171"/>
                <a:gd name="connsiteX110" fmla="*/ 230274 w 632805"/>
                <a:gd name="connsiteY110" fmla="*/ 123230 h 232171"/>
                <a:gd name="connsiteX111" fmla="*/ 0 w 632805"/>
                <a:gd name="connsiteY111" fmla="*/ 26789 h 232171"/>
                <a:gd name="connsiteX112" fmla="*/ 0 w 632805"/>
                <a:gd name="connsiteY112" fmla="*/ 26789 h 232171"/>
                <a:gd name="connsiteX113" fmla="*/ 0 w 632805"/>
                <a:gd name="connsiteY113" fmla="*/ 3572 h 232171"/>
                <a:gd name="connsiteX114" fmla="*/ 22313 w 632805"/>
                <a:gd name="connsiteY114" fmla="*/ 3572 h 232171"/>
                <a:gd name="connsiteX115" fmla="*/ 22313 w 632805"/>
                <a:gd name="connsiteY115" fmla="*/ 25896 h 232171"/>
                <a:gd name="connsiteX116" fmla="*/ 22313 w 632805"/>
                <a:gd name="connsiteY116" fmla="*/ 25896 h 232171"/>
                <a:gd name="connsiteX117" fmla="*/ 22313 w 632805"/>
                <a:gd name="connsiteY117" fmla="*/ 168771 h 232171"/>
                <a:gd name="connsiteX118" fmla="*/ 22313 w 632805"/>
                <a:gd name="connsiteY118" fmla="*/ 169664 h 232171"/>
                <a:gd name="connsiteX119" fmla="*/ 22313 w 632805"/>
                <a:gd name="connsiteY119" fmla="*/ 191988 h 232171"/>
                <a:gd name="connsiteX120" fmla="*/ 0 w 632805"/>
                <a:gd name="connsiteY120" fmla="*/ 191988 h 232171"/>
                <a:gd name="connsiteX121" fmla="*/ 0 w 632805"/>
                <a:gd name="connsiteY121" fmla="*/ 169664 h 232171"/>
                <a:gd name="connsiteX122" fmla="*/ 0 w 632805"/>
                <a:gd name="connsiteY122" fmla="*/ 169664 h 232171"/>
                <a:gd name="connsiteX123" fmla="*/ 0 w 632805"/>
                <a:gd name="connsiteY123" fmla="*/ 26789 h 232171"/>
                <a:gd name="connsiteX124" fmla="*/ 610493 w 632805"/>
                <a:gd name="connsiteY124" fmla="*/ 10716 h 232171"/>
                <a:gd name="connsiteX125" fmla="*/ 614955 w 632805"/>
                <a:gd name="connsiteY125" fmla="*/ 10716 h 232171"/>
                <a:gd name="connsiteX126" fmla="*/ 618525 w 632805"/>
                <a:gd name="connsiteY126" fmla="*/ 13395 h 232171"/>
                <a:gd name="connsiteX127" fmla="*/ 615848 w 632805"/>
                <a:gd name="connsiteY127" fmla="*/ 16073 h 232171"/>
                <a:gd name="connsiteX128" fmla="*/ 611385 w 632805"/>
                <a:gd name="connsiteY128" fmla="*/ 16073 h 232171"/>
                <a:gd name="connsiteX129" fmla="*/ 611385 w 632805"/>
                <a:gd name="connsiteY129" fmla="*/ 10716 h 232171"/>
                <a:gd name="connsiteX130" fmla="*/ 606922 w 632805"/>
                <a:gd name="connsiteY130" fmla="*/ 27682 h 232171"/>
                <a:gd name="connsiteX131" fmla="*/ 610493 w 632805"/>
                <a:gd name="connsiteY131" fmla="*/ 27682 h 232171"/>
                <a:gd name="connsiteX132" fmla="*/ 610493 w 632805"/>
                <a:gd name="connsiteY132" fmla="*/ 19645 h 232171"/>
                <a:gd name="connsiteX133" fmla="*/ 614955 w 632805"/>
                <a:gd name="connsiteY133" fmla="*/ 19645 h 232171"/>
                <a:gd name="connsiteX134" fmla="*/ 618525 w 632805"/>
                <a:gd name="connsiteY134" fmla="*/ 27682 h 232171"/>
                <a:gd name="connsiteX135" fmla="*/ 622988 w 632805"/>
                <a:gd name="connsiteY135" fmla="*/ 27682 h 232171"/>
                <a:gd name="connsiteX136" fmla="*/ 619418 w 632805"/>
                <a:gd name="connsiteY136" fmla="*/ 18752 h 232171"/>
                <a:gd name="connsiteX137" fmla="*/ 622988 w 632805"/>
                <a:gd name="connsiteY137" fmla="*/ 13395 h 232171"/>
                <a:gd name="connsiteX138" fmla="*/ 614955 w 632805"/>
                <a:gd name="connsiteY138" fmla="*/ 7144 h 232171"/>
                <a:gd name="connsiteX139" fmla="*/ 607815 w 632805"/>
                <a:gd name="connsiteY139" fmla="*/ 7144 h 232171"/>
                <a:gd name="connsiteX140" fmla="*/ 607815 w 632805"/>
                <a:gd name="connsiteY140" fmla="*/ 27682 h 232171"/>
                <a:gd name="connsiteX141" fmla="*/ 597105 w 632805"/>
                <a:gd name="connsiteY141" fmla="*/ 17859 h 232171"/>
                <a:gd name="connsiteX142" fmla="*/ 613170 w 632805"/>
                <a:gd name="connsiteY142" fmla="*/ 1786 h 232171"/>
                <a:gd name="connsiteX143" fmla="*/ 629236 w 632805"/>
                <a:gd name="connsiteY143" fmla="*/ 17859 h 232171"/>
                <a:gd name="connsiteX144" fmla="*/ 613170 w 632805"/>
                <a:gd name="connsiteY144" fmla="*/ 33933 h 232171"/>
                <a:gd name="connsiteX145" fmla="*/ 597105 w 632805"/>
                <a:gd name="connsiteY145" fmla="*/ 17859 h 232171"/>
                <a:gd name="connsiteX146" fmla="*/ 614063 w 632805"/>
                <a:gd name="connsiteY146" fmla="*/ 37505 h 232171"/>
                <a:gd name="connsiteX147" fmla="*/ 632806 w 632805"/>
                <a:gd name="connsiteY147" fmla="*/ 18752 h 232171"/>
                <a:gd name="connsiteX148" fmla="*/ 614063 w 632805"/>
                <a:gd name="connsiteY148" fmla="*/ 0 h 232171"/>
                <a:gd name="connsiteX149" fmla="*/ 595319 w 632805"/>
                <a:gd name="connsiteY149" fmla="*/ 18752 h 232171"/>
                <a:gd name="connsiteX150" fmla="*/ 614063 w 632805"/>
                <a:gd name="connsiteY150" fmla="*/ 37505 h 232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32805" h="232171">
                  <a:moveTo>
                    <a:pt x="64262" y="48220"/>
                  </a:moveTo>
                  <a:lnTo>
                    <a:pt x="64262" y="64294"/>
                  </a:lnTo>
                  <a:lnTo>
                    <a:pt x="64262" y="65187"/>
                  </a:lnTo>
                  <a:lnTo>
                    <a:pt x="64262" y="65187"/>
                  </a:lnTo>
                  <a:cubicBezTo>
                    <a:pt x="64262" y="64294"/>
                    <a:pt x="65155" y="64294"/>
                    <a:pt x="65155" y="63401"/>
                  </a:cubicBezTo>
                  <a:cubicBezTo>
                    <a:pt x="73188" y="54471"/>
                    <a:pt x="83898" y="45541"/>
                    <a:pt x="108889" y="45541"/>
                  </a:cubicBezTo>
                  <a:cubicBezTo>
                    <a:pt x="132987" y="45541"/>
                    <a:pt x="148161" y="66080"/>
                    <a:pt x="149053" y="78581"/>
                  </a:cubicBezTo>
                  <a:lnTo>
                    <a:pt x="149053" y="168771"/>
                  </a:lnTo>
                  <a:lnTo>
                    <a:pt x="149053" y="168771"/>
                  </a:lnTo>
                  <a:lnTo>
                    <a:pt x="149053" y="191095"/>
                  </a:lnTo>
                  <a:lnTo>
                    <a:pt x="128525" y="191095"/>
                  </a:lnTo>
                  <a:lnTo>
                    <a:pt x="128525" y="164306"/>
                  </a:lnTo>
                  <a:lnTo>
                    <a:pt x="128525" y="87511"/>
                  </a:lnTo>
                  <a:cubicBezTo>
                    <a:pt x="128525" y="71438"/>
                    <a:pt x="114244" y="59829"/>
                    <a:pt x="97286" y="59829"/>
                  </a:cubicBezTo>
                  <a:cubicBezTo>
                    <a:pt x="83006" y="59829"/>
                    <a:pt x="65155" y="72331"/>
                    <a:pt x="64262" y="85725"/>
                  </a:cubicBezTo>
                  <a:lnTo>
                    <a:pt x="64262" y="167878"/>
                  </a:lnTo>
                  <a:lnTo>
                    <a:pt x="64262" y="168771"/>
                  </a:lnTo>
                  <a:lnTo>
                    <a:pt x="64262" y="191095"/>
                  </a:lnTo>
                  <a:lnTo>
                    <a:pt x="43734" y="191095"/>
                  </a:lnTo>
                  <a:lnTo>
                    <a:pt x="43734" y="167878"/>
                  </a:lnTo>
                  <a:lnTo>
                    <a:pt x="43734" y="65187"/>
                  </a:lnTo>
                  <a:lnTo>
                    <a:pt x="43734" y="46434"/>
                  </a:lnTo>
                  <a:lnTo>
                    <a:pt x="47304" y="46434"/>
                  </a:lnTo>
                  <a:lnTo>
                    <a:pt x="58015" y="46434"/>
                  </a:lnTo>
                  <a:lnTo>
                    <a:pt x="64262" y="46434"/>
                  </a:lnTo>
                  <a:close/>
                  <a:moveTo>
                    <a:pt x="339163" y="164306"/>
                  </a:moveTo>
                  <a:cubicBezTo>
                    <a:pt x="353443" y="176808"/>
                    <a:pt x="365939" y="183952"/>
                    <a:pt x="382004" y="183952"/>
                  </a:cubicBezTo>
                  <a:cubicBezTo>
                    <a:pt x="398070" y="183952"/>
                    <a:pt x="413243" y="175915"/>
                    <a:pt x="413243" y="160734"/>
                  </a:cubicBezTo>
                  <a:cubicBezTo>
                    <a:pt x="413243" y="147340"/>
                    <a:pt x="401640" y="140196"/>
                    <a:pt x="381112" y="131266"/>
                  </a:cubicBezTo>
                  <a:cubicBezTo>
                    <a:pt x="364153" y="124123"/>
                    <a:pt x="350765" y="118765"/>
                    <a:pt x="343625" y="107156"/>
                  </a:cubicBezTo>
                  <a:cubicBezTo>
                    <a:pt x="344518" y="111621"/>
                    <a:pt x="344518" y="116979"/>
                    <a:pt x="344518" y="121444"/>
                  </a:cubicBezTo>
                  <a:cubicBezTo>
                    <a:pt x="344518" y="163413"/>
                    <a:pt x="314172" y="197346"/>
                    <a:pt x="276685" y="197346"/>
                  </a:cubicBezTo>
                  <a:cubicBezTo>
                    <a:pt x="239199" y="197346"/>
                    <a:pt x="208853" y="163413"/>
                    <a:pt x="208853" y="121444"/>
                  </a:cubicBezTo>
                  <a:cubicBezTo>
                    <a:pt x="208853" y="96441"/>
                    <a:pt x="219563" y="73223"/>
                    <a:pt x="237414" y="59829"/>
                  </a:cubicBezTo>
                  <a:lnTo>
                    <a:pt x="191002" y="59829"/>
                  </a:lnTo>
                  <a:lnTo>
                    <a:pt x="191002" y="168771"/>
                  </a:lnTo>
                  <a:lnTo>
                    <a:pt x="191002" y="168771"/>
                  </a:lnTo>
                  <a:lnTo>
                    <a:pt x="191002" y="191095"/>
                  </a:lnTo>
                  <a:lnTo>
                    <a:pt x="170474" y="191095"/>
                  </a:lnTo>
                  <a:lnTo>
                    <a:pt x="170474" y="169664"/>
                  </a:lnTo>
                  <a:cubicBezTo>
                    <a:pt x="170474" y="169664"/>
                    <a:pt x="170474" y="168771"/>
                    <a:pt x="170474" y="168771"/>
                  </a:cubicBezTo>
                  <a:lnTo>
                    <a:pt x="170474" y="59829"/>
                  </a:lnTo>
                  <a:lnTo>
                    <a:pt x="152623" y="59829"/>
                  </a:lnTo>
                  <a:lnTo>
                    <a:pt x="152623" y="46434"/>
                  </a:lnTo>
                  <a:lnTo>
                    <a:pt x="171366" y="46434"/>
                  </a:lnTo>
                  <a:cubicBezTo>
                    <a:pt x="174044" y="18752"/>
                    <a:pt x="191002" y="2679"/>
                    <a:pt x="214208" y="2679"/>
                  </a:cubicBezTo>
                  <a:cubicBezTo>
                    <a:pt x="229381" y="2679"/>
                    <a:pt x="238306" y="4465"/>
                    <a:pt x="242769" y="6251"/>
                  </a:cubicBezTo>
                  <a:lnTo>
                    <a:pt x="242769" y="25003"/>
                  </a:lnTo>
                  <a:cubicBezTo>
                    <a:pt x="242769" y="26789"/>
                    <a:pt x="242769" y="27682"/>
                    <a:pt x="242769" y="27682"/>
                  </a:cubicBezTo>
                  <a:cubicBezTo>
                    <a:pt x="242769" y="27682"/>
                    <a:pt x="241876" y="27682"/>
                    <a:pt x="241876" y="27682"/>
                  </a:cubicBezTo>
                  <a:cubicBezTo>
                    <a:pt x="234736" y="20538"/>
                    <a:pt x="227596" y="16073"/>
                    <a:pt x="209745" y="16073"/>
                  </a:cubicBezTo>
                  <a:cubicBezTo>
                    <a:pt x="196357" y="16073"/>
                    <a:pt x="187432" y="26789"/>
                    <a:pt x="190110" y="46434"/>
                  </a:cubicBezTo>
                  <a:lnTo>
                    <a:pt x="266867" y="46434"/>
                  </a:lnTo>
                  <a:cubicBezTo>
                    <a:pt x="270438" y="45541"/>
                    <a:pt x="273115" y="45541"/>
                    <a:pt x="276685" y="45541"/>
                  </a:cubicBezTo>
                  <a:cubicBezTo>
                    <a:pt x="304354" y="45541"/>
                    <a:pt x="327560" y="63401"/>
                    <a:pt x="338270" y="89297"/>
                  </a:cubicBezTo>
                  <a:cubicBezTo>
                    <a:pt x="338270" y="87511"/>
                    <a:pt x="338270" y="86618"/>
                    <a:pt x="338270" y="84832"/>
                  </a:cubicBezTo>
                  <a:cubicBezTo>
                    <a:pt x="338270" y="58043"/>
                    <a:pt x="364153" y="46434"/>
                    <a:pt x="391822" y="46434"/>
                  </a:cubicBezTo>
                  <a:cubicBezTo>
                    <a:pt x="392715" y="46434"/>
                    <a:pt x="393607" y="46434"/>
                    <a:pt x="394500" y="46434"/>
                  </a:cubicBezTo>
                  <a:cubicBezTo>
                    <a:pt x="404317" y="46434"/>
                    <a:pt x="417705" y="49113"/>
                    <a:pt x="425738" y="51792"/>
                  </a:cubicBezTo>
                  <a:lnTo>
                    <a:pt x="432878" y="70545"/>
                  </a:lnTo>
                  <a:lnTo>
                    <a:pt x="441804" y="91976"/>
                  </a:lnTo>
                  <a:lnTo>
                    <a:pt x="465010" y="148233"/>
                  </a:lnTo>
                  <a:lnTo>
                    <a:pt x="467687" y="157163"/>
                  </a:lnTo>
                  <a:lnTo>
                    <a:pt x="470365" y="148233"/>
                  </a:lnTo>
                  <a:lnTo>
                    <a:pt x="499818" y="75902"/>
                  </a:lnTo>
                  <a:cubicBezTo>
                    <a:pt x="505174" y="56257"/>
                    <a:pt x="526594" y="47327"/>
                    <a:pt x="549800" y="47327"/>
                  </a:cubicBezTo>
                  <a:cubicBezTo>
                    <a:pt x="561403" y="47327"/>
                    <a:pt x="570329" y="49113"/>
                    <a:pt x="580146" y="52685"/>
                  </a:cubicBezTo>
                  <a:lnTo>
                    <a:pt x="580146" y="74116"/>
                  </a:lnTo>
                  <a:cubicBezTo>
                    <a:pt x="567651" y="65187"/>
                    <a:pt x="557833" y="59829"/>
                    <a:pt x="543553" y="59829"/>
                  </a:cubicBezTo>
                  <a:cubicBezTo>
                    <a:pt x="531057" y="59829"/>
                    <a:pt x="515884" y="65187"/>
                    <a:pt x="515884" y="83939"/>
                  </a:cubicBezTo>
                  <a:cubicBezTo>
                    <a:pt x="515884" y="98227"/>
                    <a:pt x="523917" y="100905"/>
                    <a:pt x="548908" y="112514"/>
                  </a:cubicBezTo>
                  <a:cubicBezTo>
                    <a:pt x="569436" y="121444"/>
                    <a:pt x="588179" y="131266"/>
                    <a:pt x="588179" y="153591"/>
                  </a:cubicBezTo>
                  <a:cubicBezTo>
                    <a:pt x="588179" y="191095"/>
                    <a:pt x="550693" y="197346"/>
                    <a:pt x="532842" y="198239"/>
                  </a:cubicBezTo>
                  <a:cubicBezTo>
                    <a:pt x="516777" y="198239"/>
                    <a:pt x="501604" y="194667"/>
                    <a:pt x="493571" y="187523"/>
                  </a:cubicBezTo>
                  <a:lnTo>
                    <a:pt x="493571" y="162520"/>
                  </a:lnTo>
                  <a:lnTo>
                    <a:pt x="494463" y="163413"/>
                  </a:lnTo>
                  <a:cubicBezTo>
                    <a:pt x="508744" y="176808"/>
                    <a:pt x="522132" y="183952"/>
                    <a:pt x="539090" y="183952"/>
                  </a:cubicBezTo>
                  <a:cubicBezTo>
                    <a:pt x="556048" y="183952"/>
                    <a:pt x="570329" y="175915"/>
                    <a:pt x="570329" y="160734"/>
                  </a:cubicBezTo>
                  <a:cubicBezTo>
                    <a:pt x="570329" y="147340"/>
                    <a:pt x="558726" y="140196"/>
                    <a:pt x="538197" y="131266"/>
                  </a:cubicBezTo>
                  <a:cubicBezTo>
                    <a:pt x="518562" y="122337"/>
                    <a:pt x="506066" y="116979"/>
                    <a:pt x="500711" y="102691"/>
                  </a:cubicBezTo>
                  <a:cubicBezTo>
                    <a:pt x="492678" y="122337"/>
                    <a:pt x="455192" y="212527"/>
                    <a:pt x="447159" y="232172"/>
                  </a:cubicBezTo>
                  <a:lnTo>
                    <a:pt x="427523" y="232172"/>
                  </a:lnTo>
                  <a:lnTo>
                    <a:pt x="431986" y="223242"/>
                  </a:lnTo>
                  <a:lnTo>
                    <a:pt x="436449" y="215206"/>
                  </a:lnTo>
                  <a:lnTo>
                    <a:pt x="436449" y="215206"/>
                  </a:lnTo>
                  <a:cubicBezTo>
                    <a:pt x="441804" y="205383"/>
                    <a:pt x="448944" y="190202"/>
                    <a:pt x="455192" y="175022"/>
                  </a:cubicBezTo>
                  <a:lnTo>
                    <a:pt x="416813" y="82153"/>
                  </a:lnTo>
                  <a:cubicBezTo>
                    <a:pt x="416813" y="81260"/>
                    <a:pt x="415920" y="80367"/>
                    <a:pt x="415028" y="76795"/>
                  </a:cubicBezTo>
                  <a:cubicBezTo>
                    <a:pt x="412350" y="69652"/>
                    <a:pt x="409673" y="63401"/>
                    <a:pt x="400747" y="60722"/>
                  </a:cubicBezTo>
                  <a:cubicBezTo>
                    <a:pt x="396285" y="58936"/>
                    <a:pt x="391822" y="58043"/>
                    <a:pt x="385574" y="58043"/>
                  </a:cubicBezTo>
                  <a:cubicBezTo>
                    <a:pt x="373079" y="58043"/>
                    <a:pt x="357013" y="63401"/>
                    <a:pt x="357013" y="82153"/>
                  </a:cubicBezTo>
                  <a:cubicBezTo>
                    <a:pt x="357013" y="96441"/>
                    <a:pt x="365939" y="99120"/>
                    <a:pt x="390929" y="110728"/>
                  </a:cubicBezTo>
                  <a:cubicBezTo>
                    <a:pt x="411458" y="119658"/>
                    <a:pt x="430201" y="129480"/>
                    <a:pt x="430201" y="151805"/>
                  </a:cubicBezTo>
                  <a:cubicBezTo>
                    <a:pt x="430201" y="189309"/>
                    <a:pt x="392715" y="195560"/>
                    <a:pt x="374864" y="196453"/>
                  </a:cubicBezTo>
                  <a:cubicBezTo>
                    <a:pt x="360583" y="196453"/>
                    <a:pt x="347195" y="192881"/>
                    <a:pt x="338270" y="187523"/>
                  </a:cubicBezTo>
                  <a:lnTo>
                    <a:pt x="338270" y="164306"/>
                  </a:lnTo>
                  <a:close/>
                  <a:moveTo>
                    <a:pt x="434664" y="70545"/>
                  </a:moveTo>
                  <a:cubicBezTo>
                    <a:pt x="434664" y="71438"/>
                    <a:pt x="435556" y="72331"/>
                    <a:pt x="435556" y="73223"/>
                  </a:cubicBezTo>
                  <a:lnTo>
                    <a:pt x="443589" y="91976"/>
                  </a:lnTo>
                  <a:lnTo>
                    <a:pt x="434664" y="70545"/>
                  </a:lnTo>
                  <a:close/>
                  <a:moveTo>
                    <a:pt x="432878" y="224135"/>
                  </a:moveTo>
                  <a:cubicBezTo>
                    <a:pt x="433771" y="222349"/>
                    <a:pt x="435556" y="219670"/>
                    <a:pt x="437341" y="216098"/>
                  </a:cubicBezTo>
                  <a:lnTo>
                    <a:pt x="432878" y="224135"/>
                  </a:lnTo>
                  <a:close/>
                  <a:moveTo>
                    <a:pt x="417705" y="82153"/>
                  </a:moveTo>
                  <a:cubicBezTo>
                    <a:pt x="418598" y="83046"/>
                    <a:pt x="416813" y="80367"/>
                    <a:pt x="416813" y="80367"/>
                  </a:cubicBezTo>
                  <a:lnTo>
                    <a:pt x="417705" y="82153"/>
                  </a:lnTo>
                  <a:close/>
                  <a:moveTo>
                    <a:pt x="230274" y="123230"/>
                  </a:moveTo>
                  <a:cubicBezTo>
                    <a:pt x="231166" y="157163"/>
                    <a:pt x="252587" y="184845"/>
                    <a:pt x="277578" y="183952"/>
                  </a:cubicBezTo>
                  <a:cubicBezTo>
                    <a:pt x="303461" y="183059"/>
                    <a:pt x="323990" y="155377"/>
                    <a:pt x="323097" y="121444"/>
                  </a:cubicBezTo>
                  <a:cubicBezTo>
                    <a:pt x="322204" y="87511"/>
                    <a:pt x="300784" y="59829"/>
                    <a:pt x="275793" y="60722"/>
                  </a:cubicBezTo>
                  <a:cubicBezTo>
                    <a:pt x="249909" y="60722"/>
                    <a:pt x="229381" y="89297"/>
                    <a:pt x="230274" y="123230"/>
                  </a:cubicBezTo>
                  <a:moveTo>
                    <a:pt x="0" y="26789"/>
                  </a:moveTo>
                  <a:lnTo>
                    <a:pt x="0" y="26789"/>
                  </a:lnTo>
                  <a:lnTo>
                    <a:pt x="0" y="3572"/>
                  </a:lnTo>
                  <a:lnTo>
                    <a:pt x="22313" y="3572"/>
                  </a:lnTo>
                  <a:lnTo>
                    <a:pt x="22313" y="25896"/>
                  </a:lnTo>
                  <a:lnTo>
                    <a:pt x="22313" y="25896"/>
                  </a:lnTo>
                  <a:lnTo>
                    <a:pt x="22313" y="168771"/>
                  </a:lnTo>
                  <a:lnTo>
                    <a:pt x="22313" y="169664"/>
                  </a:lnTo>
                  <a:lnTo>
                    <a:pt x="22313" y="191988"/>
                  </a:lnTo>
                  <a:lnTo>
                    <a:pt x="0" y="191988"/>
                  </a:lnTo>
                  <a:lnTo>
                    <a:pt x="0" y="169664"/>
                  </a:lnTo>
                  <a:lnTo>
                    <a:pt x="0" y="169664"/>
                  </a:lnTo>
                  <a:lnTo>
                    <a:pt x="0" y="26789"/>
                  </a:lnTo>
                  <a:close/>
                  <a:moveTo>
                    <a:pt x="610493" y="10716"/>
                  </a:moveTo>
                  <a:lnTo>
                    <a:pt x="614955" y="10716"/>
                  </a:lnTo>
                  <a:cubicBezTo>
                    <a:pt x="616740" y="10716"/>
                    <a:pt x="618525" y="11609"/>
                    <a:pt x="618525" y="13395"/>
                  </a:cubicBezTo>
                  <a:cubicBezTo>
                    <a:pt x="618525" y="15181"/>
                    <a:pt x="616740" y="16073"/>
                    <a:pt x="615848" y="16073"/>
                  </a:cubicBezTo>
                  <a:lnTo>
                    <a:pt x="611385" y="16073"/>
                  </a:lnTo>
                  <a:lnTo>
                    <a:pt x="611385" y="10716"/>
                  </a:lnTo>
                  <a:close/>
                  <a:moveTo>
                    <a:pt x="606922" y="27682"/>
                  </a:moveTo>
                  <a:lnTo>
                    <a:pt x="610493" y="27682"/>
                  </a:lnTo>
                  <a:lnTo>
                    <a:pt x="610493" y="19645"/>
                  </a:lnTo>
                  <a:lnTo>
                    <a:pt x="614955" y="19645"/>
                  </a:lnTo>
                  <a:lnTo>
                    <a:pt x="618525" y="27682"/>
                  </a:lnTo>
                  <a:lnTo>
                    <a:pt x="622988" y="27682"/>
                  </a:lnTo>
                  <a:lnTo>
                    <a:pt x="619418" y="18752"/>
                  </a:lnTo>
                  <a:cubicBezTo>
                    <a:pt x="620310" y="17859"/>
                    <a:pt x="622988" y="16966"/>
                    <a:pt x="622988" y="13395"/>
                  </a:cubicBezTo>
                  <a:cubicBezTo>
                    <a:pt x="622988" y="7144"/>
                    <a:pt x="618525" y="7144"/>
                    <a:pt x="614955" y="7144"/>
                  </a:cubicBezTo>
                  <a:lnTo>
                    <a:pt x="607815" y="7144"/>
                  </a:lnTo>
                  <a:lnTo>
                    <a:pt x="607815" y="27682"/>
                  </a:lnTo>
                  <a:close/>
                  <a:moveTo>
                    <a:pt x="597105" y="17859"/>
                  </a:moveTo>
                  <a:cubicBezTo>
                    <a:pt x="597105" y="8930"/>
                    <a:pt x="604245" y="1786"/>
                    <a:pt x="613170" y="1786"/>
                  </a:cubicBezTo>
                  <a:cubicBezTo>
                    <a:pt x="622095" y="1786"/>
                    <a:pt x="629236" y="8930"/>
                    <a:pt x="629236" y="17859"/>
                  </a:cubicBezTo>
                  <a:cubicBezTo>
                    <a:pt x="629236" y="26789"/>
                    <a:pt x="622095" y="33933"/>
                    <a:pt x="613170" y="33933"/>
                  </a:cubicBezTo>
                  <a:cubicBezTo>
                    <a:pt x="605137" y="33933"/>
                    <a:pt x="597105" y="26789"/>
                    <a:pt x="597105" y="17859"/>
                  </a:cubicBezTo>
                  <a:moveTo>
                    <a:pt x="614063" y="37505"/>
                  </a:moveTo>
                  <a:cubicBezTo>
                    <a:pt x="624773" y="37505"/>
                    <a:pt x="632806" y="28575"/>
                    <a:pt x="632806" y="18752"/>
                  </a:cubicBezTo>
                  <a:cubicBezTo>
                    <a:pt x="632806" y="8037"/>
                    <a:pt x="623881" y="0"/>
                    <a:pt x="614063" y="0"/>
                  </a:cubicBezTo>
                  <a:cubicBezTo>
                    <a:pt x="603352" y="0"/>
                    <a:pt x="595319" y="8930"/>
                    <a:pt x="595319" y="18752"/>
                  </a:cubicBezTo>
                  <a:cubicBezTo>
                    <a:pt x="594427" y="28575"/>
                    <a:pt x="603352" y="37505"/>
                    <a:pt x="614063" y="37505"/>
                  </a:cubicBezTo>
                </a:path>
              </a:pathLst>
            </a:custGeom>
            <a:solidFill>
              <a:schemeClr val="accent1"/>
            </a:solidFill>
            <a:ln w="89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endParaRPr>
            </a:p>
          </p:txBody>
        </p:sp>
        <p:grpSp>
          <p:nvGrpSpPr>
            <p:cNvPr id="9" name="Graphic 27">
              <a:extLst>
                <a:ext uri="{FF2B5EF4-FFF2-40B4-BE49-F238E27FC236}">
                  <a16:creationId xmlns:a16="http://schemas.microsoft.com/office/drawing/2014/main" id="{65228A92-FF3F-4757-F69C-223358400D3B}"/>
                </a:ext>
              </a:extLst>
            </p:cNvPr>
            <p:cNvGrpSpPr/>
            <p:nvPr/>
          </p:nvGrpSpPr>
          <p:grpSpPr>
            <a:xfrm>
              <a:off x="10889077" y="6475777"/>
              <a:ext cx="922910" cy="118030"/>
              <a:chOff x="5673009" y="1856926"/>
              <a:chExt cx="1026412" cy="131266"/>
            </a:xfrm>
            <a:solidFill>
              <a:schemeClr val="accent4"/>
            </a:solidFill>
          </p:grpSpPr>
          <p:sp>
            <p:nvSpPr>
              <p:cNvPr id="11" name="Freeform 9">
                <a:extLst>
                  <a:ext uri="{FF2B5EF4-FFF2-40B4-BE49-F238E27FC236}">
                    <a16:creationId xmlns:a16="http://schemas.microsoft.com/office/drawing/2014/main" id="{4FC06CDC-3002-59EA-318B-7963687F6878}"/>
                  </a:ext>
                </a:extLst>
              </p:cNvPr>
              <p:cNvSpPr/>
              <p:nvPr/>
            </p:nvSpPr>
            <p:spPr>
              <a:xfrm>
                <a:off x="5673009" y="1856926"/>
                <a:ext cx="97286" cy="129480"/>
              </a:xfrm>
              <a:custGeom>
                <a:avLst/>
                <a:gdLst>
                  <a:gd name="connsiteX0" fmla="*/ 96394 w 97286"/>
                  <a:gd name="connsiteY0" fmla="*/ 124123 h 129480"/>
                  <a:gd name="connsiteX1" fmla="*/ 64262 w 97286"/>
                  <a:gd name="connsiteY1" fmla="*/ 129480 h 129480"/>
                  <a:gd name="connsiteX2" fmla="*/ 0 w 97286"/>
                  <a:gd name="connsiteY2" fmla="*/ 66080 h 129480"/>
                  <a:gd name="connsiteX3" fmla="*/ 66940 w 97286"/>
                  <a:gd name="connsiteY3" fmla="*/ 0 h 129480"/>
                  <a:gd name="connsiteX4" fmla="*/ 97286 w 97286"/>
                  <a:gd name="connsiteY4" fmla="*/ 5358 h 129480"/>
                  <a:gd name="connsiteX5" fmla="*/ 91931 w 97286"/>
                  <a:gd name="connsiteY5" fmla="*/ 23217 h 129480"/>
                  <a:gd name="connsiteX6" fmla="*/ 67832 w 97286"/>
                  <a:gd name="connsiteY6" fmla="*/ 18752 h 129480"/>
                  <a:gd name="connsiteX7" fmla="*/ 24098 w 97286"/>
                  <a:gd name="connsiteY7" fmla="*/ 65187 h 129480"/>
                  <a:gd name="connsiteX8" fmla="*/ 67832 w 97286"/>
                  <a:gd name="connsiteY8" fmla="*/ 110728 h 129480"/>
                  <a:gd name="connsiteX9" fmla="*/ 92823 w 97286"/>
                  <a:gd name="connsiteY9" fmla="*/ 106263 h 129480"/>
                  <a:gd name="connsiteX10" fmla="*/ 96394 w 97286"/>
                  <a:gd name="connsiteY10" fmla="*/ 124123 h 129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7286" h="129480">
                    <a:moveTo>
                      <a:pt x="96394" y="124123"/>
                    </a:moveTo>
                    <a:cubicBezTo>
                      <a:pt x="91038" y="126802"/>
                      <a:pt x="79435" y="129480"/>
                      <a:pt x="64262" y="129480"/>
                    </a:cubicBezTo>
                    <a:cubicBezTo>
                      <a:pt x="24098" y="129480"/>
                      <a:pt x="0" y="104477"/>
                      <a:pt x="0" y="66080"/>
                    </a:cubicBezTo>
                    <a:cubicBezTo>
                      <a:pt x="0" y="25003"/>
                      <a:pt x="28561" y="0"/>
                      <a:pt x="66940" y="0"/>
                    </a:cubicBezTo>
                    <a:cubicBezTo>
                      <a:pt x="82113" y="0"/>
                      <a:pt x="92823" y="3572"/>
                      <a:pt x="97286" y="5358"/>
                    </a:cubicBezTo>
                    <a:lnTo>
                      <a:pt x="91931" y="23217"/>
                    </a:lnTo>
                    <a:cubicBezTo>
                      <a:pt x="85683" y="20538"/>
                      <a:pt x="77650" y="18752"/>
                      <a:pt x="67832" y="18752"/>
                    </a:cubicBezTo>
                    <a:cubicBezTo>
                      <a:pt x="41949" y="18752"/>
                      <a:pt x="24098" y="34826"/>
                      <a:pt x="24098" y="65187"/>
                    </a:cubicBezTo>
                    <a:cubicBezTo>
                      <a:pt x="24098" y="92869"/>
                      <a:pt x="40164" y="110728"/>
                      <a:pt x="67832" y="110728"/>
                    </a:cubicBezTo>
                    <a:cubicBezTo>
                      <a:pt x="76758" y="110728"/>
                      <a:pt x="86576" y="108942"/>
                      <a:pt x="92823" y="106263"/>
                    </a:cubicBezTo>
                    <a:lnTo>
                      <a:pt x="96394" y="124123"/>
                    </a:lnTo>
                    <a:close/>
                  </a:path>
                </a:pathLst>
              </a:custGeom>
              <a:grpFill/>
              <a:ln w="89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endParaRPr>
              </a:p>
            </p:txBody>
          </p:sp>
          <p:sp>
            <p:nvSpPr>
              <p:cNvPr id="12" name="Freeform 10">
                <a:extLst>
                  <a:ext uri="{FF2B5EF4-FFF2-40B4-BE49-F238E27FC236}">
                    <a16:creationId xmlns:a16="http://schemas.microsoft.com/office/drawing/2014/main" id="{273E5E63-0509-977C-6C4A-42C102353821}"/>
                  </a:ext>
                </a:extLst>
              </p:cNvPr>
              <p:cNvSpPr/>
              <p:nvPr/>
            </p:nvSpPr>
            <p:spPr>
              <a:xfrm>
                <a:off x="5779220" y="1858691"/>
                <a:ext cx="117814" cy="128608"/>
              </a:xfrm>
              <a:custGeom>
                <a:avLst/>
                <a:gdLst>
                  <a:gd name="connsiteX0" fmla="*/ 117814 w 117814"/>
                  <a:gd name="connsiteY0" fmla="*/ 62529 h 128608"/>
                  <a:gd name="connsiteX1" fmla="*/ 58015 w 117814"/>
                  <a:gd name="connsiteY1" fmla="*/ 128609 h 128608"/>
                  <a:gd name="connsiteX2" fmla="*/ 0 w 117814"/>
                  <a:gd name="connsiteY2" fmla="*/ 65208 h 128608"/>
                  <a:gd name="connsiteX3" fmla="*/ 59800 w 117814"/>
                  <a:gd name="connsiteY3" fmla="*/ 21 h 128608"/>
                  <a:gd name="connsiteX4" fmla="*/ 117814 w 117814"/>
                  <a:gd name="connsiteY4" fmla="*/ 62529 h 128608"/>
                  <a:gd name="connsiteX5" fmla="*/ 24098 w 117814"/>
                  <a:gd name="connsiteY5" fmla="*/ 64315 h 128608"/>
                  <a:gd name="connsiteX6" fmla="*/ 58907 w 117814"/>
                  <a:gd name="connsiteY6" fmla="*/ 109856 h 128608"/>
                  <a:gd name="connsiteX7" fmla="*/ 93716 w 117814"/>
                  <a:gd name="connsiteY7" fmla="*/ 63422 h 128608"/>
                  <a:gd name="connsiteX8" fmla="*/ 58907 w 117814"/>
                  <a:gd name="connsiteY8" fmla="*/ 16987 h 128608"/>
                  <a:gd name="connsiteX9" fmla="*/ 24098 w 117814"/>
                  <a:gd name="connsiteY9" fmla="*/ 64315 h 128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814" h="128608">
                    <a:moveTo>
                      <a:pt x="117814" y="62529"/>
                    </a:moveTo>
                    <a:cubicBezTo>
                      <a:pt x="117814" y="104498"/>
                      <a:pt x="91931" y="128609"/>
                      <a:pt x="58015" y="128609"/>
                    </a:cubicBezTo>
                    <a:cubicBezTo>
                      <a:pt x="22313" y="128609"/>
                      <a:pt x="0" y="101819"/>
                      <a:pt x="0" y="65208"/>
                    </a:cubicBezTo>
                    <a:cubicBezTo>
                      <a:pt x="0" y="26810"/>
                      <a:pt x="24098" y="21"/>
                      <a:pt x="59800" y="21"/>
                    </a:cubicBezTo>
                    <a:cubicBezTo>
                      <a:pt x="95501" y="-872"/>
                      <a:pt x="117814" y="26810"/>
                      <a:pt x="117814" y="62529"/>
                    </a:cubicBezTo>
                    <a:close/>
                    <a:moveTo>
                      <a:pt x="24098" y="64315"/>
                    </a:moveTo>
                    <a:cubicBezTo>
                      <a:pt x="24098" y="90211"/>
                      <a:pt x="36594" y="109856"/>
                      <a:pt x="58907" y="109856"/>
                    </a:cubicBezTo>
                    <a:cubicBezTo>
                      <a:pt x="81221" y="109856"/>
                      <a:pt x="93716" y="89318"/>
                      <a:pt x="93716" y="63422"/>
                    </a:cubicBezTo>
                    <a:cubicBezTo>
                      <a:pt x="93716" y="40205"/>
                      <a:pt x="82113" y="16987"/>
                      <a:pt x="58907" y="16987"/>
                    </a:cubicBezTo>
                    <a:cubicBezTo>
                      <a:pt x="35701" y="16987"/>
                      <a:pt x="24098" y="38419"/>
                      <a:pt x="24098" y="64315"/>
                    </a:cubicBezTo>
                    <a:close/>
                  </a:path>
                </a:pathLst>
              </a:custGeom>
              <a:grpFill/>
              <a:ln w="89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endParaRPr>
              </a:p>
            </p:txBody>
          </p:sp>
          <p:sp>
            <p:nvSpPr>
              <p:cNvPr id="13" name="Freeform 11">
                <a:extLst>
                  <a:ext uri="{FF2B5EF4-FFF2-40B4-BE49-F238E27FC236}">
                    <a16:creationId xmlns:a16="http://schemas.microsoft.com/office/drawing/2014/main" id="{DD99316D-9523-2AFC-C1C3-70B01B208AC6}"/>
                  </a:ext>
                </a:extLst>
              </p:cNvPr>
              <p:cNvSpPr/>
              <p:nvPr/>
            </p:nvSpPr>
            <p:spPr>
              <a:xfrm>
                <a:off x="5913100" y="1859605"/>
                <a:ext cx="99070" cy="125015"/>
              </a:xfrm>
              <a:custGeom>
                <a:avLst/>
                <a:gdLst>
                  <a:gd name="connsiteX0" fmla="*/ 0 w 99070"/>
                  <a:gd name="connsiteY0" fmla="*/ 125016 h 125015"/>
                  <a:gd name="connsiteX1" fmla="*/ 0 w 99070"/>
                  <a:gd name="connsiteY1" fmla="*/ 0 h 125015"/>
                  <a:gd name="connsiteX2" fmla="*/ 25883 w 99070"/>
                  <a:gd name="connsiteY2" fmla="*/ 0 h 125015"/>
                  <a:gd name="connsiteX3" fmla="*/ 58015 w 99070"/>
                  <a:gd name="connsiteY3" fmla="*/ 53578 h 125015"/>
                  <a:gd name="connsiteX4" fmla="*/ 79435 w 99070"/>
                  <a:gd name="connsiteY4" fmla="*/ 95548 h 125015"/>
                  <a:gd name="connsiteX5" fmla="*/ 79435 w 99070"/>
                  <a:gd name="connsiteY5" fmla="*/ 95548 h 125015"/>
                  <a:gd name="connsiteX6" fmla="*/ 77650 w 99070"/>
                  <a:gd name="connsiteY6" fmla="*/ 43755 h 125015"/>
                  <a:gd name="connsiteX7" fmla="*/ 77650 w 99070"/>
                  <a:gd name="connsiteY7" fmla="*/ 0 h 125015"/>
                  <a:gd name="connsiteX8" fmla="*/ 99071 w 99070"/>
                  <a:gd name="connsiteY8" fmla="*/ 0 h 125015"/>
                  <a:gd name="connsiteX9" fmla="*/ 99071 w 99070"/>
                  <a:gd name="connsiteY9" fmla="*/ 125016 h 125015"/>
                  <a:gd name="connsiteX10" fmla="*/ 75865 w 99070"/>
                  <a:gd name="connsiteY10" fmla="*/ 125016 h 125015"/>
                  <a:gd name="connsiteX11" fmla="*/ 42841 w 99070"/>
                  <a:gd name="connsiteY11" fmla="*/ 69652 h 125015"/>
                  <a:gd name="connsiteX12" fmla="*/ 20528 w 99070"/>
                  <a:gd name="connsiteY12" fmla="*/ 26789 h 125015"/>
                  <a:gd name="connsiteX13" fmla="*/ 19636 w 99070"/>
                  <a:gd name="connsiteY13" fmla="*/ 26789 h 125015"/>
                  <a:gd name="connsiteX14" fmla="*/ 20528 w 99070"/>
                  <a:gd name="connsiteY14" fmla="*/ 80367 h 125015"/>
                  <a:gd name="connsiteX15" fmla="*/ 20528 w 99070"/>
                  <a:gd name="connsiteY15" fmla="*/ 125016 h 125015"/>
                  <a:gd name="connsiteX16" fmla="*/ 0 w 99070"/>
                  <a:gd name="connsiteY16" fmla="*/ 125016 h 12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9070" h="125015">
                    <a:moveTo>
                      <a:pt x="0" y="125016"/>
                    </a:moveTo>
                    <a:lnTo>
                      <a:pt x="0" y="0"/>
                    </a:lnTo>
                    <a:lnTo>
                      <a:pt x="25883" y="0"/>
                    </a:lnTo>
                    <a:lnTo>
                      <a:pt x="58015" y="53578"/>
                    </a:lnTo>
                    <a:cubicBezTo>
                      <a:pt x="66047" y="67866"/>
                      <a:pt x="73188" y="82153"/>
                      <a:pt x="79435" y="95548"/>
                    </a:cubicBezTo>
                    <a:lnTo>
                      <a:pt x="79435" y="95548"/>
                    </a:lnTo>
                    <a:cubicBezTo>
                      <a:pt x="77650" y="78581"/>
                      <a:pt x="77650" y="62508"/>
                      <a:pt x="77650" y="43755"/>
                    </a:cubicBezTo>
                    <a:lnTo>
                      <a:pt x="77650" y="0"/>
                    </a:lnTo>
                    <a:lnTo>
                      <a:pt x="99071" y="0"/>
                    </a:lnTo>
                    <a:lnTo>
                      <a:pt x="99071" y="125016"/>
                    </a:lnTo>
                    <a:lnTo>
                      <a:pt x="75865" y="125016"/>
                    </a:lnTo>
                    <a:lnTo>
                      <a:pt x="42841" y="69652"/>
                    </a:lnTo>
                    <a:cubicBezTo>
                      <a:pt x="34809" y="56257"/>
                      <a:pt x="26776" y="41077"/>
                      <a:pt x="20528" y="26789"/>
                    </a:cubicBezTo>
                    <a:lnTo>
                      <a:pt x="19636" y="26789"/>
                    </a:lnTo>
                    <a:cubicBezTo>
                      <a:pt x="20528" y="42863"/>
                      <a:pt x="20528" y="59829"/>
                      <a:pt x="20528" y="80367"/>
                    </a:cubicBezTo>
                    <a:lnTo>
                      <a:pt x="20528" y="125016"/>
                    </a:lnTo>
                    <a:lnTo>
                      <a:pt x="0" y="125016"/>
                    </a:lnTo>
                    <a:close/>
                  </a:path>
                </a:pathLst>
              </a:custGeom>
              <a:grpFill/>
              <a:ln w="89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endParaRPr>
              </a:p>
            </p:txBody>
          </p:sp>
          <p:sp>
            <p:nvSpPr>
              <p:cNvPr id="14" name="Freeform 12">
                <a:extLst>
                  <a:ext uri="{FF2B5EF4-FFF2-40B4-BE49-F238E27FC236}">
                    <a16:creationId xmlns:a16="http://schemas.microsoft.com/office/drawing/2014/main" id="{0B8806F8-3500-884B-D632-3416E2FA1E51}"/>
                  </a:ext>
                </a:extLst>
              </p:cNvPr>
              <p:cNvSpPr/>
              <p:nvPr/>
            </p:nvSpPr>
            <p:spPr>
              <a:xfrm>
                <a:off x="6030915" y="1858712"/>
                <a:ext cx="81220" cy="129480"/>
              </a:xfrm>
              <a:custGeom>
                <a:avLst/>
                <a:gdLst>
                  <a:gd name="connsiteX0" fmla="*/ 3570 w 81220"/>
                  <a:gd name="connsiteY0" fmla="*/ 101798 h 129480"/>
                  <a:gd name="connsiteX1" fmla="*/ 33916 w 81220"/>
                  <a:gd name="connsiteY1" fmla="*/ 109835 h 129480"/>
                  <a:gd name="connsiteX2" fmla="*/ 57122 w 81220"/>
                  <a:gd name="connsiteY2" fmla="*/ 92869 h 129480"/>
                  <a:gd name="connsiteX3" fmla="*/ 34809 w 81220"/>
                  <a:gd name="connsiteY3" fmla="*/ 72330 h 129480"/>
                  <a:gd name="connsiteX4" fmla="*/ 893 w 81220"/>
                  <a:gd name="connsiteY4" fmla="*/ 35719 h 129480"/>
                  <a:gd name="connsiteX5" fmla="*/ 45519 w 81220"/>
                  <a:gd name="connsiteY5" fmla="*/ 0 h 129480"/>
                  <a:gd name="connsiteX6" fmla="*/ 75865 w 81220"/>
                  <a:gd name="connsiteY6" fmla="*/ 6251 h 129480"/>
                  <a:gd name="connsiteX7" fmla="*/ 70510 w 81220"/>
                  <a:gd name="connsiteY7" fmla="*/ 25003 h 129480"/>
                  <a:gd name="connsiteX8" fmla="*/ 45519 w 81220"/>
                  <a:gd name="connsiteY8" fmla="*/ 18752 h 129480"/>
                  <a:gd name="connsiteX9" fmla="*/ 24991 w 81220"/>
                  <a:gd name="connsiteY9" fmla="*/ 33933 h 129480"/>
                  <a:gd name="connsiteX10" fmla="*/ 49089 w 81220"/>
                  <a:gd name="connsiteY10" fmla="*/ 54471 h 129480"/>
                  <a:gd name="connsiteX11" fmla="*/ 81221 w 81220"/>
                  <a:gd name="connsiteY11" fmla="*/ 91976 h 129480"/>
                  <a:gd name="connsiteX12" fmla="*/ 33916 w 81220"/>
                  <a:gd name="connsiteY12" fmla="*/ 129480 h 129480"/>
                  <a:gd name="connsiteX13" fmla="*/ 0 w 81220"/>
                  <a:gd name="connsiteY13" fmla="*/ 121444 h 129480"/>
                  <a:gd name="connsiteX14" fmla="*/ 3570 w 81220"/>
                  <a:gd name="connsiteY14" fmla="*/ 101798 h 129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1220" h="129480">
                    <a:moveTo>
                      <a:pt x="3570" y="101798"/>
                    </a:moveTo>
                    <a:cubicBezTo>
                      <a:pt x="10711" y="106263"/>
                      <a:pt x="22313" y="109835"/>
                      <a:pt x="33916" y="109835"/>
                    </a:cubicBezTo>
                    <a:cubicBezTo>
                      <a:pt x="48197" y="109835"/>
                      <a:pt x="57122" y="102691"/>
                      <a:pt x="57122" y="92869"/>
                    </a:cubicBezTo>
                    <a:cubicBezTo>
                      <a:pt x="57122" y="83046"/>
                      <a:pt x="50874" y="77688"/>
                      <a:pt x="34809" y="72330"/>
                    </a:cubicBezTo>
                    <a:cubicBezTo>
                      <a:pt x="14281" y="65187"/>
                      <a:pt x="893" y="53578"/>
                      <a:pt x="893" y="35719"/>
                    </a:cubicBezTo>
                    <a:cubicBezTo>
                      <a:pt x="893" y="15180"/>
                      <a:pt x="17851" y="0"/>
                      <a:pt x="45519" y="0"/>
                    </a:cubicBezTo>
                    <a:cubicBezTo>
                      <a:pt x="58907" y="0"/>
                      <a:pt x="68725" y="2679"/>
                      <a:pt x="75865" y="6251"/>
                    </a:cubicBezTo>
                    <a:lnTo>
                      <a:pt x="70510" y="25003"/>
                    </a:lnTo>
                    <a:cubicBezTo>
                      <a:pt x="66047" y="22324"/>
                      <a:pt x="57122" y="18752"/>
                      <a:pt x="45519" y="18752"/>
                    </a:cubicBezTo>
                    <a:cubicBezTo>
                      <a:pt x="31239" y="18752"/>
                      <a:pt x="24991" y="26789"/>
                      <a:pt x="24991" y="33933"/>
                    </a:cubicBezTo>
                    <a:cubicBezTo>
                      <a:pt x="24991" y="43755"/>
                      <a:pt x="32131" y="48220"/>
                      <a:pt x="49089" y="54471"/>
                    </a:cubicBezTo>
                    <a:cubicBezTo>
                      <a:pt x="70510" y="62508"/>
                      <a:pt x="81221" y="73223"/>
                      <a:pt x="81221" y="91976"/>
                    </a:cubicBezTo>
                    <a:cubicBezTo>
                      <a:pt x="81221" y="111621"/>
                      <a:pt x="66047" y="129480"/>
                      <a:pt x="33916" y="129480"/>
                    </a:cubicBezTo>
                    <a:cubicBezTo>
                      <a:pt x="20528" y="129480"/>
                      <a:pt x="7140" y="125909"/>
                      <a:pt x="0" y="121444"/>
                    </a:cubicBezTo>
                    <a:lnTo>
                      <a:pt x="3570" y="101798"/>
                    </a:lnTo>
                    <a:close/>
                  </a:path>
                </a:pathLst>
              </a:custGeom>
              <a:grpFill/>
              <a:ln w="89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endParaRPr>
              </a:p>
            </p:txBody>
          </p:sp>
          <p:sp>
            <p:nvSpPr>
              <p:cNvPr id="15" name="Freeform 13">
                <a:extLst>
                  <a:ext uri="{FF2B5EF4-FFF2-40B4-BE49-F238E27FC236}">
                    <a16:creationId xmlns:a16="http://schemas.microsoft.com/office/drawing/2014/main" id="{BECB1453-E68C-F374-7CBC-B092964D8847}"/>
                  </a:ext>
                </a:extLst>
              </p:cNvPr>
              <p:cNvSpPr/>
              <p:nvPr/>
            </p:nvSpPr>
            <p:spPr>
              <a:xfrm>
                <a:off x="6129093" y="1859605"/>
                <a:ext cx="97286" cy="126801"/>
              </a:xfrm>
              <a:custGeom>
                <a:avLst/>
                <a:gdLst>
                  <a:gd name="connsiteX0" fmla="*/ 21421 w 97286"/>
                  <a:gd name="connsiteY0" fmla="*/ 0 h 126801"/>
                  <a:gd name="connsiteX1" fmla="*/ 21421 w 97286"/>
                  <a:gd name="connsiteY1" fmla="*/ 73223 h 126801"/>
                  <a:gd name="connsiteX2" fmla="*/ 47304 w 97286"/>
                  <a:gd name="connsiteY2" fmla="*/ 108942 h 126801"/>
                  <a:gd name="connsiteX3" fmla="*/ 74080 w 97286"/>
                  <a:gd name="connsiteY3" fmla="*/ 73223 h 126801"/>
                  <a:gd name="connsiteX4" fmla="*/ 74080 w 97286"/>
                  <a:gd name="connsiteY4" fmla="*/ 0 h 126801"/>
                  <a:gd name="connsiteX5" fmla="*/ 97286 w 97286"/>
                  <a:gd name="connsiteY5" fmla="*/ 0 h 126801"/>
                  <a:gd name="connsiteX6" fmla="*/ 97286 w 97286"/>
                  <a:gd name="connsiteY6" fmla="*/ 71438 h 126801"/>
                  <a:gd name="connsiteX7" fmla="*/ 47304 w 97286"/>
                  <a:gd name="connsiteY7" fmla="*/ 126802 h 126801"/>
                  <a:gd name="connsiteX8" fmla="*/ 0 w 97286"/>
                  <a:gd name="connsiteY8" fmla="*/ 71438 h 126801"/>
                  <a:gd name="connsiteX9" fmla="*/ 0 w 97286"/>
                  <a:gd name="connsiteY9" fmla="*/ 0 h 126801"/>
                  <a:gd name="connsiteX10" fmla="*/ 21421 w 97286"/>
                  <a:gd name="connsiteY10" fmla="*/ 0 h 126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7286" h="126801">
                    <a:moveTo>
                      <a:pt x="21421" y="0"/>
                    </a:moveTo>
                    <a:lnTo>
                      <a:pt x="21421" y="73223"/>
                    </a:lnTo>
                    <a:cubicBezTo>
                      <a:pt x="21421" y="97334"/>
                      <a:pt x="31239" y="108942"/>
                      <a:pt x="47304" y="108942"/>
                    </a:cubicBezTo>
                    <a:cubicBezTo>
                      <a:pt x="64262" y="108942"/>
                      <a:pt x="74080" y="97334"/>
                      <a:pt x="74080" y="73223"/>
                    </a:cubicBezTo>
                    <a:lnTo>
                      <a:pt x="74080" y="0"/>
                    </a:lnTo>
                    <a:lnTo>
                      <a:pt x="97286" y="0"/>
                    </a:lnTo>
                    <a:lnTo>
                      <a:pt x="97286" y="71438"/>
                    </a:lnTo>
                    <a:cubicBezTo>
                      <a:pt x="97286" y="109835"/>
                      <a:pt x="77650" y="126802"/>
                      <a:pt x="47304" y="126802"/>
                    </a:cubicBezTo>
                    <a:cubicBezTo>
                      <a:pt x="18743" y="126802"/>
                      <a:pt x="0" y="110728"/>
                      <a:pt x="0" y="71438"/>
                    </a:cubicBezTo>
                    <a:lnTo>
                      <a:pt x="0" y="0"/>
                    </a:lnTo>
                    <a:lnTo>
                      <a:pt x="21421" y="0"/>
                    </a:lnTo>
                    <a:close/>
                  </a:path>
                </a:pathLst>
              </a:custGeom>
              <a:grpFill/>
              <a:ln w="89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endParaRPr>
              </a:p>
            </p:txBody>
          </p:sp>
          <p:sp>
            <p:nvSpPr>
              <p:cNvPr id="16" name="Freeform 14">
                <a:extLst>
                  <a:ext uri="{FF2B5EF4-FFF2-40B4-BE49-F238E27FC236}">
                    <a16:creationId xmlns:a16="http://schemas.microsoft.com/office/drawing/2014/main" id="{C8EC3928-AA3B-50AB-0D25-51E80A19CC00}"/>
                  </a:ext>
                </a:extLst>
              </p:cNvPr>
              <p:cNvSpPr/>
              <p:nvPr/>
            </p:nvSpPr>
            <p:spPr>
              <a:xfrm>
                <a:off x="6248693" y="1859605"/>
                <a:ext cx="74972" cy="125015"/>
              </a:xfrm>
              <a:custGeom>
                <a:avLst/>
                <a:gdLst>
                  <a:gd name="connsiteX0" fmla="*/ 0 w 74972"/>
                  <a:gd name="connsiteY0" fmla="*/ 0 h 125015"/>
                  <a:gd name="connsiteX1" fmla="*/ 23206 w 74972"/>
                  <a:gd name="connsiteY1" fmla="*/ 0 h 125015"/>
                  <a:gd name="connsiteX2" fmla="*/ 23206 w 74972"/>
                  <a:gd name="connsiteY2" fmla="*/ 106263 h 125015"/>
                  <a:gd name="connsiteX3" fmla="*/ 74973 w 74972"/>
                  <a:gd name="connsiteY3" fmla="*/ 106263 h 125015"/>
                  <a:gd name="connsiteX4" fmla="*/ 74973 w 74972"/>
                  <a:gd name="connsiteY4" fmla="*/ 125016 h 125015"/>
                  <a:gd name="connsiteX5" fmla="*/ 893 w 74972"/>
                  <a:gd name="connsiteY5" fmla="*/ 125016 h 125015"/>
                  <a:gd name="connsiteX6" fmla="*/ 893 w 74972"/>
                  <a:gd name="connsiteY6" fmla="*/ 0 h 12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972" h="125015">
                    <a:moveTo>
                      <a:pt x="0" y="0"/>
                    </a:moveTo>
                    <a:lnTo>
                      <a:pt x="23206" y="0"/>
                    </a:lnTo>
                    <a:lnTo>
                      <a:pt x="23206" y="106263"/>
                    </a:lnTo>
                    <a:lnTo>
                      <a:pt x="74973" y="106263"/>
                    </a:lnTo>
                    <a:lnTo>
                      <a:pt x="74973" y="125016"/>
                    </a:lnTo>
                    <a:lnTo>
                      <a:pt x="893" y="125016"/>
                    </a:lnTo>
                    <a:lnTo>
                      <a:pt x="893" y="0"/>
                    </a:lnTo>
                    <a:close/>
                  </a:path>
                </a:pathLst>
              </a:custGeom>
              <a:grpFill/>
              <a:ln w="89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endParaRPr>
              </a:p>
            </p:txBody>
          </p:sp>
          <p:sp>
            <p:nvSpPr>
              <p:cNvPr id="17" name="Freeform 15">
                <a:extLst>
                  <a:ext uri="{FF2B5EF4-FFF2-40B4-BE49-F238E27FC236}">
                    <a16:creationId xmlns:a16="http://schemas.microsoft.com/office/drawing/2014/main" id="{1E5C6EC4-404B-FFAB-69E2-6CEA35FFDE9C}"/>
                  </a:ext>
                </a:extLst>
              </p:cNvPr>
              <p:cNvSpPr/>
              <p:nvPr/>
            </p:nvSpPr>
            <p:spPr>
              <a:xfrm>
                <a:off x="6324558" y="1859605"/>
                <a:ext cx="94608" cy="125015"/>
              </a:xfrm>
              <a:custGeom>
                <a:avLst/>
                <a:gdLst>
                  <a:gd name="connsiteX0" fmla="*/ 35701 w 94608"/>
                  <a:gd name="connsiteY0" fmla="*/ 19645 h 125015"/>
                  <a:gd name="connsiteX1" fmla="*/ 0 w 94608"/>
                  <a:gd name="connsiteY1" fmla="*/ 19645 h 125015"/>
                  <a:gd name="connsiteX2" fmla="*/ 0 w 94608"/>
                  <a:gd name="connsiteY2" fmla="*/ 0 h 125015"/>
                  <a:gd name="connsiteX3" fmla="*/ 94609 w 94608"/>
                  <a:gd name="connsiteY3" fmla="*/ 0 h 125015"/>
                  <a:gd name="connsiteX4" fmla="*/ 94609 w 94608"/>
                  <a:gd name="connsiteY4" fmla="*/ 18752 h 125015"/>
                  <a:gd name="connsiteX5" fmla="*/ 58907 w 94608"/>
                  <a:gd name="connsiteY5" fmla="*/ 18752 h 125015"/>
                  <a:gd name="connsiteX6" fmla="*/ 58907 w 94608"/>
                  <a:gd name="connsiteY6" fmla="*/ 125016 h 125015"/>
                  <a:gd name="connsiteX7" fmla="*/ 35701 w 94608"/>
                  <a:gd name="connsiteY7" fmla="*/ 125016 h 125015"/>
                  <a:gd name="connsiteX8" fmla="*/ 35701 w 94608"/>
                  <a:gd name="connsiteY8" fmla="*/ 19645 h 12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4608" h="125015">
                    <a:moveTo>
                      <a:pt x="35701" y="19645"/>
                    </a:moveTo>
                    <a:lnTo>
                      <a:pt x="0" y="19645"/>
                    </a:lnTo>
                    <a:lnTo>
                      <a:pt x="0" y="0"/>
                    </a:lnTo>
                    <a:lnTo>
                      <a:pt x="94609" y="0"/>
                    </a:lnTo>
                    <a:lnTo>
                      <a:pt x="94609" y="18752"/>
                    </a:lnTo>
                    <a:lnTo>
                      <a:pt x="58907" y="18752"/>
                    </a:lnTo>
                    <a:lnTo>
                      <a:pt x="58907" y="125016"/>
                    </a:lnTo>
                    <a:lnTo>
                      <a:pt x="35701" y="125016"/>
                    </a:lnTo>
                    <a:lnTo>
                      <a:pt x="35701" y="19645"/>
                    </a:lnTo>
                    <a:close/>
                  </a:path>
                </a:pathLst>
              </a:custGeom>
              <a:grpFill/>
              <a:ln w="89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endParaRPr>
              </a:p>
            </p:txBody>
          </p:sp>
          <p:sp>
            <p:nvSpPr>
              <p:cNvPr id="18" name="Freeform 16">
                <a:extLst>
                  <a:ext uri="{FF2B5EF4-FFF2-40B4-BE49-F238E27FC236}">
                    <a16:creationId xmlns:a16="http://schemas.microsoft.com/office/drawing/2014/main" id="{77163C80-C425-17DE-B41E-0A4CB292D449}"/>
                  </a:ext>
                </a:extLst>
              </p:cNvPr>
              <p:cNvSpPr/>
              <p:nvPr/>
            </p:nvSpPr>
            <p:spPr>
              <a:xfrm>
                <a:off x="6430769" y="1859605"/>
                <a:ext cx="23205" cy="125015"/>
              </a:xfrm>
              <a:custGeom>
                <a:avLst/>
                <a:gdLst>
                  <a:gd name="connsiteX0" fmla="*/ 23206 w 23205"/>
                  <a:gd name="connsiteY0" fmla="*/ 0 h 125015"/>
                  <a:gd name="connsiteX1" fmla="*/ 23206 w 23205"/>
                  <a:gd name="connsiteY1" fmla="*/ 125016 h 125015"/>
                  <a:gd name="connsiteX2" fmla="*/ 0 w 23205"/>
                  <a:gd name="connsiteY2" fmla="*/ 125016 h 125015"/>
                  <a:gd name="connsiteX3" fmla="*/ 0 w 23205"/>
                  <a:gd name="connsiteY3" fmla="*/ 0 h 125015"/>
                  <a:gd name="connsiteX4" fmla="*/ 23206 w 23205"/>
                  <a:gd name="connsiteY4" fmla="*/ 0 h 125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05" h="125015">
                    <a:moveTo>
                      <a:pt x="23206" y="0"/>
                    </a:moveTo>
                    <a:lnTo>
                      <a:pt x="23206" y="125016"/>
                    </a:lnTo>
                    <a:lnTo>
                      <a:pt x="0" y="125016"/>
                    </a:lnTo>
                    <a:lnTo>
                      <a:pt x="0" y="0"/>
                    </a:lnTo>
                    <a:lnTo>
                      <a:pt x="23206" y="0"/>
                    </a:lnTo>
                    <a:close/>
                  </a:path>
                </a:pathLst>
              </a:custGeom>
              <a:grpFill/>
              <a:ln w="89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endParaRPr>
              </a:p>
            </p:txBody>
          </p:sp>
          <p:sp>
            <p:nvSpPr>
              <p:cNvPr id="19" name="Freeform 17">
                <a:extLst>
                  <a:ext uri="{FF2B5EF4-FFF2-40B4-BE49-F238E27FC236}">
                    <a16:creationId xmlns:a16="http://schemas.microsoft.com/office/drawing/2014/main" id="{66904B67-DF89-5579-55A4-3254EDCB07A7}"/>
                  </a:ext>
                </a:extLst>
              </p:cNvPr>
              <p:cNvSpPr/>
              <p:nvPr/>
            </p:nvSpPr>
            <p:spPr>
              <a:xfrm>
                <a:off x="6476288" y="1859605"/>
                <a:ext cx="99071" cy="125015"/>
              </a:xfrm>
              <a:custGeom>
                <a:avLst/>
                <a:gdLst>
                  <a:gd name="connsiteX0" fmla="*/ 0 w 99071"/>
                  <a:gd name="connsiteY0" fmla="*/ 125016 h 125015"/>
                  <a:gd name="connsiteX1" fmla="*/ 0 w 99071"/>
                  <a:gd name="connsiteY1" fmla="*/ 0 h 125015"/>
                  <a:gd name="connsiteX2" fmla="*/ 25884 w 99071"/>
                  <a:gd name="connsiteY2" fmla="*/ 0 h 125015"/>
                  <a:gd name="connsiteX3" fmla="*/ 58015 w 99071"/>
                  <a:gd name="connsiteY3" fmla="*/ 53578 h 125015"/>
                  <a:gd name="connsiteX4" fmla="*/ 79436 w 99071"/>
                  <a:gd name="connsiteY4" fmla="*/ 95548 h 125015"/>
                  <a:gd name="connsiteX5" fmla="*/ 79436 w 99071"/>
                  <a:gd name="connsiteY5" fmla="*/ 95548 h 125015"/>
                  <a:gd name="connsiteX6" fmla="*/ 77650 w 99071"/>
                  <a:gd name="connsiteY6" fmla="*/ 43755 h 125015"/>
                  <a:gd name="connsiteX7" fmla="*/ 77650 w 99071"/>
                  <a:gd name="connsiteY7" fmla="*/ 0 h 125015"/>
                  <a:gd name="connsiteX8" fmla="*/ 99071 w 99071"/>
                  <a:gd name="connsiteY8" fmla="*/ 0 h 125015"/>
                  <a:gd name="connsiteX9" fmla="*/ 99071 w 99071"/>
                  <a:gd name="connsiteY9" fmla="*/ 125016 h 125015"/>
                  <a:gd name="connsiteX10" fmla="*/ 75865 w 99071"/>
                  <a:gd name="connsiteY10" fmla="*/ 125016 h 125015"/>
                  <a:gd name="connsiteX11" fmla="*/ 42842 w 99071"/>
                  <a:gd name="connsiteY11" fmla="*/ 69652 h 125015"/>
                  <a:gd name="connsiteX12" fmla="*/ 20528 w 99071"/>
                  <a:gd name="connsiteY12" fmla="*/ 26789 h 125015"/>
                  <a:gd name="connsiteX13" fmla="*/ 19636 w 99071"/>
                  <a:gd name="connsiteY13" fmla="*/ 26789 h 125015"/>
                  <a:gd name="connsiteX14" fmla="*/ 20528 w 99071"/>
                  <a:gd name="connsiteY14" fmla="*/ 80367 h 125015"/>
                  <a:gd name="connsiteX15" fmla="*/ 20528 w 99071"/>
                  <a:gd name="connsiteY15" fmla="*/ 125016 h 125015"/>
                  <a:gd name="connsiteX16" fmla="*/ 0 w 99071"/>
                  <a:gd name="connsiteY16" fmla="*/ 125016 h 12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9071" h="125015">
                    <a:moveTo>
                      <a:pt x="0" y="125016"/>
                    </a:moveTo>
                    <a:lnTo>
                      <a:pt x="0" y="0"/>
                    </a:lnTo>
                    <a:lnTo>
                      <a:pt x="25884" y="0"/>
                    </a:lnTo>
                    <a:lnTo>
                      <a:pt x="58015" y="53578"/>
                    </a:lnTo>
                    <a:cubicBezTo>
                      <a:pt x="66048" y="67866"/>
                      <a:pt x="73188" y="82153"/>
                      <a:pt x="79436" y="95548"/>
                    </a:cubicBezTo>
                    <a:lnTo>
                      <a:pt x="79436" y="95548"/>
                    </a:lnTo>
                    <a:cubicBezTo>
                      <a:pt x="77650" y="78581"/>
                      <a:pt x="77650" y="62508"/>
                      <a:pt x="77650" y="43755"/>
                    </a:cubicBezTo>
                    <a:lnTo>
                      <a:pt x="77650" y="0"/>
                    </a:lnTo>
                    <a:lnTo>
                      <a:pt x="99071" y="0"/>
                    </a:lnTo>
                    <a:lnTo>
                      <a:pt x="99071" y="125016"/>
                    </a:lnTo>
                    <a:lnTo>
                      <a:pt x="75865" y="125016"/>
                    </a:lnTo>
                    <a:lnTo>
                      <a:pt x="42842" y="69652"/>
                    </a:lnTo>
                    <a:cubicBezTo>
                      <a:pt x="34809" y="56257"/>
                      <a:pt x="26776" y="41077"/>
                      <a:pt x="20528" y="26789"/>
                    </a:cubicBezTo>
                    <a:lnTo>
                      <a:pt x="19636" y="26789"/>
                    </a:lnTo>
                    <a:cubicBezTo>
                      <a:pt x="20528" y="42863"/>
                      <a:pt x="20528" y="59829"/>
                      <a:pt x="20528" y="80367"/>
                    </a:cubicBezTo>
                    <a:lnTo>
                      <a:pt x="20528" y="125016"/>
                    </a:lnTo>
                    <a:lnTo>
                      <a:pt x="0" y="125016"/>
                    </a:lnTo>
                    <a:close/>
                  </a:path>
                </a:pathLst>
              </a:custGeom>
              <a:grpFill/>
              <a:ln w="89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endParaRPr>
              </a:p>
            </p:txBody>
          </p:sp>
          <p:sp>
            <p:nvSpPr>
              <p:cNvPr id="20" name="Freeform 18">
                <a:extLst>
                  <a:ext uri="{FF2B5EF4-FFF2-40B4-BE49-F238E27FC236}">
                    <a16:creationId xmlns:a16="http://schemas.microsoft.com/office/drawing/2014/main" id="{F415731A-85AB-2F86-F7C8-00806A261ED6}"/>
                  </a:ext>
                </a:extLst>
              </p:cNvPr>
              <p:cNvSpPr/>
              <p:nvPr/>
            </p:nvSpPr>
            <p:spPr>
              <a:xfrm>
                <a:off x="6592318" y="1857819"/>
                <a:ext cx="107103" cy="128587"/>
              </a:xfrm>
              <a:custGeom>
                <a:avLst/>
                <a:gdLst>
                  <a:gd name="connsiteX0" fmla="*/ 107104 w 107103"/>
                  <a:gd name="connsiteY0" fmla="*/ 121444 h 128587"/>
                  <a:gd name="connsiteX1" fmla="*/ 66940 w 107103"/>
                  <a:gd name="connsiteY1" fmla="*/ 128587 h 128587"/>
                  <a:gd name="connsiteX2" fmla="*/ 17851 w 107103"/>
                  <a:gd name="connsiteY2" fmla="*/ 111621 h 128587"/>
                  <a:gd name="connsiteX3" fmla="*/ 0 w 107103"/>
                  <a:gd name="connsiteY3" fmla="*/ 65187 h 128587"/>
                  <a:gd name="connsiteX4" fmla="*/ 69618 w 107103"/>
                  <a:gd name="connsiteY4" fmla="*/ 0 h 128587"/>
                  <a:gd name="connsiteX5" fmla="*/ 102641 w 107103"/>
                  <a:gd name="connsiteY5" fmla="*/ 6251 h 128587"/>
                  <a:gd name="connsiteX6" fmla="*/ 97286 w 107103"/>
                  <a:gd name="connsiteY6" fmla="*/ 25003 h 128587"/>
                  <a:gd name="connsiteX7" fmla="*/ 68725 w 107103"/>
                  <a:gd name="connsiteY7" fmla="*/ 19645 h 128587"/>
                  <a:gd name="connsiteX8" fmla="*/ 23206 w 107103"/>
                  <a:gd name="connsiteY8" fmla="*/ 64294 h 128587"/>
                  <a:gd name="connsiteX9" fmla="*/ 66940 w 107103"/>
                  <a:gd name="connsiteY9" fmla="*/ 109835 h 128587"/>
                  <a:gd name="connsiteX10" fmla="*/ 83898 w 107103"/>
                  <a:gd name="connsiteY10" fmla="*/ 107156 h 128587"/>
                  <a:gd name="connsiteX11" fmla="*/ 83898 w 107103"/>
                  <a:gd name="connsiteY11" fmla="*/ 75902 h 128587"/>
                  <a:gd name="connsiteX12" fmla="*/ 61585 w 107103"/>
                  <a:gd name="connsiteY12" fmla="*/ 75902 h 128587"/>
                  <a:gd name="connsiteX13" fmla="*/ 61585 w 107103"/>
                  <a:gd name="connsiteY13" fmla="*/ 58043 h 128587"/>
                  <a:gd name="connsiteX14" fmla="*/ 106212 w 107103"/>
                  <a:gd name="connsiteY14" fmla="*/ 58043 h 128587"/>
                  <a:gd name="connsiteX15" fmla="*/ 106212 w 107103"/>
                  <a:gd name="connsiteY15" fmla="*/ 121444 h 128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7103" h="128587">
                    <a:moveTo>
                      <a:pt x="107104" y="121444"/>
                    </a:moveTo>
                    <a:cubicBezTo>
                      <a:pt x="99071" y="124123"/>
                      <a:pt x="83898" y="128587"/>
                      <a:pt x="66940" y="128587"/>
                    </a:cubicBezTo>
                    <a:cubicBezTo>
                      <a:pt x="45519" y="128587"/>
                      <a:pt x="29454" y="123230"/>
                      <a:pt x="17851" y="111621"/>
                    </a:cubicBezTo>
                    <a:cubicBezTo>
                      <a:pt x="7140" y="100905"/>
                      <a:pt x="0" y="84832"/>
                      <a:pt x="0" y="65187"/>
                    </a:cubicBezTo>
                    <a:cubicBezTo>
                      <a:pt x="0" y="25896"/>
                      <a:pt x="28561" y="0"/>
                      <a:pt x="69618" y="0"/>
                    </a:cubicBezTo>
                    <a:cubicBezTo>
                      <a:pt x="84791" y="0"/>
                      <a:pt x="97286" y="3572"/>
                      <a:pt x="102641" y="6251"/>
                    </a:cubicBezTo>
                    <a:lnTo>
                      <a:pt x="97286" y="25003"/>
                    </a:lnTo>
                    <a:cubicBezTo>
                      <a:pt x="90146" y="22324"/>
                      <a:pt x="82113" y="19645"/>
                      <a:pt x="68725" y="19645"/>
                    </a:cubicBezTo>
                    <a:cubicBezTo>
                      <a:pt x="41949" y="19645"/>
                      <a:pt x="23206" y="35719"/>
                      <a:pt x="23206" y="64294"/>
                    </a:cubicBezTo>
                    <a:cubicBezTo>
                      <a:pt x="23206" y="92869"/>
                      <a:pt x="41057" y="109835"/>
                      <a:pt x="66940" y="109835"/>
                    </a:cubicBezTo>
                    <a:cubicBezTo>
                      <a:pt x="74973" y="109835"/>
                      <a:pt x="81221" y="108942"/>
                      <a:pt x="83898" y="107156"/>
                    </a:cubicBezTo>
                    <a:lnTo>
                      <a:pt x="83898" y="75902"/>
                    </a:lnTo>
                    <a:lnTo>
                      <a:pt x="61585" y="75902"/>
                    </a:lnTo>
                    <a:lnTo>
                      <a:pt x="61585" y="58043"/>
                    </a:lnTo>
                    <a:lnTo>
                      <a:pt x="106212" y="58043"/>
                    </a:lnTo>
                    <a:lnTo>
                      <a:pt x="106212" y="121444"/>
                    </a:lnTo>
                    <a:close/>
                  </a:path>
                </a:pathLst>
              </a:custGeom>
              <a:grpFill/>
              <a:ln w="89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endParaRPr>
              </a:p>
            </p:txBody>
          </p:sp>
        </p:grpSp>
        <p:sp>
          <p:nvSpPr>
            <p:cNvPr id="10" name="Freeform 8">
              <a:extLst>
                <a:ext uri="{FF2B5EF4-FFF2-40B4-BE49-F238E27FC236}">
                  <a16:creationId xmlns:a16="http://schemas.microsoft.com/office/drawing/2014/main" id="{10CC3961-6EE3-009D-95B4-338EDEB4A21B}"/>
                </a:ext>
              </a:extLst>
            </p:cNvPr>
            <p:cNvSpPr/>
            <p:nvPr/>
          </p:nvSpPr>
          <p:spPr>
            <a:xfrm>
              <a:off x="10835307" y="6421178"/>
              <a:ext cx="6420" cy="176644"/>
            </a:xfrm>
            <a:custGeom>
              <a:avLst/>
              <a:gdLst>
                <a:gd name="connsiteX0" fmla="*/ 0 w 7140"/>
                <a:gd name="connsiteY0" fmla="*/ 0 h 196453"/>
                <a:gd name="connsiteX1" fmla="*/ 7140 w 7140"/>
                <a:gd name="connsiteY1" fmla="*/ 0 h 196453"/>
                <a:gd name="connsiteX2" fmla="*/ 7140 w 7140"/>
                <a:gd name="connsiteY2" fmla="*/ 196453 h 196453"/>
                <a:gd name="connsiteX3" fmla="*/ 0 w 7140"/>
                <a:gd name="connsiteY3" fmla="*/ 196453 h 196453"/>
              </a:gdLst>
              <a:ahLst/>
              <a:cxnLst>
                <a:cxn ang="0">
                  <a:pos x="connsiteX0" y="connsiteY0"/>
                </a:cxn>
                <a:cxn ang="0">
                  <a:pos x="connsiteX1" y="connsiteY1"/>
                </a:cxn>
                <a:cxn ang="0">
                  <a:pos x="connsiteX2" y="connsiteY2"/>
                </a:cxn>
                <a:cxn ang="0">
                  <a:pos x="connsiteX3" y="connsiteY3"/>
                </a:cxn>
              </a:cxnLst>
              <a:rect l="l" t="t" r="r" b="b"/>
              <a:pathLst>
                <a:path w="7140" h="196453">
                  <a:moveTo>
                    <a:pt x="0" y="0"/>
                  </a:moveTo>
                  <a:lnTo>
                    <a:pt x="7140" y="0"/>
                  </a:lnTo>
                  <a:lnTo>
                    <a:pt x="7140" y="196453"/>
                  </a:lnTo>
                  <a:lnTo>
                    <a:pt x="0" y="196453"/>
                  </a:lnTo>
                  <a:close/>
                </a:path>
              </a:pathLst>
            </a:custGeom>
            <a:solidFill>
              <a:schemeClr val="accent4"/>
            </a:solidFill>
            <a:ln w="89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endParaRPr>
            </a:p>
          </p:txBody>
        </p:sp>
      </p:grpSp>
      <p:sp>
        <p:nvSpPr>
          <p:cNvPr id="21" name="Rectangle 20">
            <a:extLst>
              <a:ext uri="{FF2B5EF4-FFF2-40B4-BE49-F238E27FC236}">
                <a16:creationId xmlns:a16="http://schemas.microsoft.com/office/drawing/2014/main" id="{6306E86D-2F5F-91B4-27AB-DBB1E056FC30}"/>
              </a:ext>
            </a:extLst>
          </p:cNvPr>
          <p:cNvSpPr/>
          <p:nvPr userDrawn="1"/>
        </p:nvSpPr>
        <p:spPr>
          <a:xfrm>
            <a:off x="1" y="3079532"/>
            <a:ext cx="144516" cy="1129861"/>
          </a:xfrm>
          <a:prstGeom prst="rect">
            <a:avLst/>
          </a:prstGeom>
          <a:solidFill>
            <a:srgbClr val="007C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latin typeface="Arial" charset="0"/>
            </a:endParaRPr>
          </a:p>
        </p:txBody>
      </p:sp>
      <p:sp>
        <p:nvSpPr>
          <p:cNvPr id="22" name="Rectangle 21">
            <a:extLst>
              <a:ext uri="{FF2B5EF4-FFF2-40B4-BE49-F238E27FC236}">
                <a16:creationId xmlns:a16="http://schemas.microsoft.com/office/drawing/2014/main" id="{B4181239-CD2D-A885-C449-1105C948FED6}"/>
              </a:ext>
            </a:extLst>
          </p:cNvPr>
          <p:cNvSpPr/>
          <p:nvPr userDrawn="1"/>
        </p:nvSpPr>
        <p:spPr>
          <a:xfrm>
            <a:off x="12053048" y="3075050"/>
            <a:ext cx="144516" cy="1129861"/>
          </a:xfrm>
          <a:prstGeom prst="rect">
            <a:avLst/>
          </a:prstGeom>
          <a:solidFill>
            <a:srgbClr val="007C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latin typeface="Arial" charset="0"/>
            </a:endParaRPr>
          </a:p>
        </p:txBody>
      </p:sp>
    </p:spTree>
    <p:extLst>
      <p:ext uri="{BB962C8B-B14F-4D97-AF65-F5344CB8AC3E}">
        <p14:creationId xmlns:p14="http://schemas.microsoft.com/office/powerpoint/2010/main" val="28986136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1.xml"/><Relationship Id="rId5" Type="http://schemas.openxmlformats.org/officeDocument/2006/relationships/image" Target="../media/image1.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7.sv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Colors" Target="../diagrams/colors1.xml"/><Relationship Id="rId11" Type="http://schemas.openxmlformats.org/officeDocument/2006/relationships/image" Target="../media/image5.svg"/><Relationship Id="rId5" Type="http://schemas.openxmlformats.org/officeDocument/2006/relationships/diagramQuickStyle" Target="../diagrams/quickStyle1.xml"/><Relationship Id="rId10" Type="http://schemas.openxmlformats.org/officeDocument/2006/relationships/image" Target="../media/image4.png"/><Relationship Id="rId4" Type="http://schemas.openxmlformats.org/officeDocument/2006/relationships/diagramLayout" Target="../diagrams/layout1.xml"/><Relationship Id="rId9"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10.png"/><Relationship Id="rId2" Type="http://schemas.openxmlformats.org/officeDocument/2006/relationships/slideLayout" Target="../slideLayouts/slideLayout1.xml"/><Relationship Id="rId1" Type="http://schemas.openxmlformats.org/officeDocument/2006/relationships/tags" Target="../tags/tag2.xml"/><Relationship Id="rId6" Type="http://schemas.openxmlformats.org/officeDocument/2006/relationships/image" Target="../media/image9.emf"/><Relationship Id="rId5" Type="http://schemas.openxmlformats.org/officeDocument/2006/relationships/oleObject" Target="../embeddings/oleObject2.bin"/><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1.emf"/></Relationships>
</file>

<file path=ppt/slides/_rels/slide10.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1.emf"/><Relationship Id="rId5" Type="http://schemas.openxmlformats.org/officeDocument/2006/relationships/oleObject" Target="../embeddings/oleObject4.bin"/><Relationship Id="rId4"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7.xml"/><Relationship Id="rId6" Type="http://schemas.openxmlformats.org/officeDocument/2006/relationships/image" Target="../media/image9.emf"/><Relationship Id="rId5" Type="http://schemas.openxmlformats.org/officeDocument/2006/relationships/oleObject" Target="../embeddings/oleObject5.bin"/><Relationship Id="rId4" Type="http://schemas.openxmlformats.org/officeDocument/2006/relationships/chart" Target="../charts/chart1.xml"/></Relationships>
</file>

<file path=ppt/slides/_rels/slide1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notesSlide" Target="../notesSlides/notesSlide5.xml"/><Relationship Id="rId7"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9.emf"/><Relationship Id="rId10" Type="http://schemas.openxmlformats.org/officeDocument/2006/relationships/image" Target="../media/image16.png"/><Relationship Id="rId4" Type="http://schemas.openxmlformats.org/officeDocument/2006/relationships/oleObject" Target="../embeddings/oleObject6.bin"/><Relationship Id="rId9" Type="http://schemas.openxmlformats.org/officeDocument/2006/relationships/image" Target="../media/image15.png"/></Relationships>
</file>

<file path=ppt/slides/_rels/slide1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notesSlide" Target="../notesSlides/notesSlide6.xml"/><Relationship Id="rId7" Type="http://schemas.openxmlformats.org/officeDocument/2006/relationships/image" Target="../media/image19.png"/><Relationship Id="rId2" Type="http://schemas.openxmlformats.org/officeDocument/2006/relationships/slideLayout" Target="../slideLayouts/slideLayout2.xml"/><Relationship Id="rId1" Type="http://schemas.openxmlformats.org/officeDocument/2006/relationships/tags" Target="../tags/tag9.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9.emf"/><Relationship Id="rId10" Type="http://schemas.openxmlformats.org/officeDocument/2006/relationships/image" Target="../media/image22.png"/><Relationship Id="rId4" Type="http://schemas.openxmlformats.org/officeDocument/2006/relationships/oleObject" Target="../embeddings/oleObject6.bin"/><Relationship Id="rId9" Type="http://schemas.openxmlformats.org/officeDocument/2006/relationships/image" Target="../media/image21.png"/></Relationships>
</file>

<file path=ppt/slides/_rels/slide14.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notesSlide" Target="../notesSlides/notesSlide7.xml"/><Relationship Id="rId7" Type="http://schemas.openxmlformats.org/officeDocument/2006/relationships/chart" Target="../charts/chart3.xml"/><Relationship Id="rId12"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chart" Target="../charts/chart2.xml"/><Relationship Id="rId11" Type="http://schemas.openxmlformats.org/officeDocument/2006/relationships/image" Target="../media/image27.png"/><Relationship Id="rId5" Type="http://schemas.openxmlformats.org/officeDocument/2006/relationships/image" Target="../media/image9.emf"/><Relationship Id="rId10" Type="http://schemas.openxmlformats.org/officeDocument/2006/relationships/image" Target="../media/image26.jpeg"/><Relationship Id="rId4" Type="http://schemas.openxmlformats.org/officeDocument/2006/relationships/oleObject" Target="../embeddings/oleObject5.bin"/><Relationship Id="rId9" Type="http://schemas.openxmlformats.org/officeDocument/2006/relationships/image" Target="../media/image25.jpeg"/></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1.emf"/></Relationships>
</file>

<file path=ppt/slides/_rels/slide16.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1.emf"/><Relationship Id="rId5" Type="http://schemas.openxmlformats.org/officeDocument/2006/relationships/oleObject" Target="../embeddings/oleObject4.bin"/><Relationship Id="rId4"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5.xml"/><Relationship Id="rId6" Type="http://schemas.openxmlformats.org/officeDocument/2006/relationships/image" Target="../media/image9.emf"/><Relationship Id="rId5" Type="http://schemas.openxmlformats.org/officeDocument/2006/relationships/oleObject" Target="../embeddings/oleObject5.bin"/><Relationship Id="rId4" Type="http://schemas.openxmlformats.org/officeDocument/2006/relationships/chart" Target="../charts/chart4.xml"/></Relationships>
</file>

<file path=ppt/slides/_rels/slide1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notesSlide" Target="../notesSlides/notesSlide9.xml"/><Relationship Id="rId7" Type="http://schemas.openxmlformats.org/officeDocument/2006/relationships/image" Target="../media/image30.png"/><Relationship Id="rId2" Type="http://schemas.openxmlformats.org/officeDocument/2006/relationships/slideLayout" Target="../slideLayouts/slideLayout2.xml"/><Relationship Id="rId1" Type="http://schemas.openxmlformats.org/officeDocument/2006/relationships/tags" Target="../tags/tag16.xml"/><Relationship Id="rId6" Type="http://schemas.openxmlformats.org/officeDocument/2006/relationships/image" Target="../media/image29.png"/><Relationship Id="rId5" Type="http://schemas.openxmlformats.org/officeDocument/2006/relationships/image" Target="../media/image9.emf"/><Relationship Id="rId4" Type="http://schemas.openxmlformats.org/officeDocument/2006/relationships/oleObject" Target="../embeddings/oleObject6.bin"/><Relationship Id="rId9" Type="http://schemas.openxmlformats.org/officeDocument/2006/relationships/image" Target="../media/image32.png"/></Relationships>
</file>

<file path=ppt/slides/_rels/slide19.xml.rels><?xml version="1.0" encoding="UTF-8" standalone="yes"?>
<Relationships xmlns="http://schemas.openxmlformats.org/package/2006/relationships"><Relationship Id="rId8" Type="http://schemas.openxmlformats.org/officeDocument/2006/relationships/image" Target="../media/image33.jpeg"/><Relationship Id="rId3" Type="http://schemas.openxmlformats.org/officeDocument/2006/relationships/notesSlide" Target="../notesSlides/notesSlide10.xml"/><Relationship Id="rId7" Type="http://schemas.openxmlformats.org/officeDocument/2006/relationships/chart" Target="../charts/chart6.xml"/><Relationship Id="rId2" Type="http://schemas.openxmlformats.org/officeDocument/2006/relationships/slideLayout" Target="../slideLayouts/slideLayout2.xml"/><Relationship Id="rId1" Type="http://schemas.openxmlformats.org/officeDocument/2006/relationships/tags" Target="../tags/tag17.xml"/><Relationship Id="rId6" Type="http://schemas.openxmlformats.org/officeDocument/2006/relationships/chart" Target="../charts/chart5.xml"/><Relationship Id="rId5" Type="http://schemas.openxmlformats.org/officeDocument/2006/relationships/image" Target="../media/image9.emf"/><Relationship Id="rId4" Type="http://schemas.openxmlformats.org/officeDocument/2006/relationships/oleObject" Target="../embeddings/oleObject5.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06450A6B-00FB-298E-2563-535931BCC6B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2" name="think-cell data - do not delete" hidden="1">
                        <a:extLst>
                          <a:ext uri="{FF2B5EF4-FFF2-40B4-BE49-F238E27FC236}">
                            <a16:creationId xmlns:a16="http://schemas.microsoft.com/office/drawing/2014/main" id="{06450A6B-00FB-298E-2563-535931BCC6B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38" name="Google Shape;338;p12"/>
          <p:cNvSpPr txBox="1">
            <a:spLocks noGrp="1"/>
          </p:cNvSpPr>
          <p:nvPr>
            <p:ph type="ctrTitle"/>
          </p:nvPr>
        </p:nvSpPr>
        <p:spPr>
          <a:xfrm>
            <a:off x="640081" y="2484800"/>
            <a:ext cx="6458768" cy="1888400"/>
          </a:xfrm>
          <a:prstGeom prst="rect">
            <a:avLst/>
          </a:prstGeom>
        </p:spPr>
        <p:txBody>
          <a:bodyPr spcFirstLastPara="1" wrap="square" lIns="0" tIns="0" rIns="0" bIns="0" anchor="ctr" anchorCtr="0">
            <a:noAutofit/>
          </a:bodyPr>
          <a:lstStyle/>
          <a:p>
            <a:r>
              <a:rPr lang="en-US" sz="3600" b="1">
                <a:latin typeface="Rockwell" panose="02060603020205020403" pitchFamily="18" charset="0"/>
              </a:rPr>
              <a:t>Consumer Surplus Factor (CSF) study</a:t>
            </a:r>
            <a:br>
              <a:rPr lang="en-US" sz="3600" b="1">
                <a:latin typeface="Rockwell" panose="02060603020205020403" pitchFamily="18" charset="0"/>
              </a:rPr>
            </a:br>
            <a:r>
              <a:rPr lang="en-US" sz="3200">
                <a:solidFill>
                  <a:schemeClr val="bg1"/>
                </a:solidFill>
                <a:latin typeface="Rockwell" panose="02060603020205020403" pitchFamily="18" charset="0"/>
              </a:rPr>
              <a:t>skad</a:t>
            </a:r>
            <a:br>
              <a:rPr lang="en-US" sz="3200">
                <a:latin typeface="Rockwell" panose="02060603020205020403" pitchFamily="18" charset="0"/>
              </a:rPr>
            </a:br>
            <a:r>
              <a:rPr lang="en-US" sz="2400" b="1">
                <a:solidFill>
                  <a:schemeClr val="accent1"/>
                </a:solidFill>
                <a:latin typeface="Rockwell" panose="02060603020205020403" pitchFamily="18" charset="0"/>
              </a:rPr>
              <a:t>KHC – UK : BBQ and Salad Cream</a:t>
            </a:r>
            <a:br>
              <a:rPr lang="en-US" sz="2400" b="1">
                <a:latin typeface="Rockwell" panose="02060603020205020403" pitchFamily="18" charset="0"/>
              </a:rPr>
            </a:br>
            <a:br>
              <a:rPr lang="en-US" sz="2400" b="1">
                <a:latin typeface="Rockwell" panose="02060603020205020403" pitchFamily="18" charset="0"/>
              </a:rPr>
            </a:br>
            <a:r>
              <a:rPr lang="en-US" sz="1800" b="1">
                <a:latin typeface="Rockwell" panose="02060603020205020403" pitchFamily="18" charset="0"/>
              </a:rPr>
              <a:t>June 2025</a:t>
            </a:r>
            <a:endParaRPr lang="en-US" sz="3200">
              <a:latin typeface="Rockwell" panose="02060603020205020403" pitchFamily="18" charset="0"/>
            </a:endParaRPr>
          </a:p>
        </p:txBody>
      </p:sp>
      <p:grpSp>
        <p:nvGrpSpPr>
          <p:cNvPr id="339" name="Google Shape;4349;p48">
            <a:extLst>
              <a:ext uri="{FF2B5EF4-FFF2-40B4-BE49-F238E27FC236}">
                <a16:creationId xmlns:a16="http://schemas.microsoft.com/office/drawing/2014/main" id="{49AA8A0F-F35E-E08A-D8E6-746CB218498E}"/>
              </a:ext>
            </a:extLst>
          </p:cNvPr>
          <p:cNvGrpSpPr/>
          <p:nvPr/>
        </p:nvGrpSpPr>
        <p:grpSpPr>
          <a:xfrm>
            <a:off x="7445829" y="959466"/>
            <a:ext cx="3959303" cy="4297353"/>
            <a:chOff x="2181300" y="231400"/>
            <a:chExt cx="4262637" cy="4762499"/>
          </a:xfrm>
        </p:grpSpPr>
        <p:sp>
          <p:nvSpPr>
            <p:cNvPr id="340" name="Google Shape;4350;p48">
              <a:extLst>
                <a:ext uri="{FF2B5EF4-FFF2-40B4-BE49-F238E27FC236}">
                  <a16:creationId xmlns:a16="http://schemas.microsoft.com/office/drawing/2014/main" id="{70BEFE84-8A9F-F67E-4406-218CB9F0ED2D}"/>
                </a:ext>
              </a:extLst>
            </p:cNvPr>
            <p:cNvSpPr/>
            <p:nvPr/>
          </p:nvSpPr>
          <p:spPr>
            <a:xfrm>
              <a:off x="4504120" y="3382365"/>
              <a:ext cx="236644" cy="133254"/>
            </a:xfrm>
            <a:custGeom>
              <a:avLst/>
              <a:gdLst/>
              <a:ahLst/>
              <a:cxnLst/>
              <a:rect l="l" t="t" r="r" b="b"/>
              <a:pathLst>
                <a:path w="236644" h="133254" extrusionOk="0">
                  <a:moveTo>
                    <a:pt x="125355" y="133255"/>
                  </a:moveTo>
                  <a:lnTo>
                    <a:pt x="0" y="64389"/>
                  </a:lnTo>
                  <a:lnTo>
                    <a:pt x="111289" y="0"/>
                  </a:lnTo>
                  <a:lnTo>
                    <a:pt x="236644" y="68866"/>
                  </a:lnTo>
                  <a:lnTo>
                    <a:pt x="125355" y="133255"/>
                  </a:lnTo>
                  <a:close/>
                </a:path>
              </a:pathLst>
            </a:custGeom>
            <a:solidFill>
              <a:srgbClr val="D6D8E5">
                <a:alpha val="400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41" name="Google Shape;4351;p48">
              <a:extLst>
                <a:ext uri="{FF2B5EF4-FFF2-40B4-BE49-F238E27FC236}">
                  <a16:creationId xmlns:a16="http://schemas.microsoft.com/office/drawing/2014/main" id="{14FCE45B-9393-932F-8023-DED6401FCA62}"/>
                </a:ext>
              </a:extLst>
            </p:cNvPr>
            <p:cNvSpPr/>
            <p:nvPr/>
          </p:nvSpPr>
          <p:spPr>
            <a:xfrm>
              <a:off x="5178128" y="3780033"/>
              <a:ext cx="236549" cy="133254"/>
            </a:xfrm>
            <a:custGeom>
              <a:avLst/>
              <a:gdLst/>
              <a:ahLst/>
              <a:cxnLst/>
              <a:rect l="l" t="t" r="r" b="b"/>
              <a:pathLst>
                <a:path w="236549" h="133254" extrusionOk="0">
                  <a:moveTo>
                    <a:pt x="125355" y="133255"/>
                  </a:moveTo>
                  <a:lnTo>
                    <a:pt x="0" y="64294"/>
                  </a:lnTo>
                  <a:lnTo>
                    <a:pt x="111290" y="0"/>
                  </a:lnTo>
                  <a:lnTo>
                    <a:pt x="236549" y="68866"/>
                  </a:lnTo>
                  <a:lnTo>
                    <a:pt x="125355" y="133255"/>
                  </a:lnTo>
                  <a:close/>
                </a:path>
              </a:pathLst>
            </a:custGeom>
            <a:solidFill>
              <a:srgbClr val="D6D8E5">
                <a:alpha val="400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42" name="Google Shape;4352;p48">
              <a:extLst>
                <a:ext uri="{FF2B5EF4-FFF2-40B4-BE49-F238E27FC236}">
                  <a16:creationId xmlns:a16="http://schemas.microsoft.com/office/drawing/2014/main" id="{4038B52D-9B6C-5D52-074C-0500695463EF}"/>
                </a:ext>
              </a:extLst>
            </p:cNvPr>
            <p:cNvSpPr/>
            <p:nvPr/>
          </p:nvSpPr>
          <p:spPr>
            <a:xfrm>
              <a:off x="4560192" y="2212790"/>
              <a:ext cx="494767" cy="1273873"/>
            </a:xfrm>
            <a:custGeom>
              <a:avLst/>
              <a:gdLst/>
              <a:ahLst/>
              <a:cxnLst/>
              <a:rect l="l" t="t" r="r" b="b"/>
              <a:pathLst>
                <a:path w="494767" h="1273873" extrusionOk="0">
                  <a:moveTo>
                    <a:pt x="118227" y="1273874"/>
                  </a:moveTo>
                  <a:lnTo>
                    <a:pt x="0" y="1205484"/>
                  </a:lnTo>
                  <a:lnTo>
                    <a:pt x="376540" y="0"/>
                  </a:lnTo>
                  <a:lnTo>
                    <a:pt x="494767" y="68389"/>
                  </a:lnTo>
                  <a:lnTo>
                    <a:pt x="118227" y="1273874"/>
                  </a:lnTo>
                  <a:close/>
                </a:path>
              </a:pathLst>
            </a:custGeom>
            <a:solidFill>
              <a:srgbClr val="B1B4C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43" name="Google Shape;4353;p48">
              <a:extLst>
                <a:ext uri="{FF2B5EF4-FFF2-40B4-BE49-F238E27FC236}">
                  <a16:creationId xmlns:a16="http://schemas.microsoft.com/office/drawing/2014/main" id="{D4EEFF30-E0DA-80B2-28C5-6683BF66F5B3}"/>
                </a:ext>
              </a:extLst>
            </p:cNvPr>
            <p:cNvSpPr/>
            <p:nvPr/>
          </p:nvSpPr>
          <p:spPr>
            <a:xfrm>
              <a:off x="4629475" y="2174500"/>
              <a:ext cx="494671" cy="1273873"/>
            </a:xfrm>
            <a:custGeom>
              <a:avLst/>
              <a:gdLst/>
              <a:ahLst/>
              <a:cxnLst/>
              <a:rect l="l" t="t" r="r" b="b"/>
              <a:pathLst>
                <a:path w="494671" h="1273873" extrusionOk="0">
                  <a:moveTo>
                    <a:pt x="118227" y="1273873"/>
                  </a:moveTo>
                  <a:lnTo>
                    <a:pt x="0" y="1205484"/>
                  </a:lnTo>
                  <a:lnTo>
                    <a:pt x="376540" y="0"/>
                  </a:lnTo>
                  <a:lnTo>
                    <a:pt x="494672" y="68389"/>
                  </a:lnTo>
                  <a:lnTo>
                    <a:pt x="118227" y="1273873"/>
                  </a:lnTo>
                  <a:close/>
                </a:path>
              </a:pathLst>
            </a:custGeom>
            <a:solidFill>
              <a:srgbClr val="9EA2B2"/>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44" name="Google Shape;4354;p48">
              <a:extLst>
                <a:ext uri="{FF2B5EF4-FFF2-40B4-BE49-F238E27FC236}">
                  <a16:creationId xmlns:a16="http://schemas.microsoft.com/office/drawing/2014/main" id="{A73698F5-FBCB-6B05-19C3-D4FF583B821F}"/>
                </a:ext>
              </a:extLst>
            </p:cNvPr>
            <p:cNvSpPr/>
            <p:nvPr/>
          </p:nvSpPr>
          <p:spPr>
            <a:xfrm>
              <a:off x="4560192" y="2212790"/>
              <a:ext cx="494767" cy="1273873"/>
            </a:xfrm>
            <a:custGeom>
              <a:avLst/>
              <a:gdLst/>
              <a:ahLst/>
              <a:cxnLst/>
              <a:rect l="l" t="t" r="r" b="b"/>
              <a:pathLst>
                <a:path w="494767" h="1273873" extrusionOk="0">
                  <a:moveTo>
                    <a:pt x="118227" y="1273874"/>
                  </a:moveTo>
                  <a:lnTo>
                    <a:pt x="0" y="1205484"/>
                  </a:lnTo>
                  <a:lnTo>
                    <a:pt x="376540" y="0"/>
                  </a:lnTo>
                  <a:lnTo>
                    <a:pt x="494767" y="68389"/>
                  </a:lnTo>
                  <a:lnTo>
                    <a:pt x="118227" y="1273874"/>
                  </a:lnTo>
                  <a:close/>
                </a:path>
              </a:pathLst>
            </a:custGeom>
            <a:solidFill>
              <a:srgbClr val="B1B4C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45" name="Google Shape;4355;p48">
              <a:extLst>
                <a:ext uri="{FF2B5EF4-FFF2-40B4-BE49-F238E27FC236}">
                  <a16:creationId xmlns:a16="http://schemas.microsoft.com/office/drawing/2014/main" id="{A21061A6-3FE3-D128-A1C8-7830D13FC13A}"/>
                </a:ext>
              </a:extLst>
            </p:cNvPr>
            <p:cNvSpPr/>
            <p:nvPr/>
          </p:nvSpPr>
          <p:spPr>
            <a:xfrm>
              <a:off x="5160832" y="2249175"/>
              <a:ext cx="281692" cy="1586388"/>
            </a:xfrm>
            <a:custGeom>
              <a:avLst/>
              <a:gdLst/>
              <a:ahLst/>
              <a:cxnLst/>
              <a:rect l="l" t="t" r="r" b="b"/>
              <a:pathLst>
                <a:path w="281692" h="1586388" extrusionOk="0">
                  <a:moveTo>
                    <a:pt x="281692" y="1586389"/>
                  </a:moveTo>
                  <a:lnTo>
                    <a:pt x="162610" y="1517428"/>
                  </a:lnTo>
                  <a:lnTo>
                    <a:pt x="0" y="0"/>
                  </a:lnTo>
                  <a:lnTo>
                    <a:pt x="118227" y="68485"/>
                  </a:lnTo>
                  <a:lnTo>
                    <a:pt x="281692" y="1586389"/>
                  </a:lnTo>
                  <a:close/>
                </a:path>
              </a:pathLst>
            </a:custGeom>
            <a:solidFill>
              <a:srgbClr val="9EA2B2"/>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46" name="Google Shape;4356;p48">
              <a:extLst>
                <a:ext uri="{FF2B5EF4-FFF2-40B4-BE49-F238E27FC236}">
                  <a16:creationId xmlns:a16="http://schemas.microsoft.com/office/drawing/2014/main" id="{ED15A976-0B55-19F8-C11C-AF767E096659}"/>
                </a:ext>
              </a:extLst>
            </p:cNvPr>
            <p:cNvSpPr/>
            <p:nvPr/>
          </p:nvSpPr>
          <p:spPr>
            <a:xfrm>
              <a:off x="5078053" y="2296515"/>
              <a:ext cx="281692" cy="1586388"/>
            </a:xfrm>
            <a:custGeom>
              <a:avLst/>
              <a:gdLst/>
              <a:ahLst/>
              <a:cxnLst/>
              <a:rect l="l" t="t" r="r" b="b"/>
              <a:pathLst>
                <a:path w="281692" h="1586388" extrusionOk="0">
                  <a:moveTo>
                    <a:pt x="281692" y="1586389"/>
                  </a:moveTo>
                  <a:lnTo>
                    <a:pt x="162610" y="1517428"/>
                  </a:lnTo>
                  <a:lnTo>
                    <a:pt x="0" y="0"/>
                  </a:lnTo>
                  <a:lnTo>
                    <a:pt x="118227" y="68390"/>
                  </a:lnTo>
                  <a:lnTo>
                    <a:pt x="281692" y="1586389"/>
                  </a:lnTo>
                  <a:close/>
                </a:path>
              </a:pathLst>
            </a:custGeom>
            <a:solidFill>
              <a:srgbClr val="B1B4C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47" name="Google Shape;4357;p48">
              <a:extLst>
                <a:ext uri="{FF2B5EF4-FFF2-40B4-BE49-F238E27FC236}">
                  <a16:creationId xmlns:a16="http://schemas.microsoft.com/office/drawing/2014/main" id="{B2455ACF-1569-80EB-5252-0DF6622DCAA2}"/>
                </a:ext>
              </a:extLst>
            </p:cNvPr>
            <p:cNvSpPr/>
            <p:nvPr/>
          </p:nvSpPr>
          <p:spPr>
            <a:xfrm>
              <a:off x="4075404" y="1596713"/>
              <a:ext cx="2321774" cy="1343501"/>
            </a:xfrm>
            <a:custGeom>
              <a:avLst/>
              <a:gdLst/>
              <a:ahLst/>
              <a:cxnLst/>
              <a:rect l="l" t="t" r="r" b="b"/>
              <a:pathLst>
                <a:path w="2321774" h="1343501" extrusionOk="0">
                  <a:moveTo>
                    <a:pt x="2221415" y="1343501"/>
                  </a:moveTo>
                  <a:lnTo>
                    <a:pt x="0" y="58103"/>
                  </a:lnTo>
                  <a:lnTo>
                    <a:pt x="100360" y="0"/>
                  </a:lnTo>
                  <a:lnTo>
                    <a:pt x="2321775" y="1285399"/>
                  </a:lnTo>
                  <a:lnTo>
                    <a:pt x="2221415" y="1343501"/>
                  </a:lnTo>
                  <a:close/>
                </a:path>
              </a:pathLst>
            </a:custGeom>
            <a:solidFill>
              <a:srgbClr val="D6D8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48" name="Google Shape;4358;p48">
              <a:extLst>
                <a:ext uri="{FF2B5EF4-FFF2-40B4-BE49-F238E27FC236}">
                  <a16:creationId xmlns:a16="http://schemas.microsoft.com/office/drawing/2014/main" id="{66A41142-097F-6015-70B7-92E78CF1009F}"/>
                </a:ext>
              </a:extLst>
            </p:cNvPr>
            <p:cNvSpPr/>
            <p:nvPr/>
          </p:nvSpPr>
          <p:spPr>
            <a:xfrm>
              <a:off x="4075404" y="1654530"/>
              <a:ext cx="2221415" cy="1401603"/>
            </a:xfrm>
            <a:custGeom>
              <a:avLst/>
              <a:gdLst/>
              <a:ahLst/>
              <a:cxnLst/>
              <a:rect l="l" t="t" r="r" b="b"/>
              <a:pathLst>
                <a:path w="2221415" h="1401603" extrusionOk="0">
                  <a:moveTo>
                    <a:pt x="2221415" y="1401604"/>
                  </a:moveTo>
                  <a:lnTo>
                    <a:pt x="0" y="116205"/>
                  </a:lnTo>
                  <a:lnTo>
                    <a:pt x="0" y="0"/>
                  </a:lnTo>
                  <a:lnTo>
                    <a:pt x="2221415" y="1285399"/>
                  </a:lnTo>
                  <a:lnTo>
                    <a:pt x="2221415" y="1401604"/>
                  </a:lnTo>
                  <a:close/>
                </a:path>
              </a:pathLst>
            </a:custGeom>
            <a:solidFill>
              <a:srgbClr val="B1B4C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49" name="Google Shape;4359;p48">
              <a:extLst>
                <a:ext uri="{FF2B5EF4-FFF2-40B4-BE49-F238E27FC236}">
                  <a16:creationId xmlns:a16="http://schemas.microsoft.com/office/drawing/2014/main" id="{168DBF3A-BA77-05CA-1B4C-3DD1C2D87B73}"/>
                </a:ext>
              </a:extLst>
            </p:cNvPr>
            <p:cNvSpPr/>
            <p:nvPr/>
          </p:nvSpPr>
          <p:spPr>
            <a:xfrm>
              <a:off x="4206176" y="231400"/>
              <a:ext cx="2045689" cy="2621660"/>
            </a:xfrm>
            <a:custGeom>
              <a:avLst/>
              <a:gdLst/>
              <a:ahLst/>
              <a:cxnLst/>
              <a:rect l="l" t="t" r="r" b="b"/>
              <a:pathLst>
                <a:path w="2045689" h="2621660" extrusionOk="0">
                  <a:moveTo>
                    <a:pt x="2045690" y="2621661"/>
                  </a:moveTo>
                  <a:lnTo>
                    <a:pt x="0" y="1437894"/>
                  </a:lnTo>
                  <a:lnTo>
                    <a:pt x="0" y="0"/>
                  </a:lnTo>
                  <a:lnTo>
                    <a:pt x="2045690" y="1183767"/>
                  </a:lnTo>
                  <a:lnTo>
                    <a:pt x="2045690" y="2621661"/>
                  </a:lnTo>
                  <a:close/>
                </a:path>
              </a:pathLst>
            </a:custGeom>
            <a:solidFill>
              <a:srgbClr val="F4F4F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50" name="Google Shape;4360;p48">
              <a:extLst>
                <a:ext uri="{FF2B5EF4-FFF2-40B4-BE49-F238E27FC236}">
                  <a16:creationId xmlns:a16="http://schemas.microsoft.com/office/drawing/2014/main" id="{EDC70F51-8B6D-CFE6-6FD9-BF312F1E7062}"/>
                </a:ext>
              </a:extLst>
            </p:cNvPr>
            <p:cNvSpPr/>
            <p:nvPr/>
          </p:nvSpPr>
          <p:spPr>
            <a:xfrm>
              <a:off x="6296819" y="2879159"/>
              <a:ext cx="101975" cy="176974"/>
            </a:xfrm>
            <a:custGeom>
              <a:avLst/>
              <a:gdLst/>
              <a:ahLst/>
              <a:cxnLst/>
              <a:rect l="l" t="t" r="r" b="b"/>
              <a:pathLst>
                <a:path w="101975" h="176974" extrusionOk="0">
                  <a:moveTo>
                    <a:pt x="101975" y="118015"/>
                  </a:moveTo>
                  <a:lnTo>
                    <a:pt x="0" y="176974"/>
                  </a:lnTo>
                  <a:lnTo>
                    <a:pt x="0" y="58960"/>
                  </a:lnTo>
                  <a:lnTo>
                    <a:pt x="101975" y="0"/>
                  </a:lnTo>
                  <a:lnTo>
                    <a:pt x="101975" y="118015"/>
                  </a:lnTo>
                  <a:close/>
                </a:path>
              </a:pathLst>
            </a:custGeom>
            <a:solidFill>
              <a:srgbClr val="9EA2B2"/>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51" name="Google Shape;4361;p48">
              <a:extLst>
                <a:ext uri="{FF2B5EF4-FFF2-40B4-BE49-F238E27FC236}">
                  <a16:creationId xmlns:a16="http://schemas.microsoft.com/office/drawing/2014/main" id="{B3A7E66C-ACE0-79AC-58A6-61B1E75AF352}"/>
                </a:ext>
              </a:extLst>
            </p:cNvPr>
            <p:cNvSpPr/>
            <p:nvPr/>
          </p:nvSpPr>
          <p:spPr>
            <a:xfrm>
              <a:off x="4356811" y="496480"/>
              <a:ext cx="169452" cy="163353"/>
            </a:xfrm>
            <a:custGeom>
              <a:avLst/>
              <a:gdLst/>
              <a:ahLst/>
              <a:cxnLst/>
              <a:rect l="l" t="t" r="r" b="b"/>
              <a:pathLst>
                <a:path w="169452" h="163353" extrusionOk="0">
                  <a:moveTo>
                    <a:pt x="169453" y="163354"/>
                  </a:moveTo>
                  <a:lnTo>
                    <a:pt x="0" y="65341"/>
                  </a:lnTo>
                  <a:lnTo>
                    <a:pt x="0" y="0"/>
                  </a:lnTo>
                  <a:lnTo>
                    <a:pt x="169453" y="98012"/>
                  </a:lnTo>
                  <a:lnTo>
                    <a:pt x="169453" y="163354"/>
                  </a:lnTo>
                  <a:close/>
                </a:path>
              </a:pathLst>
            </a:custGeom>
            <a:solidFill>
              <a:srgbClr val="D6D8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52" name="Google Shape;4362;p48">
              <a:extLst>
                <a:ext uri="{FF2B5EF4-FFF2-40B4-BE49-F238E27FC236}">
                  <a16:creationId xmlns:a16="http://schemas.microsoft.com/office/drawing/2014/main" id="{0B2BDB12-E169-7F62-7876-3A70C1FD5B49}"/>
                </a:ext>
              </a:extLst>
            </p:cNvPr>
            <p:cNvSpPr/>
            <p:nvPr/>
          </p:nvSpPr>
          <p:spPr>
            <a:xfrm>
              <a:off x="4598397" y="636212"/>
              <a:ext cx="298038" cy="237839"/>
            </a:xfrm>
            <a:custGeom>
              <a:avLst/>
              <a:gdLst/>
              <a:ahLst/>
              <a:cxnLst/>
              <a:rect l="l" t="t" r="r" b="b"/>
              <a:pathLst>
                <a:path w="298038" h="237839" extrusionOk="0">
                  <a:moveTo>
                    <a:pt x="298039" y="237839"/>
                  </a:moveTo>
                  <a:lnTo>
                    <a:pt x="0" y="65437"/>
                  </a:lnTo>
                  <a:lnTo>
                    <a:pt x="0" y="0"/>
                  </a:lnTo>
                  <a:lnTo>
                    <a:pt x="298039" y="172498"/>
                  </a:lnTo>
                  <a:lnTo>
                    <a:pt x="298039" y="237839"/>
                  </a:lnTo>
                  <a:close/>
                </a:path>
              </a:pathLst>
            </a:custGeom>
            <a:solidFill>
              <a:srgbClr val="D6D8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53" name="Google Shape;4363;p48">
              <a:extLst>
                <a:ext uri="{FF2B5EF4-FFF2-40B4-BE49-F238E27FC236}">
                  <a16:creationId xmlns:a16="http://schemas.microsoft.com/office/drawing/2014/main" id="{C48D4AB5-1B73-99DE-5ACB-96E6C9A21F5F}"/>
                </a:ext>
              </a:extLst>
            </p:cNvPr>
            <p:cNvSpPr/>
            <p:nvPr/>
          </p:nvSpPr>
          <p:spPr>
            <a:xfrm>
              <a:off x="4356811" y="619924"/>
              <a:ext cx="169452" cy="163353"/>
            </a:xfrm>
            <a:custGeom>
              <a:avLst/>
              <a:gdLst/>
              <a:ahLst/>
              <a:cxnLst/>
              <a:rect l="l" t="t" r="r" b="b"/>
              <a:pathLst>
                <a:path w="169452" h="163353" extrusionOk="0">
                  <a:moveTo>
                    <a:pt x="169453" y="163354"/>
                  </a:moveTo>
                  <a:lnTo>
                    <a:pt x="0" y="65342"/>
                  </a:lnTo>
                  <a:lnTo>
                    <a:pt x="0" y="0"/>
                  </a:lnTo>
                  <a:lnTo>
                    <a:pt x="169453" y="98012"/>
                  </a:lnTo>
                  <a:lnTo>
                    <a:pt x="169453" y="163354"/>
                  </a:lnTo>
                  <a:close/>
                </a:path>
              </a:pathLst>
            </a:custGeom>
            <a:solidFill>
              <a:srgbClr val="D6D8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54" name="Google Shape;4364;p48">
              <a:extLst>
                <a:ext uri="{FF2B5EF4-FFF2-40B4-BE49-F238E27FC236}">
                  <a16:creationId xmlns:a16="http://schemas.microsoft.com/office/drawing/2014/main" id="{684BC829-1083-71BD-D526-915236E1ADA8}"/>
                </a:ext>
              </a:extLst>
            </p:cNvPr>
            <p:cNvSpPr/>
            <p:nvPr/>
          </p:nvSpPr>
          <p:spPr>
            <a:xfrm>
              <a:off x="4598397" y="759656"/>
              <a:ext cx="298038" cy="237839"/>
            </a:xfrm>
            <a:custGeom>
              <a:avLst/>
              <a:gdLst/>
              <a:ahLst/>
              <a:cxnLst/>
              <a:rect l="l" t="t" r="r" b="b"/>
              <a:pathLst>
                <a:path w="298038" h="237839" extrusionOk="0">
                  <a:moveTo>
                    <a:pt x="298039" y="237839"/>
                  </a:moveTo>
                  <a:lnTo>
                    <a:pt x="0" y="65437"/>
                  </a:lnTo>
                  <a:lnTo>
                    <a:pt x="0" y="0"/>
                  </a:lnTo>
                  <a:lnTo>
                    <a:pt x="298039" y="172498"/>
                  </a:lnTo>
                  <a:lnTo>
                    <a:pt x="298039" y="237839"/>
                  </a:lnTo>
                  <a:close/>
                </a:path>
              </a:pathLst>
            </a:custGeom>
            <a:solidFill>
              <a:srgbClr val="D6D8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55" name="Google Shape;4365;p48">
              <a:extLst>
                <a:ext uri="{FF2B5EF4-FFF2-40B4-BE49-F238E27FC236}">
                  <a16:creationId xmlns:a16="http://schemas.microsoft.com/office/drawing/2014/main" id="{AF11CD30-7DF4-8319-6584-0071EC0D9C9D}"/>
                </a:ext>
              </a:extLst>
            </p:cNvPr>
            <p:cNvSpPr/>
            <p:nvPr/>
          </p:nvSpPr>
          <p:spPr>
            <a:xfrm>
              <a:off x="4356811" y="761466"/>
              <a:ext cx="169452" cy="163448"/>
            </a:xfrm>
            <a:custGeom>
              <a:avLst/>
              <a:gdLst/>
              <a:ahLst/>
              <a:cxnLst/>
              <a:rect l="l" t="t" r="r" b="b"/>
              <a:pathLst>
                <a:path w="169452" h="163448" extrusionOk="0">
                  <a:moveTo>
                    <a:pt x="169453" y="163449"/>
                  </a:moveTo>
                  <a:lnTo>
                    <a:pt x="0" y="65437"/>
                  </a:lnTo>
                  <a:lnTo>
                    <a:pt x="0" y="0"/>
                  </a:lnTo>
                  <a:lnTo>
                    <a:pt x="169453" y="98107"/>
                  </a:lnTo>
                  <a:lnTo>
                    <a:pt x="169453" y="163449"/>
                  </a:lnTo>
                  <a:close/>
                </a:path>
              </a:pathLst>
            </a:custGeom>
            <a:solidFill>
              <a:srgbClr val="D6D8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56" name="Google Shape;4366;p48">
              <a:extLst>
                <a:ext uri="{FF2B5EF4-FFF2-40B4-BE49-F238E27FC236}">
                  <a16:creationId xmlns:a16="http://schemas.microsoft.com/office/drawing/2014/main" id="{4444E021-D631-D578-3CB0-F7480676893B}"/>
                </a:ext>
              </a:extLst>
            </p:cNvPr>
            <p:cNvSpPr/>
            <p:nvPr/>
          </p:nvSpPr>
          <p:spPr>
            <a:xfrm>
              <a:off x="4598397" y="901293"/>
              <a:ext cx="298038" cy="237839"/>
            </a:xfrm>
            <a:custGeom>
              <a:avLst/>
              <a:gdLst/>
              <a:ahLst/>
              <a:cxnLst/>
              <a:rect l="l" t="t" r="r" b="b"/>
              <a:pathLst>
                <a:path w="298038" h="237839" extrusionOk="0">
                  <a:moveTo>
                    <a:pt x="298039" y="237839"/>
                  </a:moveTo>
                  <a:lnTo>
                    <a:pt x="0" y="65342"/>
                  </a:lnTo>
                  <a:lnTo>
                    <a:pt x="0" y="0"/>
                  </a:lnTo>
                  <a:lnTo>
                    <a:pt x="298039" y="172498"/>
                  </a:lnTo>
                  <a:lnTo>
                    <a:pt x="298039" y="237839"/>
                  </a:lnTo>
                  <a:close/>
                </a:path>
              </a:pathLst>
            </a:custGeom>
            <a:solidFill>
              <a:srgbClr val="D6D8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57" name="Google Shape;4367;p48">
              <a:extLst>
                <a:ext uri="{FF2B5EF4-FFF2-40B4-BE49-F238E27FC236}">
                  <a16:creationId xmlns:a16="http://schemas.microsoft.com/office/drawing/2014/main" id="{C8644193-8254-E873-59C1-DCF904DAD6AC}"/>
                </a:ext>
              </a:extLst>
            </p:cNvPr>
            <p:cNvSpPr/>
            <p:nvPr/>
          </p:nvSpPr>
          <p:spPr>
            <a:xfrm>
              <a:off x="4356811" y="903102"/>
              <a:ext cx="169452" cy="163449"/>
            </a:xfrm>
            <a:custGeom>
              <a:avLst/>
              <a:gdLst/>
              <a:ahLst/>
              <a:cxnLst/>
              <a:rect l="l" t="t" r="r" b="b"/>
              <a:pathLst>
                <a:path w="169452" h="163449" extrusionOk="0">
                  <a:moveTo>
                    <a:pt x="169453" y="163449"/>
                  </a:moveTo>
                  <a:lnTo>
                    <a:pt x="0" y="65342"/>
                  </a:lnTo>
                  <a:lnTo>
                    <a:pt x="0" y="0"/>
                  </a:lnTo>
                  <a:lnTo>
                    <a:pt x="169453" y="98012"/>
                  </a:lnTo>
                  <a:lnTo>
                    <a:pt x="169453" y="163449"/>
                  </a:lnTo>
                  <a:close/>
                </a:path>
              </a:pathLst>
            </a:custGeom>
            <a:solidFill>
              <a:srgbClr val="D6D8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58" name="Google Shape;4368;p48">
              <a:extLst>
                <a:ext uri="{FF2B5EF4-FFF2-40B4-BE49-F238E27FC236}">
                  <a16:creationId xmlns:a16="http://schemas.microsoft.com/office/drawing/2014/main" id="{37AFCD95-0C41-14C9-301F-21E6F9E0718D}"/>
                </a:ext>
              </a:extLst>
            </p:cNvPr>
            <p:cNvSpPr/>
            <p:nvPr/>
          </p:nvSpPr>
          <p:spPr>
            <a:xfrm>
              <a:off x="4598397" y="1042929"/>
              <a:ext cx="298038" cy="237839"/>
            </a:xfrm>
            <a:custGeom>
              <a:avLst/>
              <a:gdLst/>
              <a:ahLst/>
              <a:cxnLst/>
              <a:rect l="l" t="t" r="r" b="b"/>
              <a:pathLst>
                <a:path w="298038" h="237839" extrusionOk="0">
                  <a:moveTo>
                    <a:pt x="298039" y="237839"/>
                  </a:moveTo>
                  <a:lnTo>
                    <a:pt x="0" y="65342"/>
                  </a:lnTo>
                  <a:lnTo>
                    <a:pt x="0" y="0"/>
                  </a:lnTo>
                  <a:lnTo>
                    <a:pt x="298039" y="172498"/>
                  </a:lnTo>
                  <a:lnTo>
                    <a:pt x="298039" y="237839"/>
                  </a:lnTo>
                  <a:close/>
                </a:path>
              </a:pathLst>
            </a:custGeom>
            <a:solidFill>
              <a:srgbClr val="D6D8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59" name="Google Shape;4369;p48">
              <a:extLst>
                <a:ext uri="{FF2B5EF4-FFF2-40B4-BE49-F238E27FC236}">
                  <a16:creationId xmlns:a16="http://schemas.microsoft.com/office/drawing/2014/main" id="{C4D2D52B-BFD4-A77A-225D-4BA51897AF15}"/>
                </a:ext>
              </a:extLst>
            </p:cNvPr>
            <p:cNvSpPr/>
            <p:nvPr/>
          </p:nvSpPr>
          <p:spPr>
            <a:xfrm>
              <a:off x="5115879" y="982814"/>
              <a:ext cx="204046" cy="276142"/>
            </a:xfrm>
            <a:custGeom>
              <a:avLst/>
              <a:gdLst/>
              <a:ahLst/>
              <a:cxnLst/>
              <a:rect l="l" t="t" r="r" b="b"/>
              <a:pathLst>
                <a:path w="204046" h="276142" extrusionOk="0">
                  <a:moveTo>
                    <a:pt x="665" y="41256"/>
                  </a:moveTo>
                  <a:cubicBezTo>
                    <a:pt x="38205" y="-7321"/>
                    <a:pt x="105207" y="-15132"/>
                    <a:pt x="182188" y="29255"/>
                  </a:cubicBezTo>
                  <a:cubicBezTo>
                    <a:pt x="189601" y="33541"/>
                    <a:pt x="196918" y="38208"/>
                    <a:pt x="204046" y="43161"/>
                  </a:cubicBezTo>
                  <a:lnTo>
                    <a:pt x="182663" y="276143"/>
                  </a:lnTo>
                  <a:lnTo>
                    <a:pt x="0" y="42209"/>
                  </a:lnTo>
                  <a:close/>
                </a:path>
              </a:pathLst>
            </a:custGeom>
            <a:solidFill>
              <a:srgbClr val="4399FF"/>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60" name="Google Shape;4370;p48">
              <a:extLst>
                <a:ext uri="{FF2B5EF4-FFF2-40B4-BE49-F238E27FC236}">
                  <a16:creationId xmlns:a16="http://schemas.microsoft.com/office/drawing/2014/main" id="{EF58F1E0-AFD5-8809-9CD5-9C4EC737734D}"/>
                </a:ext>
              </a:extLst>
            </p:cNvPr>
            <p:cNvSpPr/>
            <p:nvPr/>
          </p:nvSpPr>
          <p:spPr>
            <a:xfrm>
              <a:off x="5297876" y="1025975"/>
              <a:ext cx="199579" cy="260699"/>
            </a:xfrm>
            <a:custGeom>
              <a:avLst/>
              <a:gdLst/>
              <a:ahLst/>
              <a:cxnLst/>
              <a:rect l="l" t="t" r="r" b="b"/>
              <a:pathLst>
                <a:path w="199579" h="260699" extrusionOk="0">
                  <a:moveTo>
                    <a:pt x="199580" y="260699"/>
                  </a:moveTo>
                  <a:lnTo>
                    <a:pt x="0" y="232981"/>
                  </a:lnTo>
                  <a:lnTo>
                    <a:pt x="21859" y="0"/>
                  </a:lnTo>
                  <a:cubicBezTo>
                    <a:pt x="103591" y="56864"/>
                    <a:pt x="171733" y="158972"/>
                    <a:pt x="199580" y="260699"/>
                  </a:cubicBezTo>
                  <a:close/>
                </a:path>
              </a:pathLst>
            </a:custGeom>
            <a:solidFill>
              <a:srgbClr val="F9CB07"/>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61" name="Google Shape;4371;p48">
              <a:extLst>
                <a:ext uri="{FF2B5EF4-FFF2-40B4-BE49-F238E27FC236}">
                  <a16:creationId xmlns:a16="http://schemas.microsoft.com/office/drawing/2014/main" id="{76EB632B-0A3C-9B28-F915-2369AF460EEC}"/>
                </a:ext>
              </a:extLst>
            </p:cNvPr>
            <p:cNvSpPr/>
            <p:nvPr/>
          </p:nvSpPr>
          <p:spPr>
            <a:xfrm>
              <a:off x="5298541" y="1258956"/>
              <a:ext cx="212884" cy="276193"/>
            </a:xfrm>
            <a:custGeom>
              <a:avLst/>
              <a:gdLst/>
              <a:ahLst/>
              <a:cxnLst/>
              <a:rect l="l" t="t" r="r" b="b"/>
              <a:pathLst>
                <a:path w="212884" h="276193" extrusionOk="0">
                  <a:moveTo>
                    <a:pt x="212885" y="123444"/>
                  </a:moveTo>
                  <a:cubicBezTo>
                    <a:pt x="212885" y="228219"/>
                    <a:pt x="155862" y="285369"/>
                    <a:pt x="76315" y="274987"/>
                  </a:cubicBezTo>
                  <a:lnTo>
                    <a:pt x="0" y="0"/>
                  </a:lnTo>
                  <a:lnTo>
                    <a:pt x="199580" y="27718"/>
                  </a:lnTo>
                  <a:cubicBezTo>
                    <a:pt x="208332" y="58874"/>
                    <a:pt x="212809" y="91078"/>
                    <a:pt x="212885" y="123444"/>
                  </a:cubicBezTo>
                  <a:close/>
                </a:path>
              </a:pathLst>
            </a:custGeom>
            <a:solidFill>
              <a:srgbClr val="FF4D4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62" name="Google Shape;4372;p48">
              <a:extLst>
                <a:ext uri="{FF2B5EF4-FFF2-40B4-BE49-F238E27FC236}">
                  <a16:creationId xmlns:a16="http://schemas.microsoft.com/office/drawing/2014/main" id="{322A8CA2-CF79-89FB-BE99-28D352E2049E}"/>
                </a:ext>
              </a:extLst>
            </p:cNvPr>
            <p:cNvSpPr/>
            <p:nvPr/>
          </p:nvSpPr>
          <p:spPr>
            <a:xfrm>
              <a:off x="5084706" y="1024070"/>
              <a:ext cx="290055" cy="509778"/>
            </a:xfrm>
            <a:custGeom>
              <a:avLst/>
              <a:gdLst/>
              <a:ahLst/>
              <a:cxnLst/>
              <a:rect l="l" t="t" r="r" b="b"/>
              <a:pathLst>
                <a:path w="290055" h="509778" extrusionOk="0">
                  <a:moveTo>
                    <a:pt x="31172" y="952"/>
                  </a:moveTo>
                  <a:cubicBezTo>
                    <a:pt x="11405" y="26956"/>
                    <a:pt x="0" y="64389"/>
                    <a:pt x="0" y="111442"/>
                  </a:cubicBezTo>
                  <a:cubicBezTo>
                    <a:pt x="0" y="247840"/>
                    <a:pt x="95513" y="413575"/>
                    <a:pt x="213360" y="481775"/>
                  </a:cubicBezTo>
                  <a:cubicBezTo>
                    <a:pt x="236863" y="496024"/>
                    <a:pt x="262913" y="505539"/>
                    <a:pt x="290055" y="509778"/>
                  </a:cubicBezTo>
                  <a:lnTo>
                    <a:pt x="213835" y="234886"/>
                  </a:lnTo>
                  <a:lnTo>
                    <a:pt x="32313" y="0"/>
                  </a:lnTo>
                  <a:close/>
                </a:path>
              </a:pathLst>
            </a:custGeom>
            <a:solidFill>
              <a:schemeClr val="accent1"/>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63" name="Google Shape;4373;p48">
              <a:extLst>
                <a:ext uri="{FF2B5EF4-FFF2-40B4-BE49-F238E27FC236}">
                  <a16:creationId xmlns:a16="http://schemas.microsoft.com/office/drawing/2014/main" id="{AFCE65E5-CD28-E565-029E-FA014EC446CF}"/>
                </a:ext>
              </a:extLst>
            </p:cNvPr>
            <p:cNvSpPr/>
            <p:nvPr/>
          </p:nvSpPr>
          <p:spPr>
            <a:xfrm>
              <a:off x="5705494" y="1324174"/>
              <a:ext cx="204331" cy="276159"/>
            </a:xfrm>
            <a:custGeom>
              <a:avLst/>
              <a:gdLst/>
              <a:ahLst/>
              <a:cxnLst/>
              <a:rect l="l" t="t" r="r" b="b"/>
              <a:pathLst>
                <a:path w="204331" h="276159" extrusionOk="0">
                  <a:moveTo>
                    <a:pt x="950" y="41272"/>
                  </a:moveTo>
                  <a:cubicBezTo>
                    <a:pt x="38490" y="-7305"/>
                    <a:pt x="105492" y="-15116"/>
                    <a:pt x="182473" y="29176"/>
                  </a:cubicBezTo>
                  <a:cubicBezTo>
                    <a:pt x="189885" y="33462"/>
                    <a:pt x="197108" y="38129"/>
                    <a:pt x="204331" y="43178"/>
                  </a:cubicBezTo>
                  <a:lnTo>
                    <a:pt x="182283" y="276159"/>
                  </a:lnTo>
                  <a:lnTo>
                    <a:pt x="0" y="42130"/>
                  </a:lnTo>
                  <a:close/>
                </a:path>
              </a:pathLst>
            </a:custGeom>
            <a:solidFill>
              <a:srgbClr val="543526"/>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64" name="Google Shape;4374;p48">
              <a:extLst>
                <a:ext uri="{FF2B5EF4-FFF2-40B4-BE49-F238E27FC236}">
                  <a16:creationId xmlns:a16="http://schemas.microsoft.com/office/drawing/2014/main" id="{AE61AA31-6084-51EB-54F0-42D8C0784AD8}"/>
                </a:ext>
              </a:extLst>
            </p:cNvPr>
            <p:cNvSpPr/>
            <p:nvPr/>
          </p:nvSpPr>
          <p:spPr>
            <a:xfrm>
              <a:off x="5887776" y="1367351"/>
              <a:ext cx="199579" cy="260603"/>
            </a:xfrm>
            <a:custGeom>
              <a:avLst/>
              <a:gdLst/>
              <a:ahLst/>
              <a:cxnLst/>
              <a:rect l="l" t="t" r="r" b="b"/>
              <a:pathLst>
                <a:path w="199579" h="260603" extrusionOk="0">
                  <a:moveTo>
                    <a:pt x="199580" y="260604"/>
                  </a:moveTo>
                  <a:lnTo>
                    <a:pt x="0" y="232981"/>
                  </a:lnTo>
                  <a:lnTo>
                    <a:pt x="21859" y="0"/>
                  </a:lnTo>
                  <a:cubicBezTo>
                    <a:pt x="103591" y="56769"/>
                    <a:pt x="171638" y="158877"/>
                    <a:pt x="199580" y="260604"/>
                  </a:cubicBezTo>
                  <a:close/>
                </a:path>
              </a:pathLst>
            </a:custGeom>
            <a:solidFill>
              <a:srgbClr val="1B96EA"/>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65" name="Google Shape;4375;p48">
              <a:extLst>
                <a:ext uri="{FF2B5EF4-FFF2-40B4-BE49-F238E27FC236}">
                  <a16:creationId xmlns:a16="http://schemas.microsoft.com/office/drawing/2014/main" id="{5275886A-6C9D-7144-298B-D68580043217}"/>
                </a:ext>
              </a:extLst>
            </p:cNvPr>
            <p:cNvSpPr/>
            <p:nvPr/>
          </p:nvSpPr>
          <p:spPr>
            <a:xfrm>
              <a:off x="5887776" y="1600333"/>
              <a:ext cx="213550" cy="276118"/>
            </a:xfrm>
            <a:custGeom>
              <a:avLst/>
              <a:gdLst/>
              <a:ahLst/>
              <a:cxnLst/>
              <a:rect l="l" t="t" r="r" b="b"/>
              <a:pathLst>
                <a:path w="213550" h="276118" extrusionOk="0">
                  <a:moveTo>
                    <a:pt x="213550" y="123444"/>
                  </a:moveTo>
                  <a:cubicBezTo>
                    <a:pt x="213550" y="228219"/>
                    <a:pt x="156527" y="285369"/>
                    <a:pt x="76981" y="274892"/>
                  </a:cubicBezTo>
                  <a:lnTo>
                    <a:pt x="0" y="0"/>
                  </a:lnTo>
                  <a:lnTo>
                    <a:pt x="199580" y="27622"/>
                  </a:lnTo>
                  <a:cubicBezTo>
                    <a:pt x="208504" y="58788"/>
                    <a:pt x="213208" y="91021"/>
                    <a:pt x="213550" y="123444"/>
                  </a:cubicBezTo>
                  <a:close/>
                </a:path>
              </a:pathLst>
            </a:custGeom>
            <a:solidFill>
              <a:schemeClr val="accent1"/>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66" name="Google Shape;4376;p48">
              <a:extLst>
                <a:ext uri="{FF2B5EF4-FFF2-40B4-BE49-F238E27FC236}">
                  <a16:creationId xmlns:a16="http://schemas.microsoft.com/office/drawing/2014/main" id="{7C484899-B535-1AE0-0241-11D117C6074B}"/>
                </a:ext>
              </a:extLst>
            </p:cNvPr>
            <p:cNvSpPr/>
            <p:nvPr/>
          </p:nvSpPr>
          <p:spPr>
            <a:xfrm>
              <a:off x="5674606" y="1365446"/>
              <a:ext cx="290055" cy="509682"/>
            </a:xfrm>
            <a:custGeom>
              <a:avLst/>
              <a:gdLst/>
              <a:ahLst/>
              <a:cxnLst/>
              <a:rect l="l" t="t" r="r" b="b"/>
              <a:pathLst>
                <a:path w="290055" h="509682" extrusionOk="0">
                  <a:moveTo>
                    <a:pt x="31077" y="857"/>
                  </a:moveTo>
                  <a:cubicBezTo>
                    <a:pt x="11404" y="26956"/>
                    <a:pt x="0" y="64294"/>
                    <a:pt x="0" y="111347"/>
                  </a:cubicBezTo>
                  <a:cubicBezTo>
                    <a:pt x="0" y="247745"/>
                    <a:pt x="95513" y="413575"/>
                    <a:pt x="213360" y="481775"/>
                  </a:cubicBezTo>
                  <a:cubicBezTo>
                    <a:pt x="236844" y="496033"/>
                    <a:pt x="262913" y="505520"/>
                    <a:pt x="290055" y="509683"/>
                  </a:cubicBezTo>
                  <a:lnTo>
                    <a:pt x="213170" y="234887"/>
                  </a:lnTo>
                  <a:lnTo>
                    <a:pt x="31647" y="0"/>
                  </a:lnTo>
                  <a:close/>
                </a:path>
              </a:pathLst>
            </a:custGeom>
            <a:solidFill>
              <a:srgbClr val="A6CE28"/>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67" name="Google Shape;4377;p48">
              <a:extLst>
                <a:ext uri="{FF2B5EF4-FFF2-40B4-BE49-F238E27FC236}">
                  <a16:creationId xmlns:a16="http://schemas.microsoft.com/office/drawing/2014/main" id="{5B869851-A4C1-B35F-5473-EF1987EB93E9}"/>
                </a:ext>
              </a:extLst>
            </p:cNvPr>
            <p:cNvSpPr/>
            <p:nvPr/>
          </p:nvSpPr>
          <p:spPr>
            <a:xfrm>
              <a:off x="5115879" y="1943808"/>
              <a:ext cx="971477" cy="359289"/>
            </a:xfrm>
            <a:custGeom>
              <a:avLst/>
              <a:gdLst/>
              <a:ahLst/>
              <a:cxnLst/>
              <a:rect l="l" t="t" r="r" b="b"/>
              <a:pathLst>
                <a:path w="971477" h="359289" extrusionOk="0">
                  <a:moveTo>
                    <a:pt x="0" y="102961"/>
                  </a:moveTo>
                  <a:cubicBezTo>
                    <a:pt x="0" y="102961"/>
                    <a:pt x="144553" y="-173264"/>
                    <a:pt x="511684" y="179161"/>
                  </a:cubicBezTo>
                  <a:cubicBezTo>
                    <a:pt x="878815" y="531586"/>
                    <a:pt x="971477" y="258218"/>
                    <a:pt x="971477" y="258218"/>
                  </a:cubicBezTo>
                </a:path>
              </a:pathLst>
            </a:custGeom>
            <a:noFill/>
            <a:ln w="13475" cap="flat" cmpd="sng">
              <a:solidFill>
                <a:srgbClr val="D6D8E5"/>
              </a:solidFill>
              <a:prstDash val="solid"/>
              <a:miter lim="8000"/>
              <a:headEnd type="none" w="sm" len="sm"/>
              <a:tailEnd type="none" w="sm" len="sm"/>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68" name="Google Shape;4378;p48">
              <a:extLst>
                <a:ext uri="{FF2B5EF4-FFF2-40B4-BE49-F238E27FC236}">
                  <a16:creationId xmlns:a16="http://schemas.microsoft.com/office/drawing/2014/main" id="{40E95024-9F16-ED7C-A5D0-FC6414634D01}"/>
                </a:ext>
              </a:extLst>
            </p:cNvPr>
            <p:cNvSpPr/>
            <p:nvPr/>
          </p:nvSpPr>
          <p:spPr>
            <a:xfrm rot="-1801764">
              <a:off x="5403245" y="1931037"/>
              <a:ext cx="49945" cy="86600"/>
            </a:xfrm>
            <a:custGeom>
              <a:avLst/>
              <a:gdLst/>
              <a:ahLst/>
              <a:cxnLst/>
              <a:rect l="l" t="t" r="r" b="b"/>
              <a:pathLst>
                <a:path w="49989" h="86677" extrusionOk="0">
                  <a:moveTo>
                    <a:pt x="49990" y="43339"/>
                  </a:moveTo>
                  <a:cubicBezTo>
                    <a:pt x="49990" y="67274"/>
                    <a:pt x="38799" y="86677"/>
                    <a:pt x="24995" y="86677"/>
                  </a:cubicBezTo>
                  <a:cubicBezTo>
                    <a:pt x="11191" y="86677"/>
                    <a:pt x="0" y="67274"/>
                    <a:pt x="0" y="43339"/>
                  </a:cubicBezTo>
                  <a:cubicBezTo>
                    <a:pt x="0" y="19403"/>
                    <a:pt x="11191" y="0"/>
                    <a:pt x="24995" y="0"/>
                  </a:cubicBezTo>
                  <a:cubicBezTo>
                    <a:pt x="38799" y="0"/>
                    <a:pt x="49990" y="19403"/>
                    <a:pt x="49990" y="43339"/>
                  </a:cubicBezTo>
                  <a:close/>
                </a:path>
              </a:pathLst>
            </a:custGeom>
            <a:solidFill>
              <a:srgbClr val="D6D8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69" name="Google Shape;4379;p48">
              <a:extLst>
                <a:ext uri="{FF2B5EF4-FFF2-40B4-BE49-F238E27FC236}">
                  <a16:creationId xmlns:a16="http://schemas.microsoft.com/office/drawing/2014/main" id="{7F325F85-E3EE-ADE4-0D6A-F977BA0D9128}"/>
                </a:ext>
              </a:extLst>
            </p:cNvPr>
            <p:cNvSpPr/>
            <p:nvPr/>
          </p:nvSpPr>
          <p:spPr>
            <a:xfrm rot="-1801764">
              <a:off x="5143652" y="1930529"/>
              <a:ext cx="49945" cy="86600"/>
            </a:xfrm>
            <a:custGeom>
              <a:avLst/>
              <a:gdLst/>
              <a:ahLst/>
              <a:cxnLst/>
              <a:rect l="l" t="t" r="r" b="b"/>
              <a:pathLst>
                <a:path w="49989" h="86677" extrusionOk="0">
                  <a:moveTo>
                    <a:pt x="49990" y="43339"/>
                  </a:moveTo>
                  <a:cubicBezTo>
                    <a:pt x="49990" y="67274"/>
                    <a:pt x="38799" y="86677"/>
                    <a:pt x="24995" y="86677"/>
                  </a:cubicBezTo>
                  <a:cubicBezTo>
                    <a:pt x="11190" y="86677"/>
                    <a:pt x="0" y="67274"/>
                    <a:pt x="0" y="43339"/>
                  </a:cubicBezTo>
                  <a:cubicBezTo>
                    <a:pt x="0" y="19403"/>
                    <a:pt x="11190" y="0"/>
                    <a:pt x="24995" y="0"/>
                  </a:cubicBezTo>
                  <a:cubicBezTo>
                    <a:pt x="38799" y="0"/>
                    <a:pt x="49990" y="19403"/>
                    <a:pt x="49990" y="43339"/>
                  </a:cubicBezTo>
                  <a:close/>
                </a:path>
              </a:pathLst>
            </a:custGeom>
            <a:solidFill>
              <a:srgbClr val="D6D8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70" name="Google Shape;4380;p48">
              <a:extLst>
                <a:ext uri="{FF2B5EF4-FFF2-40B4-BE49-F238E27FC236}">
                  <a16:creationId xmlns:a16="http://schemas.microsoft.com/office/drawing/2014/main" id="{32130A8C-30B5-DC54-866C-077DDA53518C}"/>
                </a:ext>
              </a:extLst>
            </p:cNvPr>
            <p:cNvSpPr/>
            <p:nvPr/>
          </p:nvSpPr>
          <p:spPr>
            <a:xfrm rot="-1790023">
              <a:off x="5694653" y="2149239"/>
              <a:ext cx="50164" cy="86979"/>
            </a:xfrm>
            <a:custGeom>
              <a:avLst/>
              <a:gdLst/>
              <a:ahLst/>
              <a:cxnLst/>
              <a:rect l="l" t="t" r="r" b="b"/>
              <a:pathLst>
                <a:path w="50162" h="86976" extrusionOk="0">
                  <a:moveTo>
                    <a:pt x="50164" y="43489"/>
                  </a:moveTo>
                  <a:cubicBezTo>
                    <a:pt x="50164" y="67507"/>
                    <a:pt x="38934" y="86977"/>
                    <a:pt x="25082" y="86977"/>
                  </a:cubicBezTo>
                  <a:cubicBezTo>
                    <a:pt x="11231" y="86977"/>
                    <a:pt x="1" y="67507"/>
                    <a:pt x="1" y="43489"/>
                  </a:cubicBezTo>
                  <a:cubicBezTo>
                    <a:pt x="1" y="19471"/>
                    <a:pt x="11231" y="1"/>
                    <a:pt x="25082" y="1"/>
                  </a:cubicBezTo>
                  <a:cubicBezTo>
                    <a:pt x="38934" y="1"/>
                    <a:pt x="50164" y="19471"/>
                    <a:pt x="50164" y="43489"/>
                  </a:cubicBezTo>
                  <a:close/>
                </a:path>
              </a:pathLst>
            </a:custGeom>
            <a:solidFill>
              <a:srgbClr val="D6D8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71" name="Google Shape;4381;p48">
              <a:extLst>
                <a:ext uri="{FF2B5EF4-FFF2-40B4-BE49-F238E27FC236}">
                  <a16:creationId xmlns:a16="http://schemas.microsoft.com/office/drawing/2014/main" id="{29A8EC54-F096-4477-4A23-40277ACE76F1}"/>
                </a:ext>
              </a:extLst>
            </p:cNvPr>
            <p:cNvSpPr/>
            <p:nvPr/>
          </p:nvSpPr>
          <p:spPr>
            <a:xfrm rot="-1801764">
              <a:off x="5993267" y="2236949"/>
              <a:ext cx="49945" cy="86600"/>
            </a:xfrm>
            <a:custGeom>
              <a:avLst/>
              <a:gdLst/>
              <a:ahLst/>
              <a:cxnLst/>
              <a:rect l="l" t="t" r="r" b="b"/>
              <a:pathLst>
                <a:path w="49989" h="86677" extrusionOk="0">
                  <a:moveTo>
                    <a:pt x="49990" y="43339"/>
                  </a:moveTo>
                  <a:cubicBezTo>
                    <a:pt x="49990" y="67274"/>
                    <a:pt x="38799" y="86678"/>
                    <a:pt x="24995" y="86678"/>
                  </a:cubicBezTo>
                  <a:cubicBezTo>
                    <a:pt x="11190" y="86678"/>
                    <a:pt x="0" y="67274"/>
                    <a:pt x="0" y="43339"/>
                  </a:cubicBezTo>
                  <a:cubicBezTo>
                    <a:pt x="0" y="19403"/>
                    <a:pt x="11190" y="0"/>
                    <a:pt x="24995" y="0"/>
                  </a:cubicBezTo>
                  <a:cubicBezTo>
                    <a:pt x="38799" y="0"/>
                    <a:pt x="49990" y="19403"/>
                    <a:pt x="49990" y="43339"/>
                  </a:cubicBezTo>
                  <a:close/>
                </a:path>
              </a:pathLst>
            </a:custGeom>
            <a:solidFill>
              <a:srgbClr val="D6D8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72" name="Google Shape;4382;p48">
              <a:extLst>
                <a:ext uri="{FF2B5EF4-FFF2-40B4-BE49-F238E27FC236}">
                  <a16:creationId xmlns:a16="http://schemas.microsoft.com/office/drawing/2014/main" id="{AF5D093D-3E17-75CD-901C-585FD5075713}"/>
                </a:ext>
              </a:extLst>
            </p:cNvPr>
            <p:cNvSpPr/>
            <p:nvPr/>
          </p:nvSpPr>
          <p:spPr>
            <a:xfrm>
              <a:off x="4356811" y="1418691"/>
              <a:ext cx="57973" cy="235172"/>
            </a:xfrm>
            <a:custGeom>
              <a:avLst/>
              <a:gdLst/>
              <a:ahLst/>
              <a:cxnLst/>
              <a:rect l="l" t="t" r="r" b="b"/>
              <a:pathLst>
                <a:path w="57973" h="235172" extrusionOk="0">
                  <a:moveTo>
                    <a:pt x="57973" y="235172"/>
                  </a:moveTo>
                  <a:lnTo>
                    <a:pt x="0" y="201549"/>
                  </a:lnTo>
                  <a:lnTo>
                    <a:pt x="0" y="0"/>
                  </a:lnTo>
                  <a:lnTo>
                    <a:pt x="57973" y="33623"/>
                  </a:lnTo>
                  <a:lnTo>
                    <a:pt x="57973" y="235172"/>
                  </a:lnTo>
                  <a:close/>
                </a:path>
              </a:pathLst>
            </a:custGeom>
            <a:solidFill>
              <a:srgbClr val="D6D8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73" name="Google Shape;4383;p48">
              <a:extLst>
                <a:ext uri="{FF2B5EF4-FFF2-40B4-BE49-F238E27FC236}">
                  <a16:creationId xmlns:a16="http://schemas.microsoft.com/office/drawing/2014/main" id="{D059F635-0FBC-FBCD-7061-0CC462B49F4C}"/>
                </a:ext>
              </a:extLst>
            </p:cNvPr>
            <p:cNvSpPr/>
            <p:nvPr/>
          </p:nvSpPr>
          <p:spPr>
            <a:xfrm>
              <a:off x="4517330" y="1440789"/>
              <a:ext cx="58068" cy="305942"/>
            </a:xfrm>
            <a:custGeom>
              <a:avLst/>
              <a:gdLst/>
              <a:ahLst/>
              <a:cxnLst/>
              <a:rect l="l" t="t" r="r" b="b"/>
              <a:pathLst>
                <a:path w="58068" h="305942" extrusionOk="0">
                  <a:moveTo>
                    <a:pt x="58068" y="305943"/>
                  </a:moveTo>
                  <a:lnTo>
                    <a:pt x="0" y="272320"/>
                  </a:lnTo>
                  <a:lnTo>
                    <a:pt x="0" y="0"/>
                  </a:lnTo>
                  <a:lnTo>
                    <a:pt x="58068" y="33623"/>
                  </a:lnTo>
                  <a:lnTo>
                    <a:pt x="58068" y="305943"/>
                  </a:lnTo>
                  <a:close/>
                </a:path>
              </a:pathLst>
            </a:custGeom>
            <a:solidFill>
              <a:srgbClr val="D6D8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74" name="Google Shape;4384;p48">
              <a:extLst>
                <a:ext uri="{FF2B5EF4-FFF2-40B4-BE49-F238E27FC236}">
                  <a16:creationId xmlns:a16="http://schemas.microsoft.com/office/drawing/2014/main" id="{CB820901-19E1-A165-B1D2-BCC0684403F6}"/>
                </a:ext>
              </a:extLst>
            </p:cNvPr>
            <p:cNvSpPr/>
            <p:nvPr/>
          </p:nvSpPr>
          <p:spPr>
            <a:xfrm>
              <a:off x="4677849" y="1415738"/>
              <a:ext cx="58067" cy="423862"/>
            </a:xfrm>
            <a:custGeom>
              <a:avLst/>
              <a:gdLst/>
              <a:ahLst/>
              <a:cxnLst/>
              <a:rect l="l" t="t" r="r" b="b"/>
              <a:pathLst>
                <a:path w="58067" h="423862" extrusionOk="0">
                  <a:moveTo>
                    <a:pt x="58068" y="423863"/>
                  </a:moveTo>
                  <a:lnTo>
                    <a:pt x="0" y="390335"/>
                  </a:lnTo>
                  <a:lnTo>
                    <a:pt x="0" y="0"/>
                  </a:lnTo>
                  <a:lnTo>
                    <a:pt x="58068" y="33528"/>
                  </a:lnTo>
                  <a:lnTo>
                    <a:pt x="58068" y="423863"/>
                  </a:lnTo>
                  <a:close/>
                </a:path>
              </a:pathLst>
            </a:custGeom>
            <a:solidFill>
              <a:srgbClr val="D6D8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75" name="Google Shape;4385;p48">
              <a:extLst>
                <a:ext uri="{FF2B5EF4-FFF2-40B4-BE49-F238E27FC236}">
                  <a16:creationId xmlns:a16="http://schemas.microsoft.com/office/drawing/2014/main" id="{1E35B6D2-66C5-31A1-2D43-528CD89728D0}"/>
                </a:ext>
              </a:extLst>
            </p:cNvPr>
            <p:cNvSpPr/>
            <p:nvPr/>
          </p:nvSpPr>
          <p:spPr>
            <a:xfrm>
              <a:off x="4838368" y="1414214"/>
              <a:ext cx="58068" cy="518255"/>
            </a:xfrm>
            <a:custGeom>
              <a:avLst/>
              <a:gdLst/>
              <a:ahLst/>
              <a:cxnLst/>
              <a:rect l="l" t="t" r="r" b="b"/>
              <a:pathLst>
                <a:path w="58068" h="518255" extrusionOk="0">
                  <a:moveTo>
                    <a:pt x="58068" y="518255"/>
                  </a:moveTo>
                  <a:lnTo>
                    <a:pt x="0" y="484727"/>
                  </a:lnTo>
                  <a:lnTo>
                    <a:pt x="0" y="0"/>
                  </a:lnTo>
                  <a:lnTo>
                    <a:pt x="58068" y="33528"/>
                  </a:lnTo>
                  <a:lnTo>
                    <a:pt x="58068" y="518255"/>
                  </a:lnTo>
                  <a:close/>
                </a:path>
              </a:pathLst>
            </a:custGeom>
            <a:solidFill>
              <a:srgbClr val="D6D8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76" name="Google Shape;4386;p48">
              <a:extLst>
                <a:ext uri="{FF2B5EF4-FFF2-40B4-BE49-F238E27FC236}">
                  <a16:creationId xmlns:a16="http://schemas.microsoft.com/office/drawing/2014/main" id="{342F916D-9B25-7002-19D9-2F8D462F9028}"/>
                </a:ext>
              </a:extLst>
            </p:cNvPr>
            <p:cNvSpPr/>
            <p:nvPr/>
          </p:nvSpPr>
          <p:spPr>
            <a:xfrm>
              <a:off x="5343399" y="3731361"/>
              <a:ext cx="99124" cy="151542"/>
            </a:xfrm>
            <a:custGeom>
              <a:avLst/>
              <a:gdLst/>
              <a:ahLst/>
              <a:cxnLst/>
              <a:rect l="l" t="t" r="r" b="b"/>
              <a:pathLst>
                <a:path w="99124" h="151542" extrusionOk="0">
                  <a:moveTo>
                    <a:pt x="16347" y="151543"/>
                  </a:moveTo>
                  <a:lnTo>
                    <a:pt x="99124" y="104204"/>
                  </a:lnTo>
                  <a:lnTo>
                    <a:pt x="0" y="0"/>
                  </a:lnTo>
                  <a:lnTo>
                    <a:pt x="16347" y="151543"/>
                  </a:lnTo>
                  <a:close/>
                </a:path>
              </a:pathLst>
            </a:custGeom>
            <a:solidFill>
              <a:srgbClr val="9EA2B2"/>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77" name="Google Shape;4387;p48">
              <a:extLst>
                <a:ext uri="{FF2B5EF4-FFF2-40B4-BE49-F238E27FC236}">
                  <a16:creationId xmlns:a16="http://schemas.microsoft.com/office/drawing/2014/main" id="{E04EA749-462C-8E42-0F9D-88D69A3883CC}"/>
                </a:ext>
              </a:extLst>
            </p:cNvPr>
            <p:cNvSpPr/>
            <p:nvPr/>
          </p:nvSpPr>
          <p:spPr>
            <a:xfrm>
              <a:off x="4678419" y="3350075"/>
              <a:ext cx="69282" cy="136588"/>
            </a:xfrm>
            <a:custGeom>
              <a:avLst/>
              <a:gdLst/>
              <a:ahLst/>
              <a:cxnLst/>
              <a:rect l="l" t="t" r="r" b="b"/>
              <a:pathLst>
                <a:path w="69282" h="136588" extrusionOk="0">
                  <a:moveTo>
                    <a:pt x="0" y="136588"/>
                  </a:moveTo>
                  <a:lnTo>
                    <a:pt x="69283" y="98298"/>
                  </a:lnTo>
                  <a:lnTo>
                    <a:pt x="42672" y="0"/>
                  </a:lnTo>
                  <a:lnTo>
                    <a:pt x="0" y="136588"/>
                  </a:lnTo>
                  <a:close/>
                </a:path>
              </a:pathLst>
            </a:custGeom>
            <a:solidFill>
              <a:srgbClr val="9EA2B2"/>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grpSp>
          <p:nvGrpSpPr>
            <p:cNvPr id="378" name="Google Shape;4388;p48">
              <a:extLst>
                <a:ext uri="{FF2B5EF4-FFF2-40B4-BE49-F238E27FC236}">
                  <a16:creationId xmlns:a16="http://schemas.microsoft.com/office/drawing/2014/main" id="{B6CB01A9-CBBB-AAB5-EF68-5E0294D8ED0E}"/>
                </a:ext>
              </a:extLst>
            </p:cNvPr>
            <p:cNvGrpSpPr/>
            <p:nvPr/>
          </p:nvGrpSpPr>
          <p:grpSpPr>
            <a:xfrm>
              <a:off x="3103642" y="4105408"/>
              <a:ext cx="746807" cy="516445"/>
              <a:chOff x="4884742" y="4921758"/>
              <a:chExt cx="746807" cy="516445"/>
            </a:xfrm>
          </p:grpSpPr>
          <p:sp>
            <p:nvSpPr>
              <p:cNvPr id="530" name="Google Shape;4389;p48">
                <a:extLst>
                  <a:ext uri="{FF2B5EF4-FFF2-40B4-BE49-F238E27FC236}">
                    <a16:creationId xmlns:a16="http://schemas.microsoft.com/office/drawing/2014/main" id="{49244B07-4F80-09A6-BDEC-73897776B63D}"/>
                  </a:ext>
                </a:extLst>
              </p:cNvPr>
              <p:cNvSpPr/>
              <p:nvPr/>
            </p:nvSpPr>
            <p:spPr>
              <a:xfrm>
                <a:off x="4884742" y="5053584"/>
                <a:ext cx="664504" cy="384619"/>
              </a:xfrm>
              <a:custGeom>
                <a:avLst/>
                <a:gdLst/>
                <a:ahLst/>
                <a:cxnLst/>
                <a:rect l="l" t="t" r="r" b="b"/>
                <a:pathLst>
                  <a:path w="664504" h="384619" extrusionOk="0">
                    <a:moveTo>
                      <a:pt x="664505" y="192310"/>
                    </a:moveTo>
                    <a:cubicBezTo>
                      <a:pt x="664505" y="298520"/>
                      <a:pt x="515750" y="384620"/>
                      <a:pt x="332252" y="384620"/>
                    </a:cubicBezTo>
                    <a:cubicBezTo>
                      <a:pt x="148754" y="384620"/>
                      <a:pt x="0" y="298520"/>
                      <a:pt x="0" y="192310"/>
                    </a:cubicBezTo>
                    <a:cubicBezTo>
                      <a:pt x="0" y="86100"/>
                      <a:pt x="148754" y="0"/>
                      <a:pt x="332252" y="0"/>
                    </a:cubicBezTo>
                    <a:cubicBezTo>
                      <a:pt x="515750" y="0"/>
                      <a:pt x="664505" y="86100"/>
                      <a:pt x="664505" y="192310"/>
                    </a:cubicBezTo>
                    <a:close/>
                  </a:path>
                </a:pathLst>
              </a:custGeom>
              <a:solidFill>
                <a:srgbClr val="D6D8E5">
                  <a:alpha val="298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31" name="Google Shape;4390;p48">
                <a:extLst>
                  <a:ext uri="{FF2B5EF4-FFF2-40B4-BE49-F238E27FC236}">
                    <a16:creationId xmlns:a16="http://schemas.microsoft.com/office/drawing/2014/main" id="{800A7DAB-26B5-69F4-0CF2-41316E5FBF19}"/>
                  </a:ext>
                </a:extLst>
              </p:cNvPr>
              <p:cNvSpPr/>
              <p:nvPr/>
            </p:nvSpPr>
            <p:spPr>
              <a:xfrm>
                <a:off x="4966950" y="5004149"/>
                <a:ext cx="664504" cy="384619"/>
              </a:xfrm>
              <a:custGeom>
                <a:avLst/>
                <a:gdLst/>
                <a:ahLst/>
                <a:cxnLst/>
                <a:rect l="l" t="t" r="r" b="b"/>
                <a:pathLst>
                  <a:path w="664504" h="384619" extrusionOk="0">
                    <a:moveTo>
                      <a:pt x="664505" y="192310"/>
                    </a:moveTo>
                    <a:cubicBezTo>
                      <a:pt x="664505" y="298520"/>
                      <a:pt x="515750" y="384620"/>
                      <a:pt x="332252" y="384620"/>
                    </a:cubicBezTo>
                    <a:cubicBezTo>
                      <a:pt x="148754" y="384620"/>
                      <a:pt x="0" y="298520"/>
                      <a:pt x="0" y="192310"/>
                    </a:cubicBezTo>
                    <a:cubicBezTo>
                      <a:pt x="0" y="86100"/>
                      <a:pt x="148754" y="0"/>
                      <a:pt x="332252" y="0"/>
                    </a:cubicBezTo>
                    <a:cubicBezTo>
                      <a:pt x="515750" y="0"/>
                      <a:pt x="664505" y="86100"/>
                      <a:pt x="664505" y="192310"/>
                    </a:cubicBezTo>
                    <a:close/>
                  </a:path>
                </a:pathLst>
              </a:custGeom>
              <a:solidFill>
                <a:srgbClr val="DD990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32" name="Google Shape;4391;p48">
                <a:extLst>
                  <a:ext uri="{FF2B5EF4-FFF2-40B4-BE49-F238E27FC236}">
                    <a16:creationId xmlns:a16="http://schemas.microsoft.com/office/drawing/2014/main" id="{CDBF19C3-3295-B081-2D38-473206611EA3}"/>
                  </a:ext>
                </a:extLst>
              </p:cNvPr>
              <p:cNvSpPr/>
              <p:nvPr/>
            </p:nvSpPr>
            <p:spPr>
              <a:xfrm>
                <a:off x="4967045" y="5111781"/>
                <a:ext cx="65671" cy="87534"/>
              </a:xfrm>
              <a:custGeom>
                <a:avLst/>
                <a:gdLst/>
                <a:ahLst/>
                <a:cxnLst/>
                <a:rect l="l" t="t" r="r" b="b"/>
                <a:pathLst>
                  <a:path w="65671" h="87534" extrusionOk="0">
                    <a:moveTo>
                      <a:pt x="0" y="87534"/>
                    </a:moveTo>
                    <a:lnTo>
                      <a:pt x="0" y="0"/>
                    </a:lnTo>
                    <a:lnTo>
                      <a:pt x="65671" y="58579"/>
                    </a:lnTo>
                    <a:lnTo>
                      <a:pt x="0" y="87534"/>
                    </a:lnTo>
                    <a:close/>
                  </a:path>
                </a:pathLst>
              </a:custGeom>
              <a:solidFill>
                <a:srgbClr val="DD990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33" name="Google Shape;4392;p48">
                <a:extLst>
                  <a:ext uri="{FF2B5EF4-FFF2-40B4-BE49-F238E27FC236}">
                    <a16:creationId xmlns:a16="http://schemas.microsoft.com/office/drawing/2014/main" id="{1B903372-9BF6-DF1A-C57E-4A97281FA337}"/>
                  </a:ext>
                </a:extLst>
              </p:cNvPr>
              <p:cNvSpPr/>
              <p:nvPr/>
            </p:nvSpPr>
            <p:spPr>
              <a:xfrm>
                <a:off x="5581465" y="5114067"/>
                <a:ext cx="50084" cy="118109"/>
              </a:xfrm>
              <a:custGeom>
                <a:avLst/>
                <a:gdLst/>
                <a:ahLst/>
                <a:cxnLst/>
                <a:rect l="l" t="t" r="r" b="b"/>
                <a:pathLst>
                  <a:path w="50084" h="118109" extrusionOk="0">
                    <a:moveTo>
                      <a:pt x="50085" y="0"/>
                    </a:moveTo>
                    <a:lnTo>
                      <a:pt x="50085" y="82391"/>
                    </a:lnTo>
                    <a:lnTo>
                      <a:pt x="16442" y="118110"/>
                    </a:lnTo>
                    <a:lnTo>
                      <a:pt x="0" y="23717"/>
                    </a:lnTo>
                    <a:lnTo>
                      <a:pt x="50085" y="0"/>
                    </a:lnTo>
                    <a:close/>
                  </a:path>
                </a:pathLst>
              </a:custGeom>
              <a:solidFill>
                <a:srgbClr val="DD990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34" name="Google Shape;4393;p48">
                <a:extLst>
                  <a:ext uri="{FF2B5EF4-FFF2-40B4-BE49-F238E27FC236}">
                    <a16:creationId xmlns:a16="http://schemas.microsoft.com/office/drawing/2014/main" id="{BEF81693-89E6-9FA8-8BD3-D53EE4873A5F}"/>
                  </a:ext>
                </a:extLst>
              </p:cNvPr>
              <p:cNvSpPr/>
              <p:nvPr/>
            </p:nvSpPr>
            <p:spPr>
              <a:xfrm>
                <a:off x="4966950" y="4921758"/>
                <a:ext cx="664504" cy="384619"/>
              </a:xfrm>
              <a:custGeom>
                <a:avLst/>
                <a:gdLst/>
                <a:ahLst/>
                <a:cxnLst/>
                <a:rect l="l" t="t" r="r" b="b"/>
                <a:pathLst>
                  <a:path w="664504" h="384619" extrusionOk="0">
                    <a:moveTo>
                      <a:pt x="664505" y="192310"/>
                    </a:moveTo>
                    <a:cubicBezTo>
                      <a:pt x="664505" y="298520"/>
                      <a:pt x="515750" y="384620"/>
                      <a:pt x="332252" y="384620"/>
                    </a:cubicBezTo>
                    <a:cubicBezTo>
                      <a:pt x="148754" y="384620"/>
                      <a:pt x="0" y="298520"/>
                      <a:pt x="0" y="192310"/>
                    </a:cubicBezTo>
                    <a:cubicBezTo>
                      <a:pt x="0" y="86100"/>
                      <a:pt x="148754" y="0"/>
                      <a:pt x="332252" y="0"/>
                    </a:cubicBezTo>
                    <a:cubicBezTo>
                      <a:pt x="515750" y="0"/>
                      <a:pt x="664505" y="86100"/>
                      <a:pt x="664505" y="192310"/>
                    </a:cubicBezTo>
                    <a:close/>
                  </a:path>
                </a:pathLst>
              </a:custGeom>
              <a:solidFill>
                <a:srgbClr val="F9CB07"/>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35" name="Google Shape;4394;p48">
                <a:extLst>
                  <a:ext uri="{FF2B5EF4-FFF2-40B4-BE49-F238E27FC236}">
                    <a16:creationId xmlns:a16="http://schemas.microsoft.com/office/drawing/2014/main" id="{04BAB173-2E29-8AB6-B9A6-33325BFF417D}"/>
                  </a:ext>
                </a:extLst>
              </p:cNvPr>
              <p:cNvSpPr/>
              <p:nvPr/>
            </p:nvSpPr>
            <p:spPr>
              <a:xfrm>
                <a:off x="5061432" y="4974074"/>
                <a:ext cx="475691" cy="275248"/>
              </a:xfrm>
              <a:custGeom>
                <a:avLst/>
                <a:gdLst/>
                <a:ahLst/>
                <a:cxnLst/>
                <a:rect l="l" t="t" r="r" b="b"/>
                <a:pathLst>
                  <a:path w="475691" h="275248" extrusionOk="0">
                    <a:moveTo>
                      <a:pt x="475270" y="145899"/>
                    </a:moveTo>
                    <a:cubicBezTo>
                      <a:pt x="471849" y="178284"/>
                      <a:pt x="448849" y="210193"/>
                      <a:pt x="405987" y="234958"/>
                    </a:cubicBezTo>
                    <a:cubicBezTo>
                      <a:pt x="313135" y="288679"/>
                      <a:pt x="162500" y="288679"/>
                      <a:pt x="69553" y="234958"/>
                    </a:cubicBezTo>
                    <a:cubicBezTo>
                      <a:pt x="26786" y="210193"/>
                      <a:pt x="3692" y="178284"/>
                      <a:pt x="461" y="145899"/>
                    </a:cubicBezTo>
                    <a:cubicBezTo>
                      <a:pt x="-3626" y="107799"/>
                      <a:pt x="19468" y="69699"/>
                      <a:pt x="69553" y="40362"/>
                    </a:cubicBezTo>
                    <a:cubicBezTo>
                      <a:pt x="162500" y="-13454"/>
                      <a:pt x="313135" y="-13454"/>
                      <a:pt x="405987" y="40362"/>
                    </a:cubicBezTo>
                    <a:cubicBezTo>
                      <a:pt x="456072" y="69318"/>
                      <a:pt x="479167" y="107990"/>
                      <a:pt x="475270" y="145899"/>
                    </a:cubicBez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36" name="Google Shape;4395;p48">
                <a:extLst>
                  <a:ext uri="{FF2B5EF4-FFF2-40B4-BE49-F238E27FC236}">
                    <a16:creationId xmlns:a16="http://schemas.microsoft.com/office/drawing/2014/main" id="{9939C91C-C6FD-EB3D-A0A5-41C9D95EF75B}"/>
                  </a:ext>
                </a:extLst>
              </p:cNvPr>
              <p:cNvSpPr/>
              <p:nvPr/>
            </p:nvSpPr>
            <p:spPr>
              <a:xfrm>
                <a:off x="5061893" y="4990552"/>
                <a:ext cx="474809" cy="258770"/>
              </a:xfrm>
              <a:custGeom>
                <a:avLst/>
                <a:gdLst/>
                <a:ahLst/>
                <a:cxnLst/>
                <a:rect l="l" t="t" r="r" b="b"/>
                <a:pathLst>
                  <a:path w="474809" h="258770" extrusionOk="0">
                    <a:moveTo>
                      <a:pt x="474809" y="129421"/>
                    </a:moveTo>
                    <a:cubicBezTo>
                      <a:pt x="471388" y="161806"/>
                      <a:pt x="448389" y="193715"/>
                      <a:pt x="405527" y="218480"/>
                    </a:cubicBezTo>
                    <a:cubicBezTo>
                      <a:pt x="312675" y="272201"/>
                      <a:pt x="162040" y="272201"/>
                      <a:pt x="69092" y="218480"/>
                    </a:cubicBezTo>
                    <a:cubicBezTo>
                      <a:pt x="26325" y="193715"/>
                      <a:pt x="3231" y="161806"/>
                      <a:pt x="0" y="129421"/>
                    </a:cubicBezTo>
                    <a:cubicBezTo>
                      <a:pt x="3231" y="97036"/>
                      <a:pt x="26325" y="65127"/>
                      <a:pt x="69092" y="40362"/>
                    </a:cubicBezTo>
                    <a:cubicBezTo>
                      <a:pt x="162040" y="-13454"/>
                      <a:pt x="312675" y="-13454"/>
                      <a:pt x="405527" y="40362"/>
                    </a:cubicBezTo>
                    <a:cubicBezTo>
                      <a:pt x="448389" y="65127"/>
                      <a:pt x="471388" y="97036"/>
                      <a:pt x="474809" y="129421"/>
                    </a:cubicBezTo>
                    <a:close/>
                  </a:path>
                </a:pathLst>
              </a:custGeom>
              <a:solidFill>
                <a:srgbClr val="E8A30A"/>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37" name="Google Shape;4396;p48">
                <a:extLst>
                  <a:ext uri="{FF2B5EF4-FFF2-40B4-BE49-F238E27FC236}">
                    <a16:creationId xmlns:a16="http://schemas.microsoft.com/office/drawing/2014/main" id="{232C90F5-33F0-075C-3FBE-BFBE53C7D21A}"/>
                  </a:ext>
                </a:extLst>
              </p:cNvPr>
              <p:cNvSpPr/>
              <p:nvPr/>
            </p:nvSpPr>
            <p:spPr>
              <a:xfrm>
                <a:off x="5183826" y="5052822"/>
                <a:ext cx="221040" cy="139064"/>
              </a:xfrm>
              <a:custGeom>
                <a:avLst/>
                <a:gdLst/>
                <a:ahLst/>
                <a:cxnLst/>
                <a:rect l="l" t="t" r="r" b="b"/>
                <a:pathLst>
                  <a:path w="221040" h="139064" extrusionOk="0">
                    <a:moveTo>
                      <a:pt x="111955" y="22098"/>
                    </a:moveTo>
                    <a:cubicBezTo>
                      <a:pt x="109027" y="22098"/>
                      <a:pt x="106100" y="22355"/>
                      <a:pt x="103211" y="22860"/>
                    </a:cubicBezTo>
                    <a:cubicBezTo>
                      <a:pt x="99315" y="23336"/>
                      <a:pt x="94943" y="24193"/>
                      <a:pt x="90096" y="25146"/>
                    </a:cubicBezTo>
                    <a:cubicBezTo>
                      <a:pt x="85249" y="26098"/>
                      <a:pt x="80117" y="27527"/>
                      <a:pt x="74890" y="29051"/>
                    </a:cubicBezTo>
                    <a:cubicBezTo>
                      <a:pt x="69796" y="30623"/>
                      <a:pt x="64816" y="32537"/>
                      <a:pt x="59969" y="34766"/>
                    </a:cubicBezTo>
                    <a:lnTo>
                      <a:pt x="97984" y="56864"/>
                    </a:lnTo>
                    <a:lnTo>
                      <a:pt x="104922" y="54483"/>
                    </a:lnTo>
                    <a:cubicBezTo>
                      <a:pt x="114426" y="51244"/>
                      <a:pt x="123929" y="48482"/>
                      <a:pt x="132388" y="46196"/>
                    </a:cubicBezTo>
                    <a:cubicBezTo>
                      <a:pt x="140466" y="44005"/>
                      <a:pt x="148744" y="42634"/>
                      <a:pt x="157098" y="42100"/>
                    </a:cubicBezTo>
                    <a:cubicBezTo>
                      <a:pt x="164739" y="41643"/>
                      <a:pt x="172399" y="42148"/>
                      <a:pt x="179907" y="43624"/>
                    </a:cubicBezTo>
                    <a:cubicBezTo>
                      <a:pt x="187548" y="45291"/>
                      <a:pt x="194856" y="48187"/>
                      <a:pt x="201575" y="52197"/>
                    </a:cubicBezTo>
                    <a:cubicBezTo>
                      <a:pt x="208237" y="55512"/>
                      <a:pt x="213940" y="60503"/>
                      <a:pt x="218112" y="66675"/>
                    </a:cubicBezTo>
                    <a:cubicBezTo>
                      <a:pt x="220868" y="71142"/>
                      <a:pt x="221723" y="76524"/>
                      <a:pt x="220488" y="81629"/>
                    </a:cubicBezTo>
                    <a:cubicBezTo>
                      <a:pt x="218872" y="87258"/>
                      <a:pt x="215793" y="92354"/>
                      <a:pt x="211554" y="96393"/>
                    </a:cubicBezTo>
                    <a:cubicBezTo>
                      <a:pt x="206280" y="101660"/>
                      <a:pt x="200416" y="106299"/>
                      <a:pt x="194067" y="110204"/>
                    </a:cubicBezTo>
                    <a:lnTo>
                      <a:pt x="218397" y="124206"/>
                    </a:lnTo>
                    <a:lnTo>
                      <a:pt x="205187" y="131921"/>
                    </a:lnTo>
                    <a:lnTo>
                      <a:pt x="180667" y="117729"/>
                    </a:lnTo>
                    <a:cubicBezTo>
                      <a:pt x="168968" y="123472"/>
                      <a:pt x="156746" y="128101"/>
                      <a:pt x="144172" y="131540"/>
                    </a:cubicBezTo>
                    <a:cubicBezTo>
                      <a:pt x="131010" y="135179"/>
                      <a:pt x="117562" y="137703"/>
                      <a:pt x="103971" y="139065"/>
                    </a:cubicBezTo>
                    <a:lnTo>
                      <a:pt x="91141" y="116014"/>
                    </a:lnTo>
                    <a:cubicBezTo>
                      <a:pt x="93517" y="116014"/>
                      <a:pt x="97129" y="116014"/>
                      <a:pt x="101881" y="115252"/>
                    </a:cubicBezTo>
                    <a:cubicBezTo>
                      <a:pt x="106632" y="114490"/>
                      <a:pt x="112050" y="113729"/>
                      <a:pt x="117942" y="112490"/>
                    </a:cubicBezTo>
                    <a:cubicBezTo>
                      <a:pt x="123834" y="111252"/>
                      <a:pt x="130012" y="109633"/>
                      <a:pt x="136949" y="107728"/>
                    </a:cubicBezTo>
                    <a:cubicBezTo>
                      <a:pt x="143450" y="105842"/>
                      <a:pt x="149799" y="103489"/>
                      <a:pt x="155957" y="100679"/>
                    </a:cubicBezTo>
                    <a:lnTo>
                      <a:pt x="117942" y="78772"/>
                    </a:lnTo>
                    <a:lnTo>
                      <a:pt x="112905" y="80486"/>
                    </a:lnTo>
                    <a:lnTo>
                      <a:pt x="107773" y="82010"/>
                    </a:lnTo>
                    <a:cubicBezTo>
                      <a:pt x="99143" y="84982"/>
                      <a:pt x="90352" y="87458"/>
                      <a:pt x="81447" y="89440"/>
                    </a:cubicBezTo>
                    <a:cubicBezTo>
                      <a:pt x="74091" y="91192"/>
                      <a:pt x="66574" y="92212"/>
                      <a:pt x="59018" y="92488"/>
                    </a:cubicBezTo>
                    <a:cubicBezTo>
                      <a:pt x="52375" y="92745"/>
                      <a:pt x="45723" y="92097"/>
                      <a:pt x="39251" y="90583"/>
                    </a:cubicBezTo>
                    <a:cubicBezTo>
                      <a:pt x="32845" y="89049"/>
                      <a:pt x="26696" y="86573"/>
                      <a:pt x="21003" y="83248"/>
                    </a:cubicBezTo>
                    <a:cubicBezTo>
                      <a:pt x="14712" y="79953"/>
                      <a:pt x="9257" y="75257"/>
                      <a:pt x="5037" y="69532"/>
                    </a:cubicBezTo>
                    <a:cubicBezTo>
                      <a:pt x="1977" y="65246"/>
                      <a:pt x="466" y="60036"/>
                      <a:pt x="760" y="54769"/>
                    </a:cubicBezTo>
                    <a:cubicBezTo>
                      <a:pt x="1350" y="49311"/>
                      <a:pt x="3535" y="44139"/>
                      <a:pt x="7033" y="39910"/>
                    </a:cubicBezTo>
                    <a:cubicBezTo>
                      <a:pt x="11443" y="34442"/>
                      <a:pt x="16670" y="29689"/>
                      <a:pt x="22524" y="25813"/>
                    </a:cubicBezTo>
                    <a:lnTo>
                      <a:pt x="0" y="12763"/>
                    </a:lnTo>
                    <a:lnTo>
                      <a:pt x="13210" y="5143"/>
                    </a:lnTo>
                    <a:lnTo>
                      <a:pt x="35544" y="18002"/>
                    </a:lnTo>
                    <a:cubicBezTo>
                      <a:pt x="45998" y="12811"/>
                      <a:pt x="56994" y="8782"/>
                      <a:pt x="68332" y="6001"/>
                    </a:cubicBezTo>
                    <a:cubicBezTo>
                      <a:pt x="79109" y="3257"/>
                      <a:pt x="90067" y="1248"/>
                      <a:pt x="101120" y="0"/>
                    </a:cubicBezTo>
                    <a:close/>
                    <a:moveTo>
                      <a:pt x="46949" y="62103"/>
                    </a:moveTo>
                    <a:cubicBezTo>
                      <a:pt x="52005" y="64941"/>
                      <a:pt x="57811" y="66170"/>
                      <a:pt x="63580" y="65627"/>
                    </a:cubicBezTo>
                    <a:cubicBezTo>
                      <a:pt x="71316" y="64770"/>
                      <a:pt x="78938" y="63036"/>
                      <a:pt x="86294" y="60484"/>
                    </a:cubicBezTo>
                    <a:lnTo>
                      <a:pt x="50560" y="39814"/>
                    </a:lnTo>
                    <a:cubicBezTo>
                      <a:pt x="37445" y="48320"/>
                      <a:pt x="36238" y="55750"/>
                      <a:pt x="46949" y="62103"/>
                    </a:cubicBezTo>
                    <a:close/>
                    <a:moveTo>
                      <a:pt x="172399" y="72580"/>
                    </a:moveTo>
                    <a:cubicBezTo>
                      <a:pt x="166953" y="69580"/>
                      <a:pt x="160680" y="68437"/>
                      <a:pt x="154532" y="69342"/>
                    </a:cubicBezTo>
                    <a:cubicBezTo>
                      <a:pt x="146083" y="70418"/>
                      <a:pt x="137748" y="72266"/>
                      <a:pt x="129632" y="74866"/>
                    </a:cubicBezTo>
                    <a:lnTo>
                      <a:pt x="165176" y="95440"/>
                    </a:lnTo>
                    <a:cubicBezTo>
                      <a:pt x="180287" y="86296"/>
                      <a:pt x="182758" y="78676"/>
                      <a:pt x="172399" y="72771"/>
                    </a:cubicBez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38" name="Google Shape;4397;p48">
                <a:extLst>
                  <a:ext uri="{FF2B5EF4-FFF2-40B4-BE49-F238E27FC236}">
                    <a16:creationId xmlns:a16="http://schemas.microsoft.com/office/drawing/2014/main" id="{2420A959-F4BB-7724-6E2D-C473C7861E89}"/>
                  </a:ext>
                </a:extLst>
              </p:cNvPr>
              <p:cNvSpPr/>
              <p:nvPr/>
            </p:nvSpPr>
            <p:spPr>
              <a:xfrm>
                <a:off x="5275158" y="5155977"/>
                <a:ext cx="14635" cy="19050"/>
              </a:xfrm>
              <a:custGeom>
                <a:avLst/>
                <a:gdLst/>
                <a:ahLst/>
                <a:cxnLst/>
                <a:rect l="l" t="t" r="r" b="b"/>
                <a:pathLst>
                  <a:path w="14635" h="19050" extrusionOk="0">
                    <a:moveTo>
                      <a:pt x="0" y="12859"/>
                    </a:moveTo>
                    <a:cubicBezTo>
                      <a:pt x="0" y="12002"/>
                      <a:pt x="0" y="0"/>
                      <a:pt x="0" y="0"/>
                    </a:cubicBezTo>
                    <a:lnTo>
                      <a:pt x="14636" y="9525"/>
                    </a:lnTo>
                    <a:lnTo>
                      <a:pt x="8268" y="19050"/>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39" name="Google Shape;4398;p48">
                <a:extLst>
                  <a:ext uri="{FF2B5EF4-FFF2-40B4-BE49-F238E27FC236}">
                    <a16:creationId xmlns:a16="http://schemas.microsoft.com/office/drawing/2014/main" id="{284C5D50-1F6F-C2D3-F1E5-08C729419717}"/>
                  </a:ext>
                </a:extLst>
              </p:cNvPr>
              <p:cNvSpPr/>
              <p:nvPr/>
            </p:nvSpPr>
            <p:spPr>
              <a:xfrm>
                <a:off x="5370766" y="5164169"/>
                <a:ext cx="31647" cy="14763"/>
              </a:xfrm>
              <a:custGeom>
                <a:avLst/>
                <a:gdLst/>
                <a:ahLst/>
                <a:cxnLst/>
                <a:rect l="l" t="t" r="r" b="b"/>
                <a:pathLst>
                  <a:path w="31647" h="14763" extrusionOk="0">
                    <a:moveTo>
                      <a:pt x="31648" y="12859"/>
                    </a:moveTo>
                    <a:lnTo>
                      <a:pt x="31648" y="0"/>
                    </a:lnTo>
                    <a:lnTo>
                      <a:pt x="0" y="2381"/>
                    </a:lnTo>
                    <a:lnTo>
                      <a:pt x="18152" y="14764"/>
                    </a:lnTo>
                    <a:lnTo>
                      <a:pt x="31648" y="12859"/>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40" name="Google Shape;4399;p48">
                <a:extLst>
                  <a:ext uri="{FF2B5EF4-FFF2-40B4-BE49-F238E27FC236}">
                    <a16:creationId xmlns:a16="http://schemas.microsoft.com/office/drawing/2014/main" id="{C1BF08D6-EE70-400A-A56B-9B297EC5E485}"/>
                  </a:ext>
                </a:extLst>
              </p:cNvPr>
              <p:cNvSpPr/>
              <p:nvPr/>
            </p:nvSpPr>
            <p:spPr>
              <a:xfrm>
                <a:off x="5381410" y="5116639"/>
                <a:ext cx="23664" cy="13049"/>
              </a:xfrm>
              <a:custGeom>
                <a:avLst/>
                <a:gdLst/>
                <a:ahLst/>
                <a:cxnLst/>
                <a:rect l="l" t="t" r="r" b="b"/>
                <a:pathLst>
                  <a:path w="23664" h="13049" extrusionOk="0">
                    <a:moveTo>
                      <a:pt x="23664" y="13049"/>
                    </a:moveTo>
                    <a:lnTo>
                      <a:pt x="23664" y="0"/>
                    </a:lnTo>
                    <a:lnTo>
                      <a:pt x="0" y="8572"/>
                    </a:lnTo>
                    <a:lnTo>
                      <a:pt x="23664" y="13049"/>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41" name="Google Shape;4400;p48">
                <a:extLst>
                  <a:ext uri="{FF2B5EF4-FFF2-40B4-BE49-F238E27FC236}">
                    <a16:creationId xmlns:a16="http://schemas.microsoft.com/office/drawing/2014/main" id="{9570FB20-DB2B-FBFD-6341-B56E275C49A2}"/>
                  </a:ext>
                </a:extLst>
              </p:cNvPr>
              <p:cNvSpPr/>
              <p:nvPr/>
            </p:nvSpPr>
            <p:spPr>
              <a:xfrm>
                <a:off x="5307090" y="5121401"/>
                <a:ext cx="35639" cy="24669"/>
              </a:xfrm>
              <a:custGeom>
                <a:avLst/>
                <a:gdLst/>
                <a:ahLst/>
                <a:cxnLst/>
                <a:rect l="l" t="t" r="r" b="b"/>
                <a:pathLst>
                  <a:path w="35639" h="24669" extrusionOk="0">
                    <a:moveTo>
                      <a:pt x="0" y="7525"/>
                    </a:moveTo>
                    <a:lnTo>
                      <a:pt x="7888" y="0"/>
                    </a:lnTo>
                    <a:lnTo>
                      <a:pt x="35639" y="19050"/>
                    </a:lnTo>
                    <a:lnTo>
                      <a:pt x="33928" y="24670"/>
                    </a:lnTo>
                    <a:cubicBezTo>
                      <a:pt x="33928" y="24670"/>
                      <a:pt x="13210" y="15907"/>
                      <a:pt x="12545" y="15145"/>
                    </a:cubicBez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42" name="Google Shape;4401;p48">
                <a:extLst>
                  <a:ext uri="{FF2B5EF4-FFF2-40B4-BE49-F238E27FC236}">
                    <a16:creationId xmlns:a16="http://schemas.microsoft.com/office/drawing/2014/main" id="{2F0AD42B-050F-EECE-4FC5-C3ADA9E3D983}"/>
                  </a:ext>
                </a:extLst>
              </p:cNvPr>
              <p:cNvSpPr/>
              <p:nvPr/>
            </p:nvSpPr>
            <p:spPr>
              <a:xfrm>
                <a:off x="5234481" y="5079968"/>
                <a:ext cx="44382" cy="29241"/>
              </a:xfrm>
              <a:custGeom>
                <a:avLst/>
                <a:gdLst/>
                <a:ahLst/>
                <a:cxnLst/>
                <a:rect l="l" t="t" r="r" b="b"/>
                <a:pathLst>
                  <a:path w="44382" h="29241" extrusionOk="0">
                    <a:moveTo>
                      <a:pt x="0" y="8287"/>
                    </a:moveTo>
                    <a:lnTo>
                      <a:pt x="36780" y="29242"/>
                    </a:lnTo>
                    <a:lnTo>
                      <a:pt x="44383" y="23717"/>
                    </a:lnTo>
                    <a:cubicBezTo>
                      <a:pt x="44383" y="23717"/>
                      <a:pt x="39726" y="18479"/>
                      <a:pt x="39346" y="17907"/>
                    </a:cubicBezTo>
                    <a:cubicBezTo>
                      <a:pt x="36029" y="14192"/>
                      <a:pt x="32189" y="10982"/>
                      <a:pt x="27941" y="8382"/>
                    </a:cubicBezTo>
                    <a:cubicBezTo>
                      <a:pt x="25185" y="7906"/>
                      <a:pt x="7698" y="0"/>
                      <a:pt x="7698" y="0"/>
                    </a:cubicBez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43" name="Google Shape;4402;p48">
                <a:extLst>
                  <a:ext uri="{FF2B5EF4-FFF2-40B4-BE49-F238E27FC236}">
                    <a16:creationId xmlns:a16="http://schemas.microsoft.com/office/drawing/2014/main" id="{FED297AE-3228-8F42-6FBC-1BF7935F8A22}"/>
                  </a:ext>
                </a:extLst>
              </p:cNvPr>
              <p:cNvSpPr/>
              <p:nvPr/>
            </p:nvSpPr>
            <p:spPr>
              <a:xfrm>
                <a:off x="5275158" y="5056536"/>
                <a:ext cx="20623" cy="18383"/>
              </a:xfrm>
              <a:custGeom>
                <a:avLst/>
                <a:gdLst/>
                <a:ahLst/>
                <a:cxnLst/>
                <a:rect l="l" t="t" r="r" b="b"/>
                <a:pathLst>
                  <a:path w="20623" h="18383" extrusionOk="0">
                    <a:moveTo>
                      <a:pt x="20623" y="18383"/>
                    </a:moveTo>
                    <a:lnTo>
                      <a:pt x="20623" y="5525"/>
                    </a:lnTo>
                    <a:lnTo>
                      <a:pt x="3706" y="0"/>
                    </a:lnTo>
                    <a:lnTo>
                      <a:pt x="0" y="10096"/>
                    </a:lnTo>
                    <a:lnTo>
                      <a:pt x="950" y="14764"/>
                    </a:lnTo>
                    <a:lnTo>
                      <a:pt x="20623" y="18383"/>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44" name="Google Shape;4403;p48">
                <a:extLst>
                  <a:ext uri="{FF2B5EF4-FFF2-40B4-BE49-F238E27FC236}">
                    <a16:creationId xmlns:a16="http://schemas.microsoft.com/office/drawing/2014/main" id="{7A48F900-2AB9-8F00-9294-BBB5A303029E}"/>
                  </a:ext>
                </a:extLst>
              </p:cNvPr>
              <p:cNvSpPr/>
              <p:nvPr/>
            </p:nvSpPr>
            <p:spPr>
              <a:xfrm>
                <a:off x="5183351" y="5052726"/>
                <a:ext cx="19577" cy="14573"/>
              </a:xfrm>
              <a:custGeom>
                <a:avLst/>
                <a:gdLst/>
                <a:ahLst/>
                <a:cxnLst/>
                <a:rect l="l" t="t" r="r" b="b"/>
                <a:pathLst>
                  <a:path w="19577" h="14573" extrusionOk="0">
                    <a:moveTo>
                      <a:pt x="0" y="12859"/>
                    </a:moveTo>
                    <a:lnTo>
                      <a:pt x="0" y="0"/>
                    </a:lnTo>
                    <a:lnTo>
                      <a:pt x="19578" y="2096"/>
                    </a:lnTo>
                    <a:lnTo>
                      <a:pt x="13305" y="14573"/>
                    </a:lnTo>
                    <a:lnTo>
                      <a:pt x="0" y="12859"/>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45" name="Google Shape;4404;p48">
                <a:extLst>
                  <a:ext uri="{FF2B5EF4-FFF2-40B4-BE49-F238E27FC236}">
                    <a16:creationId xmlns:a16="http://schemas.microsoft.com/office/drawing/2014/main" id="{F938955E-075C-0833-5697-5E54D758C279}"/>
                  </a:ext>
                </a:extLst>
              </p:cNvPr>
              <p:cNvSpPr/>
              <p:nvPr/>
            </p:nvSpPr>
            <p:spPr>
              <a:xfrm>
                <a:off x="5184016" y="5095875"/>
                <a:ext cx="22524" cy="22764"/>
              </a:xfrm>
              <a:custGeom>
                <a:avLst/>
                <a:gdLst/>
                <a:ahLst/>
                <a:cxnLst/>
                <a:rect l="l" t="t" r="r" b="b"/>
                <a:pathLst>
                  <a:path w="22524" h="22764" extrusionOk="0">
                    <a:moveTo>
                      <a:pt x="0" y="13526"/>
                    </a:moveTo>
                    <a:lnTo>
                      <a:pt x="0" y="0"/>
                    </a:lnTo>
                    <a:lnTo>
                      <a:pt x="22524" y="0"/>
                    </a:lnTo>
                    <a:lnTo>
                      <a:pt x="17012" y="12097"/>
                    </a:lnTo>
                    <a:lnTo>
                      <a:pt x="7508" y="22765"/>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46" name="Google Shape;4405;p48">
                <a:extLst>
                  <a:ext uri="{FF2B5EF4-FFF2-40B4-BE49-F238E27FC236}">
                    <a16:creationId xmlns:a16="http://schemas.microsoft.com/office/drawing/2014/main" id="{125BC3D0-F99E-3C5B-45EE-3B447CEFB4E6}"/>
                  </a:ext>
                </a:extLst>
              </p:cNvPr>
              <p:cNvSpPr/>
              <p:nvPr/>
            </p:nvSpPr>
            <p:spPr>
              <a:xfrm>
                <a:off x="5183826" y="5039963"/>
                <a:ext cx="221034" cy="138969"/>
              </a:xfrm>
              <a:custGeom>
                <a:avLst/>
                <a:gdLst/>
                <a:ahLst/>
                <a:cxnLst/>
                <a:rect l="l" t="t" r="r" b="b"/>
                <a:pathLst>
                  <a:path w="221034" h="138969" extrusionOk="0">
                    <a:moveTo>
                      <a:pt x="111955" y="22098"/>
                    </a:moveTo>
                    <a:cubicBezTo>
                      <a:pt x="109027" y="22050"/>
                      <a:pt x="106100" y="22279"/>
                      <a:pt x="103211" y="22765"/>
                    </a:cubicBezTo>
                    <a:cubicBezTo>
                      <a:pt x="99315" y="23336"/>
                      <a:pt x="94943" y="24098"/>
                      <a:pt x="90096" y="25146"/>
                    </a:cubicBezTo>
                    <a:cubicBezTo>
                      <a:pt x="85249" y="26194"/>
                      <a:pt x="80117" y="27432"/>
                      <a:pt x="74890" y="29051"/>
                    </a:cubicBezTo>
                    <a:cubicBezTo>
                      <a:pt x="69786" y="30547"/>
                      <a:pt x="64797" y="32433"/>
                      <a:pt x="59969" y="34671"/>
                    </a:cubicBezTo>
                    <a:lnTo>
                      <a:pt x="97984" y="56864"/>
                    </a:lnTo>
                    <a:lnTo>
                      <a:pt x="104922" y="54388"/>
                    </a:lnTo>
                    <a:cubicBezTo>
                      <a:pt x="114426" y="51149"/>
                      <a:pt x="123929" y="48387"/>
                      <a:pt x="132388" y="46196"/>
                    </a:cubicBezTo>
                    <a:cubicBezTo>
                      <a:pt x="140466" y="44005"/>
                      <a:pt x="148744" y="42634"/>
                      <a:pt x="157098" y="42100"/>
                    </a:cubicBezTo>
                    <a:cubicBezTo>
                      <a:pt x="164739" y="41596"/>
                      <a:pt x="172408" y="42100"/>
                      <a:pt x="179907" y="43624"/>
                    </a:cubicBezTo>
                    <a:cubicBezTo>
                      <a:pt x="187548" y="45215"/>
                      <a:pt x="194875" y="48082"/>
                      <a:pt x="201575" y="52102"/>
                    </a:cubicBezTo>
                    <a:cubicBezTo>
                      <a:pt x="208218" y="55454"/>
                      <a:pt x="213911" y="60427"/>
                      <a:pt x="218112" y="66580"/>
                    </a:cubicBezTo>
                    <a:cubicBezTo>
                      <a:pt x="220858" y="71047"/>
                      <a:pt x="221714" y="76428"/>
                      <a:pt x="220488" y="81534"/>
                    </a:cubicBezTo>
                    <a:cubicBezTo>
                      <a:pt x="218901" y="87173"/>
                      <a:pt x="215812" y="92278"/>
                      <a:pt x="211554" y="96298"/>
                    </a:cubicBezTo>
                    <a:cubicBezTo>
                      <a:pt x="206280" y="101565"/>
                      <a:pt x="200416" y="106204"/>
                      <a:pt x="194067" y="110109"/>
                    </a:cubicBezTo>
                    <a:lnTo>
                      <a:pt x="218397" y="124206"/>
                    </a:lnTo>
                    <a:lnTo>
                      <a:pt x="205187" y="131826"/>
                    </a:lnTo>
                    <a:lnTo>
                      <a:pt x="180667" y="117634"/>
                    </a:lnTo>
                    <a:cubicBezTo>
                      <a:pt x="168977" y="123425"/>
                      <a:pt x="156755" y="128045"/>
                      <a:pt x="144172" y="131445"/>
                    </a:cubicBezTo>
                    <a:cubicBezTo>
                      <a:pt x="131019" y="135131"/>
                      <a:pt x="117562" y="137655"/>
                      <a:pt x="103971" y="138970"/>
                    </a:cubicBezTo>
                    <a:lnTo>
                      <a:pt x="91141" y="116014"/>
                    </a:lnTo>
                    <a:cubicBezTo>
                      <a:pt x="94734" y="115929"/>
                      <a:pt x="98317" y="115633"/>
                      <a:pt x="101881" y="115157"/>
                    </a:cubicBezTo>
                    <a:cubicBezTo>
                      <a:pt x="107279" y="114519"/>
                      <a:pt x="112639" y="113595"/>
                      <a:pt x="117942" y="112395"/>
                    </a:cubicBezTo>
                    <a:cubicBezTo>
                      <a:pt x="123834" y="111157"/>
                      <a:pt x="130012" y="109538"/>
                      <a:pt x="136949" y="107632"/>
                    </a:cubicBezTo>
                    <a:cubicBezTo>
                      <a:pt x="143441" y="105775"/>
                      <a:pt x="149799" y="103451"/>
                      <a:pt x="155957" y="100679"/>
                    </a:cubicBezTo>
                    <a:lnTo>
                      <a:pt x="117942" y="78677"/>
                    </a:lnTo>
                    <a:lnTo>
                      <a:pt x="112905" y="80391"/>
                    </a:lnTo>
                    <a:lnTo>
                      <a:pt x="107773" y="82010"/>
                    </a:lnTo>
                    <a:cubicBezTo>
                      <a:pt x="98269" y="85154"/>
                      <a:pt x="89431" y="87630"/>
                      <a:pt x="81447" y="89440"/>
                    </a:cubicBezTo>
                    <a:cubicBezTo>
                      <a:pt x="74082" y="91164"/>
                      <a:pt x="66574" y="92154"/>
                      <a:pt x="59018" y="92392"/>
                    </a:cubicBezTo>
                    <a:cubicBezTo>
                      <a:pt x="52375" y="92631"/>
                      <a:pt x="45732" y="92021"/>
                      <a:pt x="39251" y="90583"/>
                    </a:cubicBezTo>
                    <a:cubicBezTo>
                      <a:pt x="32826" y="89049"/>
                      <a:pt x="26668" y="86544"/>
                      <a:pt x="21003" y="83153"/>
                    </a:cubicBezTo>
                    <a:cubicBezTo>
                      <a:pt x="14712" y="79848"/>
                      <a:pt x="9257" y="75162"/>
                      <a:pt x="5037" y="69437"/>
                    </a:cubicBezTo>
                    <a:cubicBezTo>
                      <a:pt x="1958" y="65151"/>
                      <a:pt x="447" y="59941"/>
                      <a:pt x="760" y="54673"/>
                    </a:cubicBezTo>
                    <a:cubicBezTo>
                      <a:pt x="1350" y="49216"/>
                      <a:pt x="3535" y="44044"/>
                      <a:pt x="7033" y="39814"/>
                    </a:cubicBezTo>
                    <a:cubicBezTo>
                      <a:pt x="11424" y="34357"/>
                      <a:pt x="16651" y="29623"/>
                      <a:pt x="22524" y="25813"/>
                    </a:cubicBezTo>
                    <a:lnTo>
                      <a:pt x="0" y="12763"/>
                    </a:lnTo>
                    <a:lnTo>
                      <a:pt x="13210" y="5048"/>
                    </a:lnTo>
                    <a:lnTo>
                      <a:pt x="35544" y="18002"/>
                    </a:lnTo>
                    <a:cubicBezTo>
                      <a:pt x="45998" y="12782"/>
                      <a:pt x="56994" y="8725"/>
                      <a:pt x="68332" y="5905"/>
                    </a:cubicBezTo>
                    <a:cubicBezTo>
                      <a:pt x="79100" y="3143"/>
                      <a:pt x="90067" y="1171"/>
                      <a:pt x="101120" y="0"/>
                    </a:cubicBezTo>
                    <a:close/>
                    <a:moveTo>
                      <a:pt x="46949" y="62198"/>
                    </a:moveTo>
                    <a:cubicBezTo>
                      <a:pt x="51995" y="65075"/>
                      <a:pt x="57802" y="66332"/>
                      <a:pt x="63580" y="65818"/>
                    </a:cubicBezTo>
                    <a:cubicBezTo>
                      <a:pt x="71307" y="64865"/>
                      <a:pt x="78910" y="63141"/>
                      <a:pt x="86294" y="60674"/>
                    </a:cubicBezTo>
                    <a:lnTo>
                      <a:pt x="50560" y="39910"/>
                    </a:lnTo>
                    <a:cubicBezTo>
                      <a:pt x="37445" y="48606"/>
                      <a:pt x="36238" y="56036"/>
                      <a:pt x="46949" y="62198"/>
                    </a:cubicBezTo>
                    <a:close/>
                    <a:moveTo>
                      <a:pt x="172399" y="72676"/>
                    </a:moveTo>
                    <a:cubicBezTo>
                      <a:pt x="166953" y="69675"/>
                      <a:pt x="160680" y="68532"/>
                      <a:pt x="154532" y="69437"/>
                    </a:cubicBezTo>
                    <a:cubicBezTo>
                      <a:pt x="146092" y="70561"/>
                      <a:pt x="137757" y="72409"/>
                      <a:pt x="129632" y="74962"/>
                    </a:cubicBezTo>
                    <a:lnTo>
                      <a:pt x="165176" y="95536"/>
                    </a:lnTo>
                    <a:cubicBezTo>
                      <a:pt x="180287" y="86296"/>
                      <a:pt x="182758" y="78677"/>
                      <a:pt x="172399" y="72676"/>
                    </a:cubicBezTo>
                    <a:close/>
                  </a:path>
                </a:pathLst>
              </a:custGeom>
              <a:solidFill>
                <a:srgbClr val="F9CA06"/>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grpSp>
        <p:grpSp>
          <p:nvGrpSpPr>
            <p:cNvPr id="379" name="Google Shape;4406;p48">
              <a:extLst>
                <a:ext uri="{FF2B5EF4-FFF2-40B4-BE49-F238E27FC236}">
                  <a16:creationId xmlns:a16="http://schemas.microsoft.com/office/drawing/2014/main" id="{430F39D9-AC3D-BF15-A7F1-19B4F2DFFB94}"/>
                </a:ext>
              </a:extLst>
            </p:cNvPr>
            <p:cNvGrpSpPr/>
            <p:nvPr/>
          </p:nvGrpSpPr>
          <p:grpSpPr>
            <a:xfrm>
              <a:off x="3213031" y="4002823"/>
              <a:ext cx="664504" cy="467011"/>
              <a:chOff x="4994131" y="4819173"/>
              <a:chExt cx="664504" cy="467011"/>
            </a:xfrm>
          </p:grpSpPr>
          <p:sp>
            <p:nvSpPr>
              <p:cNvPr id="514" name="Google Shape;4407;p48">
                <a:extLst>
                  <a:ext uri="{FF2B5EF4-FFF2-40B4-BE49-F238E27FC236}">
                    <a16:creationId xmlns:a16="http://schemas.microsoft.com/office/drawing/2014/main" id="{E41AF91D-01D4-A7FD-5C55-8C6F029274DB}"/>
                  </a:ext>
                </a:extLst>
              </p:cNvPr>
              <p:cNvSpPr/>
              <p:nvPr/>
            </p:nvSpPr>
            <p:spPr>
              <a:xfrm>
                <a:off x="4994131" y="4901565"/>
                <a:ext cx="664504" cy="384619"/>
              </a:xfrm>
              <a:custGeom>
                <a:avLst/>
                <a:gdLst/>
                <a:ahLst/>
                <a:cxnLst/>
                <a:rect l="l" t="t" r="r" b="b"/>
                <a:pathLst>
                  <a:path w="664504" h="384619" extrusionOk="0">
                    <a:moveTo>
                      <a:pt x="664505" y="192310"/>
                    </a:moveTo>
                    <a:cubicBezTo>
                      <a:pt x="664505" y="298520"/>
                      <a:pt x="515750" y="384620"/>
                      <a:pt x="332252" y="384620"/>
                    </a:cubicBezTo>
                    <a:cubicBezTo>
                      <a:pt x="148754" y="384620"/>
                      <a:pt x="0" y="298520"/>
                      <a:pt x="0" y="192310"/>
                    </a:cubicBezTo>
                    <a:cubicBezTo>
                      <a:pt x="0" y="86100"/>
                      <a:pt x="148754" y="0"/>
                      <a:pt x="332252" y="0"/>
                    </a:cubicBezTo>
                    <a:cubicBezTo>
                      <a:pt x="515750" y="0"/>
                      <a:pt x="664505" y="86100"/>
                      <a:pt x="664505" y="192310"/>
                    </a:cubicBezTo>
                    <a:close/>
                  </a:path>
                </a:pathLst>
              </a:custGeom>
              <a:solidFill>
                <a:srgbClr val="DD990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15" name="Google Shape;4408;p48">
                <a:extLst>
                  <a:ext uri="{FF2B5EF4-FFF2-40B4-BE49-F238E27FC236}">
                    <a16:creationId xmlns:a16="http://schemas.microsoft.com/office/drawing/2014/main" id="{175464AE-6347-3A62-EB28-3205001BBE0E}"/>
                  </a:ext>
                </a:extLst>
              </p:cNvPr>
              <p:cNvSpPr/>
              <p:nvPr/>
            </p:nvSpPr>
            <p:spPr>
              <a:xfrm>
                <a:off x="4994226" y="5009197"/>
                <a:ext cx="65576" cy="87630"/>
              </a:xfrm>
              <a:custGeom>
                <a:avLst/>
                <a:gdLst/>
                <a:ahLst/>
                <a:cxnLst/>
                <a:rect l="l" t="t" r="r" b="b"/>
                <a:pathLst>
                  <a:path w="65576" h="87630" extrusionOk="0">
                    <a:moveTo>
                      <a:pt x="0" y="87630"/>
                    </a:moveTo>
                    <a:lnTo>
                      <a:pt x="0" y="0"/>
                    </a:lnTo>
                    <a:lnTo>
                      <a:pt x="65576" y="58579"/>
                    </a:lnTo>
                    <a:lnTo>
                      <a:pt x="0" y="87630"/>
                    </a:lnTo>
                    <a:close/>
                  </a:path>
                </a:pathLst>
              </a:custGeom>
              <a:solidFill>
                <a:srgbClr val="DD990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16" name="Google Shape;4409;p48">
                <a:extLst>
                  <a:ext uri="{FF2B5EF4-FFF2-40B4-BE49-F238E27FC236}">
                    <a16:creationId xmlns:a16="http://schemas.microsoft.com/office/drawing/2014/main" id="{67B095C9-A059-AD9E-708B-04867EE8AF61}"/>
                  </a:ext>
                </a:extLst>
              </p:cNvPr>
              <p:cNvSpPr/>
              <p:nvPr/>
            </p:nvSpPr>
            <p:spPr>
              <a:xfrm>
                <a:off x="5608645" y="5011483"/>
                <a:ext cx="49989" cy="118109"/>
              </a:xfrm>
              <a:custGeom>
                <a:avLst/>
                <a:gdLst/>
                <a:ahLst/>
                <a:cxnLst/>
                <a:rect l="l" t="t" r="r" b="b"/>
                <a:pathLst>
                  <a:path w="49989" h="118109" extrusionOk="0">
                    <a:moveTo>
                      <a:pt x="49990" y="0"/>
                    </a:moveTo>
                    <a:lnTo>
                      <a:pt x="49990" y="82391"/>
                    </a:lnTo>
                    <a:lnTo>
                      <a:pt x="16442" y="118110"/>
                    </a:lnTo>
                    <a:lnTo>
                      <a:pt x="0" y="23813"/>
                    </a:lnTo>
                    <a:lnTo>
                      <a:pt x="49990" y="0"/>
                    </a:lnTo>
                    <a:close/>
                  </a:path>
                </a:pathLst>
              </a:custGeom>
              <a:solidFill>
                <a:srgbClr val="DD990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17" name="Google Shape;4410;p48">
                <a:extLst>
                  <a:ext uri="{FF2B5EF4-FFF2-40B4-BE49-F238E27FC236}">
                    <a16:creationId xmlns:a16="http://schemas.microsoft.com/office/drawing/2014/main" id="{A25EDA38-4A01-C60F-209B-E99B663ED37E}"/>
                  </a:ext>
                </a:extLst>
              </p:cNvPr>
              <p:cNvSpPr/>
              <p:nvPr/>
            </p:nvSpPr>
            <p:spPr>
              <a:xfrm>
                <a:off x="4994131" y="4819173"/>
                <a:ext cx="664504" cy="384619"/>
              </a:xfrm>
              <a:custGeom>
                <a:avLst/>
                <a:gdLst/>
                <a:ahLst/>
                <a:cxnLst/>
                <a:rect l="l" t="t" r="r" b="b"/>
                <a:pathLst>
                  <a:path w="664504" h="384619" extrusionOk="0">
                    <a:moveTo>
                      <a:pt x="664505" y="192310"/>
                    </a:moveTo>
                    <a:cubicBezTo>
                      <a:pt x="664505" y="298520"/>
                      <a:pt x="515750" y="384620"/>
                      <a:pt x="332252" y="384620"/>
                    </a:cubicBezTo>
                    <a:cubicBezTo>
                      <a:pt x="148754" y="384620"/>
                      <a:pt x="0" y="298520"/>
                      <a:pt x="0" y="192310"/>
                    </a:cubicBezTo>
                    <a:cubicBezTo>
                      <a:pt x="0" y="86100"/>
                      <a:pt x="148754" y="0"/>
                      <a:pt x="332252" y="0"/>
                    </a:cubicBezTo>
                    <a:cubicBezTo>
                      <a:pt x="515750" y="0"/>
                      <a:pt x="664505" y="86100"/>
                      <a:pt x="664505" y="192310"/>
                    </a:cubicBezTo>
                    <a:close/>
                  </a:path>
                </a:pathLst>
              </a:custGeom>
              <a:solidFill>
                <a:srgbClr val="F9CB07"/>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18" name="Google Shape;4411;p48">
                <a:extLst>
                  <a:ext uri="{FF2B5EF4-FFF2-40B4-BE49-F238E27FC236}">
                    <a16:creationId xmlns:a16="http://schemas.microsoft.com/office/drawing/2014/main" id="{952936D8-8D94-DCBF-E2EA-5EC3BB84F18C}"/>
                  </a:ext>
                </a:extLst>
              </p:cNvPr>
              <p:cNvSpPr/>
              <p:nvPr/>
            </p:nvSpPr>
            <p:spPr>
              <a:xfrm>
                <a:off x="5088612" y="4871585"/>
                <a:ext cx="475616" cy="275248"/>
              </a:xfrm>
              <a:custGeom>
                <a:avLst/>
                <a:gdLst/>
                <a:ahLst/>
                <a:cxnLst/>
                <a:rect l="l" t="t" r="r" b="b"/>
                <a:pathLst>
                  <a:path w="475616" h="275248" extrusionOk="0">
                    <a:moveTo>
                      <a:pt x="475175" y="145899"/>
                    </a:moveTo>
                    <a:cubicBezTo>
                      <a:pt x="471849" y="178284"/>
                      <a:pt x="448849" y="210193"/>
                      <a:pt x="405987" y="234958"/>
                    </a:cubicBezTo>
                    <a:cubicBezTo>
                      <a:pt x="313040" y="288679"/>
                      <a:pt x="162500" y="288679"/>
                      <a:pt x="69553" y="234958"/>
                    </a:cubicBezTo>
                    <a:cubicBezTo>
                      <a:pt x="26691" y="210193"/>
                      <a:pt x="3692" y="178284"/>
                      <a:pt x="461" y="145899"/>
                    </a:cubicBezTo>
                    <a:cubicBezTo>
                      <a:pt x="-3626" y="107799"/>
                      <a:pt x="19468" y="69699"/>
                      <a:pt x="69553" y="40362"/>
                    </a:cubicBezTo>
                    <a:cubicBezTo>
                      <a:pt x="162500" y="-13454"/>
                      <a:pt x="313040" y="-13454"/>
                      <a:pt x="405987" y="40362"/>
                    </a:cubicBezTo>
                    <a:cubicBezTo>
                      <a:pt x="456072" y="69223"/>
                      <a:pt x="479167" y="107990"/>
                      <a:pt x="475175" y="145899"/>
                    </a:cubicBez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19" name="Google Shape;4412;p48">
                <a:extLst>
                  <a:ext uri="{FF2B5EF4-FFF2-40B4-BE49-F238E27FC236}">
                    <a16:creationId xmlns:a16="http://schemas.microsoft.com/office/drawing/2014/main" id="{AC9D7AFE-00C0-E4F3-2FA8-34A7483C1310}"/>
                  </a:ext>
                </a:extLst>
              </p:cNvPr>
              <p:cNvSpPr/>
              <p:nvPr/>
            </p:nvSpPr>
            <p:spPr>
              <a:xfrm>
                <a:off x="5089073" y="4888063"/>
                <a:ext cx="474714" cy="258770"/>
              </a:xfrm>
              <a:custGeom>
                <a:avLst/>
                <a:gdLst/>
                <a:ahLst/>
                <a:cxnLst/>
                <a:rect l="l" t="t" r="r" b="b"/>
                <a:pathLst>
                  <a:path w="474714" h="258770" extrusionOk="0">
                    <a:moveTo>
                      <a:pt x="474714" y="129421"/>
                    </a:moveTo>
                    <a:cubicBezTo>
                      <a:pt x="471388" y="161806"/>
                      <a:pt x="448389" y="193715"/>
                      <a:pt x="405527" y="218480"/>
                    </a:cubicBezTo>
                    <a:cubicBezTo>
                      <a:pt x="312580" y="272201"/>
                      <a:pt x="162040" y="272201"/>
                      <a:pt x="69092" y="218480"/>
                    </a:cubicBezTo>
                    <a:cubicBezTo>
                      <a:pt x="26230" y="193715"/>
                      <a:pt x="3231" y="161806"/>
                      <a:pt x="0" y="129421"/>
                    </a:cubicBezTo>
                    <a:cubicBezTo>
                      <a:pt x="3231" y="97036"/>
                      <a:pt x="26230" y="65127"/>
                      <a:pt x="69092" y="40362"/>
                    </a:cubicBezTo>
                    <a:cubicBezTo>
                      <a:pt x="162040" y="-13454"/>
                      <a:pt x="312580" y="-13454"/>
                      <a:pt x="405527" y="40362"/>
                    </a:cubicBezTo>
                    <a:cubicBezTo>
                      <a:pt x="448389" y="64937"/>
                      <a:pt x="471388" y="97036"/>
                      <a:pt x="474714" y="129421"/>
                    </a:cubicBezTo>
                    <a:close/>
                  </a:path>
                </a:pathLst>
              </a:custGeom>
              <a:solidFill>
                <a:srgbClr val="E8A30A"/>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20" name="Google Shape;4413;p48">
                <a:extLst>
                  <a:ext uri="{FF2B5EF4-FFF2-40B4-BE49-F238E27FC236}">
                    <a16:creationId xmlns:a16="http://schemas.microsoft.com/office/drawing/2014/main" id="{35D58EE3-B4C9-C3E5-E4B5-BDE1DD698FBF}"/>
                  </a:ext>
                </a:extLst>
              </p:cNvPr>
              <p:cNvSpPr/>
              <p:nvPr/>
            </p:nvSpPr>
            <p:spPr>
              <a:xfrm>
                <a:off x="5211197" y="4950333"/>
                <a:ext cx="220817" cy="138588"/>
              </a:xfrm>
              <a:custGeom>
                <a:avLst/>
                <a:gdLst/>
                <a:ahLst/>
                <a:cxnLst/>
                <a:rect l="l" t="t" r="r" b="b"/>
                <a:pathLst>
                  <a:path w="220817" h="138588" extrusionOk="0">
                    <a:moveTo>
                      <a:pt x="111669" y="21717"/>
                    </a:moveTo>
                    <a:cubicBezTo>
                      <a:pt x="108742" y="21679"/>
                      <a:pt x="105815" y="21898"/>
                      <a:pt x="102926" y="22384"/>
                    </a:cubicBezTo>
                    <a:cubicBezTo>
                      <a:pt x="99030" y="22955"/>
                      <a:pt x="94658" y="23717"/>
                      <a:pt x="89811" y="24765"/>
                    </a:cubicBezTo>
                    <a:cubicBezTo>
                      <a:pt x="84964" y="25813"/>
                      <a:pt x="80307" y="27051"/>
                      <a:pt x="74700" y="28670"/>
                    </a:cubicBezTo>
                    <a:cubicBezTo>
                      <a:pt x="69596" y="30204"/>
                      <a:pt x="64607" y="32109"/>
                      <a:pt x="59779" y="34385"/>
                    </a:cubicBezTo>
                    <a:lnTo>
                      <a:pt x="97794" y="56483"/>
                    </a:lnTo>
                    <a:lnTo>
                      <a:pt x="104637" y="54007"/>
                    </a:lnTo>
                    <a:cubicBezTo>
                      <a:pt x="114141" y="50768"/>
                      <a:pt x="123644" y="48006"/>
                      <a:pt x="132198" y="45815"/>
                    </a:cubicBezTo>
                    <a:cubicBezTo>
                      <a:pt x="140276" y="43624"/>
                      <a:pt x="148554" y="42253"/>
                      <a:pt x="156908" y="41720"/>
                    </a:cubicBezTo>
                    <a:cubicBezTo>
                      <a:pt x="164511" y="41215"/>
                      <a:pt x="172152" y="41720"/>
                      <a:pt x="179622" y="43244"/>
                    </a:cubicBezTo>
                    <a:cubicBezTo>
                      <a:pt x="187282" y="44872"/>
                      <a:pt x="194638" y="47739"/>
                      <a:pt x="201385" y="51721"/>
                    </a:cubicBezTo>
                    <a:cubicBezTo>
                      <a:pt x="208009" y="55064"/>
                      <a:pt x="213664" y="60045"/>
                      <a:pt x="217827" y="66199"/>
                    </a:cubicBezTo>
                    <a:cubicBezTo>
                      <a:pt x="220602" y="70656"/>
                      <a:pt x="221495" y="76038"/>
                      <a:pt x="220298" y="81153"/>
                    </a:cubicBezTo>
                    <a:cubicBezTo>
                      <a:pt x="218673" y="86773"/>
                      <a:pt x="215584" y="91869"/>
                      <a:pt x="211364" y="95917"/>
                    </a:cubicBezTo>
                    <a:cubicBezTo>
                      <a:pt x="206118" y="101213"/>
                      <a:pt x="200245" y="105851"/>
                      <a:pt x="193877" y="109728"/>
                    </a:cubicBezTo>
                    <a:lnTo>
                      <a:pt x="218207" y="123825"/>
                    </a:lnTo>
                    <a:lnTo>
                      <a:pt x="204902" y="131445"/>
                    </a:lnTo>
                    <a:lnTo>
                      <a:pt x="180382" y="117253"/>
                    </a:lnTo>
                    <a:cubicBezTo>
                      <a:pt x="168730" y="123044"/>
                      <a:pt x="156537" y="127663"/>
                      <a:pt x="143982" y="131064"/>
                    </a:cubicBezTo>
                    <a:cubicBezTo>
                      <a:pt x="130829" y="134731"/>
                      <a:pt x="117372" y="137255"/>
                      <a:pt x="103781" y="138589"/>
                    </a:cubicBezTo>
                    <a:lnTo>
                      <a:pt x="91236" y="116014"/>
                    </a:lnTo>
                    <a:cubicBezTo>
                      <a:pt x="94829" y="115919"/>
                      <a:pt x="98412" y="115633"/>
                      <a:pt x="101976" y="115157"/>
                    </a:cubicBezTo>
                    <a:cubicBezTo>
                      <a:pt x="107345" y="114510"/>
                      <a:pt x="112667" y="113586"/>
                      <a:pt x="117942" y="112395"/>
                    </a:cubicBezTo>
                    <a:cubicBezTo>
                      <a:pt x="123834" y="111157"/>
                      <a:pt x="130107" y="109538"/>
                      <a:pt x="136950" y="107632"/>
                    </a:cubicBezTo>
                    <a:cubicBezTo>
                      <a:pt x="143460" y="105823"/>
                      <a:pt x="149818" y="103499"/>
                      <a:pt x="155957" y="100679"/>
                    </a:cubicBezTo>
                    <a:lnTo>
                      <a:pt x="117942" y="78677"/>
                    </a:lnTo>
                    <a:lnTo>
                      <a:pt x="113000" y="80391"/>
                    </a:lnTo>
                    <a:lnTo>
                      <a:pt x="107773" y="82010"/>
                    </a:lnTo>
                    <a:cubicBezTo>
                      <a:pt x="98269" y="85182"/>
                      <a:pt x="89526" y="87659"/>
                      <a:pt x="81543" y="89440"/>
                    </a:cubicBezTo>
                    <a:cubicBezTo>
                      <a:pt x="74177" y="91154"/>
                      <a:pt x="66669" y="92145"/>
                      <a:pt x="59114" y="92393"/>
                    </a:cubicBezTo>
                    <a:cubicBezTo>
                      <a:pt x="52471" y="92678"/>
                      <a:pt x="45827" y="92069"/>
                      <a:pt x="39346" y="90583"/>
                    </a:cubicBezTo>
                    <a:cubicBezTo>
                      <a:pt x="32893" y="89040"/>
                      <a:pt x="26715" y="86535"/>
                      <a:pt x="21003" y="83153"/>
                    </a:cubicBezTo>
                    <a:cubicBezTo>
                      <a:pt x="14769" y="79848"/>
                      <a:pt x="9352" y="75200"/>
                      <a:pt x="5132" y="69532"/>
                    </a:cubicBezTo>
                    <a:cubicBezTo>
                      <a:pt x="2072" y="65246"/>
                      <a:pt x="561" y="60036"/>
                      <a:pt x="855" y="54769"/>
                    </a:cubicBezTo>
                    <a:cubicBezTo>
                      <a:pt x="1378" y="49263"/>
                      <a:pt x="3573" y="44044"/>
                      <a:pt x="7128" y="39814"/>
                    </a:cubicBezTo>
                    <a:cubicBezTo>
                      <a:pt x="11481" y="34357"/>
                      <a:pt x="16679" y="29623"/>
                      <a:pt x="22524" y="25813"/>
                    </a:cubicBezTo>
                    <a:lnTo>
                      <a:pt x="0" y="12763"/>
                    </a:lnTo>
                    <a:lnTo>
                      <a:pt x="13305" y="5048"/>
                    </a:lnTo>
                    <a:lnTo>
                      <a:pt x="35639" y="18002"/>
                    </a:lnTo>
                    <a:cubicBezTo>
                      <a:pt x="46093" y="12783"/>
                      <a:pt x="57089" y="8725"/>
                      <a:pt x="68427" y="5905"/>
                    </a:cubicBezTo>
                    <a:cubicBezTo>
                      <a:pt x="79195" y="3143"/>
                      <a:pt x="90162" y="1171"/>
                      <a:pt x="101215" y="0"/>
                    </a:cubicBezTo>
                    <a:close/>
                    <a:moveTo>
                      <a:pt x="46759" y="61817"/>
                    </a:moveTo>
                    <a:cubicBezTo>
                      <a:pt x="51758" y="64732"/>
                      <a:pt x="57546" y="65999"/>
                      <a:pt x="63295" y="65437"/>
                    </a:cubicBezTo>
                    <a:cubicBezTo>
                      <a:pt x="71050" y="64494"/>
                      <a:pt x="78691" y="62770"/>
                      <a:pt x="86104" y="60293"/>
                    </a:cubicBezTo>
                    <a:lnTo>
                      <a:pt x="50275" y="39624"/>
                    </a:lnTo>
                    <a:cubicBezTo>
                      <a:pt x="37160" y="48454"/>
                      <a:pt x="35991" y="55978"/>
                      <a:pt x="46759" y="62198"/>
                    </a:cubicBezTo>
                    <a:close/>
                    <a:moveTo>
                      <a:pt x="172209" y="72295"/>
                    </a:moveTo>
                    <a:cubicBezTo>
                      <a:pt x="166753" y="69323"/>
                      <a:pt x="160481" y="68218"/>
                      <a:pt x="154342" y="69152"/>
                    </a:cubicBezTo>
                    <a:cubicBezTo>
                      <a:pt x="145874" y="70237"/>
                      <a:pt x="137510" y="72057"/>
                      <a:pt x="129347" y="74581"/>
                    </a:cubicBezTo>
                    <a:lnTo>
                      <a:pt x="164891" y="95155"/>
                    </a:lnTo>
                    <a:cubicBezTo>
                      <a:pt x="180097" y="86296"/>
                      <a:pt x="182473" y="78867"/>
                      <a:pt x="172209" y="72676"/>
                    </a:cubicBez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21" name="Google Shape;4414;p48">
                <a:extLst>
                  <a:ext uri="{FF2B5EF4-FFF2-40B4-BE49-F238E27FC236}">
                    <a16:creationId xmlns:a16="http://schemas.microsoft.com/office/drawing/2014/main" id="{5B989A95-1BE6-D9AB-9CFD-1BA5EEC85026}"/>
                  </a:ext>
                </a:extLst>
              </p:cNvPr>
              <p:cNvSpPr/>
              <p:nvPr/>
            </p:nvSpPr>
            <p:spPr>
              <a:xfrm>
                <a:off x="5302433" y="5053393"/>
                <a:ext cx="14635" cy="19050"/>
              </a:xfrm>
              <a:custGeom>
                <a:avLst/>
                <a:gdLst/>
                <a:ahLst/>
                <a:cxnLst/>
                <a:rect l="l" t="t" r="r" b="b"/>
                <a:pathLst>
                  <a:path w="14635" h="19050" extrusionOk="0">
                    <a:moveTo>
                      <a:pt x="0" y="12954"/>
                    </a:moveTo>
                    <a:cubicBezTo>
                      <a:pt x="0" y="12001"/>
                      <a:pt x="0" y="0"/>
                      <a:pt x="0" y="0"/>
                    </a:cubicBezTo>
                    <a:lnTo>
                      <a:pt x="14636" y="9525"/>
                    </a:lnTo>
                    <a:lnTo>
                      <a:pt x="8268" y="19050"/>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22" name="Google Shape;4415;p48">
                <a:extLst>
                  <a:ext uri="{FF2B5EF4-FFF2-40B4-BE49-F238E27FC236}">
                    <a16:creationId xmlns:a16="http://schemas.microsoft.com/office/drawing/2014/main" id="{5653CBD6-B994-5CCD-6B8F-86EE15DA8AC0}"/>
                  </a:ext>
                </a:extLst>
              </p:cNvPr>
              <p:cNvSpPr/>
              <p:nvPr/>
            </p:nvSpPr>
            <p:spPr>
              <a:xfrm>
                <a:off x="5397946" y="5061584"/>
                <a:ext cx="31647" cy="14858"/>
              </a:xfrm>
              <a:custGeom>
                <a:avLst/>
                <a:gdLst/>
                <a:ahLst/>
                <a:cxnLst/>
                <a:rect l="l" t="t" r="r" b="b"/>
                <a:pathLst>
                  <a:path w="31647" h="14858" extrusionOk="0">
                    <a:moveTo>
                      <a:pt x="31648" y="12954"/>
                    </a:moveTo>
                    <a:lnTo>
                      <a:pt x="31648" y="0"/>
                    </a:lnTo>
                    <a:lnTo>
                      <a:pt x="0" y="2477"/>
                    </a:lnTo>
                    <a:lnTo>
                      <a:pt x="18152" y="14859"/>
                    </a:lnTo>
                    <a:lnTo>
                      <a:pt x="31648" y="12954"/>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23" name="Google Shape;4416;p48">
                <a:extLst>
                  <a:ext uri="{FF2B5EF4-FFF2-40B4-BE49-F238E27FC236}">
                    <a16:creationId xmlns:a16="http://schemas.microsoft.com/office/drawing/2014/main" id="{940B8F47-A660-6DD2-273E-2E2D1EAE8F7B}"/>
                  </a:ext>
                </a:extLst>
              </p:cNvPr>
              <p:cNvSpPr/>
              <p:nvPr/>
            </p:nvSpPr>
            <p:spPr>
              <a:xfrm>
                <a:off x="5408591" y="5014055"/>
                <a:ext cx="23664" cy="13049"/>
              </a:xfrm>
              <a:custGeom>
                <a:avLst/>
                <a:gdLst/>
                <a:ahLst/>
                <a:cxnLst/>
                <a:rect l="l" t="t" r="r" b="b"/>
                <a:pathLst>
                  <a:path w="23664" h="13049" extrusionOk="0">
                    <a:moveTo>
                      <a:pt x="23664" y="13049"/>
                    </a:moveTo>
                    <a:lnTo>
                      <a:pt x="23664" y="0"/>
                    </a:lnTo>
                    <a:lnTo>
                      <a:pt x="0" y="8572"/>
                    </a:lnTo>
                    <a:lnTo>
                      <a:pt x="23664" y="13049"/>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24" name="Google Shape;4417;p48">
                <a:extLst>
                  <a:ext uri="{FF2B5EF4-FFF2-40B4-BE49-F238E27FC236}">
                    <a16:creationId xmlns:a16="http://schemas.microsoft.com/office/drawing/2014/main" id="{B1451017-1450-5310-F3D5-7982E2E4D9FB}"/>
                  </a:ext>
                </a:extLst>
              </p:cNvPr>
              <p:cNvSpPr/>
              <p:nvPr/>
            </p:nvSpPr>
            <p:spPr>
              <a:xfrm>
                <a:off x="5334271" y="5018913"/>
                <a:ext cx="35639" cy="24669"/>
              </a:xfrm>
              <a:custGeom>
                <a:avLst/>
                <a:gdLst/>
                <a:ahLst/>
                <a:cxnLst/>
                <a:rect l="l" t="t" r="r" b="b"/>
                <a:pathLst>
                  <a:path w="35639" h="24669" extrusionOk="0">
                    <a:moveTo>
                      <a:pt x="0" y="7525"/>
                    </a:moveTo>
                    <a:lnTo>
                      <a:pt x="7888" y="0"/>
                    </a:lnTo>
                    <a:lnTo>
                      <a:pt x="35639" y="19050"/>
                    </a:lnTo>
                    <a:lnTo>
                      <a:pt x="33928" y="24670"/>
                    </a:lnTo>
                    <a:cubicBezTo>
                      <a:pt x="33928" y="24670"/>
                      <a:pt x="13115" y="15907"/>
                      <a:pt x="12450" y="15145"/>
                    </a:cubicBezTo>
                    <a:cubicBezTo>
                      <a:pt x="11785" y="14383"/>
                      <a:pt x="0" y="7525"/>
                      <a:pt x="0" y="7525"/>
                    </a:cubicBez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25" name="Google Shape;4418;p48">
                <a:extLst>
                  <a:ext uri="{FF2B5EF4-FFF2-40B4-BE49-F238E27FC236}">
                    <a16:creationId xmlns:a16="http://schemas.microsoft.com/office/drawing/2014/main" id="{E8770EA2-1105-1F18-29EB-0A64CAB6CBA3}"/>
                  </a:ext>
                </a:extLst>
              </p:cNvPr>
              <p:cNvSpPr/>
              <p:nvPr/>
            </p:nvSpPr>
            <p:spPr>
              <a:xfrm>
                <a:off x="5261567" y="4977479"/>
                <a:ext cx="44382" cy="29146"/>
              </a:xfrm>
              <a:custGeom>
                <a:avLst/>
                <a:gdLst/>
                <a:ahLst/>
                <a:cxnLst/>
                <a:rect l="l" t="t" r="r" b="b"/>
                <a:pathLst>
                  <a:path w="44382" h="29146" extrusionOk="0">
                    <a:moveTo>
                      <a:pt x="0" y="8287"/>
                    </a:moveTo>
                    <a:lnTo>
                      <a:pt x="36875" y="29146"/>
                    </a:lnTo>
                    <a:lnTo>
                      <a:pt x="44383" y="23717"/>
                    </a:lnTo>
                    <a:lnTo>
                      <a:pt x="39441" y="17907"/>
                    </a:lnTo>
                    <a:cubicBezTo>
                      <a:pt x="36143" y="14135"/>
                      <a:pt x="32256" y="10925"/>
                      <a:pt x="27941" y="8382"/>
                    </a:cubicBezTo>
                    <a:cubicBezTo>
                      <a:pt x="25185" y="7811"/>
                      <a:pt x="7793" y="0"/>
                      <a:pt x="7793" y="0"/>
                    </a:cubicBez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26" name="Google Shape;4419;p48">
                <a:extLst>
                  <a:ext uri="{FF2B5EF4-FFF2-40B4-BE49-F238E27FC236}">
                    <a16:creationId xmlns:a16="http://schemas.microsoft.com/office/drawing/2014/main" id="{439C2014-F523-37DD-07A9-B99003653BBE}"/>
                  </a:ext>
                </a:extLst>
              </p:cNvPr>
              <p:cNvSpPr/>
              <p:nvPr/>
            </p:nvSpPr>
            <p:spPr>
              <a:xfrm>
                <a:off x="5302338" y="4953952"/>
                <a:ext cx="20528" cy="18478"/>
              </a:xfrm>
              <a:custGeom>
                <a:avLst/>
                <a:gdLst/>
                <a:ahLst/>
                <a:cxnLst/>
                <a:rect l="l" t="t" r="r" b="b"/>
                <a:pathLst>
                  <a:path w="20528" h="18478" extrusionOk="0">
                    <a:moveTo>
                      <a:pt x="20528" y="18479"/>
                    </a:moveTo>
                    <a:lnTo>
                      <a:pt x="20528" y="5524"/>
                    </a:lnTo>
                    <a:lnTo>
                      <a:pt x="3611" y="0"/>
                    </a:lnTo>
                    <a:lnTo>
                      <a:pt x="0" y="10192"/>
                    </a:lnTo>
                    <a:lnTo>
                      <a:pt x="855" y="14764"/>
                    </a:lnTo>
                    <a:lnTo>
                      <a:pt x="20528" y="18479"/>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27" name="Google Shape;4420;p48">
                <a:extLst>
                  <a:ext uri="{FF2B5EF4-FFF2-40B4-BE49-F238E27FC236}">
                    <a16:creationId xmlns:a16="http://schemas.microsoft.com/office/drawing/2014/main" id="{D7E9FDD7-BDEE-AE1B-2B84-D5926D3EA5C4}"/>
                  </a:ext>
                </a:extLst>
              </p:cNvPr>
              <p:cNvSpPr/>
              <p:nvPr/>
            </p:nvSpPr>
            <p:spPr>
              <a:xfrm>
                <a:off x="5210437" y="4950142"/>
                <a:ext cx="19672" cy="14668"/>
              </a:xfrm>
              <a:custGeom>
                <a:avLst/>
                <a:gdLst/>
                <a:ahLst/>
                <a:cxnLst/>
                <a:rect l="l" t="t" r="r" b="b"/>
                <a:pathLst>
                  <a:path w="19672" h="14668" extrusionOk="0">
                    <a:moveTo>
                      <a:pt x="0" y="12954"/>
                    </a:moveTo>
                    <a:lnTo>
                      <a:pt x="0" y="0"/>
                    </a:lnTo>
                    <a:lnTo>
                      <a:pt x="19673" y="2096"/>
                    </a:lnTo>
                    <a:lnTo>
                      <a:pt x="13305" y="14668"/>
                    </a:lnTo>
                    <a:lnTo>
                      <a:pt x="0" y="12954"/>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28" name="Google Shape;4421;p48">
                <a:extLst>
                  <a:ext uri="{FF2B5EF4-FFF2-40B4-BE49-F238E27FC236}">
                    <a16:creationId xmlns:a16="http://schemas.microsoft.com/office/drawing/2014/main" id="{757532CA-8FCA-6D83-1E25-46013C45C0C8}"/>
                  </a:ext>
                </a:extLst>
              </p:cNvPr>
              <p:cNvSpPr/>
              <p:nvPr/>
            </p:nvSpPr>
            <p:spPr>
              <a:xfrm>
                <a:off x="5211197" y="4993481"/>
                <a:ext cx="22524" cy="22764"/>
              </a:xfrm>
              <a:custGeom>
                <a:avLst/>
                <a:gdLst/>
                <a:ahLst/>
                <a:cxnLst/>
                <a:rect l="l" t="t" r="r" b="b"/>
                <a:pathLst>
                  <a:path w="22524" h="22764" extrusionOk="0">
                    <a:moveTo>
                      <a:pt x="0" y="13430"/>
                    </a:moveTo>
                    <a:lnTo>
                      <a:pt x="0" y="0"/>
                    </a:lnTo>
                    <a:lnTo>
                      <a:pt x="22524" y="0"/>
                    </a:lnTo>
                    <a:lnTo>
                      <a:pt x="17012" y="12002"/>
                    </a:lnTo>
                    <a:lnTo>
                      <a:pt x="7508" y="22765"/>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29" name="Google Shape;4422;p48">
                <a:extLst>
                  <a:ext uri="{FF2B5EF4-FFF2-40B4-BE49-F238E27FC236}">
                    <a16:creationId xmlns:a16="http://schemas.microsoft.com/office/drawing/2014/main" id="{11FFC4E5-69E5-3FDF-E3A8-DA932F235130}"/>
                  </a:ext>
                </a:extLst>
              </p:cNvPr>
              <p:cNvSpPr/>
              <p:nvPr/>
            </p:nvSpPr>
            <p:spPr>
              <a:xfrm>
                <a:off x="5211197" y="4937378"/>
                <a:ext cx="220817" cy="139065"/>
              </a:xfrm>
              <a:custGeom>
                <a:avLst/>
                <a:gdLst/>
                <a:ahLst/>
                <a:cxnLst/>
                <a:rect l="l" t="t" r="r" b="b"/>
                <a:pathLst>
                  <a:path w="220817" h="139065" extrusionOk="0">
                    <a:moveTo>
                      <a:pt x="111669" y="22098"/>
                    </a:moveTo>
                    <a:cubicBezTo>
                      <a:pt x="108742" y="22098"/>
                      <a:pt x="105815" y="22355"/>
                      <a:pt x="102926" y="22860"/>
                    </a:cubicBezTo>
                    <a:cubicBezTo>
                      <a:pt x="99030" y="23336"/>
                      <a:pt x="94658" y="24194"/>
                      <a:pt x="89811" y="25146"/>
                    </a:cubicBezTo>
                    <a:cubicBezTo>
                      <a:pt x="84964" y="26099"/>
                      <a:pt x="80307" y="27527"/>
                      <a:pt x="74700" y="29051"/>
                    </a:cubicBezTo>
                    <a:cubicBezTo>
                      <a:pt x="69606" y="30623"/>
                      <a:pt x="64626" y="32538"/>
                      <a:pt x="59779" y="34766"/>
                    </a:cubicBezTo>
                    <a:lnTo>
                      <a:pt x="97794" y="56864"/>
                    </a:lnTo>
                    <a:lnTo>
                      <a:pt x="104637" y="54483"/>
                    </a:lnTo>
                    <a:cubicBezTo>
                      <a:pt x="114141" y="51245"/>
                      <a:pt x="123644" y="48483"/>
                      <a:pt x="132198" y="46196"/>
                    </a:cubicBezTo>
                    <a:cubicBezTo>
                      <a:pt x="140276" y="44006"/>
                      <a:pt x="148554" y="42634"/>
                      <a:pt x="156908" y="42101"/>
                    </a:cubicBezTo>
                    <a:cubicBezTo>
                      <a:pt x="164511" y="41643"/>
                      <a:pt x="172142" y="42148"/>
                      <a:pt x="179622" y="43625"/>
                    </a:cubicBezTo>
                    <a:cubicBezTo>
                      <a:pt x="187291" y="45291"/>
                      <a:pt x="194638" y="48187"/>
                      <a:pt x="201385" y="52197"/>
                    </a:cubicBezTo>
                    <a:cubicBezTo>
                      <a:pt x="208028" y="55512"/>
                      <a:pt x="213693" y="60503"/>
                      <a:pt x="217827" y="66675"/>
                    </a:cubicBezTo>
                    <a:cubicBezTo>
                      <a:pt x="220602" y="71133"/>
                      <a:pt x="221495" y="76515"/>
                      <a:pt x="220298" y="81629"/>
                    </a:cubicBezTo>
                    <a:cubicBezTo>
                      <a:pt x="218644" y="87249"/>
                      <a:pt x="215574" y="92335"/>
                      <a:pt x="211364" y="96393"/>
                    </a:cubicBezTo>
                    <a:cubicBezTo>
                      <a:pt x="206090" y="101660"/>
                      <a:pt x="200226" y="106299"/>
                      <a:pt x="193877" y="110204"/>
                    </a:cubicBezTo>
                    <a:lnTo>
                      <a:pt x="218207" y="124206"/>
                    </a:lnTo>
                    <a:lnTo>
                      <a:pt x="204902" y="131921"/>
                    </a:lnTo>
                    <a:lnTo>
                      <a:pt x="180382" y="117729"/>
                    </a:lnTo>
                    <a:cubicBezTo>
                      <a:pt x="168711" y="123473"/>
                      <a:pt x="156527" y="128102"/>
                      <a:pt x="143982" y="131541"/>
                    </a:cubicBezTo>
                    <a:cubicBezTo>
                      <a:pt x="130810" y="135169"/>
                      <a:pt x="117372" y="137684"/>
                      <a:pt x="103781" y="139065"/>
                    </a:cubicBezTo>
                    <a:lnTo>
                      <a:pt x="91236" y="116015"/>
                    </a:lnTo>
                    <a:cubicBezTo>
                      <a:pt x="93612" y="116015"/>
                      <a:pt x="97129" y="116015"/>
                      <a:pt x="101976" y="115253"/>
                    </a:cubicBezTo>
                    <a:cubicBezTo>
                      <a:pt x="106823" y="114491"/>
                      <a:pt x="112050" y="113729"/>
                      <a:pt x="117942" y="112491"/>
                    </a:cubicBezTo>
                    <a:cubicBezTo>
                      <a:pt x="123834" y="111252"/>
                      <a:pt x="130107" y="109633"/>
                      <a:pt x="136950" y="107728"/>
                    </a:cubicBezTo>
                    <a:cubicBezTo>
                      <a:pt x="143450" y="105842"/>
                      <a:pt x="149799" y="103489"/>
                      <a:pt x="155957" y="100679"/>
                    </a:cubicBezTo>
                    <a:lnTo>
                      <a:pt x="117942" y="78772"/>
                    </a:lnTo>
                    <a:lnTo>
                      <a:pt x="113000" y="80486"/>
                    </a:lnTo>
                    <a:lnTo>
                      <a:pt x="107773" y="82106"/>
                    </a:lnTo>
                    <a:cubicBezTo>
                      <a:pt x="99163" y="85011"/>
                      <a:pt x="90410" y="87468"/>
                      <a:pt x="81543" y="89440"/>
                    </a:cubicBezTo>
                    <a:cubicBezTo>
                      <a:pt x="74187" y="91183"/>
                      <a:pt x="66669" y="92202"/>
                      <a:pt x="59114" y="92488"/>
                    </a:cubicBezTo>
                    <a:cubicBezTo>
                      <a:pt x="52471" y="92745"/>
                      <a:pt x="45818" y="92107"/>
                      <a:pt x="39346" y="90583"/>
                    </a:cubicBezTo>
                    <a:cubicBezTo>
                      <a:pt x="32912" y="89030"/>
                      <a:pt x="26734" y="86563"/>
                      <a:pt x="21003" y="83249"/>
                    </a:cubicBezTo>
                    <a:cubicBezTo>
                      <a:pt x="14759" y="79915"/>
                      <a:pt x="9342" y="75229"/>
                      <a:pt x="5132" y="69533"/>
                    </a:cubicBezTo>
                    <a:cubicBezTo>
                      <a:pt x="2072" y="65246"/>
                      <a:pt x="561" y="60036"/>
                      <a:pt x="855" y="54769"/>
                    </a:cubicBezTo>
                    <a:cubicBezTo>
                      <a:pt x="1397" y="49292"/>
                      <a:pt x="3592" y="44110"/>
                      <a:pt x="7128" y="39910"/>
                    </a:cubicBezTo>
                    <a:cubicBezTo>
                      <a:pt x="11500" y="34443"/>
                      <a:pt x="16698" y="29689"/>
                      <a:pt x="22524" y="25813"/>
                    </a:cubicBezTo>
                    <a:lnTo>
                      <a:pt x="0" y="12764"/>
                    </a:lnTo>
                    <a:lnTo>
                      <a:pt x="13305" y="5144"/>
                    </a:lnTo>
                    <a:lnTo>
                      <a:pt x="35639" y="18002"/>
                    </a:lnTo>
                    <a:cubicBezTo>
                      <a:pt x="46093" y="12811"/>
                      <a:pt x="57089" y="8782"/>
                      <a:pt x="68427" y="6001"/>
                    </a:cubicBezTo>
                    <a:cubicBezTo>
                      <a:pt x="79205" y="3258"/>
                      <a:pt x="90162" y="1248"/>
                      <a:pt x="101215" y="0"/>
                    </a:cubicBezTo>
                    <a:close/>
                    <a:moveTo>
                      <a:pt x="46759" y="62294"/>
                    </a:moveTo>
                    <a:cubicBezTo>
                      <a:pt x="51786" y="65113"/>
                      <a:pt x="57555" y="66342"/>
                      <a:pt x="63295" y="65818"/>
                    </a:cubicBezTo>
                    <a:cubicBezTo>
                      <a:pt x="71069" y="64970"/>
                      <a:pt x="78720" y="63246"/>
                      <a:pt x="86104" y="60674"/>
                    </a:cubicBezTo>
                    <a:lnTo>
                      <a:pt x="50275" y="40005"/>
                    </a:lnTo>
                    <a:cubicBezTo>
                      <a:pt x="37160" y="48578"/>
                      <a:pt x="35991" y="56007"/>
                      <a:pt x="46759" y="62294"/>
                    </a:cubicBezTo>
                    <a:close/>
                    <a:moveTo>
                      <a:pt x="172209" y="72771"/>
                    </a:moveTo>
                    <a:cubicBezTo>
                      <a:pt x="166763" y="69771"/>
                      <a:pt x="160491" y="68628"/>
                      <a:pt x="154342" y="69533"/>
                    </a:cubicBezTo>
                    <a:cubicBezTo>
                      <a:pt x="145864" y="70609"/>
                      <a:pt x="137491" y="72457"/>
                      <a:pt x="129347" y="75057"/>
                    </a:cubicBezTo>
                    <a:lnTo>
                      <a:pt x="164891" y="95631"/>
                    </a:lnTo>
                    <a:cubicBezTo>
                      <a:pt x="180097" y="86297"/>
                      <a:pt x="182473" y="78677"/>
                      <a:pt x="172209" y="72771"/>
                    </a:cubicBezTo>
                    <a:close/>
                  </a:path>
                </a:pathLst>
              </a:custGeom>
              <a:solidFill>
                <a:srgbClr val="F9CA06"/>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grpSp>
        <p:grpSp>
          <p:nvGrpSpPr>
            <p:cNvPr id="380" name="Google Shape;4423;p48">
              <a:extLst>
                <a:ext uri="{FF2B5EF4-FFF2-40B4-BE49-F238E27FC236}">
                  <a16:creationId xmlns:a16="http://schemas.microsoft.com/office/drawing/2014/main" id="{6E9D80F8-882B-A2A3-F7C1-0975937360E1}"/>
                </a:ext>
              </a:extLst>
            </p:cNvPr>
            <p:cNvGrpSpPr/>
            <p:nvPr/>
          </p:nvGrpSpPr>
          <p:grpSpPr>
            <a:xfrm>
              <a:off x="3192597" y="3904144"/>
              <a:ext cx="664599" cy="467011"/>
              <a:chOff x="4973697" y="4720494"/>
              <a:chExt cx="664599" cy="467011"/>
            </a:xfrm>
          </p:grpSpPr>
          <p:sp>
            <p:nvSpPr>
              <p:cNvPr id="498" name="Google Shape;4424;p48">
                <a:extLst>
                  <a:ext uri="{FF2B5EF4-FFF2-40B4-BE49-F238E27FC236}">
                    <a16:creationId xmlns:a16="http://schemas.microsoft.com/office/drawing/2014/main" id="{A3B8F4F3-789E-D150-468A-BBDB290C5AC1}"/>
                  </a:ext>
                </a:extLst>
              </p:cNvPr>
              <p:cNvSpPr/>
              <p:nvPr/>
            </p:nvSpPr>
            <p:spPr>
              <a:xfrm>
                <a:off x="4973697" y="4802886"/>
                <a:ext cx="664504" cy="384619"/>
              </a:xfrm>
              <a:custGeom>
                <a:avLst/>
                <a:gdLst/>
                <a:ahLst/>
                <a:cxnLst/>
                <a:rect l="l" t="t" r="r" b="b"/>
                <a:pathLst>
                  <a:path w="664504" h="384619" extrusionOk="0">
                    <a:moveTo>
                      <a:pt x="664505" y="192310"/>
                    </a:moveTo>
                    <a:cubicBezTo>
                      <a:pt x="664505" y="298519"/>
                      <a:pt x="515750" y="384619"/>
                      <a:pt x="332252" y="384619"/>
                    </a:cubicBezTo>
                    <a:cubicBezTo>
                      <a:pt x="148754" y="384619"/>
                      <a:pt x="0" y="298519"/>
                      <a:pt x="0" y="192310"/>
                    </a:cubicBezTo>
                    <a:cubicBezTo>
                      <a:pt x="0" y="86100"/>
                      <a:pt x="148754" y="0"/>
                      <a:pt x="332252" y="0"/>
                    </a:cubicBezTo>
                    <a:cubicBezTo>
                      <a:pt x="515750" y="0"/>
                      <a:pt x="664505" y="86100"/>
                      <a:pt x="664505" y="192310"/>
                    </a:cubicBezTo>
                    <a:close/>
                  </a:path>
                </a:pathLst>
              </a:custGeom>
              <a:solidFill>
                <a:srgbClr val="DD990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99" name="Google Shape;4425;p48">
                <a:extLst>
                  <a:ext uri="{FF2B5EF4-FFF2-40B4-BE49-F238E27FC236}">
                    <a16:creationId xmlns:a16="http://schemas.microsoft.com/office/drawing/2014/main" id="{272CAC51-F9DB-9440-8490-42B502C4D196}"/>
                  </a:ext>
                </a:extLst>
              </p:cNvPr>
              <p:cNvSpPr/>
              <p:nvPr/>
            </p:nvSpPr>
            <p:spPr>
              <a:xfrm>
                <a:off x="4973792" y="4910518"/>
                <a:ext cx="65671" cy="87629"/>
              </a:xfrm>
              <a:custGeom>
                <a:avLst/>
                <a:gdLst/>
                <a:ahLst/>
                <a:cxnLst/>
                <a:rect l="l" t="t" r="r" b="b"/>
                <a:pathLst>
                  <a:path w="65671" h="87629" extrusionOk="0">
                    <a:moveTo>
                      <a:pt x="0" y="87630"/>
                    </a:moveTo>
                    <a:lnTo>
                      <a:pt x="0" y="0"/>
                    </a:lnTo>
                    <a:lnTo>
                      <a:pt x="65671" y="58579"/>
                    </a:lnTo>
                    <a:lnTo>
                      <a:pt x="0" y="87630"/>
                    </a:lnTo>
                    <a:close/>
                  </a:path>
                </a:pathLst>
              </a:custGeom>
              <a:solidFill>
                <a:srgbClr val="DD990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00" name="Google Shape;4426;p48">
                <a:extLst>
                  <a:ext uri="{FF2B5EF4-FFF2-40B4-BE49-F238E27FC236}">
                    <a16:creationId xmlns:a16="http://schemas.microsoft.com/office/drawing/2014/main" id="{D4F3063B-2BC6-43E6-2EF2-4316C31D3C0E}"/>
                  </a:ext>
                </a:extLst>
              </p:cNvPr>
              <p:cNvSpPr/>
              <p:nvPr/>
            </p:nvSpPr>
            <p:spPr>
              <a:xfrm>
                <a:off x="5588212" y="4912804"/>
                <a:ext cx="50084" cy="118109"/>
              </a:xfrm>
              <a:custGeom>
                <a:avLst/>
                <a:gdLst/>
                <a:ahLst/>
                <a:cxnLst/>
                <a:rect l="l" t="t" r="r" b="b"/>
                <a:pathLst>
                  <a:path w="50084" h="118109" extrusionOk="0">
                    <a:moveTo>
                      <a:pt x="50085" y="0"/>
                    </a:moveTo>
                    <a:lnTo>
                      <a:pt x="50085" y="82391"/>
                    </a:lnTo>
                    <a:lnTo>
                      <a:pt x="16536" y="118110"/>
                    </a:lnTo>
                    <a:lnTo>
                      <a:pt x="0" y="23717"/>
                    </a:lnTo>
                    <a:lnTo>
                      <a:pt x="50085" y="0"/>
                    </a:lnTo>
                    <a:close/>
                  </a:path>
                </a:pathLst>
              </a:custGeom>
              <a:solidFill>
                <a:srgbClr val="DD990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01" name="Google Shape;4427;p48">
                <a:extLst>
                  <a:ext uri="{FF2B5EF4-FFF2-40B4-BE49-F238E27FC236}">
                    <a16:creationId xmlns:a16="http://schemas.microsoft.com/office/drawing/2014/main" id="{4B78B321-1A77-ACDE-012B-2BBC041EE3A5}"/>
                  </a:ext>
                </a:extLst>
              </p:cNvPr>
              <p:cNvSpPr/>
              <p:nvPr/>
            </p:nvSpPr>
            <p:spPr>
              <a:xfrm>
                <a:off x="4973697" y="4720494"/>
                <a:ext cx="664504" cy="384619"/>
              </a:xfrm>
              <a:custGeom>
                <a:avLst/>
                <a:gdLst/>
                <a:ahLst/>
                <a:cxnLst/>
                <a:rect l="l" t="t" r="r" b="b"/>
                <a:pathLst>
                  <a:path w="664504" h="384619" extrusionOk="0">
                    <a:moveTo>
                      <a:pt x="664505" y="192310"/>
                    </a:moveTo>
                    <a:cubicBezTo>
                      <a:pt x="664505" y="298520"/>
                      <a:pt x="515750" y="384620"/>
                      <a:pt x="332252" y="384620"/>
                    </a:cubicBezTo>
                    <a:cubicBezTo>
                      <a:pt x="148754" y="384620"/>
                      <a:pt x="0" y="298520"/>
                      <a:pt x="0" y="192310"/>
                    </a:cubicBezTo>
                    <a:cubicBezTo>
                      <a:pt x="0" y="86100"/>
                      <a:pt x="148754" y="0"/>
                      <a:pt x="332252" y="0"/>
                    </a:cubicBezTo>
                    <a:cubicBezTo>
                      <a:pt x="515750" y="0"/>
                      <a:pt x="664505" y="86100"/>
                      <a:pt x="664505" y="192310"/>
                    </a:cubicBezTo>
                    <a:close/>
                  </a:path>
                </a:pathLst>
              </a:custGeom>
              <a:solidFill>
                <a:srgbClr val="F9CB07"/>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02" name="Google Shape;4428;p48">
                <a:extLst>
                  <a:ext uri="{FF2B5EF4-FFF2-40B4-BE49-F238E27FC236}">
                    <a16:creationId xmlns:a16="http://schemas.microsoft.com/office/drawing/2014/main" id="{9371F465-9BAB-F31E-C6A7-4C0B62C77455}"/>
                  </a:ext>
                </a:extLst>
              </p:cNvPr>
              <p:cNvSpPr/>
              <p:nvPr/>
            </p:nvSpPr>
            <p:spPr>
              <a:xfrm>
                <a:off x="5068198" y="4772810"/>
                <a:ext cx="475691" cy="275343"/>
              </a:xfrm>
              <a:custGeom>
                <a:avLst/>
                <a:gdLst/>
                <a:ahLst/>
                <a:cxnLst/>
                <a:rect l="l" t="t" r="r" b="b"/>
                <a:pathLst>
                  <a:path w="475691" h="275343" extrusionOk="0">
                    <a:moveTo>
                      <a:pt x="475252" y="145899"/>
                    </a:moveTo>
                    <a:cubicBezTo>
                      <a:pt x="471925" y="178284"/>
                      <a:pt x="448831" y="210193"/>
                      <a:pt x="406064" y="235053"/>
                    </a:cubicBezTo>
                    <a:cubicBezTo>
                      <a:pt x="313117" y="288774"/>
                      <a:pt x="162482" y="288774"/>
                      <a:pt x="69630" y="235053"/>
                    </a:cubicBezTo>
                    <a:cubicBezTo>
                      <a:pt x="26768" y="210193"/>
                      <a:pt x="3769" y="177903"/>
                      <a:pt x="443" y="145899"/>
                    </a:cubicBezTo>
                    <a:cubicBezTo>
                      <a:pt x="-3549" y="107799"/>
                      <a:pt x="19450" y="69699"/>
                      <a:pt x="69630" y="40362"/>
                    </a:cubicBezTo>
                    <a:cubicBezTo>
                      <a:pt x="162482" y="-13454"/>
                      <a:pt x="313117" y="-13454"/>
                      <a:pt x="406064" y="40362"/>
                    </a:cubicBezTo>
                    <a:cubicBezTo>
                      <a:pt x="456054" y="69318"/>
                      <a:pt x="479243" y="107990"/>
                      <a:pt x="475252" y="145899"/>
                    </a:cubicBez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03" name="Google Shape;4429;p48">
                <a:extLst>
                  <a:ext uri="{FF2B5EF4-FFF2-40B4-BE49-F238E27FC236}">
                    <a16:creationId xmlns:a16="http://schemas.microsoft.com/office/drawing/2014/main" id="{DA56E125-02F2-308E-D6DC-D7D596A37654}"/>
                  </a:ext>
                </a:extLst>
              </p:cNvPr>
              <p:cNvSpPr/>
              <p:nvPr/>
            </p:nvSpPr>
            <p:spPr>
              <a:xfrm>
                <a:off x="5068640" y="4789288"/>
                <a:ext cx="474809" cy="258865"/>
              </a:xfrm>
              <a:custGeom>
                <a:avLst/>
                <a:gdLst/>
                <a:ahLst/>
                <a:cxnLst/>
                <a:rect l="l" t="t" r="r" b="b"/>
                <a:pathLst>
                  <a:path w="474809" h="258865" extrusionOk="0">
                    <a:moveTo>
                      <a:pt x="474809" y="129421"/>
                    </a:moveTo>
                    <a:cubicBezTo>
                      <a:pt x="471483" y="161806"/>
                      <a:pt x="448389" y="193715"/>
                      <a:pt x="405622" y="218575"/>
                    </a:cubicBezTo>
                    <a:cubicBezTo>
                      <a:pt x="312675" y="272296"/>
                      <a:pt x="162040" y="272296"/>
                      <a:pt x="69188" y="218575"/>
                    </a:cubicBezTo>
                    <a:cubicBezTo>
                      <a:pt x="26325" y="193715"/>
                      <a:pt x="3326" y="161425"/>
                      <a:pt x="0" y="129421"/>
                    </a:cubicBezTo>
                    <a:cubicBezTo>
                      <a:pt x="3326" y="97036"/>
                      <a:pt x="26325" y="65223"/>
                      <a:pt x="69188" y="40362"/>
                    </a:cubicBezTo>
                    <a:cubicBezTo>
                      <a:pt x="162040" y="-13454"/>
                      <a:pt x="312675" y="-13454"/>
                      <a:pt x="405622" y="40362"/>
                    </a:cubicBezTo>
                    <a:cubicBezTo>
                      <a:pt x="448389" y="65223"/>
                      <a:pt x="471388" y="97036"/>
                      <a:pt x="474809" y="129421"/>
                    </a:cubicBezTo>
                    <a:close/>
                  </a:path>
                </a:pathLst>
              </a:custGeom>
              <a:solidFill>
                <a:srgbClr val="E8A30A"/>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04" name="Google Shape;4430;p48">
                <a:extLst>
                  <a:ext uri="{FF2B5EF4-FFF2-40B4-BE49-F238E27FC236}">
                    <a16:creationId xmlns:a16="http://schemas.microsoft.com/office/drawing/2014/main" id="{E49E9498-AF6C-A516-D36C-0C9A64718803}"/>
                  </a:ext>
                </a:extLst>
              </p:cNvPr>
              <p:cNvSpPr/>
              <p:nvPr/>
            </p:nvSpPr>
            <p:spPr>
              <a:xfrm>
                <a:off x="5190479" y="4851558"/>
                <a:ext cx="221040" cy="139065"/>
              </a:xfrm>
              <a:custGeom>
                <a:avLst/>
                <a:gdLst/>
                <a:ahLst/>
                <a:cxnLst/>
                <a:rect l="l" t="t" r="r" b="b"/>
                <a:pathLst>
                  <a:path w="221040" h="139065" extrusionOk="0">
                    <a:moveTo>
                      <a:pt x="111955" y="22193"/>
                    </a:moveTo>
                    <a:cubicBezTo>
                      <a:pt x="109027" y="22155"/>
                      <a:pt x="106100" y="22374"/>
                      <a:pt x="103211" y="22860"/>
                    </a:cubicBezTo>
                    <a:cubicBezTo>
                      <a:pt x="99315" y="23431"/>
                      <a:pt x="94943" y="24194"/>
                      <a:pt x="90096" y="25241"/>
                    </a:cubicBezTo>
                    <a:cubicBezTo>
                      <a:pt x="84992" y="26280"/>
                      <a:pt x="79946" y="27575"/>
                      <a:pt x="74985" y="29146"/>
                    </a:cubicBezTo>
                    <a:cubicBezTo>
                      <a:pt x="69872" y="30632"/>
                      <a:pt x="64882" y="32509"/>
                      <a:pt x="60064" y="34766"/>
                    </a:cubicBezTo>
                    <a:lnTo>
                      <a:pt x="98079" y="56864"/>
                    </a:lnTo>
                    <a:lnTo>
                      <a:pt x="104922" y="54483"/>
                    </a:lnTo>
                    <a:cubicBezTo>
                      <a:pt x="114426" y="51245"/>
                      <a:pt x="123929" y="48482"/>
                      <a:pt x="132388" y="46196"/>
                    </a:cubicBezTo>
                    <a:cubicBezTo>
                      <a:pt x="140476" y="44063"/>
                      <a:pt x="148753" y="42691"/>
                      <a:pt x="157098" y="42100"/>
                    </a:cubicBezTo>
                    <a:cubicBezTo>
                      <a:pt x="164739" y="41672"/>
                      <a:pt x="172399" y="42215"/>
                      <a:pt x="179907" y="43720"/>
                    </a:cubicBezTo>
                    <a:cubicBezTo>
                      <a:pt x="187576" y="45330"/>
                      <a:pt x="194932" y="48187"/>
                      <a:pt x="201670" y="52197"/>
                    </a:cubicBezTo>
                    <a:cubicBezTo>
                      <a:pt x="208294" y="55540"/>
                      <a:pt x="213949" y="60522"/>
                      <a:pt x="218112" y="66675"/>
                    </a:cubicBezTo>
                    <a:cubicBezTo>
                      <a:pt x="220868" y="71142"/>
                      <a:pt x="221723" y="76524"/>
                      <a:pt x="220488" y="81629"/>
                    </a:cubicBezTo>
                    <a:cubicBezTo>
                      <a:pt x="218872" y="87258"/>
                      <a:pt x="215793" y="92354"/>
                      <a:pt x="211554" y="96393"/>
                    </a:cubicBezTo>
                    <a:cubicBezTo>
                      <a:pt x="206318" y="101660"/>
                      <a:pt x="200473" y="106299"/>
                      <a:pt x="194162" y="110204"/>
                    </a:cubicBezTo>
                    <a:lnTo>
                      <a:pt x="218397" y="124206"/>
                    </a:lnTo>
                    <a:lnTo>
                      <a:pt x="205187" y="131921"/>
                    </a:lnTo>
                    <a:lnTo>
                      <a:pt x="180667" y="117729"/>
                    </a:lnTo>
                    <a:cubicBezTo>
                      <a:pt x="168987" y="123530"/>
                      <a:pt x="156765" y="128159"/>
                      <a:pt x="144172" y="131540"/>
                    </a:cubicBezTo>
                    <a:cubicBezTo>
                      <a:pt x="131010" y="135179"/>
                      <a:pt x="117562" y="137703"/>
                      <a:pt x="103971" y="139065"/>
                    </a:cubicBezTo>
                    <a:lnTo>
                      <a:pt x="91236" y="116110"/>
                    </a:lnTo>
                    <a:cubicBezTo>
                      <a:pt x="94800" y="116014"/>
                      <a:pt x="98355" y="115729"/>
                      <a:pt x="101881" y="115253"/>
                    </a:cubicBezTo>
                    <a:cubicBezTo>
                      <a:pt x="107279" y="114614"/>
                      <a:pt x="112639" y="113690"/>
                      <a:pt x="117942" y="112490"/>
                    </a:cubicBezTo>
                    <a:cubicBezTo>
                      <a:pt x="123834" y="111252"/>
                      <a:pt x="130012" y="109633"/>
                      <a:pt x="136950" y="107728"/>
                    </a:cubicBezTo>
                    <a:cubicBezTo>
                      <a:pt x="143441" y="105870"/>
                      <a:pt x="149799" y="103546"/>
                      <a:pt x="155957" y="100774"/>
                    </a:cubicBezTo>
                    <a:lnTo>
                      <a:pt x="117942" y="78772"/>
                    </a:lnTo>
                    <a:lnTo>
                      <a:pt x="113000" y="80486"/>
                    </a:lnTo>
                    <a:lnTo>
                      <a:pt x="107773" y="82105"/>
                    </a:lnTo>
                    <a:cubicBezTo>
                      <a:pt x="98269" y="85249"/>
                      <a:pt x="89431" y="87725"/>
                      <a:pt x="81447" y="89535"/>
                    </a:cubicBezTo>
                    <a:cubicBezTo>
                      <a:pt x="74111" y="91202"/>
                      <a:pt x="66631" y="92192"/>
                      <a:pt x="59114" y="92488"/>
                    </a:cubicBezTo>
                    <a:cubicBezTo>
                      <a:pt x="52470" y="92726"/>
                      <a:pt x="45827" y="92126"/>
                      <a:pt x="39346" y="90678"/>
                    </a:cubicBezTo>
                    <a:cubicBezTo>
                      <a:pt x="32902" y="89125"/>
                      <a:pt x="26715" y="86620"/>
                      <a:pt x="21003" y="83248"/>
                    </a:cubicBezTo>
                    <a:cubicBezTo>
                      <a:pt x="14712" y="79943"/>
                      <a:pt x="9257" y="75257"/>
                      <a:pt x="5037" y="69532"/>
                    </a:cubicBezTo>
                    <a:cubicBezTo>
                      <a:pt x="1958" y="65246"/>
                      <a:pt x="447" y="60036"/>
                      <a:pt x="760" y="54769"/>
                    </a:cubicBezTo>
                    <a:cubicBezTo>
                      <a:pt x="1350" y="49311"/>
                      <a:pt x="3535" y="44139"/>
                      <a:pt x="7033" y="39910"/>
                    </a:cubicBezTo>
                    <a:cubicBezTo>
                      <a:pt x="11471" y="34461"/>
                      <a:pt x="16689" y="29708"/>
                      <a:pt x="22524" y="25813"/>
                    </a:cubicBezTo>
                    <a:lnTo>
                      <a:pt x="0" y="12859"/>
                    </a:lnTo>
                    <a:lnTo>
                      <a:pt x="13210" y="5144"/>
                    </a:lnTo>
                    <a:lnTo>
                      <a:pt x="35544" y="18097"/>
                    </a:lnTo>
                    <a:cubicBezTo>
                      <a:pt x="45998" y="12878"/>
                      <a:pt x="56994" y="8820"/>
                      <a:pt x="68332" y="6001"/>
                    </a:cubicBezTo>
                    <a:cubicBezTo>
                      <a:pt x="79110" y="3257"/>
                      <a:pt x="90067" y="1248"/>
                      <a:pt x="101120" y="0"/>
                    </a:cubicBezTo>
                    <a:close/>
                    <a:moveTo>
                      <a:pt x="47044" y="62294"/>
                    </a:moveTo>
                    <a:cubicBezTo>
                      <a:pt x="52043" y="65199"/>
                      <a:pt x="57830" y="66427"/>
                      <a:pt x="63580" y="65818"/>
                    </a:cubicBezTo>
                    <a:cubicBezTo>
                      <a:pt x="71307" y="64951"/>
                      <a:pt x="78929" y="63265"/>
                      <a:pt x="86294" y="60770"/>
                    </a:cubicBezTo>
                    <a:lnTo>
                      <a:pt x="50560" y="40005"/>
                    </a:lnTo>
                    <a:cubicBezTo>
                      <a:pt x="37540" y="48673"/>
                      <a:pt x="35924" y="56102"/>
                      <a:pt x="47139" y="62294"/>
                    </a:cubicBezTo>
                    <a:close/>
                    <a:moveTo>
                      <a:pt x="172494" y="72771"/>
                    </a:moveTo>
                    <a:cubicBezTo>
                      <a:pt x="167020" y="69752"/>
                      <a:pt x="160709" y="68609"/>
                      <a:pt x="154532" y="69532"/>
                    </a:cubicBezTo>
                    <a:cubicBezTo>
                      <a:pt x="146092" y="70656"/>
                      <a:pt x="137757" y="72504"/>
                      <a:pt x="129632" y="75057"/>
                    </a:cubicBezTo>
                    <a:lnTo>
                      <a:pt x="165176" y="95631"/>
                    </a:lnTo>
                    <a:cubicBezTo>
                      <a:pt x="180382" y="86296"/>
                      <a:pt x="182853" y="78705"/>
                      <a:pt x="172589" y="72866"/>
                    </a:cubicBez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05" name="Google Shape;4431;p48">
                <a:extLst>
                  <a:ext uri="{FF2B5EF4-FFF2-40B4-BE49-F238E27FC236}">
                    <a16:creationId xmlns:a16="http://schemas.microsoft.com/office/drawing/2014/main" id="{6F3B1281-BC57-CED4-62FC-917169E8765F}"/>
                  </a:ext>
                </a:extLst>
              </p:cNvPr>
              <p:cNvSpPr/>
              <p:nvPr/>
            </p:nvSpPr>
            <p:spPr>
              <a:xfrm>
                <a:off x="5282000" y="4954714"/>
                <a:ext cx="14540" cy="19050"/>
              </a:xfrm>
              <a:custGeom>
                <a:avLst/>
                <a:gdLst/>
                <a:ahLst/>
                <a:cxnLst/>
                <a:rect l="l" t="t" r="r" b="b"/>
                <a:pathLst>
                  <a:path w="14540" h="19050" extrusionOk="0">
                    <a:moveTo>
                      <a:pt x="0" y="12954"/>
                    </a:moveTo>
                    <a:cubicBezTo>
                      <a:pt x="0" y="12002"/>
                      <a:pt x="0" y="0"/>
                      <a:pt x="0" y="0"/>
                    </a:cubicBezTo>
                    <a:lnTo>
                      <a:pt x="14541" y="9525"/>
                    </a:lnTo>
                    <a:lnTo>
                      <a:pt x="8173" y="19050"/>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06" name="Google Shape;4432;p48">
                <a:extLst>
                  <a:ext uri="{FF2B5EF4-FFF2-40B4-BE49-F238E27FC236}">
                    <a16:creationId xmlns:a16="http://schemas.microsoft.com/office/drawing/2014/main" id="{89159B15-8BAA-8CA5-F2D9-6A0134D60E0F}"/>
                  </a:ext>
                </a:extLst>
              </p:cNvPr>
              <p:cNvSpPr/>
              <p:nvPr/>
            </p:nvSpPr>
            <p:spPr>
              <a:xfrm>
                <a:off x="5377608" y="4962906"/>
                <a:ext cx="31552" cy="14858"/>
              </a:xfrm>
              <a:custGeom>
                <a:avLst/>
                <a:gdLst/>
                <a:ahLst/>
                <a:cxnLst/>
                <a:rect l="l" t="t" r="r" b="b"/>
                <a:pathLst>
                  <a:path w="31552" h="14858" extrusionOk="0">
                    <a:moveTo>
                      <a:pt x="31552" y="12859"/>
                    </a:moveTo>
                    <a:lnTo>
                      <a:pt x="31552" y="0"/>
                    </a:lnTo>
                    <a:lnTo>
                      <a:pt x="0" y="2381"/>
                    </a:lnTo>
                    <a:lnTo>
                      <a:pt x="18152" y="14859"/>
                    </a:lnTo>
                    <a:lnTo>
                      <a:pt x="31552" y="12859"/>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07" name="Google Shape;4433;p48">
                <a:extLst>
                  <a:ext uri="{FF2B5EF4-FFF2-40B4-BE49-F238E27FC236}">
                    <a16:creationId xmlns:a16="http://schemas.microsoft.com/office/drawing/2014/main" id="{65333A1F-6BD8-42E6-64DE-4C360A5CC5A4}"/>
                  </a:ext>
                </a:extLst>
              </p:cNvPr>
              <p:cNvSpPr/>
              <p:nvPr/>
            </p:nvSpPr>
            <p:spPr>
              <a:xfrm>
                <a:off x="5388158" y="4915376"/>
                <a:ext cx="23664" cy="13049"/>
              </a:xfrm>
              <a:custGeom>
                <a:avLst/>
                <a:gdLst/>
                <a:ahLst/>
                <a:cxnLst/>
                <a:rect l="l" t="t" r="r" b="b"/>
                <a:pathLst>
                  <a:path w="23664" h="13049" extrusionOk="0">
                    <a:moveTo>
                      <a:pt x="23664" y="13049"/>
                    </a:moveTo>
                    <a:lnTo>
                      <a:pt x="23664" y="0"/>
                    </a:lnTo>
                    <a:lnTo>
                      <a:pt x="0" y="8573"/>
                    </a:lnTo>
                    <a:lnTo>
                      <a:pt x="23664" y="13049"/>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08" name="Google Shape;4434;p48">
                <a:extLst>
                  <a:ext uri="{FF2B5EF4-FFF2-40B4-BE49-F238E27FC236}">
                    <a16:creationId xmlns:a16="http://schemas.microsoft.com/office/drawing/2014/main" id="{6A689C2E-1B6E-3BD6-C52A-CB2E96676CCC}"/>
                  </a:ext>
                </a:extLst>
              </p:cNvPr>
              <p:cNvSpPr/>
              <p:nvPr/>
            </p:nvSpPr>
            <p:spPr>
              <a:xfrm>
                <a:off x="5313838" y="4920138"/>
                <a:ext cx="35639" cy="24765"/>
              </a:xfrm>
              <a:custGeom>
                <a:avLst/>
                <a:gdLst/>
                <a:ahLst/>
                <a:cxnLst/>
                <a:rect l="l" t="t" r="r" b="b"/>
                <a:pathLst>
                  <a:path w="35639" h="24765" extrusionOk="0">
                    <a:moveTo>
                      <a:pt x="0" y="7620"/>
                    </a:moveTo>
                    <a:lnTo>
                      <a:pt x="7888" y="0"/>
                    </a:lnTo>
                    <a:lnTo>
                      <a:pt x="35639" y="19050"/>
                    </a:lnTo>
                    <a:lnTo>
                      <a:pt x="33929" y="24765"/>
                    </a:lnTo>
                    <a:cubicBezTo>
                      <a:pt x="33929" y="24765"/>
                      <a:pt x="13210" y="16002"/>
                      <a:pt x="12545" y="15240"/>
                    </a:cubicBez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09" name="Google Shape;4435;p48">
                <a:extLst>
                  <a:ext uri="{FF2B5EF4-FFF2-40B4-BE49-F238E27FC236}">
                    <a16:creationId xmlns:a16="http://schemas.microsoft.com/office/drawing/2014/main" id="{2CB19338-D81B-7484-4B50-7D106F469153}"/>
                  </a:ext>
                </a:extLst>
              </p:cNvPr>
              <p:cNvSpPr/>
              <p:nvPr/>
            </p:nvSpPr>
            <p:spPr>
              <a:xfrm>
                <a:off x="5241229" y="4878705"/>
                <a:ext cx="44382" cy="29241"/>
              </a:xfrm>
              <a:custGeom>
                <a:avLst/>
                <a:gdLst/>
                <a:ahLst/>
                <a:cxnLst/>
                <a:rect l="l" t="t" r="r" b="b"/>
                <a:pathLst>
                  <a:path w="44382" h="29241" extrusionOk="0">
                    <a:moveTo>
                      <a:pt x="0" y="8382"/>
                    </a:moveTo>
                    <a:lnTo>
                      <a:pt x="36875" y="29242"/>
                    </a:lnTo>
                    <a:lnTo>
                      <a:pt x="44383" y="23813"/>
                    </a:lnTo>
                    <a:cubicBezTo>
                      <a:pt x="44383" y="23813"/>
                      <a:pt x="39726" y="18479"/>
                      <a:pt x="39441" y="17907"/>
                    </a:cubicBezTo>
                    <a:cubicBezTo>
                      <a:pt x="39156" y="17335"/>
                      <a:pt x="30697" y="8858"/>
                      <a:pt x="27941" y="8382"/>
                    </a:cubicBezTo>
                    <a:cubicBezTo>
                      <a:pt x="25185" y="7906"/>
                      <a:pt x="7698" y="0"/>
                      <a:pt x="7698" y="0"/>
                    </a:cubicBez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10" name="Google Shape;4436;p48">
                <a:extLst>
                  <a:ext uri="{FF2B5EF4-FFF2-40B4-BE49-F238E27FC236}">
                    <a16:creationId xmlns:a16="http://schemas.microsoft.com/office/drawing/2014/main" id="{1FE0D65F-2C95-24C5-B27E-242CD609D7D0}"/>
                  </a:ext>
                </a:extLst>
              </p:cNvPr>
              <p:cNvSpPr/>
              <p:nvPr/>
            </p:nvSpPr>
            <p:spPr>
              <a:xfrm>
                <a:off x="5282000" y="4855273"/>
                <a:ext cx="20528" cy="18478"/>
              </a:xfrm>
              <a:custGeom>
                <a:avLst/>
                <a:gdLst/>
                <a:ahLst/>
                <a:cxnLst/>
                <a:rect l="l" t="t" r="r" b="b"/>
                <a:pathLst>
                  <a:path w="20528" h="18478" extrusionOk="0">
                    <a:moveTo>
                      <a:pt x="20528" y="18479"/>
                    </a:moveTo>
                    <a:lnTo>
                      <a:pt x="20528" y="5525"/>
                    </a:lnTo>
                    <a:lnTo>
                      <a:pt x="3611" y="0"/>
                    </a:lnTo>
                    <a:lnTo>
                      <a:pt x="0" y="10096"/>
                    </a:lnTo>
                    <a:lnTo>
                      <a:pt x="855" y="14764"/>
                    </a:lnTo>
                    <a:lnTo>
                      <a:pt x="20528" y="18479"/>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11" name="Google Shape;4437;p48">
                <a:extLst>
                  <a:ext uri="{FF2B5EF4-FFF2-40B4-BE49-F238E27FC236}">
                    <a16:creationId xmlns:a16="http://schemas.microsoft.com/office/drawing/2014/main" id="{B1B6DF93-914B-2AFC-F48D-4386609E4C2C}"/>
                  </a:ext>
                </a:extLst>
              </p:cNvPr>
              <p:cNvSpPr/>
              <p:nvPr/>
            </p:nvSpPr>
            <p:spPr>
              <a:xfrm>
                <a:off x="5190099" y="4851463"/>
                <a:ext cx="19577" cy="14668"/>
              </a:xfrm>
              <a:custGeom>
                <a:avLst/>
                <a:gdLst/>
                <a:ahLst/>
                <a:cxnLst/>
                <a:rect l="l" t="t" r="r" b="b"/>
                <a:pathLst>
                  <a:path w="19577" h="14668" extrusionOk="0">
                    <a:moveTo>
                      <a:pt x="0" y="12954"/>
                    </a:moveTo>
                    <a:lnTo>
                      <a:pt x="0" y="0"/>
                    </a:lnTo>
                    <a:lnTo>
                      <a:pt x="19578" y="2096"/>
                    </a:lnTo>
                    <a:lnTo>
                      <a:pt x="13305" y="14669"/>
                    </a:lnTo>
                    <a:lnTo>
                      <a:pt x="0" y="12954"/>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12" name="Google Shape;4438;p48">
                <a:extLst>
                  <a:ext uri="{FF2B5EF4-FFF2-40B4-BE49-F238E27FC236}">
                    <a16:creationId xmlns:a16="http://schemas.microsoft.com/office/drawing/2014/main" id="{4E1F045C-0DF1-E000-7879-FEB4B6828273}"/>
                  </a:ext>
                </a:extLst>
              </p:cNvPr>
              <p:cNvSpPr/>
              <p:nvPr/>
            </p:nvSpPr>
            <p:spPr>
              <a:xfrm>
                <a:off x="5190859" y="4894802"/>
                <a:ext cx="22428" cy="22764"/>
              </a:xfrm>
              <a:custGeom>
                <a:avLst/>
                <a:gdLst/>
                <a:ahLst/>
                <a:cxnLst/>
                <a:rect l="l" t="t" r="r" b="b"/>
                <a:pathLst>
                  <a:path w="22428" h="22764" extrusionOk="0">
                    <a:moveTo>
                      <a:pt x="0" y="13430"/>
                    </a:moveTo>
                    <a:lnTo>
                      <a:pt x="0" y="0"/>
                    </a:lnTo>
                    <a:lnTo>
                      <a:pt x="22429" y="0"/>
                    </a:lnTo>
                    <a:lnTo>
                      <a:pt x="17012" y="12001"/>
                    </a:lnTo>
                    <a:lnTo>
                      <a:pt x="7508" y="22765"/>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13" name="Google Shape;4439;p48">
                <a:extLst>
                  <a:ext uri="{FF2B5EF4-FFF2-40B4-BE49-F238E27FC236}">
                    <a16:creationId xmlns:a16="http://schemas.microsoft.com/office/drawing/2014/main" id="{CCE420D1-D15A-09C1-12C9-6A291F1FA717}"/>
                  </a:ext>
                </a:extLst>
              </p:cNvPr>
              <p:cNvSpPr/>
              <p:nvPr/>
            </p:nvSpPr>
            <p:spPr>
              <a:xfrm>
                <a:off x="5190764" y="4838795"/>
                <a:ext cx="221036" cy="139064"/>
              </a:xfrm>
              <a:custGeom>
                <a:avLst/>
                <a:gdLst/>
                <a:ahLst/>
                <a:cxnLst/>
                <a:rect l="l" t="t" r="r" b="b"/>
                <a:pathLst>
                  <a:path w="221036" h="139064" extrusionOk="0">
                    <a:moveTo>
                      <a:pt x="111669" y="22003"/>
                    </a:moveTo>
                    <a:cubicBezTo>
                      <a:pt x="108742" y="22012"/>
                      <a:pt x="105825" y="22231"/>
                      <a:pt x="102926" y="22670"/>
                    </a:cubicBezTo>
                    <a:cubicBezTo>
                      <a:pt x="99029" y="23241"/>
                      <a:pt x="94658" y="24003"/>
                      <a:pt x="89811" y="25051"/>
                    </a:cubicBezTo>
                    <a:cubicBezTo>
                      <a:pt x="84964" y="26098"/>
                      <a:pt x="80307" y="27432"/>
                      <a:pt x="74700" y="28956"/>
                    </a:cubicBezTo>
                    <a:cubicBezTo>
                      <a:pt x="69596" y="30518"/>
                      <a:pt x="64616" y="32423"/>
                      <a:pt x="59779" y="34671"/>
                    </a:cubicBezTo>
                    <a:lnTo>
                      <a:pt x="97794" y="56769"/>
                    </a:lnTo>
                    <a:lnTo>
                      <a:pt x="104637" y="54292"/>
                    </a:lnTo>
                    <a:cubicBezTo>
                      <a:pt x="114140" y="51054"/>
                      <a:pt x="123644" y="48387"/>
                      <a:pt x="132103" y="46101"/>
                    </a:cubicBezTo>
                    <a:cubicBezTo>
                      <a:pt x="140181" y="43920"/>
                      <a:pt x="148459" y="42548"/>
                      <a:pt x="156812" y="42005"/>
                    </a:cubicBezTo>
                    <a:cubicBezTo>
                      <a:pt x="164454" y="41500"/>
                      <a:pt x="172123" y="42005"/>
                      <a:pt x="179622" y="43529"/>
                    </a:cubicBezTo>
                    <a:cubicBezTo>
                      <a:pt x="187282" y="45177"/>
                      <a:pt x="194628" y="48035"/>
                      <a:pt x="201385" y="52006"/>
                    </a:cubicBezTo>
                    <a:cubicBezTo>
                      <a:pt x="208123" y="55340"/>
                      <a:pt x="213883" y="60360"/>
                      <a:pt x="218112" y="66580"/>
                    </a:cubicBezTo>
                    <a:cubicBezTo>
                      <a:pt x="220868" y="71085"/>
                      <a:pt x="221714" y="76495"/>
                      <a:pt x="220488" y="81629"/>
                    </a:cubicBezTo>
                    <a:cubicBezTo>
                      <a:pt x="218872" y="87230"/>
                      <a:pt x="215793" y="92297"/>
                      <a:pt x="211554" y="96298"/>
                    </a:cubicBezTo>
                    <a:cubicBezTo>
                      <a:pt x="206337" y="101594"/>
                      <a:pt x="200501" y="106232"/>
                      <a:pt x="194162" y="110109"/>
                    </a:cubicBezTo>
                    <a:lnTo>
                      <a:pt x="218397" y="124206"/>
                    </a:lnTo>
                    <a:lnTo>
                      <a:pt x="205187" y="131826"/>
                    </a:lnTo>
                    <a:lnTo>
                      <a:pt x="180667" y="117729"/>
                    </a:lnTo>
                    <a:cubicBezTo>
                      <a:pt x="168987" y="123501"/>
                      <a:pt x="156765" y="128092"/>
                      <a:pt x="144172" y="131445"/>
                    </a:cubicBezTo>
                    <a:cubicBezTo>
                      <a:pt x="131010" y="135122"/>
                      <a:pt x="117562" y="137665"/>
                      <a:pt x="103971" y="139065"/>
                    </a:cubicBezTo>
                    <a:lnTo>
                      <a:pt x="91236" y="116014"/>
                    </a:lnTo>
                    <a:cubicBezTo>
                      <a:pt x="94800" y="115919"/>
                      <a:pt x="98355" y="115633"/>
                      <a:pt x="101881" y="115157"/>
                    </a:cubicBezTo>
                    <a:cubicBezTo>
                      <a:pt x="107288" y="114567"/>
                      <a:pt x="112648" y="113643"/>
                      <a:pt x="117942" y="112395"/>
                    </a:cubicBezTo>
                    <a:cubicBezTo>
                      <a:pt x="123834" y="111157"/>
                      <a:pt x="130012" y="109538"/>
                      <a:pt x="136950" y="107632"/>
                    </a:cubicBezTo>
                    <a:cubicBezTo>
                      <a:pt x="143460" y="105823"/>
                      <a:pt x="149818" y="103489"/>
                      <a:pt x="155957" y="100679"/>
                    </a:cubicBezTo>
                    <a:lnTo>
                      <a:pt x="117942" y="78676"/>
                    </a:lnTo>
                    <a:cubicBezTo>
                      <a:pt x="116326" y="79334"/>
                      <a:pt x="114673" y="79905"/>
                      <a:pt x="113000" y="80391"/>
                    </a:cubicBezTo>
                    <a:lnTo>
                      <a:pt x="107773" y="82010"/>
                    </a:lnTo>
                    <a:cubicBezTo>
                      <a:pt x="98269" y="85154"/>
                      <a:pt x="89431" y="87630"/>
                      <a:pt x="81448" y="89440"/>
                    </a:cubicBezTo>
                    <a:cubicBezTo>
                      <a:pt x="74111" y="91135"/>
                      <a:pt x="66631" y="92154"/>
                      <a:pt x="59114" y="92488"/>
                    </a:cubicBezTo>
                    <a:cubicBezTo>
                      <a:pt x="52470" y="92697"/>
                      <a:pt x="45827" y="92059"/>
                      <a:pt x="39346" y="90583"/>
                    </a:cubicBezTo>
                    <a:cubicBezTo>
                      <a:pt x="32883" y="89068"/>
                      <a:pt x="26696" y="86563"/>
                      <a:pt x="21003" y="83153"/>
                    </a:cubicBezTo>
                    <a:cubicBezTo>
                      <a:pt x="14702" y="79915"/>
                      <a:pt x="9238" y="75247"/>
                      <a:pt x="5037" y="69532"/>
                    </a:cubicBezTo>
                    <a:cubicBezTo>
                      <a:pt x="1977" y="65246"/>
                      <a:pt x="466" y="60036"/>
                      <a:pt x="760" y="54769"/>
                    </a:cubicBezTo>
                    <a:cubicBezTo>
                      <a:pt x="1331" y="49273"/>
                      <a:pt x="3507" y="44062"/>
                      <a:pt x="7033" y="39814"/>
                    </a:cubicBezTo>
                    <a:cubicBezTo>
                      <a:pt x="11471" y="34404"/>
                      <a:pt x="16698" y="29680"/>
                      <a:pt x="22524" y="25813"/>
                    </a:cubicBezTo>
                    <a:lnTo>
                      <a:pt x="0" y="12763"/>
                    </a:lnTo>
                    <a:lnTo>
                      <a:pt x="13210" y="5048"/>
                    </a:lnTo>
                    <a:lnTo>
                      <a:pt x="35544" y="18002"/>
                    </a:lnTo>
                    <a:cubicBezTo>
                      <a:pt x="45998" y="12782"/>
                      <a:pt x="56994" y="8725"/>
                      <a:pt x="68332" y="5905"/>
                    </a:cubicBezTo>
                    <a:cubicBezTo>
                      <a:pt x="79110" y="3143"/>
                      <a:pt x="90067" y="1171"/>
                      <a:pt x="101120" y="0"/>
                    </a:cubicBezTo>
                    <a:close/>
                    <a:moveTo>
                      <a:pt x="46759" y="62103"/>
                    </a:moveTo>
                    <a:cubicBezTo>
                      <a:pt x="51748" y="65037"/>
                      <a:pt x="57536" y="66304"/>
                      <a:pt x="63295" y="65722"/>
                    </a:cubicBezTo>
                    <a:cubicBezTo>
                      <a:pt x="71031" y="64818"/>
                      <a:pt x="78644" y="63094"/>
                      <a:pt x="86009" y="60579"/>
                    </a:cubicBezTo>
                    <a:lnTo>
                      <a:pt x="50275" y="39910"/>
                    </a:lnTo>
                    <a:cubicBezTo>
                      <a:pt x="37255" y="48482"/>
                      <a:pt x="35639" y="55912"/>
                      <a:pt x="46854" y="62103"/>
                    </a:cubicBezTo>
                    <a:close/>
                    <a:moveTo>
                      <a:pt x="172209" y="72580"/>
                    </a:moveTo>
                    <a:cubicBezTo>
                      <a:pt x="166706" y="69637"/>
                      <a:pt x="160414" y="68532"/>
                      <a:pt x="154246" y="69437"/>
                    </a:cubicBezTo>
                    <a:cubicBezTo>
                      <a:pt x="145807" y="70523"/>
                      <a:pt x="137472" y="72342"/>
                      <a:pt x="129347" y="74866"/>
                    </a:cubicBezTo>
                    <a:lnTo>
                      <a:pt x="164891" y="95440"/>
                    </a:lnTo>
                    <a:cubicBezTo>
                      <a:pt x="180097" y="86230"/>
                      <a:pt x="182568" y="78610"/>
                      <a:pt x="172304" y="72580"/>
                    </a:cubicBezTo>
                    <a:close/>
                  </a:path>
                </a:pathLst>
              </a:custGeom>
              <a:solidFill>
                <a:srgbClr val="F9CA06"/>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grpSp>
        <p:grpSp>
          <p:nvGrpSpPr>
            <p:cNvPr id="381" name="Google Shape;4440;p48">
              <a:extLst>
                <a:ext uri="{FF2B5EF4-FFF2-40B4-BE49-F238E27FC236}">
                  <a16:creationId xmlns:a16="http://schemas.microsoft.com/office/drawing/2014/main" id="{79EE8283-4635-013D-A2F8-804CA9FC83A1}"/>
                </a:ext>
              </a:extLst>
            </p:cNvPr>
            <p:cNvGrpSpPr/>
            <p:nvPr/>
          </p:nvGrpSpPr>
          <p:grpSpPr>
            <a:xfrm>
              <a:off x="3220919" y="3808894"/>
              <a:ext cx="664504" cy="467011"/>
              <a:chOff x="5002019" y="4625244"/>
              <a:chExt cx="664504" cy="467011"/>
            </a:xfrm>
          </p:grpSpPr>
          <p:sp>
            <p:nvSpPr>
              <p:cNvPr id="482" name="Google Shape;4441;p48">
                <a:extLst>
                  <a:ext uri="{FF2B5EF4-FFF2-40B4-BE49-F238E27FC236}">
                    <a16:creationId xmlns:a16="http://schemas.microsoft.com/office/drawing/2014/main" id="{B331F436-0058-92C0-082E-3176F8E34131}"/>
                  </a:ext>
                </a:extLst>
              </p:cNvPr>
              <p:cNvSpPr/>
              <p:nvPr/>
            </p:nvSpPr>
            <p:spPr>
              <a:xfrm>
                <a:off x="5002019" y="4707636"/>
                <a:ext cx="664504" cy="384619"/>
              </a:xfrm>
              <a:custGeom>
                <a:avLst/>
                <a:gdLst/>
                <a:ahLst/>
                <a:cxnLst/>
                <a:rect l="l" t="t" r="r" b="b"/>
                <a:pathLst>
                  <a:path w="664504" h="384619" extrusionOk="0">
                    <a:moveTo>
                      <a:pt x="664505" y="192310"/>
                    </a:moveTo>
                    <a:cubicBezTo>
                      <a:pt x="664505" y="298519"/>
                      <a:pt x="515750" y="384619"/>
                      <a:pt x="332252" y="384619"/>
                    </a:cubicBezTo>
                    <a:cubicBezTo>
                      <a:pt x="148754" y="384619"/>
                      <a:pt x="0" y="298519"/>
                      <a:pt x="0" y="192310"/>
                    </a:cubicBezTo>
                    <a:cubicBezTo>
                      <a:pt x="0" y="86100"/>
                      <a:pt x="148754" y="0"/>
                      <a:pt x="332252" y="0"/>
                    </a:cubicBezTo>
                    <a:cubicBezTo>
                      <a:pt x="515750" y="0"/>
                      <a:pt x="664505" y="86100"/>
                      <a:pt x="664505" y="192310"/>
                    </a:cubicBezTo>
                    <a:close/>
                  </a:path>
                </a:pathLst>
              </a:custGeom>
              <a:solidFill>
                <a:srgbClr val="DD990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83" name="Google Shape;4442;p48">
                <a:extLst>
                  <a:ext uri="{FF2B5EF4-FFF2-40B4-BE49-F238E27FC236}">
                    <a16:creationId xmlns:a16="http://schemas.microsoft.com/office/drawing/2014/main" id="{AB37B826-5301-E13F-D236-C290CDB94DF2}"/>
                  </a:ext>
                </a:extLst>
              </p:cNvPr>
              <p:cNvSpPr/>
              <p:nvPr/>
            </p:nvSpPr>
            <p:spPr>
              <a:xfrm>
                <a:off x="5002019" y="4815268"/>
                <a:ext cx="65671" cy="87629"/>
              </a:xfrm>
              <a:custGeom>
                <a:avLst/>
                <a:gdLst/>
                <a:ahLst/>
                <a:cxnLst/>
                <a:rect l="l" t="t" r="r" b="b"/>
                <a:pathLst>
                  <a:path w="65671" h="87629" extrusionOk="0">
                    <a:moveTo>
                      <a:pt x="0" y="87630"/>
                    </a:moveTo>
                    <a:lnTo>
                      <a:pt x="0" y="0"/>
                    </a:lnTo>
                    <a:lnTo>
                      <a:pt x="65671" y="58579"/>
                    </a:lnTo>
                    <a:lnTo>
                      <a:pt x="0" y="87630"/>
                    </a:lnTo>
                    <a:close/>
                  </a:path>
                </a:pathLst>
              </a:custGeom>
              <a:solidFill>
                <a:srgbClr val="DD990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84" name="Google Shape;4443;p48">
                <a:extLst>
                  <a:ext uri="{FF2B5EF4-FFF2-40B4-BE49-F238E27FC236}">
                    <a16:creationId xmlns:a16="http://schemas.microsoft.com/office/drawing/2014/main" id="{12D1873F-7342-A78D-D3F9-C13BA10BAEE1}"/>
                  </a:ext>
                </a:extLst>
              </p:cNvPr>
              <p:cNvSpPr/>
              <p:nvPr/>
            </p:nvSpPr>
            <p:spPr>
              <a:xfrm>
                <a:off x="5616534" y="4817554"/>
                <a:ext cx="49989" cy="118109"/>
              </a:xfrm>
              <a:custGeom>
                <a:avLst/>
                <a:gdLst/>
                <a:ahLst/>
                <a:cxnLst/>
                <a:rect l="l" t="t" r="r" b="b"/>
                <a:pathLst>
                  <a:path w="49989" h="118109" extrusionOk="0">
                    <a:moveTo>
                      <a:pt x="49990" y="0"/>
                    </a:moveTo>
                    <a:lnTo>
                      <a:pt x="49990" y="82391"/>
                    </a:lnTo>
                    <a:lnTo>
                      <a:pt x="16442" y="118110"/>
                    </a:lnTo>
                    <a:lnTo>
                      <a:pt x="0" y="23813"/>
                    </a:lnTo>
                    <a:lnTo>
                      <a:pt x="49990" y="0"/>
                    </a:lnTo>
                    <a:close/>
                  </a:path>
                </a:pathLst>
              </a:custGeom>
              <a:solidFill>
                <a:srgbClr val="DD990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85" name="Google Shape;4444;p48">
                <a:extLst>
                  <a:ext uri="{FF2B5EF4-FFF2-40B4-BE49-F238E27FC236}">
                    <a16:creationId xmlns:a16="http://schemas.microsoft.com/office/drawing/2014/main" id="{A8E37CB7-75A7-F801-E8AD-423C21A55DF2}"/>
                  </a:ext>
                </a:extLst>
              </p:cNvPr>
              <p:cNvSpPr/>
              <p:nvPr/>
            </p:nvSpPr>
            <p:spPr>
              <a:xfrm>
                <a:off x="5002019" y="4625244"/>
                <a:ext cx="664504" cy="384619"/>
              </a:xfrm>
              <a:custGeom>
                <a:avLst/>
                <a:gdLst/>
                <a:ahLst/>
                <a:cxnLst/>
                <a:rect l="l" t="t" r="r" b="b"/>
                <a:pathLst>
                  <a:path w="664504" h="384619" extrusionOk="0">
                    <a:moveTo>
                      <a:pt x="664505" y="192310"/>
                    </a:moveTo>
                    <a:cubicBezTo>
                      <a:pt x="664505" y="298520"/>
                      <a:pt x="515750" y="384620"/>
                      <a:pt x="332252" y="384620"/>
                    </a:cubicBezTo>
                    <a:cubicBezTo>
                      <a:pt x="148754" y="384620"/>
                      <a:pt x="0" y="298520"/>
                      <a:pt x="0" y="192310"/>
                    </a:cubicBezTo>
                    <a:cubicBezTo>
                      <a:pt x="0" y="86100"/>
                      <a:pt x="148754" y="0"/>
                      <a:pt x="332252" y="0"/>
                    </a:cubicBezTo>
                    <a:cubicBezTo>
                      <a:pt x="515750" y="0"/>
                      <a:pt x="664505" y="86100"/>
                      <a:pt x="664505" y="192310"/>
                    </a:cubicBezTo>
                    <a:close/>
                  </a:path>
                </a:pathLst>
              </a:custGeom>
              <a:solidFill>
                <a:srgbClr val="F9CB07"/>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86" name="Google Shape;4445;p48">
                <a:extLst>
                  <a:ext uri="{FF2B5EF4-FFF2-40B4-BE49-F238E27FC236}">
                    <a16:creationId xmlns:a16="http://schemas.microsoft.com/office/drawing/2014/main" id="{E0BEDE05-37EC-9F38-A611-1B214F5C7783}"/>
                  </a:ext>
                </a:extLst>
              </p:cNvPr>
              <p:cNvSpPr/>
              <p:nvPr/>
            </p:nvSpPr>
            <p:spPr>
              <a:xfrm>
                <a:off x="5096424" y="4677655"/>
                <a:ext cx="475693" cy="275248"/>
              </a:xfrm>
              <a:custGeom>
                <a:avLst/>
                <a:gdLst/>
                <a:ahLst/>
                <a:cxnLst/>
                <a:rect l="l" t="t" r="r" b="b"/>
                <a:pathLst>
                  <a:path w="475693" h="275248" extrusionOk="0">
                    <a:moveTo>
                      <a:pt x="475252" y="145899"/>
                    </a:moveTo>
                    <a:cubicBezTo>
                      <a:pt x="471925" y="178284"/>
                      <a:pt x="448926" y="210193"/>
                      <a:pt x="406064" y="234958"/>
                    </a:cubicBezTo>
                    <a:cubicBezTo>
                      <a:pt x="313117" y="288679"/>
                      <a:pt x="162577" y="288679"/>
                      <a:pt x="69630" y="234958"/>
                    </a:cubicBezTo>
                    <a:cubicBezTo>
                      <a:pt x="26768" y="210193"/>
                      <a:pt x="3769" y="178284"/>
                      <a:pt x="443" y="145899"/>
                    </a:cubicBezTo>
                    <a:cubicBezTo>
                      <a:pt x="-3549" y="107799"/>
                      <a:pt x="19450" y="69223"/>
                      <a:pt x="69630" y="40362"/>
                    </a:cubicBezTo>
                    <a:cubicBezTo>
                      <a:pt x="162577" y="-13454"/>
                      <a:pt x="313117" y="-13454"/>
                      <a:pt x="406064" y="40362"/>
                    </a:cubicBezTo>
                    <a:cubicBezTo>
                      <a:pt x="456149" y="69223"/>
                      <a:pt x="479243" y="107990"/>
                      <a:pt x="475252" y="145899"/>
                    </a:cubicBez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87" name="Google Shape;4446;p48">
                <a:extLst>
                  <a:ext uri="{FF2B5EF4-FFF2-40B4-BE49-F238E27FC236}">
                    <a16:creationId xmlns:a16="http://schemas.microsoft.com/office/drawing/2014/main" id="{B2BB59D6-E435-7800-9F98-1E0A5E685F6D}"/>
                  </a:ext>
                </a:extLst>
              </p:cNvPr>
              <p:cNvSpPr/>
              <p:nvPr/>
            </p:nvSpPr>
            <p:spPr>
              <a:xfrm>
                <a:off x="5096866" y="4694134"/>
                <a:ext cx="474809" cy="258770"/>
              </a:xfrm>
              <a:custGeom>
                <a:avLst/>
                <a:gdLst/>
                <a:ahLst/>
                <a:cxnLst/>
                <a:rect l="l" t="t" r="r" b="b"/>
                <a:pathLst>
                  <a:path w="474809" h="258770" extrusionOk="0">
                    <a:moveTo>
                      <a:pt x="474809" y="129421"/>
                    </a:moveTo>
                    <a:cubicBezTo>
                      <a:pt x="471483" y="161806"/>
                      <a:pt x="448484" y="193715"/>
                      <a:pt x="405622" y="218480"/>
                    </a:cubicBezTo>
                    <a:cubicBezTo>
                      <a:pt x="312675" y="272201"/>
                      <a:pt x="162135" y="272201"/>
                      <a:pt x="69188" y="218480"/>
                    </a:cubicBezTo>
                    <a:cubicBezTo>
                      <a:pt x="26325" y="193715"/>
                      <a:pt x="3326" y="161806"/>
                      <a:pt x="0" y="129421"/>
                    </a:cubicBezTo>
                    <a:cubicBezTo>
                      <a:pt x="3326" y="97036"/>
                      <a:pt x="26325" y="65127"/>
                      <a:pt x="69188" y="40362"/>
                    </a:cubicBezTo>
                    <a:cubicBezTo>
                      <a:pt x="162135" y="-13454"/>
                      <a:pt x="312675" y="-13454"/>
                      <a:pt x="405622" y="40362"/>
                    </a:cubicBezTo>
                    <a:cubicBezTo>
                      <a:pt x="448484" y="65127"/>
                      <a:pt x="471673" y="96941"/>
                      <a:pt x="474809" y="129421"/>
                    </a:cubicBezTo>
                    <a:close/>
                  </a:path>
                </a:pathLst>
              </a:custGeom>
              <a:solidFill>
                <a:srgbClr val="E8A30A"/>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88" name="Google Shape;4447;p48">
                <a:extLst>
                  <a:ext uri="{FF2B5EF4-FFF2-40B4-BE49-F238E27FC236}">
                    <a16:creationId xmlns:a16="http://schemas.microsoft.com/office/drawing/2014/main" id="{90CCE6FD-633C-5549-C4BF-D1FA70BBDBE7}"/>
                  </a:ext>
                </a:extLst>
              </p:cNvPr>
              <p:cNvSpPr/>
              <p:nvPr/>
            </p:nvSpPr>
            <p:spPr>
              <a:xfrm>
                <a:off x="5218990" y="4756403"/>
                <a:ext cx="221102" cy="139065"/>
              </a:xfrm>
              <a:custGeom>
                <a:avLst/>
                <a:gdLst/>
                <a:ahLst/>
                <a:cxnLst/>
                <a:rect l="l" t="t" r="r" b="b"/>
                <a:pathLst>
                  <a:path w="221102" h="139065" extrusionOk="0">
                    <a:moveTo>
                      <a:pt x="111955" y="22098"/>
                    </a:moveTo>
                    <a:cubicBezTo>
                      <a:pt x="109027" y="22060"/>
                      <a:pt x="106100" y="22279"/>
                      <a:pt x="103211" y="22765"/>
                    </a:cubicBezTo>
                    <a:cubicBezTo>
                      <a:pt x="99315" y="23336"/>
                      <a:pt x="94943" y="24099"/>
                      <a:pt x="90096" y="25146"/>
                    </a:cubicBezTo>
                    <a:cubicBezTo>
                      <a:pt x="85249" y="26194"/>
                      <a:pt x="80592" y="27527"/>
                      <a:pt x="74985" y="29051"/>
                    </a:cubicBezTo>
                    <a:cubicBezTo>
                      <a:pt x="69881" y="30585"/>
                      <a:pt x="64892" y="32490"/>
                      <a:pt x="60064" y="34766"/>
                    </a:cubicBezTo>
                    <a:lnTo>
                      <a:pt x="98079" y="56864"/>
                    </a:lnTo>
                    <a:lnTo>
                      <a:pt x="104922" y="54388"/>
                    </a:lnTo>
                    <a:cubicBezTo>
                      <a:pt x="114426" y="51149"/>
                      <a:pt x="123929" y="48483"/>
                      <a:pt x="132388" y="46196"/>
                    </a:cubicBezTo>
                    <a:cubicBezTo>
                      <a:pt x="140504" y="44015"/>
                      <a:pt x="148810" y="42644"/>
                      <a:pt x="157193" y="42101"/>
                    </a:cubicBezTo>
                    <a:cubicBezTo>
                      <a:pt x="164796" y="41596"/>
                      <a:pt x="172437" y="42101"/>
                      <a:pt x="179907" y="43625"/>
                    </a:cubicBezTo>
                    <a:cubicBezTo>
                      <a:pt x="187567" y="45253"/>
                      <a:pt x="194923" y="48120"/>
                      <a:pt x="201670" y="52102"/>
                    </a:cubicBezTo>
                    <a:cubicBezTo>
                      <a:pt x="208294" y="55445"/>
                      <a:pt x="213949" y="60427"/>
                      <a:pt x="218112" y="66580"/>
                    </a:cubicBezTo>
                    <a:cubicBezTo>
                      <a:pt x="220887" y="71038"/>
                      <a:pt x="221780" y="76419"/>
                      <a:pt x="220583" y="81534"/>
                    </a:cubicBezTo>
                    <a:cubicBezTo>
                      <a:pt x="218958" y="87154"/>
                      <a:pt x="215869" y="92250"/>
                      <a:pt x="211649" y="96298"/>
                    </a:cubicBezTo>
                    <a:cubicBezTo>
                      <a:pt x="206403" y="101594"/>
                      <a:pt x="200530" y="106232"/>
                      <a:pt x="194162" y="110109"/>
                    </a:cubicBezTo>
                    <a:lnTo>
                      <a:pt x="218492" y="124206"/>
                    </a:lnTo>
                    <a:lnTo>
                      <a:pt x="205187" y="131826"/>
                    </a:lnTo>
                    <a:lnTo>
                      <a:pt x="180667" y="117729"/>
                    </a:lnTo>
                    <a:cubicBezTo>
                      <a:pt x="169015" y="123482"/>
                      <a:pt x="156822" y="128083"/>
                      <a:pt x="144267" y="131445"/>
                    </a:cubicBezTo>
                    <a:cubicBezTo>
                      <a:pt x="131105" y="135103"/>
                      <a:pt x="117657" y="137646"/>
                      <a:pt x="104066" y="139065"/>
                    </a:cubicBezTo>
                    <a:lnTo>
                      <a:pt x="91236" y="116015"/>
                    </a:lnTo>
                    <a:cubicBezTo>
                      <a:pt x="94829" y="115919"/>
                      <a:pt x="98412" y="115634"/>
                      <a:pt x="101976" y="115158"/>
                    </a:cubicBezTo>
                    <a:cubicBezTo>
                      <a:pt x="107345" y="114557"/>
                      <a:pt x="112677" y="113633"/>
                      <a:pt x="117942" y="112395"/>
                    </a:cubicBezTo>
                    <a:cubicBezTo>
                      <a:pt x="123834" y="111157"/>
                      <a:pt x="130107" y="109538"/>
                      <a:pt x="136950" y="107633"/>
                    </a:cubicBezTo>
                    <a:cubicBezTo>
                      <a:pt x="143460" y="105823"/>
                      <a:pt x="149818" y="103499"/>
                      <a:pt x="155957" y="100679"/>
                    </a:cubicBezTo>
                    <a:lnTo>
                      <a:pt x="117942" y="78677"/>
                    </a:lnTo>
                    <a:cubicBezTo>
                      <a:pt x="116326" y="79343"/>
                      <a:pt x="114682" y="79924"/>
                      <a:pt x="113000" y="80391"/>
                    </a:cubicBezTo>
                    <a:lnTo>
                      <a:pt x="107773" y="82010"/>
                    </a:lnTo>
                    <a:cubicBezTo>
                      <a:pt x="98269" y="85182"/>
                      <a:pt x="89526" y="87659"/>
                      <a:pt x="81543" y="89440"/>
                    </a:cubicBezTo>
                    <a:cubicBezTo>
                      <a:pt x="74177" y="91135"/>
                      <a:pt x="66669" y="92155"/>
                      <a:pt x="59114" y="92488"/>
                    </a:cubicBezTo>
                    <a:cubicBezTo>
                      <a:pt x="52470" y="92698"/>
                      <a:pt x="45827" y="92059"/>
                      <a:pt x="39346" y="90583"/>
                    </a:cubicBezTo>
                    <a:cubicBezTo>
                      <a:pt x="32893" y="89040"/>
                      <a:pt x="26715" y="86535"/>
                      <a:pt x="21003" y="83153"/>
                    </a:cubicBezTo>
                    <a:cubicBezTo>
                      <a:pt x="14740" y="79886"/>
                      <a:pt x="9314" y="75229"/>
                      <a:pt x="5132" y="69533"/>
                    </a:cubicBezTo>
                    <a:cubicBezTo>
                      <a:pt x="2072" y="65246"/>
                      <a:pt x="561" y="60036"/>
                      <a:pt x="855" y="54769"/>
                    </a:cubicBezTo>
                    <a:cubicBezTo>
                      <a:pt x="1340" y="49254"/>
                      <a:pt x="3535" y="44025"/>
                      <a:pt x="7128" y="39815"/>
                    </a:cubicBezTo>
                    <a:cubicBezTo>
                      <a:pt x="11509" y="34376"/>
                      <a:pt x="16698" y="29651"/>
                      <a:pt x="22524" y="25813"/>
                    </a:cubicBezTo>
                    <a:lnTo>
                      <a:pt x="0" y="12764"/>
                    </a:lnTo>
                    <a:lnTo>
                      <a:pt x="13305" y="5049"/>
                    </a:lnTo>
                    <a:lnTo>
                      <a:pt x="35544" y="18002"/>
                    </a:lnTo>
                    <a:cubicBezTo>
                      <a:pt x="46027" y="12783"/>
                      <a:pt x="57061" y="8725"/>
                      <a:pt x="68427" y="5906"/>
                    </a:cubicBezTo>
                    <a:cubicBezTo>
                      <a:pt x="79205" y="3143"/>
                      <a:pt x="90162" y="1172"/>
                      <a:pt x="101215" y="0"/>
                    </a:cubicBezTo>
                    <a:close/>
                    <a:moveTo>
                      <a:pt x="47044" y="62199"/>
                    </a:moveTo>
                    <a:cubicBezTo>
                      <a:pt x="52043" y="65113"/>
                      <a:pt x="57830" y="66380"/>
                      <a:pt x="63580" y="65818"/>
                    </a:cubicBezTo>
                    <a:cubicBezTo>
                      <a:pt x="71345" y="64922"/>
                      <a:pt x="78995" y="63198"/>
                      <a:pt x="86389" y="60674"/>
                    </a:cubicBezTo>
                    <a:lnTo>
                      <a:pt x="50560" y="40005"/>
                    </a:lnTo>
                    <a:cubicBezTo>
                      <a:pt x="37321" y="48578"/>
                      <a:pt x="36086" y="55979"/>
                      <a:pt x="46854" y="62199"/>
                    </a:cubicBezTo>
                    <a:close/>
                    <a:moveTo>
                      <a:pt x="172494" y="72676"/>
                    </a:moveTo>
                    <a:cubicBezTo>
                      <a:pt x="167029" y="69742"/>
                      <a:pt x="160766" y="68637"/>
                      <a:pt x="154627" y="69533"/>
                    </a:cubicBezTo>
                    <a:cubicBezTo>
                      <a:pt x="146159" y="70618"/>
                      <a:pt x="137795" y="72438"/>
                      <a:pt x="129632" y="74962"/>
                    </a:cubicBezTo>
                    <a:lnTo>
                      <a:pt x="165176" y="95536"/>
                    </a:lnTo>
                    <a:cubicBezTo>
                      <a:pt x="180192" y="86297"/>
                      <a:pt x="182568" y="78677"/>
                      <a:pt x="172304" y="72771"/>
                    </a:cubicBez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89" name="Google Shape;4448;p48">
                <a:extLst>
                  <a:ext uri="{FF2B5EF4-FFF2-40B4-BE49-F238E27FC236}">
                    <a16:creationId xmlns:a16="http://schemas.microsoft.com/office/drawing/2014/main" id="{75C22197-97A1-559B-ECA4-1A4AF1EA2D02}"/>
                  </a:ext>
                </a:extLst>
              </p:cNvPr>
              <p:cNvSpPr/>
              <p:nvPr/>
            </p:nvSpPr>
            <p:spPr>
              <a:xfrm>
                <a:off x="5310227" y="4859464"/>
                <a:ext cx="14635" cy="19050"/>
              </a:xfrm>
              <a:custGeom>
                <a:avLst/>
                <a:gdLst/>
                <a:ahLst/>
                <a:cxnLst/>
                <a:rect l="l" t="t" r="r" b="b"/>
                <a:pathLst>
                  <a:path w="14635" h="19050" extrusionOk="0">
                    <a:moveTo>
                      <a:pt x="0" y="12954"/>
                    </a:moveTo>
                    <a:cubicBezTo>
                      <a:pt x="0" y="12002"/>
                      <a:pt x="0" y="0"/>
                      <a:pt x="0" y="0"/>
                    </a:cubicBezTo>
                    <a:lnTo>
                      <a:pt x="14636" y="9525"/>
                    </a:lnTo>
                    <a:lnTo>
                      <a:pt x="8268" y="19050"/>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90" name="Google Shape;4449;p48">
                <a:extLst>
                  <a:ext uri="{FF2B5EF4-FFF2-40B4-BE49-F238E27FC236}">
                    <a16:creationId xmlns:a16="http://schemas.microsoft.com/office/drawing/2014/main" id="{EF1A9E44-B734-05C7-DB83-F0E5E1CFF762}"/>
                  </a:ext>
                </a:extLst>
              </p:cNvPr>
              <p:cNvSpPr/>
              <p:nvPr/>
            </p:nvSpPr>
            <p:spPr>
              <a:xfrm>
                <a:off x="5405835" y="4867656"/>
                <a:ext cx="31647" cy="14858"/>
              </a:xfrm>
              <a:custGeom>
                <a:avLst/>
                <a:gdLst/>
                <a:ahLst/>
                <a:cxnLst/>
                <a:rect l="l" t="t" r="r" b="b"/>
                <a:pathLst>
                  <a:path w="31647" h="14858" extrusionOk="0">
                    <a:moveTo>
                      <a:pt x="31648" y="12954"/>
                    </a:moveTo>
                    <a:lnTo>
                      <a:pt x="31648" y="0"/>
                    </a:lnTo>
                    <a:lnTo>
                      <a:pt x="0" y="2476"/>
                    </a:lnTo>
                    <a:lnTo>
                      <a:pt x="18152" y="14859"/>
                    </a:lnTo>
                    <a:lnTo>
                      <a:pt x="31648" y="12954"/>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91" name="Google Shape;4450;p48">
                <a:extLst>
                  <a:ext uri="{FF2B5EF4-FFF2-40B4-BE49-F238E27FC236}">
                    <a16:creationId xmlns:a16="http://schemas.microsoft.com/office/drawing/2014/main" id="{E2456C06-0B34-2BA6-B7E4-59B834F219DA}"/>
                  </a:ext>
                </a:extLst>
              </p:cNvPr>
              <p:cNvSpPr/>
              <p:nvPr/>
            </p:nvSpPr>
            <p:spPr>
              <a:xfrm>
                <a:off x="5416479" y="4820126"/>
                <a:ext cx="23664" cy="13049"/>
              </a:xfrm>
              <a:custGeom>
                <a:avLst/>
                <a:gdLst/>
                <a:ahLst/>
                <a:cxnLst/>
                <a:rect l="l" t="t" r="r" b="b"/>
                <a:pathLst>
                  <a:path w="23664" h="13049" extrusionOk="0">
                    <a:moveTo>
                      <a:pt x="23664" y="13049"/>
                    </a:moveTo>
                    <a:lnTo>
                      <a:pt x="23664" y="0"/>
                    </a:lnTo>
                    <a:lnTo>
                      <a:pt x="0" y="8573"/>
                    </a:lnTo>
                    <a:lnTo>
                      <a:pt x="23664" y="13049"/>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92" name="Google Shape;4451;p48">
                <a:extLst>
                  <a:ext uri="{FF2B5EF4-FFF2-40B4-BE49-F238E27FC236}">
                    <a16:creationId xmlns:a16="http://schemas.microsoft.com/office/drawing/2014/main" id="{B702847B-FE4A-610A-8592-C1CE6AC6E334}"/>
                  </a:ext>
                </a:extLst>
              </p:cNvPr>
              <p:cNvSpPr/>
              <p:nvPr/>
            </p:nvSpPr>
            <p:spPr>
              <a:xfrm>
                <a:off x="5342159" y="4824983"/>
                <a:ext cx="35544" cy="24669"/>
              </a:xfrm>
              <a:custGeom>
                <a:avLst/>
                <a:gdLst/>
                <a:ahLst/>
                <a:cxnLst/>
                <a:rect l="l" t="t" r="r" b="b"/>
                <a:pathLst>
                  <a:path w="35544" h="24669" extrusionOk="0">
                    <a:moveTo>
                      <a:pt x="0" y="7525"/>
                    </a:moveTo>
                    <a:lnTo>
                      <a:pt x="7793" y="0"/>
                    </a:lnTo>
                    <a:lnTo>
                      <a:pt x="35544" y="19050"/>
                    </a:lnTo>
                    <a:lnTo>
                      <a:pt x="33834" y="24670"/>
                    </a:lnTo>
                    <a:cubicBezTo>
                      <a:pt x="33834" y="24670"/>
                      <a:pt x="13115" y="15907"/>
                      <a:pt x="12450" y="15145"/>
                    </a:cubicBezTo>
                    <a:cubicBezTo>
                      <a:pt x="11785" y="14383"/>
                      <a:pt x="0" y="7525"/>
                      <a:pt x="0" y="7525"/>
                    </a:cubicBez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93" name="Google Shape;4452;p48">
                <a:extLst>
                  <a:ext uri="{FF2B5EF4-FFF2-40B4-BE49-F238E27FC236}">
                    <a16:creationId xmlns:a16="http://schemas.microsoft.com/office/drawing/2014/main" id="{FFD3CDEC-41E1-24AE-D6C2-15993C806D0D}"/>
                  </a:ext>
                </a:extLst>
              </p:cNvPr>
              <p:cNvSpPr/>
              <p:nvPr/>
            </p:nvSpPr>
            <p:spPr>
              <a:xfrm>
                <a:off x="5269455" y="4783550"/>
                <a:ext cx="44382" cy="29241"/>
              </a:xfrm>
              <a:custGeom>
                <a:avLst/>
                <a:gdLst/>
                <a:ahLst/>
                <a:cxnLst/>
                <a:rect l="l" t="t" r="r" b="b"/>
                <a:pathLst>
                  <a:path w="44382" h="29241" extrusionOk="0">
                    <a:moveTo>
                      <a:pt x="0" y="8287"/>
                    </a:moveTo>
                    <a:lnTo>
                      <a:pt x="36875" y="29242"/>
                    </a:lnTo>
                    <a:lnTo>
                      <a:pt x="44383" y="23717"/>
                    </a:lnTo>
                    <a:lnTo>
                      <a:pt x="39441" y="17907"/>
                    </a:lnTo>
                    <a:cubicBezTo>
                      <a:pt x="36143" y="14135"/>
                      <a:pt x="32256" y="10925"/>
                      <a:pt x="27941" y="8382"/>
                    </a:cubicBezTo>
                    <a:cubicBezTo>
                      <a:pt x="25185" y="7906"/>
                      <a:pt x="7698" y="0"/>
                      <a:pt x="7698" y="0"/>
                    </a:cubicBez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94" name="Google Shape;4453;p48">
                <a:extLst>
                  <a:ext uri="{FF2B5EF4-FFF2-40B4-BE49-F238E27FC236}">
                    <a16:creationId xmlns:a16="http://schemas.microsoft.com/office/drawing/2014/main" id="{E0A4A6EA-8F2C-BF5F-7BD9-03913E82DBA1}"/>
                  </a:ext>
                </a:extLst>
              </p:cNvPr>
              <p:cNvSpPr/>
              <p:nvPr/>
            </p:nvSpPr>
            <p:spPr>
              <a:xfrm>
                <a:off x="5310227" y="4760118"/>
                <a:ext cx="20528" cy="18383"/>
              </a:xfrm>
              <a:custGeom>
                <a:avLst/>
                <a:gdLst/>
                <a:ahLst/>
                <a:cxnLst/>
                <a:rect l="l" t="t" r="r" b="b"/>
                <a:pathLst>
                  <a:path w="20528" h="18383" extrusionOk="0">
                    <a:moveTo>
                      <a:pt x="20528" y="18383"/>
                    </a:moveTo>
                    <a:lnTo>
                      <a:pt x="20528" y="5429"/>
                    </a:lnTo>
                    <a:lnTo>
                      <a:pt x="3611" y="0"/>
                    </a:lnTo>
                    <a:lnTo>
                      <a:pt x="0" y="10096"/>
                    </a:lnTo>
                    <a:lnTo>
                      <a:pt x="855" y="14764"/>
                    </a:lnTo>
                    <a:lnTo>
                      <a:pt x="20528" y="18383"/>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95" name="Google Shape;4454;p48">
                <a:extLst>
                  <a:ext uri="{FF2B5EF4-FFF2-40B4-BE49-F238E27FC236}">
                    <a16:creationId xmlns:a16="http://schemas.microsoft.com/office/drawing/2014/main" id="{8CDE0184-EE40-A1E8-8343-999B0C37D8EB}"/>
                  </a:ext>
                </a:extLst>
              </p:cNvPr>
              <p:cNvSpPr/>
              <p:nvPr/>
            </p:nvSpPr>
            <p:spPr>
              <a:xfrm>
                <a:off x="5218325" y="4756213"/>
                <a:ext cx="19672" cy="14668"/>
              </a:xfrm>
              <a:custGeom>
                <a:avLst/>
                <a:gdLst/>
                <a:ahLst/>
                <a:cxnLst/>
                <a:rect l="l" t="t" r="r" b="b"/>
                <a:pathLst>
                  <a:path w="19672" h="14668" extrusionOk="0">
                    <a:moveTo>
                      <a:pt x="0" y="12954"/>
                    </a:moveTo>
                    <a:lnTo>
                      <a:pt x="0" y="0"/>
                    </a:lnTo>
                    <a:lnTo>
                      <a:pt x="19673" y="2096"/>
                    </a:lnTo>
                    <a:lnTo>
                      <a:pt x="13305" y="14669"/>
                    </a:lnTo>
                    <a:lnTo>
                      <a:pt x="0" y="12954"/>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96" name="Google Shape;4455;p48">
                <a:extLst>
                  <a:ext uri="{FF2B5EF4-FFF2-40B4-BE49-F238E27FC236}">
                    <a16:creationId xmlns:a16="http://schemas.microsoft.com/office/drawing/2014/main" id="{9EDB2624-028D-6D31-40AF-743BB874EFFE}"/>
                  </a:ext>
                </a:extLst>
              </p:cNvPr>
              <p:cNvSpPr/>
              <p:nvPr/>
            </p:nvSpPr>
            <p:spPr>
              <a:xfrm>
                <a:off x="5219085" y="4799552"/>
                <a:ext cx="22524" cy="22764"/>
              </a:xfrm>
              <a:custGeom>
                <a:avLst/>
                <a:gdLst/>
                <a:ahLst/>
                <a:cxnLst/>
                <a:rect l="l" t="t" r="r" b="b"/>
                <a:pathLst>
                  <a:path w="22524" h="22764" extrusionOk="0">
                    <a:moveTo>
                      <a:pt x="0" y="13430"/>
                    </a:moveTo>
                    <a:lnTo>
                      <a:pt x="0" y="0"/>
                    </a:lnTo>
                    <a:lnTo>
                      <a:pt x="22524" y="0"/>
                    </a:lnTo>
                    <a:lnTo>
                      <a:pt x="17012" y="12001"/>
                    </a:lnTo>
                    <a:lnTo>
                      <a:pt x="7508" y="22765"/>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97" name="Google Shape;4456;p48">
                <a:extLst>
                  <a:ext uri="{FF2B5EF4-FFF2-40B4-BE49-F238E27FC236}">
                    <a16:creationId xmlns:a16="http://schemas.microsoft.com/office/drawing/2014/main" id="{0CDBBC66-59B2-C334-81AE-E1C22DC0068E}"/>
                  </a:ext>
                </a:extLst>
              </p:cNvPr>
              <p:cNvSpPr/>
              <p:nvPr/>
            </p:nvSpPr>
            <p:spPr>
              <a:xfrm>
                <a:off x="5218990" y="4743450"/>
                <a:ext cx="221102" cy="139065"/>
              </a:xfrm>
              <a:custGeom>
                <a:avLst/>
                <a:gdLst/>
                <a:ahLst/>
                <a:cxnLst/>
                <a:rect l="l" t="t" r="r" b="b"/>
                <a:pathLst>
                  <a:path w="221102" h="139065" extrusionOk="0">
                    <a:moveTo>
                      <a:pt x="111955" y="22098"/>
                    </a:moveTo>
                    <a:cubicBezTo>
                      <a:pt x="109027" y="22098"/>
                      <a:pt x="106100" y="22355"/>
                      <a:pt x="103211" y="22860"/>
                    </a:cubicBezTo>
                    <a:cubicBezTo>
                      <a:pt x="99315" y="23431"/>
                      <a:pt x="94943" y="24194"/>
                      <a:pt x="90096" y="25241"/>
                    </a:cubicBezTo>
                    <a:cubicBezTo>
                      <a:pt x="85249" y="26289"/>
                      <a:pt x="80592" y="27527"/>
                      <a:pt x="74985" y="29051"/>
                    </a:cubicBezTo>
                    <a:cubicBezTo>
                      <a:pt x="69891" y="30623"/>
                      <a:pt x="64911" y="32537"/>
                      <a:pt x="60064" y="34766"/>
                    </a:cubicBezTo>
                    <a:lnTo>
                      <a:pt x="98079" y="56864"/>
                    </a:lnTo>
                    <a:lnTo>
                      <a:pt x="104922" y="54483"/>
                    </a:lnTo>
                    <a:cubicBezTo>
                      <a:pt x="114426" y="51245"/>
                      <a:pt x="123929" y="48482"/>
                      <a:pt x="132388" y="46196"/>
                    </a:cubicBezTo>
                    <a:cubicBezTo>
                      <a:pt x="140514" y="44063"/>
                      <a:pt x="148820" y="42691"/>
                      <a:pt x="157193" y="42101"/>
                    </a:cubicBezTo>
                    <a:cubicBezTo>
                      <a:pt x="164796" y="41643"/>
                      <a:pt x="172427" y="42148"/>
                      <a:pt x="179907" y="43624"/>
                    </a:cubicBezTo>
                    <a:cubicBezTo>
                      <a:pt x="187576" y="45291"/>
                      <a:pt x="194923" y="48187"/>
                      <a:pt x="201670" y="52197"/>
                    </a:cubicBezTo>
                    <a:cubicBezTo>
                      <a:pt x="208294" y="55540"/>
                      <a:pt x="213949" y="60522"/>
                      <a:pt x="218112" y="66675"/>
                    </a:cubicBezTo>
                    <a:cubicBezTo>
                      <a:pt x="220887" y="71133"/>
                      <a:pt x="221780" y="76514"/>
                      <a:pt x="220583" y="81629"/>
                    </a:cubicBezTo>
                    <a:cubicBezTo>
                      <a:pt x="218929" y="87249"/>
                      <a:pt x="215859" y="92335"/>
                      <a:pt x="211649" y="96393"/>
                    </a:cubicBezTo>
                    <a:cubicBezTo>
                      <a:pt x="206375" y="101660"/>
                      <a:pt x="200511" y="106299"/>
                      <a:pt x="194162" y="110204"/>
                    </a:cubicBezTo>
                    <a:lnTo>
                      <a:pt x="218492" y="124206"/>
                    </a:lnTo>
                    <a:lnTo>
                      <a:pt x="205187" y="131921"/>
                    </a:lnTo>
                    <a:lnTo>
                      <a:pt x="180667" y="117729"/>
                    </a:lnTo>
                    <a:cubicBezTo>
                      <a:pt x="168996" y="123473"/>
                      <a:pt x="156812" y="128102"/>
                      <a:pt x="144267" y="131540"/>
                    </a:cubicBezTo>
                    <a:cubicBezTo>
                      <a:pt x="131095" y="135169"/>
                      <a:pt x="117657" y="137684"/>
                      <a:pt x="104066" y="139065"/>
                    </a:cubicBezTo>
                    <a:lnTo>
                      <a:pt x="91236" y="116014"/>
                    </a:lnTo>
                    <a:cubicBezTo>
                      <a:pt x="94829" y="116014"/>
                      <a:pt x="98421" y="115757"/>
                      <a:pt x="101976" y="115253"/>
                    </a:cubicBezTo>
                    <a:cubicBezTo>
                      <a:pt x="106727" y="114681"/>
                      <a:pt x="112050" y="113729"/>
                      <a:pt x="117942" y="112490"/>
                    </a:cubicBezTo>
                    <a:cubicBezTo>
                      <a:pt x="123834" y="111252"/>
                      <a:pt x="130107" y="109633"/>
                      <a:pt x="136950" y="107728"/>
                    </a:cubicBezTo>
                    <a:cubicBezTo>
                      <a:pt x="143450" y="105842"/>
                      <a:pt x="149799" y="103489"/>
                      <a:pt x="155957" y="100679"/>
                    </a:cubicBezTo>
                    <a:lnTo>
                      <a:pt x="117942" y="78772"/>
                    </a:lnTo>
                    <a:lnTo>
                      <a:pt x="113000" y="80486"/>
                    </a:lnTo>
                    <a:lnTo>
                      <a:pt x="107773" y="82105"/>
                    </a:lnTo>
                    <a:cubicBezTo>
                      <a:pt x="99163" y="85011"/>
                      <a:pt x="90410" y="87459"/>
                      <a:pt x="81543" y="89440"/>
                    </a:cubicBezTo>
                    <a:cubicBezTo>
                      <a:pt x="74187" y="91183"/>
                      <a:pt x="66669" y="92202"/>
                      <a:pt x="59114" y="92488"/>
                    </a:cubicBezTo>
                    <a:cubicBezTo>
                      <a:pt x="52470" y="92726"/>
                      <a:pt x="45827" y="92126"/>
                      <a:pt x="39346" y="90678"/>
                    </a:cubicBezTo>
                    <a:cubicBezTo>
                      <a:pt x="32921" y="89049"/>
                      <a:pt x="26753" y="86544"/>
                      <a:pt x="21003" y="83248"/>
                    </a:cubicBezTo>
                    <a:cubicBezTo>
                      <a:pt x="14759" y="79915"/>
                      <a:pt x="9342" y="75229"/>
                      <a:pt x="5132" y="69532"/>
                    </a:cubicBezTo>
                    <a:cubicBezTo>
                      <a:pt x="2053" y="65246"/>
                      <a:pt x="542" y="60036"/>
                      <a:pt x="855" y="54769"/>
                    </a:cubicBezTo>
                    <a:cubicBezTo>
                      <a:pt x="1359" y="49282"/>
                      <a:pt x="3554" y="44091"/>
                      <a:pt x="7128" y="39910"/>
                    </a:cubicBezTo>
                    <a:cubicBezTo>
                      <a:pt x="11500" y="34442"/>
                      <a:pt x="16698" y="29689"/>
                      <a:pt x="22524" y="25813"/>
                    </a:cubicBezTo>
                    <a:lnTo>
                      <a:pt x="0" y="12763"/>
                    </a:lnTo>
                    <a:lnTo>
                      <a:pt x="13305" y="5144"/>
                    </a:lnTo>
                    <a:lnTo>
                      <a:pt x="35544" y="18002"/>
                    </a:lnTo>
                    <a:cubicBezTo>
                      <a:pt x="46055" y="12849"/>
                      <a:pt x="57070" y="8830"/>
                      <a:pt x="68427" y="6001"/>
                    </a:cubicBezTo>
                    <a:cubicBezTo>
                      <a:pt x="79205" y="3258"/>
                      <a:pt x="90162" y="1248"/>
                      <a:pt x="101215" y="0"/>
                    </a:cubicBezTo>
                    <a:close/>
                    <a:moveTo>
                      <a:pt x="47044" y="62294"/>
                    </a:moveTo>
                    <a:cubicBezTo>
                      <a:pt x="52052" y="65179"/>
                      <a:pt x="57840" y="66408"/>
                      <a:pt x="63580" y="65818"/>
                    </a:cubicBezTo>
                    <a:cubicBezTo>
                      <a:pt x="71345" y="64961"/>
                      <a:pt x="78986" y="63275"/>
                      <a:pt x="86389" y="60770"/>
                    </a:cubicBezTo>
                    <a:lnTo>
                      <a:pt x="50560" y="40005"/>
                    </a:lnTo>
                    <a:cubicBezTo>
                      <a:pt x="37255" y="48673"/>
                      <a:pt x="35924" y="56007"/>
                      <a:pt x="46854" y="62294"/>
                    </a:cubicBezTo>
                    <a:close/>
                    <a:moveTo>
                      <a:pt x="172494" y="72771"/>
                    </a:moveTo>
                    <a:cubicBezTo>
                      <a:pt x="167048" y="69771"/>
                      <a:pt x="160775" y="68628"/>
                      <a:pt x="154627" y="69532"/>
                    </a:cubicBezTo>
                    <a:cubicBezTo>
                      <a:pt x="146149" y="70609"/>
                      <a:pt x="137776" y="72457"/>
                      <a:pt x="129632" y="75057"/>
                    </a:cubicBezTo>
                    <a:lnTo>
                      <a:pt x="165176" y="95631"/>
                    </a:lnTo>
                    <a:cubicBezTo>
                      <a:pt x="180192" y="86296"/>
                      <a:pt x="182568" y="78677"/>
                      <a:pt x="172304" y="72771"/>
                    </a:cubicBezTo>
                    <a:close/>
                  </a:path>
                </a:pathLst>
              </a:custGeom>
              <a:solidFill>
                <a:srgbClr val="F9CA06"/>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grpSp>
        <p:grpSp>
          <p:nvGrpSpPr>
            <p:cNvPr id="382" name="Google Shape;4457;p48">
              <a:extLst>
                <a:ext uri="{FF2B5EF4-FFF2-40B4-BE49-F238E27FC236}">
                  <a16:creationId xmlns:a16="http://schemas.microsoft.com/office/drawing/2014/main" id="{B0CA0D18-5029-3936-00B2-5930C5ECBC87}"/>
                </a:ext>
              </a:extLst>
            </p:cNvPr>
            <p:cNvGrpSpPr/>
            <p:nvPr/>
          </p:nvGrpSpPr>
          <p:grpSpPr>
            <a:xfrm>
              <a:off x="3200486" y="3710215"/>
              <a:ext cx="664598" cy="467011"/>
              <a:chOff x="4981586" y="4526565"/>
              <a:chExt cx="664598" cy="467011"/>
            </a:xfrm>
          </p:grpSpPr>
          <p:sp>
            <p:nvSpPr>
              <p:cNvPr id="466" name="Google Shape;4458;p48">
                <a:extLst>
                  <a:ext uri="{FF2B5EF4-FFF2-40B4-BE49-F238E27FC236}">
                    <a16:creationId xmlns:a16="http://schemas.microsoft.com/office/drawing/2014/main" id="{0D856001-A8C4-5254-B193-191DBF1D809A}"/>
                  </a:ext>
                </a:extLst>
              </p:cNvPr>
              <p:cNvSpPr/>
              <p:nvPr/>
            </p:nvSpPr>
            <p:spPr>
              <a:xfrm>
                <a:off x="4981586" y="4608957"/>
                <a:ext cx="664504" cy="384619"/>
              </a:xfrm>
              <a:custGeom>
                <a:avLst/>
                <a:gdLst/>
                <a:ahLst/>
                <a:cxnLst/>
                <a:rect l="l" t="t" r="r" b="b"/>
                <a:pathLst>
                  <a:path w="664504" h="384619" extrusionOk="0">
                    <a:moveTo>
                      <a:pt x="664505" y="192310"/>
                    </a:moveTo>
                    <a:cubicBezTo>
                      <a:pt x="664505" y="298520"/>
                      <a:pt x="515750" y="384620"/>
                      <a:pt x="332252" y="384620"/>
                    </a:cubicBezTo>
                    <a:cubicBezTo>
                      <a:pt x="148754" y="384620"/>
                      <a:pt x="0" y="298520"/>
                      <a:pt x="0" y="192310"/>
                    </a:cubicBezTo>
                    <a:cubicBezTo>
                      <a:pt x="0" y="86100"/>
                      <a:pt x="148754" y="0"/>
                      <a:pt x="332252" y="0"/>
                    </a:cubicBezTo>
                    <a:cubicBezTo>
                      <a:pt x="515750" y="0"/>
                      <a:pt x="664505" y="86100"/>
                      <a:pt x="664505" y="192310"/>
                    </a:cubicBezTo>
                    <a:close/>
                  </a:path>
                </a:pathLst>
              </a:custGeom>
              <a:solidFill>
                <a:srgbClr val="DD990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67" name="Google Shape;4459;p48">
                <a:extLst>
                  <a:ext uri="{FF2B5EF4-FFF2-40B4-BE49-F238E27FC236}">
                    <a16:creationId xmlns:a16="http://schemas.microsoft.com/office/drawing/2014/main" id="{74D6352D-E470-397C-5FC8-32AB8CC22D43}"/>
                  </a:ext>
                </a:extLst>
              </p:cNvPr>
              <p:cNvSpPr/>
              <p:nvPr/>
            </p:nvSpPr>
            <p:spPr>
              <a:xfrm>
                <a:off x="4981681" y="4716589"/>
                <a:ext cx="65671" cy="87630"/>
              </a:xfrm>
              <a:custGeom>
                <a:avLst/>
                <a:gdLst/>
                <a:ahLst/>
                <a:cxnLst/>
                <a:rect l="l" t="t" r="r" b="b"/>
                <a:pathLst>
                  <a:path w="65671" h="87630" extrusionOk="0">
                    <a:moveTo>
                      <a:pt x="0" y="87630"/>
                    </a:moveTo>
                    <a:lnTo>
                      <a:pt x="0" y="0"/>
                    </a:lnTo>
                    <a:lnTo>
                      <a:pt x="65671" y="58579"/>
                    </a:lnTo>
                    <a:lnTo>
                      <a:pt x="0" y="87630"/>
                    </a:lnTo>
                    <a:close/>
                  </a:path>
                </a:pathLst>
              </a:custGeom>
              <a:solidFill>
                <a:srgbClr val="DD990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68" name="Google Shape;4460;p48">
                <a:extLst>
                  <a:ext uri="{FF2B5EF4-FFF2-40B4-BE49-F238E27FC236}">
                    <a16:creationId xmlns:a16="http://schemas.microsoft.com/office/drawing/2014/main" id="{8ED84AD4-5943-8782-F026-917B63E04E95}"/>
                  </a:ext>
                </a:extLst>
              </p:cNvPr>
              <p:cNvSpPr/>
              <p:nvPr/>
            </p:nvSpPr>
            <p:spPr>
              <a:xfrm>
                <a:off x="5596100" y="4718875"/>
                <a:ext cx="50084" cy="118109"/>
              </a:xfrm>
              <a:custGeom>
                <a:avLst/>
                <a:gdLst/>
                <a:ahLst/>
                <a:cxnLst/>
                <a:rect l="l" t="t" r="r" b="b"/>
                <a:pathLst>
                  <a:path w="50084" h="118109" extrusionOk="0">
                    <a:moveTo>
                      <a:pt x="50085" y="0"/>
                    </a:moveTo>
                    <a:lnTo>
                      <a:pt x="50085" y="82391"/>
                    </a:lnTo>
                    <a:lnTo>
                      <a:pt x="16442" y="118110"/>
                    </a:lnTo>
                    <a:lnTo>
                      <a:pt x="0" y="23813"/>
                    </a:lnTo>
                    <a:lnTo>
                      <a:pt x="50085" y="0"/>
                    </a:lnTo>
                    <a:close/>
                  </a:path>
                </a:pathLst>
              </a:custGeom>
              <a:solidFill>
                <a:srgbClr val="DD990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69" name="Google Shape;4461;p48">
                <a:extLst>
                  <a:ext uri="{FF2B5EF4-FFF2-40B4-BE49-F238E27FC236}">
                    <a16:creationId xmlns:a16="http://schemas.microsoft.com/office/drawing/2014/main" id="{3110FFF1-ED8A-780A-9782-2ED51D5367B1}"/>
                  </a:ext>
                </a:extLst>
              </p:cNvPr>
              <p:cNvSpPr/>
              <p:nvPr/>
            </p:nvSpPr>
            <p:spPr>
              <a:xfrm>
                <a:off x="4981586" y="4526565"/>
                <a:ext cx="664504" cy="384619"/>
              </a:xfrm>
              <a:custGeom>
                <a:avLst/>
                <a:gdLst/>
                <a:ahLst/>
                <a:cxnLst/>
                <a:rect l="l" t="t" r="r" b="b"/>
                <a:pathLst>
                  <a:path w="664504" h="384619" extrusionOk="0">
                    <a:moveTo>
                      <a:pt x="664505" y="192310"/>
                    </a:moveTo>
                    <a:cubicBezTo>
                      <a:pt x="664505" y="298520"/>
                      <a:pt x="515750" y="384620"/>
                      <a:pt x="332252" y="384620"/>
                    </a:cubicBezTo>
                    <a:cubicBezTo>
                      <a:pt x="148754" y="384620"/>
                      <a:pt x="0" y="298520"/>
                      <a:pt x="0" y="192310"/>
                    </a:cubicBezTo>
                    <a:cubicBezTo>
                      <a:pt x="0" y="86100"/>
                      <a:pt x="148754" y="0"/>
                      <a:pt x="332252" y="0"/>
                    </a:cubicBezTo>
                    <a:cubicBezTo>
                      <a:pt x="515750" y="0"/>
                      <a:pt x="664505" y="86100"/>
                      <a:pt x="664505" y="192310"/>
                    </a:cubicBezTo>
                    <a:close/>
                  </a:path>
                </a:pathLst>
              </a:custGeom>
              <a:solidFill>
                <a:srgbClr val="F9CB07"/>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70" name="Google Shape;4462;p48">
                <a:extLst>
                  <a:ext uri="{FF2B5EF4-FFF2-40B4-BE49-F238E27FC236}">
                    <a16:creationId xmlns:a16="http://schemas.microsoft.com/office/drawing/2014/main" id="{A620C5FD-0D9F-86DD-D4D0-DF442FAEC2CB}"/>
                  </a:ext>
                </a:extLst>
              </p:cNvPr>
              <p:cNvSpPr/>
              <p:nvPr/>
            </p:nvSpPr>
            <p:spPr>
              <a:xfrm>
                <a:off x="5076086" y="4578881"/>
                <a:ext cx="475673" cy="275344"/>
              </a:xfrm>
              <a:custGeom>
                <a:avLst/>
                <a:gdLst/>
                <a:ahLst/>
                <a:cxnLst/>
                <a:rect l="l" t="t" r="r" b="b"/>
                <a:pathLst>
                  <a:path w="475673" h="275344" extrusionOk="0">
                    <a:moveTo>
                      <a:pt x="475252" y="145994"/>
                    </a:moveTo>
                    <a:cubicBezTo>
                      <a:pt x="471830" y="178380"/>
                      <a:pt x="448831" y="210193"/>
                      <a:pt x="405969" y="235053"/>
                    </a:cubicBezTo>
                    <a:cubicBezTo>
                      <a:pt x="313117" y="288774"/>
                      <a:pt x="162482" y="288774"/>
                      <a:pt x="69535" y="235053"/>
                    </a:cubicBezTo>
                    <a:cubicBezTo>
                      <a:pt x="26768" y="210193"/>
                      <a:pt x="3769" y="178380"/>
                      <a:pt x="443" y="145994"/>
                    </a:cubicBezTo>
                    <a:cubicBezTo>
                      <a:pt x="-3549" y="107894"/>
                      <a:pt x="19450" y="69318"/>
                      <a:pt x="69535" y="40362"/>
                    </a:cubicBezTo>
                    <a:cubicBezTo>
                      <a:pt x="162482" y="-13454"/>
                      <a:pt x="313117" y="-13454"/>
                      <a:pt x="405969" y="40362"/>
                    </a:cubicBezTo>
                    <a:cubicBezTo>
                      <a:pt x="456054" y="69318"/>
                      <a:pt x="479148" y="108085"/>
                      <a:pt x="475252" y="145994"/>
                    </a:cubicBez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71" name="Google Shape;4463;p48">
                <a:extLst>
                  <a:ext uri="{FF2B5EF4-FFF2-40B4-BE49-F238E27FC236}">
                    <a16:creationId xmlns:a16="http://schemas.microsoft.com/office/drawing/2014/main" id="{4E923D82-7E9A-071C-DA0B-255491289F55}"/>
                  </a:ext>
                </a:extLst>
              </p:cNvPr>
              <p:cNvSpPr/>
              <p:nvPr/>
            </p:nvSpPr>
            <p:spPr>
              <a:xfrm>
                <a:off x="5076528" y="4595360"/>
                <a:ext cx="474809" cy="258865"/>
              </a:xfrm>
              <a:custGeom>
                <a:avLst/>
                <a:gdLst/>
                <a:ahLst/>
                <a:cxnLst/>
                <a:rect l="l" t="t" r="r" b="b"/>
                <a:pathLst>
                  <a:path w="474809" h="258865" extrusionOk="0">
                    <a:moveTo>
                      <a:pt x="474809" y="129516"/>
                    </a:moveTo>
                    <a:cubicBezTo>
                      <a:pt x="471388" y="161901"/>
                      <a:pt x="448389" y="193715"/>
                      <a:pt x="405526" y="218575"/>
                    </a:cubicBezTo>
                    <a:cubicBezTo>
                      <a:pt x="312675" y="272296"/>
                      <a:pt x="162040" y="272296"/>
                      <a:pt x="69092" y="218575"/>
                    </a:cubicBezTo>
                    <a:cubicBezTo>
                      <a:pt x="26325" y="193715"/>
                      <a:pt x="3326" y="161901"/>
                      <a:pt x="0" y="129516"/>
                    </a:cubicBezTo>
                    <a:cubicBezTo>
                      <a:pt x="3326" y="97131"/>
                      <a:pt x="26325" y="65222"/>
                      <a:pt x="69092" y="40362"/>
                    </a:cubicBezTo>
                    <a:cubicBezTo>
                      <a:pt x="162040" y="-13454"/>
                      <a:pt x="312675" y="-13454"/>
                      <a:pt x="405526" y="40362"/>
                    </a:cubicBezTo>
                    <a:cubicBezTo>
                      <a:pt x="448389" y="65222"/>
                      <a:pt x="471388" y="97131"/>
                      <a:pt x="474809" y="129516"/>
                    </a:cubicBezTo>
                    <a:close/>
                  </a:path>
                </a:pathLst>
              </a:custGeom>
              <a:solidFill>
                <a:srgbClr val="E8A30A"/>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72" name="Google Shape;4464;p48">
                <a:extLst>
                  <a:ext uri="{FF2B5EF4-FFF2-40B4-BE49-F238E27FC236}">
                    <a16:creationId xmlns:a16="http://schemas.microsoft.com/office/drawing/2014/main" id="{81FAC167-CFB9-29AE-3A13-A70DE7FE3C3C}"/>
                  </a:ext>
                </a:extLst>
              </p:cNvPr>
              <p:cNvSpPr/>
              <p:nvPr/>
            </p:nvSpPr>
            <p:spPr>
              <a:xfrm>
                <a:off x="5197892" y="4657629"/>
                <a:ext cx="221515" cy="139160"/>
              </a:xfrm>
              <a:custGeom>
                <a:avLst/>
                <a:gdLst/>
                <a:ahLst/>
                <a:cxnLst/>
                <a:rect l="l" t="t" r="r" b="b"/>
                <a:pathLst>
                  <a:path w="221515" h="139160" extrusionOk="0">
                    <a:moveTo>
                      <a:pt x="112525" y="22193"/>
                    </a:moveTo>
                    <a:cubicBezTo>
                      <a:pt x="109598" y="22155"/>
                      <a:pt x="106670" y="22374"/>
                      <a:pt x="103781" y="22860"/>
                    </a:cubicBezTo>
                    <a:cubicBezTo>
                      <a:pt x="99885" y="23432"/>
                      <a:pt x="95513" y="24194"/>
                      <a:pt x="90666" y="25241"/>
                    </a:cubicBezTo>
                    <a:cubicBezTo>
                      <a:pt x="85819" y="26289"/>
                      <a:pt x="81162" y="27527"/>
                      <a:pt x="75460" y="29146"/>
                    </a:cubicBezTo>
                    <a:cubicBezTo>
                      <a:pt x="70376" y="30632"/>
                      <a:pt x="65424" y="32509"/>
                      <a:pt x="60634" y="34766"/>
                    </a:cubicBezTo>
                    <a:lnTo>
                      <a:pt x="98649" y="56960"/>
                    </a:lnTo>
                    <a:lnTo>
                      <a:pt x="105492" y="54483"/>
                    </a:lnTo>
                    <a:cubicBezTo>
                      <a:pt x="114996" y="51245"/>
                      <a:pt x="124500" y="48482"/>
                      <a:pt x="132958" y="46196"/>
                    </a:cubicBezTo>
                    <a:cubicBezTo>
                      <a:pt x="141046" y="44044"/>
                      <a:pt x="149324" y="42701"/>
                      <a:pt x="157668" y="42196"/>
                    </a:cubicBezTo>
                    <a:cubicBezTo>
                      <a:pt x="165309" y="41691"/>
                      <a:pt x="172978" y="42196"/>
                      <a:pt x="180477" y="43720"/>
                    </a:cubicBezTo>
                    <a:cubicBezTo>
                      <a:pt x="188146" y="45330"/>
                      <a:pt x="195502" y="48187"/>
                      <a:pt x="202241" y="52197"/>
                    </a:cubicBezTo>
                    <a:cubicBezTo>
                      <a:pt x="208817" y="55607"/>
                      <a:pt x="214443" y="60617"/>
                      <a:pt x="218587" y="66770"/>
                    </a:cubicBezTo>
                    <a:cubicBezTo>
                      <a:pt x="221343" y="71238"/>
                      <a:pt x="222199" y="76619"/>
                      <a:pt x="220963" y="81725"/>
                    </a:cubicBezTo>
                    <a:cubicBezTo>
                      <a:pt x="219347" y="87354"/>
                      <a:pt x="216268" y="92450"/>
                      <a:pt x="212029" y="96488"/>
                    </a:cubicBezTo>
                    <a:cubicBezTo>
                      <a:pt x="206755" y="101756"/>
                      <a:pt x="200891" y="106394"/>
                      <a:pt x="194543" y="110300"/>
                    </a:cubicBezTo>
                    <a:lnTo>
                      <a:pt x="218872" y="124396"/>
                    </a:lnTo>
                    <a:lnTo>
                      <a:pt x="205662" y="132017"/>
                    </a:lnTo>
                    <a:lnTo>
                      <a:pt x="181142" y="117824"/>
                    </a:lnTo>
                    <a:cubicBezTo>
                      <a:pt x="169462" y="123625"/>
                      <a:pt x="157240" y="128254"/>
                      <a:pt x="144648" y="131636"/>
                    </a:cubicBezTo>
                    <a:cubicBezTo>
                      <a:pt x="131494" y="135322"/>
                      <a:pt x="118037" y="137846"/>
                      <a:pt x="104447" y="139160"/>
                    </a:cubicBezTo>
                    <a:lnTo>
                      <a:pt x="91711" y="116205"/>
                    </a:lnTo>
                    <a:cubicBezTo>
                      <a:pt x="95275" y="116110"/>
                      <a:pt x="98830" y="115824"/>
                      <a:pt x="102356" y="115348"/>
                    </a:cubicBezTo>
                    <a:cubicBezTo>
                      <a:pt x="107754" y="114710"/>
                      <a:pt x="113114" y="113786"/>
                      <a:pt x="118417" y="112586"/>
                    </a:cubicBezTo>
                    <a:cubicBezTo>
                      <a:pt x="124310" y="111347"/>
                      <a:pt x="130487" y="109728"/>
                      <a:pt x="137425" y="107823"/>
                    </a:cubicBezTo>
                    <a:cubicBezTo>
                      <a:pt x="143925" y="105985"/>
                      <a:pt x="150283" y="103661"/>
                      <a:pt x="156432" y="100870"/>
                    </a:cubicBezTo>
                    <a:lnTo>
                      <a:pt x="118417" y="78867"/>
                    </a:lnTo>
                    <a:lnTo>
                      <a:pt x="113475" y="80582"/>
                    </a:lnTo>
                    <a:lnTo>
                      <a:pt x="108248" y="82201"/>
                    </a:lnTo>
                    <a:cubicBezTo>
                      <a:pt x="98744" y="85344"/>
                      <a:pt x="89906" y="87821"/>
                      <a:pt x="81923" y="89630"/>
                    </a:cubicBezTo>
                    <a:cubicBezTo>
                      <a:pt x="74557" y="91307"/>
                      <a:pt x="67049" y="92297"/>
                      <a:pt x="59494" y="92583"/>
                    </a:cubicBezTo>
                    <a:cubicBezTo>
                      <a:pt x="52851" y="92812"/>
                      <a:pt x="46217" y="92212"/>
                      <a:pt x="39726" y="90773"/>
                    </a:cubicBezTo>
                    <a:cubicBezTo>
                      <a:pt x="33301" y="89240"/>
                      <a:pt x="27143" y="86735"/>
                      <a:pt x="21479" y="83344"/>
                    </a:cubicBezTo>
                    <a:cubicBezTo>
                      <a:pt x="15187" y="80039"/>
                      <a:pt x="9732" y="75352"/>
                      <a:pt x="5512" y="69628"/>
                    </a:cubicBezTo>
                    <a:cubicBezTo>
                      <a:pt x="2433" y="65342"/>
                      <a:pt x="922" y="60132"/>
                      <a:pt x="1236" y="54864"/>
                    </a:cubicBezTo>
                    <a:cubicBezTo>
                      <a:pt x="1825" y="49406"/>
                      <a:pt x="4011" y="44234"/>
                      <a:pt x="7508" y="40005"/>
                    </a:cubicBezTo>
                    <a:cubicBezTo>
                      <a:pt x="11918" y="34566"/>
                      <a:pt x="17145" y="29842"/>
                      <a:pt x="22999" y="26003"/>
                    </a:cubicBezTo>
                    <a:lnTo>
                      <a:pt x="0" y="12859"/>
                    </a:lnTo>
                    <a:lnTo>
                      <a:pt x="13210" y="5144"/>
                    </a:lnTo>
                    <a:lnTo>
                      <a:pt x="35544" y="18098"/>
                    </a:lnTo>
                    <a:cubicBezTo>
                      <a:pt x="45998" y="12878"/>
                      <a:pt x="56994" y="8820"/>
                      <a:pt x="68332" y="6001"/>
                    </a:cubicBezTo>
                    <a:cubicBezTo>
                      <a:pt x="79110" y="3258"/>
                      <a:pt x="90067" y="1248"/>
                      <a:pt x="101120" y="0"/>
                    </a:cubicBezTo>
                    <a:close/>
                    <a:moveTo>
                      <a:pt x="47519" y="62294"/>
                    </a:moveTo>
                    <a:cubicBezTo>
                      <a:pt x="52556" y="65189"/>
                      <a:pt x="58372" y="66418"/>
                      <a:pt x="64151" y="65818"/>
                    </a:cubicBezTo>
                    <a:cubicBezTo>
                      <a:pt x="71877" y="64951"/>
                      <a:pt x="79499" y="63265"/>
                      <a:pt x="86865" y="60770"/>
                    </a:cubicBezTo>
                    <a:lnTo>
                      <a:pt x="51130" y="40005"/>
                    </a:lnTo>
                    <a:cubicBezTo>
                      <a:pt x="38015" y="48701"/>
                      <a:pt x="36808" y="56131"/>
                      <a:pt x="47519" y="62294"/>
                    </a:cubicBezTo>
                    <a:close/>
                    <a:moveTo>
                      <a:pt x="172969" y="72771"/>
                    </a:moveTo>
                    <a:cubicBezTo>
                      <a:pt x="167523" y="69771"/>
                      <a:pt x="161251" y="68628"/>
                      <a:pt x="155102" y="69533"/>
                    </a:cubicBezTo>
                    <a:cubicBezTo>
                      <a:pt x="146663" y="70656"/>
                      <a:pt x="138328" y="72504"/>
                      <a:pt x="130202" y="75057"/>
                    </a:cubicBezTo>
                    <a:lnTo>
                      <a:pt x="165746" y="95631"/>
                    </a:lnTo>
                    <a:cubicBezTo>
                      <a:pt x="180572" y="86392"/>
                      <a:pt x="183328" y="78677"/>
                      <a:pt x="172969" y="72771"/>
                    </a:cubicBez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73" name="Google Shape;4465;p48">
                <a:extLst>
                  <a:ext uri="{FF2B5EF4-FFF2-40B4-BE49-F238E27FC236}">
                    <a16:creationId xmlns:a16="http://schemas.microsoft.com/office/drawing/2014/main" id="{495756F7-B827-A060-A8F2-4EF0D0B9CBCC}"/>
                  </a:ext>
                </a:extLst>
              </p:cNvPr>
              <p:cNvSpPr/>
              <p:nvPr/>
            </p:nvSpPr>
            <p:spPr>
              <a:xfrm>
                <a:off x="5289888" y="4760785"/>
                <a:ext cx="14540" cy="19050"/>
              </a:xfrm>
              <a:custGeom>
                <a:avLst/>
                <a:gdLst/>
                <a:ahLst/>
                <a:cxnLst/>
                <a:rect l="l" t="t" r="r" b="b"/>
                <a:pathLst>
                  <a:path w="14540" h="19050" extrusionOk="0">
                    <a:moveTo>
                      <a:pt x="0" y="12954"/>
                    </a:moveTo>
                    <a:cubicBezTo>
                      <a:pt x="0" y="12001"/>
                      <a:pt x="0" y="0"/>
                      <a:pt x="0" y="0"/>
                    </a:cubicBezTo>
                    <a:lnTo>
                      <a:pt x="14541" y="9525"/>
                    </a:lnTo>
                    <a:lnTo>
                      <a:pt x="8173" y="19050"/>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74" name="Google Shape;4466;p48">
                <a:extLst>
                  <a:ext uri="{FF2B5EF4-FFF2-40B4-BE49-F238E27FC236}">
                    <a16:creationId xmlns:a16="http://schemas.microsoft.com/office/drawing/2014/main" id="{21AD03D6-B49F-FA8E-B071-728996D398D8}"/>
                  </a:ext>
                </a:extLst>
              </p:cNvPr>
              <p:cNvSpPr/>
              <p:nvPr/>
            </p:nvSpPr>
            <p:spPr>
              <a:xfrm>
                <a:off x="5385496" y="4768976"/>
                <a:ext cx="31552" cy="14858"/>
              </a:xfrm>
              <a:custGeom>
                <a:avLst/>
                <a:gdLst/>
                <a:ahLst/>
                <a:cxnLst/>
                <a:rect l="l" t="t" r="r" b="b"/>
                <a:pathLst>
                  <a:path w="31552" h="14858" extrusionOk="0">
                    <a:moveTo>
                      <a:pt x="31552" y="12954"/>
                    </a:moveTo>
                    <a:lnTo>
                      <a:pt x="31552" y="0"/>
                    </a:lnTo>
                    <a:lnTo>
                      <a:pt x="0" y="2477"/>
                    </a:lnTo>
                    <a:lnTo>
                      <a:pt x="18152" y="14859"/>
                    </a:lnTo>
                    <a:lnTo>
                      <a:pt x="31552" y="12954"/>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75" name="Google Shape;4467;p48">
                <a:extLst>
                  <a:ext uri="{FF2B5EF4-FFF2-40B4-BE49-F238E27FC236}">
                    <a16:creationId xmlns:a16="http://schemas.microsoft.com/office/drawing/2014/main" id="{C0763BC0-B612-C433-9D60-0DE94251128C}"/>
                  </a:ext>
                </a:extLst>
              </p:cNvPr>
              <p:cNvSpPr/>
              <p:nvPr/>
            </p:nvSpPr>
            <p:spPr>
              <a:xfrm>
                <a:off x="5396046" y="4721447"/>
                <a:ext cx="23664" cy="13049"/>
              </a:xfrm>
              <a:custGeom>
                <a:avLst/>
                <a:gdLst/>
                <a:ahLst/>
                <a:cxnLst/>
                <a:rect l="l" t="t" r="r" b="b"/>
                <a:pathLst>
                  <a:path w="23664" h="13049" extrusionOk="0">
                    <a:moveTo>
                      <a:pt x="23664" y="13049"/>
                    </a:moveTo>
                    <a:lnTo>
                      <a:pt x="23664" y="0"/>
                    </a:lnTo>
                    <a:lnTo>
                      <a:pt x="0" y="8572"/>
                    </a:lnTo>
                    <a:lnTo>
                      <a:pt x="23664" y="13049"/>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76" name="Google Shape;4468;p48">
                <a:extLst>
                  <a:ext uri="{FF2B5EF4-FFF2-40B4-BE49-F238E27FC236}">
                    <a16:creationId xmlns:a16="http://schemas.microsoft.com/office/drawing/2014/main" id="{BFA19B2B-13C9-5750-57BF-23378128809D}"/>
                  </a:ext>
                </a:extLst>
              </p:cNvPr>
              <p:cNvSpPr/>
              <p:nvPr/>
            </p:nvSpPr>
            <p:spPr>
              <a:xfrm>
                <a:off x="5321441" y="4726305"/>
                <a:ext cx="35639" cy="24764"/>
              </a:xfrm>
              <a:custGeom>
                <a:avLst/>
                <a:gdLst/>
                <a:ahLst/>
                <a:cxnLst/>
                <a:rect l="l" t="t" r="r" b="b"/>
                <a:pathLst>
                  <a:path w="35639" h="24764" extrusionOk="0">
                    <a:moveTo>
                      <a:pt x="0" y="7620"/>
                    </a:moveTo>
                    <a:lnTo>
                      <a:pt x="7888" y="0"/>
                    </a:lnTo>
                    <a:lnTo>
                      <a:pt x="35639" y="19050"/>
                    </a:lnTo>
                    <a:lnTo>
                      <a:pt x="33929" y="24765"/>
                    </a:lnTo>
                    <a:cubicBezTo>
                      <a:pt x="33929" y="24765"/>
                      <a:pt x="13210" y="16002"/>
                      <a:pt x="12545" y="15240"/>
                    </a:cubicBez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77" name="Google Shape;4469;p48">
                <a:extLst>
                  <a:ext uri="{FF2B5EF4-FFF2-40B4-BE49-F238E27FC236}">
                    <a16:creationId xmlns:a16="http://schemas.microsoft.com/office/drawing/2014/main" id="{EDB14954-628A-5995-A164-721442787E67}"/>
                  </a:ext>
                </a:extLst>
              </p:cNvPr>
              <p:cNvSpPr/>
              <p:nvPr/>
            </p:nvSpPr>
            <p:spPr>
              <a:xfrm>
                <a:off x="5249117" y="4684871"/>
                <a:ext cx="44382" cy="29146"/>
              </a:xfrm>
              <a:custGeom>
                <a:avLst/>
                <a:gdLst/>
                <a:ahLst/>
                <a:cxnLst/>
                <a:rect l="l" t="t" r="r" b="b"/>
                <a:pathLst>
                  <a:path w="44382" h="29146" extrusionOk="0">
                    <a:moveTo>
                      <a:pt x="0" y="8287"/>
                    </a:moveTo>
                    <a:lnTo>
                      <a:pt x="36780" y="29146"/>
                    </a:lnTo>
                    <a:lnTo>
                      <a:pt x="44383" y="23717"/>
                    </a:lnTo>
                    <a:lnTo>
                      <a:pt x="39346" y="17907"/>
                    </a:lnTo>
                    <a:cubicBezTo>
                      <a:pt x="36105" y="14116"/>
                      <a:pt x="32246" y="10896"/>
                      <a:pt x="27941" y="8382"/>
                    </a:cubicBezTo>
                    <a:cubicBezTo>
                      <a:pt x="25185" y="7811"/>
                      <a:pt x="7698" y="0"/>
                      <a:pt x="7698" y="0"/>
                    </a:cubicBez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78" name="Google Shape;4470;p48">
                <a:extLst>
                  <a:ext uri="{FF2B5EF4-FFF2-40B4-BE49-F238E27FC236}">
                    <a16:creationId xmlns:a16="http://schemas.microsoft.com/office/drawing/2014/main" id="{D7EF01A6-2037-A319-A4DA-A7CD25C053AF}"/>
                  </a:ext>
                </a:extLst>
              </p:cNvPr>
              <p:cNvSpPr/>
              <p:nvPr/>
            </p:nvSpPr>
            <p:spPr>
              <a:xfrm>
                <a:off x="5289888" y="4661344"/>
                <a:ext cx="20528" cy="18478"/>
              </a:xfrm>
              <a:custGeom>
                <a:avLst/>
                <a:gdLst/>
                <a:ahLst/>
                <a:cxnLst/>
                <a:rect l="l" t="t" r="r" b="b"/>
                <a:pathLst>
                  <a:path w="20528" h="18478" extrusionOk="0">
                    <a:moveTo>
                      <a:pt x="20528" y="18479"/>
                    </a:moveTo>
                    <a:lnTo>
                      <a:pt x="20528" y="5524"/>
                    </a:lnTo>
                    <a:lnTo>
                      <a:pt x="3611" y="0"/>
                    </a:lnTo>
                    <a:lnTo>
                      <a:pt x="0" y="10096"/>
                    </a:lnTo>
                    <a:lnTo>
                      <a:pt x="855" y="14764"/>
                    </a:lnTo>
                    <a:lnTo>
                      <a:pt x="20528" y="18479"/>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79" name="Google Shape;4471;p48">
                <a:extLst>
                  <a:ext uri="{FF2B5EF4-FFF2-40B4-BE49-F238E27FC236}">
                    <a16:creationId xmlns:a16="http://schemas.microsoft.com/office/drawing/2014/main" id="{EA75D065-1D8A-1ACF-3E89-E4EEBE844623}"/>
                  </a:ext>
                </a:extLst>
              </p:cNvPr>
              <p:cNvSpPr/>
              <p:nvPr/>
            </p:nvSpPr>
            <p:spPr>
              <a:xfrm>
                <a:off x="5197987" y="4657534"/>
                <a:ext cx="19577" cy="14668"/>
              </a:xfrm>
              <a:custGeom>
                <a:avLst/>
                <a:gdLst/>
                <a:ahLst/>
                <a:cxnLst/>
                <a:rect l="l" t="t" r="r" b="b"/>
                <a:pathLst>
                  <a:path w="19577" h="14668" extrusionOk="0">
                    <a:moveTo>
                      <a:pt x="0" y="12954"/>
                    </a:moveTo>
                    <a:lnTo>
                      <a:pt x="0" y="0"/>
                    </a:lnTo>
                    <a:lnTo>
                      <a:pt x="19578" y="2096"/>
                    </a:lnTo>
                    <a:lnTo>
                      <a:pt x="13305" y="14668"/>
                    </a:lnTo>
                    <a:lnTo>
                      <a:pt x="0" y="12954"/>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80" name="Google Shape;4472;p48">
                <a:extLst>
                  <a:ext uri="{FF2B5EF4-FFF2-40B4-BE49-F238E27FC236}">
                    <a16:creationId xmlns:a16="http://schemas.microsoft.com/office/drawing/2014/main" id="{CC1912D5-90C8-5619-C365-C5E53F4D1920}"/>
                  </a:ext>
                </a:extLst>
              </p:cNvPr>
              <p:cNvSpPr/>
              <p:nvPr/>
            </p:nvSpPr>
            <p:spPr>
              <a:xfrm>
                <a:off x="5198652" y="4700873"/>
                <a:ext cx="22428" cy="22764"/>
              </a:xfrm>
              <a:custGeom>
                <a:avLst/>
                <a:gdLst/>
                <a:ahLst/>
                <a:cxnLst/>
                <a:rect l="l" t="t" r="r" b="b"/>
                <a:pathLst>
                  <a:path w="22428" h="22764" extrusionOk="0">
                    <a:moveTo>
                      <a:pt x="0" y="13430"/>
                    </a:moveTo>
                    <a:cubicBezTo>
                      <a:pt x="0" y="13430"/>
                      <a:pt x="0" y="0"/>
                      <a:pt x="0" y="0"/>
                    </a:cubicBezTo>
                    <a:lnTo>
                      <a:pt x="22429" y="0"/>
                    </a:lnTo>
                    <a:lnTo>
                      <a:pt x="16917" y="12002"/>
                    </a:lnTo>
                    <a:lnTo>
                      <a:pt x="7413" y="22765"/>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81" name="Google Shape;4473;p48">
                <a:extLst>
                  <a:ext uri="{FF2B5EF4-FFF2-40B4-BE49-F238E27FC236}">
                    <a16:creationId xmlns:a16="http://schemas.microsoft.com/office/drawing/2014/main" id="{85559D31-F3E1-FA32-6857-E7400E0F928B}"/>
                  </a:ext>
                </a:extLst>
              </p:cNvPr>
              <p:cNvSpPr/>
              <p:nvPr/>
            </p:nvSpPr>
            <p:spPr>
              <a:xfrm>
                <a:off x="5197892" y="4644961"/>
                <a:ext cx="221610" cy="138874"/>
              </a:xfrm>
              <a:custGeom>
                <a:avLst/>
                <a:gdLst/>
                <a:ahLst/>
                <a:cxnLst/>
                <a:rect l="l" t="t" r="r" b="b"/>
                <a:pathLst>
                  <a:path w="221610" h="138874" extrusionOk="0">
                    <a:moveTo>
                      <a:pt x="112525" y="22288"/>
                    </a:moveTo>
                    <a:cubicBezTo>
                      <a:pt x="109598" y="22298"/>
                      <a:pt x="106680" y="22517"/>
                      <a:pt x="103781" y="22955"/>
                    </a:cubicBezTo>
                    <a:cubicBezTo>
                      <a:pt x="99885" y="23527"/>
                      <a:pt x="95513" y="24289"/>
                      <a:pt x="90666" y="25337"/>
                    </a:cubicBezTo>
                    <a:cubicBezTo>
                      <a:pt x="85819" y="26384"/>
                      <a:pt x="81162" y="27718"/>
                      <a:pt x="75460" y="29242"/>
                    </a:cubicBezTo>
                    <a:cubicBezTo>
                      <a:pt x="70395" y="30804"/>
                      <a:pt x="65434" y="32709"/>
                      <a:pt x="60634" y="34957"/>
                    </a:cubicBezTo>
                    <a:lnTo>
                      <a:pt x="98649" y="57055"/>
                    </a:lnTo>
                    <a:lnTo>
                      <a:pt x="105492" y="54578"/>
                    </a:lnTo>
                    <a:cubicBezTo>
                      <a:pt x="114996" y="51435"/>
                      <a:pt x="124500" y="48673"/>
                      <a:pt x="132958" y="46387"/>
                    </a:cubicBezTo>
                    <a:cubicBezTo>
                      <a:pt x="141036" y="44205"/>
                      <a:pt x="149314" y="42834"/>
                      <a:pt x="157668" y="42291"/>
                    </a:cubicBezTo>
                    <a:cubicBezTo>
                      <a:pt x="165309" y="41786"/>
                      <a:pt x="172978" y="42291"/>
                      <a:pt x="180477" y="43815"/>
                    </a:cubicBezTo>
                    <a:cubicBezTo>
                      <a:pt x="188127" y="45501"/>
                      <a:pt x="195464" y="48358"/>
                      <a:pt x="202241" y="52292"/>
                    </a:cubicBezTo>
                    <a:cubicBezTo>
                      <a:pt x="208846" y="55702"/>
                      <a:pt x="214501" y="60712"/>
                      <a:pt x="218682" y="66865"/>
                    </a:cubicBezTo>
                    <a:cubicBezTo>
                      <a:pt x="221438" y="71333"/>
                      <a:pt x="222294" y="76714"/>
                      <a:pt x="221058" y="81820"/>
                    </a:cubicBezTo>
                    <a:cubicBezTo>
                      <a:pt x="219442" y="87449"/>
                      <a:pt x="216363" y="92545"/>
                      <a:pt x="212125" y="96583"/>
                    </a:cubicBezTo>
                    <a:cubicBezTo>
                      <a:pt x="206869" y="101851"/>
                      <a:pt x="200996" y="106451"/>
                      <a:pt x="194638" y="110299"/>
                    </a:cubicBezTo>
                    <a:lnTo>
                      <a:pt x="218967" y="124396"/>
                    </a:lnTo>
                    <a:lnTo>
                      <a:pt x="205757" y="132112"/>
                    </a:lnTo>
                    <a:lnTo>
                      <a:pt x="181427" y="117538"/>
                    </a:lnTo>
                    <a:cubicBezTo>
                      <a:pt x="169728" y="123301"/>
                      <a:pt x="157506" y="127930"/>
                      <a:pt x="144933" y="131350"/>
                    </a:cubicBezTo>
                    <a:cubicBezTo>
                      <a:pt x="131760" y="134950"/>
                      <a:pt x="118313" y="137465"/>
                      <a:pt x="104732" y="138874"/>
                    </a:cubicBezTo>
                    <a:lnTo>
                      <a:pt x="91997" y="115824"/>
                    </a:lnTo>
                    <a:cubicBezTo>
                      <a:pt x="95561" y="115729"/>
                      <a:pt x="99115" y="115443"/>
                      <a:pt x="102641" y="114967"/>
                    </a:cubicBezTo>
                    <a:cubicBezTo>
                      <a:pt x="108039" y="114367"/>
                      <a:pt x="113399" y="113471"/>
                      <a:pt x="118702" y="112300"/>
                    </a:cubicBezTo>
                    <a:cubicBezTo>
                      <a:pt x="124595" y="110966"/>
                      <a:pt x="130772" y="109347"/>
                      <a:pt x="137710" y="107442"/>
                    </a:cubicBezTo>
                    <a:cubicBezTo>
                      <a:pt x="144229" y="105651"/>
                      <a:pt x="150578" y="103327"/>
                      <a:pt x="156717" y="100489"/>
                    </a:cubicBezTo>
                    <a:lnTo>
                      <a:pt x="118702" y="78486"/>
                    </a:lnTo>
                    <a:lnTo>
                      <a:pt x="113760" y="80296"/>
                    </a:lnTo>
                    <a:lnTo>
                      <a:pt x="108533" y="81820"/>
                    </a:lnTo>
                    <a:cubicBezTo>
                      <a:pt x="99029" y="84963"/>
                      <a:pt x="90191" y="87439"/>
                      <a:pt x="82208" y="89249"/>
                    </a:cubicBezTo>
                    <a:cubicBezTo>
                      <a:pt x="74842" y="90954"/>
                      <a:pt x="67334" y="91973"/>
                      <a:pt x="59779" y="92297"/>
                    </a:cubicBezTo>
                    <a:cubicBezTo>
                      <a:pt x="53136" y="92497"/>
                      <a:pt x="46493" y="91859"/>
                      <a:pt x="40011" y="90392"/>
                    </a:cubicBezTo>
                    <a:cubicBezTo>
                      <a:pt x="33586" y="88859"/>
                      <a:pt x="27428" y="86354"/>
                      <a:pt x="21764" y="82963"/>
                    </a:cubicBezTo>
                    <a:cubicBezTo>
                      <a:pt x="15463" y="79724"/>
                      <a:pt x="9998" y="75057"/>
                      <a:pt x="5797" y="69342"/>
                    </a:cubicBezTo>
                    <a:cubicBezTo>
                      <a:pt x="2737" y="65056"/>
                      <a:pt x="1226" y="59845"/>
                      <a:pt x="1521" y="54578"/>
                    </a:cubicBezTo>
                    <a:cubicBezTo>
                      <a:pt x="2091" y="49111"/>
                      <a:pt x="4277" y="43939"/>
                      <a:pt x="7793" y="39719"/>
                    </a:cubicBezTo>
                    <a:cubicBezTo>
                      <a:pt x="12203" y="34252"/>
                      <a:pt x="17430" y="29499"/>
                      <a:pt x="23284" y="25622"/>
                    </a:cubicBezTo>
                    <a:lnTo>
                      <a:pt x="0" y="12763"/>
                    </a:lnTo>
                    <a:lnTo>
                      <a:pt x="13210" y="5144"/>
                    </a:lnTo>
                    <a:lnTo>
                      <a:pt x="35544" y="18002"/>
                    </a:lnTo>
                    <a:cubicBezTo>
                      <a:pt x="46017" y="12821"/>
                      <a:pt x="57004" y="8763"/>
                      <a:pt x="68332" y="5905"/>
                    </a:cubicBezTo>
                    <a:cubicBezTo>
                      <a:pt x="79119" y="3191"/>
                      <a:pt x="90067" y="1219"/>
                      <a:pt x="101120" y="0"/>
                    </a:cubicBezTo>
                    <a:close/>
                    <a:moveTo>
                      <a:pt x="47519" y="62008"/>
                    </a:moveTo>
                    <a:cubicBezTo>
                      <a:pt x="52547" y="64932"/>
                      <a:pt x="58363" y="66199"/>
                      <a:pt x="64151" y="65627"/>
                    </a:cubicBezTo>
                    <a:cubicBezTo>
                      <a:pt x="71887" y="64770"/>
                      <a:pt x="79509" y="63037"/>
                      <a:pt x="86865" y="60484"/>
                    </a:cubicBezTo>
                    <a:lnTo>
                      <a:pt x="51130" y="39814"/>
                    </a:lnTo>
                    <a:cubicBezTo>
                      <a:pt x="38015" y="48387"/>
                      <a:pt x="36808" y="55788"/>
                      <a:pt x="47519" y="62008"/>
                    </a:cubicBezTo>
                    <a:close/>
                    <a:moveTo>
                      <a:pt x="172969" y="72485"/>
                    </a:moveTo>
                    <a:cubicBezTo>
                      <a:pt x="167514" y="69513"/>
                      <a:pt x="161241" y="68409"/>
                      <a:pt x="155102" y="69342"/>
                    </a:cubicBezTo>
                    <a:cubicBezTo>
                      <a:pt x="146663" y="70428"/>
                      <a:pt x="138328" y="72247"/>
                      <a:pt x="130202" y="74771"/>
                    </a:cubicBezTo>
                    <a:lnTo>
                      <a:pt x="165746" y="95345"/>
                    </a:lnTo>
                    <a:cubicBezTo>
                      <a:pt x="180572" y="86106"/>
                      <a:pt x="183328" y="78486"/>
                      <a:pt x="172969" y="72485"/>
                    </a:cubicBezTo>
                    <a:close/>
                  </a:path>
                </a:pathLst>
              </a:custGeom>
              <a:solidFill>
                <a:srgbClr val="F9CA06"/>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grpSp>
        <p:grpSp>
          <p:nvGrpSpPr>
            <p:cNvPr id="383" name="Google Shape;4474;p48">
              <a:extLst>
                <a:ext uri="{FF2B5EF4-FFF2-40B4-BE49-F238E27FC236}">
                  <a16:creationId xmlns:a16="http://schemas.microsoft.com/office/drawing/2014/main" id="{959772AE-A51B-9E6D-2DE9-464578DBBE6F}"/>
                </a:ext>
              </a:extLst>
            </p:cNvPr>
            <p:cNvGrpSpPr/>
            <p:nvPr/>
          </p:nvGrpSpPr>
          <p:grpSpPr>
            <a:xfrm>
              <a:off x="2181300" y="4477454"/>
              <a:ext cx="746806" cy="516445"/>
              <a:chOff x="3962400" y="5293804"/>
              <a:chExt cx="746806" cy="516445"/>
            </a:xfrm>
          </p:grpSpPr>
          <p:sp>
            <p:nvSpPr>
              <p:cNvPr id="449" name="Google Shape;4475;p48">
                <a:extLst>
                  <a:ext uri="{FF2B5EF4-FFF2-40B4-BE49-F238E27FC236}">
                    <a16:creationId xmlns:a16="http://schemas.microsoft.com/office/drawing/2014/main" id="{B83917B8-9ADA-605E-A757-9F033E7494A3}"/>
                  </a:ext>
                </a:extLst>
              </p:cNvPr>
              <p:cNvSpPr/>
              <p:nvPr/>
            </p:nvSpPr>
            <p:spPr>
              <a:xfrm>
                <a:off x="3962400" y="5425630"/>
                <a:ext cx="664504" cy="384619"/>
              </a:xfrm>
              <a:custGeom>
                <a:avLst/>
                <a:gdLst/>
                <a:ahLst/>
                <a:cxnLst/>
                <a:rect l="l" t="t" r="r" b="b"/>
                <a:pathLst>
                  <a:path w="664504" h="384619" extrusionOk="0">
                    <a:moveTo>
                      <a:pt x="664505" y="192310"/>
                    </a:moveTo>
                    <a:cubicBezTo>
                      <a:pt x="664505" y="298520"/>
                      <a:pt x="515750" y="384620"/>
                      <a:pt x="332252" y="384620"/>
                    </a:cubicBezTo>
                    <a:cubicBezTo>
                      <a:pt x="148754" y="384620"/>
                      <a:pt x="0" y="298520"/>
                      <a:pt x="0" y="192310"/>
                    </a:cubicBezTo>
                    <a:cubicBezTo>
                      <a:pt x="0" y="86100"/>
                      <a:pt x="148754" y="0"/>
                      <a:pt x="332252" y="0"/>
                    </a:cubicBezTo>
                    <a:cubicBezTo>
                      <a:pt x="515750" y="0"/>
                      <a:pt x="664505" y="86100"/>
                      <a:pt x="664505" y="192310"/>
                    </a:cubicBezTo>
                    <a:close/>
                  </a:path>
                </a:pathLst>
              </a:custGeom>
              <a:solidFill>
                <a:srgbClr val="D6D8E5">
                  <a:alpha val="298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50" name="Google Shape;4476;p48">
                <a:extLst>
                  <a:ext uri="{FF2B5EF4-FFF2-40B4-BE49-F238E27FC236}">
                    <a16:creationId xmlns:a16="http://schemas.microsoft.com/office/drawing/2014/main" id="{1A928C1D-7E4A-F2F4-CD77-BADD7B8AA328}"/>
                  </a:ext>
                </a:extLst>
              </p:cNvPr>
              <p:cNvSpPr/>
              <p:nvPr/>
            </p:nvSpPr>
            <p:spPr>
              <a:xfrm>
                <a:off x="4044607" y="5376195"/>
                <a:ext cx="664504" cy="384619"/>
              </a:xfrm>
              <a:custGeom>
                <a:avLst/>
                <a:gdLst/>
                <a:ahLst/>
                <a:cxnLst/>
                <a:rect l="l" t="t" r="r" b="b"/>
                <a:pathLst>
                  <a:path w="664504" h="384619" extrusionOk="0">
                    <a:moveTo>
                      <a:pt x="664505" y="192310"/>
                    </a:moveTo>
                    <a:cubicBezTo>
                      <a:pt x="664505" y="298520"/>
                      <a:pt x="515750" y="384619"/>
                      <a:pt x="332252" y="384619"/>
                    </a:cubicBezTo>
                    <a:cubicBezTo>
                      <a:pt x="148754" y="384619"/>
                      <a:pt x="0" y="298520"/>
                      <a:pt x="0" y="192310"/>
                    </a:cubicBezTo>
                    <a:cubicBezTo>
                      <a:pt x="0" y="86100"/>
                      <a:pt x="148754" y="0"/>
                      <a:pt x="332252" y="0"/>
                    </a:cubicBezTo>
                    <a:cubicBezTo>
                      <a:pt x="515750" y="0"/>
                      <a:pt x="664505" y="86100"/>
                      <a:pt x="664505" y="192310"/>
                    </a:cubicBezTo>
                    <a:close/>
                  </a:path>
                </a:pathLst>
              </a:custGeom>
              <a:solidFill>
                <a:srgbClr val="DD990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51" name="Google Shape;4477;p48">
                <a:extLst>
                  <a:ext uri="{FF2B5EF4-FFF2-40B4-BE49-F238E27FC236}">
                    <a16:creationId xmlns:a16="http://schemas.microsoft.com/office/drawing/2014/main" id="{B79EF054-AEF9-B994-AAA7-F0DB8B9E5E0D}"/>
                  </a:ext>
                </a:extLst>
              </p:cNvPr>
              <p:cNvSpPr/>
              <p:nvPr/>
            </p:nvSpPr>
            <p:spPr>
              <a:xfrm>
                <a:off x="4044702" y="5483828"/>
                <a:ext cx="65671" cy="87629"/>
              </a:xfrm>
              <a:custGeom>
                <a:avLst/>
                <a:gdLst/>
                <a:ahLst/>
                <a:cxnLst/>
                <a:rect l="l" t="t" r="r" b="b"/>
                <a:pathLst>
                  <a:path w="65671" h="87629" extrusionOk="0">
                    <a:moveTo>
                      <a:pt x="0" y="87630"/>
                    </a:moveTo>
                    <a:lnTo>
                      <a:pt x="0" y="0"/>
                    </a:lnTo>
                    <a:lnTo>
                      <a:pt x="65671" y="58579"/>
                    </a:lnTo>
                    <a:lnTo>
                      <a:pt x="0" y="87630"/>
                    </a:lnTo>
                    <a:close/>
                  </a:path>
                </a:pathLst>
              </a:custGeom>
              <a:solidFill>
                <a:srgbClr val="DD990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52" name="Google Shape;4478;p48">
                <a:extLst>
                  <a:ext uri="{FF2B5EF4-FFF2-40B4-BE49-F238E27FC236}">
                    <a16:creationId xmlns:a16="http://schemas.microsoft.com/office/drawing/2014/main" id="{8C897EB8-DA42-277C-C1C0-3B354BC05A68}"/>
                  </a:ext>
                </a:extLst>
              </p:cNvPr>
              <p:cNvSpPr/>
              <p:nvPr/>
            </p:nvSpPr>
            <p:spPr>
              <a:xfrm>
                <a:off x="4659217" y="5486114"/>
                <a:ext cx="49989" cy="118109"/>
              </a:xfrm>
              <a:custGeom>
                <a:avLst/>
                <a:gdLst/>
                <a:ahLst/>
                <a:cxnLst/>
                <a:rect l="l" t="t" r="r" b="b"/>
                <a:pathLst>
                  <a:path w="49989" h="118109" extrusionOk="0">
                    <a:moveTo>
                      <a:pt x="49990" y="0"/>
                    </a:moveTo>
                    <a:lnTo>
                      <a:pt x="49990" y="82391"/>
                    </a:lnTo>
                    <a:lnTo>
                      <a:pt x="16442" y="118110"/>
                    </a:lnTo>
                    <a:lnTo>
                      <a:pt x="0" y="23813"/>
                    </a:lnTo>
                    <a:lnTo>
                      <a:pt x="49990" y="0"/>
                    </a:lnTo>
                    <a:close/>
                  </a:path>
                </a:pathLst>
              </a:custGeom>
              <a:solidFill>
                <a:srgbClr val="DD990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53" name="Google Shape;4479;p48">
                <a:extLst>
                  <a:ext uri="{FF2B5EF4-FFF2-40B4-BE49-F238E27FC236}">
                    <a16:creationId xmlns:a16="http://schemas.microsoft.com/office/drawing/2014/main" id="{43A9C8C0-53FC-220B-073F-5FD37B6719CF}"/>
                  </a:ext>
                </a:extLst>
              </p:cNvPr>
              <p:cNvSpPr/>
              <p:nvPr/>
            </p:nvSpPr>
            <p:spPr>
              <a:xfrm>
                <a:off x="4044607" y="5293804"/>
                <a:ext cx="664504" cy="384619"/>
              </a:xfrm>
              <a:custGeom>
                <a:avLst/>
                <a:gdLst/>
                <a:ahLst/>
                <a:cxnLst/>
                <a:rect l="l" t="t" r="r" b="b"/>
                <a:pathLst>
                  <a:path w="664504" h="384619" extrusionOk="0">
                    <a:moveTo>
                      <a:pt x="664505" y="192310"/>
                    </a:moveTo>
                    <a:cubicBezTo>
                      <a:pt x="664505" y="298520"/>
                      <a:pt x="515750" y="384620"/>
                      <a:pt x="332252" y="384620"/>
                    </a:cubicBezTo>
                    <a:cubicBezTo>
                      <a:pt x="148754" y="384620"/>
                      <a:pt x="0" y="298520"/>
                      <a:pt x="0" y="192310"/>
                    </a:cubicBezTo>
                    <a:cubicBezTo>
                      <a:pt x="0" y="86100"/>
                      <a:pt x="148754" y="0"/>
                      <a:pt x="332252" y="0"/>
                    </a:cubicBezTo>
                    <a:cubicBezTo>
                      <a:pt x="515750" y="0"/>
                      <a:pt x="664505" y="86100"/>
                      <a:pt x="664505" y="192310"/>
                    </a:cubicBezTo>
                    <a:close/>
                  </a:path>
                </a:pathLst>
              </a:custGeom>
              <a:solidFill>
                <a:srgbClr val="F9CB07"/>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54" name="Google Shape;4480;p48">
                <a:extLst>
                  <a:ext uri="{FF2B5EF4-FFF2-40B4-BE49-F238E27FC236}">
                    <a16:creationId xmlns:a16="http://schemas.microsoft.com/office/drawing/2014/main" id="{34639D76-2578-D065-CEF9-3364D3FF9818}"/>
                  </a:ext>
                </a:extLst>
              </p:cNvPr>
              <p:cNvSpPr/>
              <p:nvPr/>
            </p:nvSpPr>
            <p:spPr>
              <a:xfrm>
                <a:off x="4139107" y="5346215"/>
                <a:ext cx="475657" cy="275248"/>
              </a:xfrm>
              <a:custGeom>
                <a:avLst/>
                <a:gdLst/>
                <a:ahLst/>
                <a:cxnLst/>
                <a:rect l="l" t="t" r="r" b="b"/>
                <a:pathLst>
                  <a:path w="475657" h="275248" extrusionOk="0">
                    <a:moveTo>
                      <a:pt x="475252" y="145899"/>
                    </a:moveTo>
                    <a:cubicBezTo>
                      <a:pt x="471926" y="178284"/>
                      <a:pt x="448831" y="210193"/>
                      <a:pt x="406064" y="234958"/>
                    </a:cubicBezTo>
                    <a:cubicBezTo>
                      <a:pt x="313117" y="288679"/>
                      <a:pt x="162482" y="288679"/>
                      <a:pt x="69630" y="234958"/>
                    </a:cubicBezTo>
                    <a:cubicBezTo>
                      <a:pt x="26768" y="210193"/>
                      <a:pt x="3769" y="178284"/>
                      <a:pt x="443" y="145899"/>
                    </a:cubicBezTo>
                    <a:cubicBezTo>
                      <a:pt x="-3549" y="107799"/>
                      <a:pt x="19450" y="69223"/>
                      <a:pt x="69630" y="40362"/>
                    </a:cubicBezTo>
                    <a:cubicBezTo>
                      <a:pt x="162482" y="-13454"/>
                      <a:pt x="313117" y="-13454"/>
                      <a:pt x="406064" y="40362"/>
                    </a:cubicBezTo>
                    <a:cubicBezTo>
                      <a:pt x="456149" y="69223"/>
                      <a:pt x="479053" y="107990"/>
                      <a:pt x="475252" y="145899"/>
                    </a:cubicBez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55" name="Google Shape;4481;p48">
                <a:extLst>
                  <a:ext uri="{FF2B5EF4-FFF2-40B4-BE49-F238E27FC236}">
                    <a16:creationId xmlns:a16="http://schemas.microsoft.com/office/drawing/2014/main" id="{54B89BBB-B534-4B9B-0D2D-BBF451D019A8}"/>
                  </a:ext>
                </a:extLst>
              </p:cNvPr>
              <p:cNvSpPr/>
              <p:nvPr/>
            </p:nvSpPr>
            <p:spPr>
              <a:xfrm>
                <a:off x="4139550" y="5362694"/>
                <a:ext cx="474809" cy="258770"/>
              </a:xfrm>
              <a:custGeom>
                <a:avLst/>
                <a:gdLst/>
                <a:ahLst/>
                <a:cxnLst/>
                <a:rect l="l" t="t" r="r" b="b"/>
                <a:pathLst>
                  <a:path w="474809" h="258770" extrusionOk="0">
                    <a:moveTo>
                      <a:pt x="474809" y="129421"/>
                    </a:moveTo>
                    <a:cubicBezTo>
                      <a:pt x="471483" y="161806"/>
                      <a:pt x="448389" y="193715"/>
                      <a:pt x="405622" y="218480"/>
                    </a:cubicBezTo>
                    <a:cubicBezTo>
                      <a:pt x="312675" y="272201"/>
                      <a:pt x="162040" y="272201"/>
                      <a:pt x="69188" y="218480"/>
                    </a:cubicBezTo>
                    <a:cubicBezTo>
                      <a:pt x="26325" y="193715"/>
                      <a:pt x="3326" y="161806"/>
                      <a:pt x="0" y="129421"/>
                    </a:cubicBezTo>
                    <a:cubicBezTo>
                      <a:pt x="3326" y="97036"/>
                      <a:pt x="26325" y="65127"/>
                      <a:pt x="69188" y="40362"/>
                    </a:cubicBezTo>
                    <a:cubicBezTo>
                      <a:pt x="162040" y="-13454"/>
                      <a:pt x="312675" y="-13454"/>
                      <a:pt x="405622" y="40362"/>
                    </a:cubicBezTo>
                    <a:cubicBezTo>
                      <a:pt x="448389" y="65127"/>
                      <a:pt x="471483" y="97036"/>
                      <a:pt x="474809" y="129421"/>
                    </a:cubicBezTo>
                    <a:close/>
                  </a:path>
                </a:pathLst>
              </a:custGeom>
              <a:solidFill>
                <a:srgbClr val="E8A30A"/>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56" name="Google Shape;4482;p48">
                <a:extLst>
                  <a:ext uri="{FF2B5EF4-FFF2-40B4-BE49-F238E27FC236}">
                    <a16:creationId xmlns:a16="http://schemas.microsoft.com/office/drawing/2014/main" id="{318EB6C0-D7D2-16EF-3CC3-437077FC1202}"/>
                  </a:ext>
                </a:extLst>
              </p:cNvPr>
              <p:cNvSpPr/>
              <p:nvPr/>
            </p:nvSpPr>
            <p:spPr>
              <a:xfrm>
                <a:off x="4261389" y="5424963"/>
                <a:ext cx="221102" cy="138970"/>
              </a:xfrm>
              <a:custGeom>
                <a:avLst/>
                <a:gdLst/>
                <a:ahLst/>
                <a:cxnLst/>
                <a:rect l="l" t="t" r="r" b="b"/>
                <a:pathLst>
                  <a:path w="221102" h="138970" extrusionOk="0">
                    <a:moveTo>
                      <a:pt x="112050" y="22098"/>
                    </a:moveTo>
                    <a:cubicBezTo>
                      <a:pt x="109122" y="22060"/>
                      <a:pt x="106194" y="22279"/>
                      <a:pt x="103306" y="22765"/>
                    </a:cubicBezTo>
                    <a:cubicBezTo>
                      <a:pt x="99410" y="23336"/>
                      <a:pt x="95038" y="24098"/>
                      <a:pt x="90191" y="25146"/>
                    </a:cubicBezTo>
                    <a:cubicBezTo>
                      <a:pt x="85344" y="26194"/>
                      <a:pt x="80687" y="27432"/>
                      <a:pt x="75080" y="29051"/>
                    </a:cubicBezTo>
                    <a:cubicBezTo>
                      <a:pt x="69967" y="30566"/>
                      <a:pt x="64977" y="32480"/>
                      <a:pt x="60159" y="34766"/>
                    </a:cubicBezTo>
                    <a:lnTo>
                      <a:pt x="98174" y="56864"/>
                    </a:lnTo>
                    <a:lnTo>
                      <a:pt x="105017" y="54388"/>
                    </a:lnTo>
                    <a:cubicBezTo>
                      <a:pt x="114521" y="51149"/>
                      <a:pt x="124024" y="48387"/>
                      <a:pt x="132483" y="46196"/>
                    </a:cubicBezTo>
                    <a:cubicBezTo>
                      <a:pt x="140574" y="44120"/>
                      <a:pt x="148851" y="42844"/>
                      <a:pt x="157193" y="42386"/>
                    </a:cubicBezTo>
                    <a:cubicBezTo>
                      <a:pt x="164798" y="41881"/>
                      <a:pt x="172437" y="42386"/>
                      <a:pt x="179907" y="43910"/>
                    </a:cubicBezTo>
                    <a:cubicBezTo>
                      <a:pt x="187570" y="45539"/>
                      <a:pt x="194919" y="48406"/>
                      <a:pt x="201670" y="52388"/>
                    </a:cubicBezTo>
                    <a:cubicBezTo>
                      <a:pt x="208292" y="55731"/>
                      <a:pt x="213951" y="60713"/>
                      <a:pt x="218112" y="66866"/>
                    </a:cubicBezTo>
                    <a:cubicBezTo>
                      <a:pt x="220891" y="71323"/>
                      <a:pt x="221780" y="76705"/>
                      <a:pt x="220583" y="81820"/>
                    </a:cubicBezTo>
                    <a:cubicBezTo>
                      <a:pt x="218785" y="87506"/>
                      <a:pt x="215504" y="92602"/>
                      <a:pt x="211079" y="96584"/>
                    </a:cubicBezTo>
                    <a:cubicBezTo>
                      <a:pt x="205885" y="101898"/>
                      <a:pt x="200041" y="106547"/>
                      <a:pt x="193687" y="110395"/>
                    </a:cubicBezTo>
                    <a:lnTo>
                      <a:pt x="217922" y="124492"/>
                    </a:lnTo>
                    <a:lnTo>
                      <a:pt x="204712" y="132112"/>
                    </a:lnTo>
                    <a:lnTo>
                      <a:pt x="180952" y="117634"/>
                    </a:lnTo>
                    <a:cubicBezTo>
                      <a:pt x="169319" y="123463"/>
                      <a:pt x="157122" y="128092"/>
                      <a:pt x="144553" y="131445"/>
                    </a:cubicBezTo>
                    <a:cubicBezTo>
                      <a:pt x="131396" y="135112"/>
                      <a:pt x="117944" y="137636"/>
                      <a:pt x="104352" y="138970"/>
                    </a:cubicBezTo>
                    <a:lnTo>
                      <a:pt x="91521" y="116015"/>
                    </a:lnTo>
                    <a:cubicBezTo>
                      <a:pt x="95114" y="115919"/>
                      <a:pt x="98699" y="115634"/>
                      <a:pt x="102261" y="115158"/>
                    </a:cubicBezTo>
                    <a:cubicBezTo>
                      <a:pt x="107627" y="114510"/>
                      <a:pt x="112956" y="113586"/>
                      <a:pt x="118227" y="112395"/>
                    </a:cubicBezTo>
                    <a:cubicBezTo>
                      <a:pt x="124119" y="111157"/>
                      <a:pt x="130392" y="109538"/>
                      <a:pt x="137235" y="107633"/>
                    </a:cubicBezTo>
                    <a:cubicBezTo>
                      <a:pt x="143743" y="105823"/>
                      <a:pt x="150098" y="103489"/>
                      <a:pt x="156242" y="100679"/>
                    </a:cubicBezTo>
                    <a:lnTo>
                      <a:pt x="118227" y="78677"/>
                    </a:lnTo>
                    <a:cubicBezTo>
                      <a:pt x="116611" y="79248"/>
                      <a:pt x="114996" y="79915"/>
                      <a:pt x="113285" y="80391"/>
                    </a:cubicBezTo>
                    <a:lnTo>
                      <a:pt x="108058" y="82010"/>
                    </a:lnTo>
                    <a:cubicBezTo>
                      <a:pt x="98554" y="85154"/>
                      <a:pt x="89716" y="87630"/>
                      <a:pt x="81828" y="89440"/>
                    </a:cubicBezTo>
                    <a:cubicBezTo>
                      <a:pt x="74465" y="91154"/>
                      <a:pt x="66953" y="92145"/>
                      <a:pt x="59399" y="92393"/>
                    </a:cubicBezTo>
                    <a:cubicBezTo>
                      <a:pt x="52758" y="92678"/>
                      <a:pt x="46110" y="92069"/>
                      <a:pt x="39631" y="90583"/>
                    </a:cubicBezTo>
                    <a:cubicBezTo>
                      <a:pt x="33176" y="89059"/>
                      <a:pt x="26991" y="86554"/>
                      <a:pt x="21288" y="83153"/>
                    </a:cubicBezTo>
                    <a:cubicBezTo>
                      <a:pt x="14928" y="79924"/>
                      <a:pt x="9398" y="75257"/>
                      <a:pt x="5132" y="69533"/>
                    </a:cubicBezTo>
                    <a:cubicBezTo>
                      <a:pt x="2001" y="65275"/>
                      <a:pt x="454" y="60055"/>
                      <a:pt x="760" y="54769"/>
                    </a:cubicBezTo>
                    <a:cubicBezTo>
                      <a:pt x="1328" y="49273"/>
                      <a:pt x="3511" y="44063"/>
                      <a:pt x="7033" y="39815"/>
                    </a:cubicBezTo>
                    <a:cubicBezTo>
                      <a:pt x="11446" y="34376"/>
                      <a:pt x="16672" y="29651"/>
                      <a:pt x="22524" y="25813"/>
                    </a:cubicBezTo>
                    <a:lnTo>
                      <a:pt x="0" y="12764"/>
                    </a:lnTo>
                    <a:lnTo>
                      <a:pt x="13305" y="5048"/>
                    </a:lnTo>
                    <a:lnTo>
                      <a:pt x="35544" y="18002"/>
                    </a:lnTo>
                    <a:cubicBezTo>
                      <a:pt x="45998" y="12783"/>
                      <a:pt x="56994" y="8725"/>
                      <a:pt x="68332" y="5906"/>
                    </a:cubicBezTo>
                    <a:cubicBezTo>
                      <a:pt x="79137" y="3143"/>
                      <a:pt x="90126" y="1172"/>
                      <a:pt x="101215" y="0"/>
                    </a:cubicBezTo>
                    <a:close/>
                    <a:moveTo>
                      <a:pt x="47139" y="62198"/>
                    </a:moveTo>
                    <a:cubicBezTo>
                      <a:pt x="52133" y="65122"/>
                      <a:pt x="57921" y="66389"/>
                      <a:pt x="63675" y="65818"/>
                    </a:cubicBezTo>
                    <a:cubicBezTo>
                      <a:pt x="71401" y="64875"/>
                      <a:pt x="79011" y="63151"/>
                      <a:pt x="86389" y="60674"/>
                    </a:cubicBezTo>
                    <a:lnTo>
                      <a:pt x="50655" y="40005"/>
                    </a:lnTo>
                    <a:cubicBezTo>
                      <a:pt x="37540" y="48578"/>
                      <a:pt x="36368" y="55979"/>
                      <a:pt x="47139" y="62198"/>
                    </a:cubicBezTo>
                    <a:close/>
                    <a:moveTo>
                      <a:pt x="172589" y="72676"/>
                    </a:moveTo>
                    <a:cubicBezTo>
                      <a:pt x="167122" y="69742"/>
                      <a:pt x="160859" y="68637"/>
                      <a:pt x="154722" y="69533"/>
                    </a:cubicBezTo>
                    <a:cubicBezTo>
                      <a:pt x="146250" y="70618"/>
                      <a:pt x="137887" y="72438"/>
                      <a:pt x="129727" y="74962"/>
                    </a:cubicBezTo>
                    <a:lnTo>
                      <a:pt x="165271" y="95536"/>
                    </a:lnTo>
                    <a:cubicBezTo>
                      <a:pt x="180477" y="86296"/>
                      <a:pt x="182853" y="78677"/>
                      <a:pt x="172589" y="72676"/>
                    </a:cubicBez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57" name="Google Shape;4483;p48">
                <a:extLst>
                  <a:ext uri="{FF2B5EF4-FFF2-40B4-BE49-F238E27FC236}">
                    <a16:creationId xmlns:a16="http://schemas.microsoft.com/office/drawing/2014/main" id="{F9824AA8-E769-33F7-0068-601E16D8AE9C}"/>
                  </a:ext>
                </a:extLst>
              </p:cNvPr>
              <p:cNvSpPr/>
              <p:nvPr/>
            </p:nvSpPr>
            <p:spPr>
              <a:xfrm>
                <a:off x="4352910" y="5528024"/>
                <a:ext cx="14540" cy="19050"/>
              </a:xfrm>
              <a:custGeom>
                <a:avLst/>
                <a:gdLst/>
                <a:ahLst/>
                <a:cxnLst/>
                <a:rect l="l" t="t" r="r" b="b"/>
                <a:pathLst>
                  <a:path w="14540" h="19050" extrusionOk="0">
                    <a:moveTo>
                      <a:pt x="0" y="12954"/>
                    </a:moveTo>
                    <a:cubicBezTo>
                      <a:pt x="0" y="12002"/>
                      <a:pt x="0" y="0"/>
                      <a:pt x="0" y="0"/>
                    </a:cubicBezTo>
                    <a:lnTo>
                      <a:pt x="14541" y="9525"/>
                    </a:lnTo>
                    <a:lnTo>
                      <a:pt x="8268" y="19050"/>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58" name="Google Shape;4484;p48">
                <a:extLst>
                  <a:ext uri="{FF2B5EF4-FFF2-40B4-BE49-F238E27FC236}">
                    <a16:creationId xmlns:a16="http://schemas.microsoft.com/office/drawing/2014/main" id="{C08FC5AC-0F1D-37C6-AC1A-8377A48765DA}"/>
                  </a:ext>
                </a:extLst>
              </p:cNvPr>
              <p:cNvSpPr/>
              <p:nvPr/>
            </p:nvSpPr>
            <p:spPr>
              <a:xfrm>
                <a:off x="4448518" y="5536215"/>
                <a:ext cx="31552" cy="14858"/>
              </a:xfrm>
              <a:custGeom>
                <a:avLst/>
                <a:gdLst/>
                <a:ahLst/>
                <a:cxnLst/>
                <a:rect l="l" t="t" r="r" b="b"/>
                <a:pathLst>
                  <a:path w="31552" h="14858" extrusionOk="0">
                    <a:moveTo>
                      <a:pt x="31553" y="12954"/>
                    </a:moveTo>
                    <a:lnTo>
                      <a:pt x="31553" y="0"/>
                    </a:lnTo>
                    <a:lnTo>
                      <a:pt x="0" y="2476"/>
                    </a:lnTo>
                    <a:lnTo>
                      <a:pt x="18152" y="14859"/>
                    </a:lnTo>
                    <a:lnTo>
                      <a:pt x="31553" y="12954"/>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59" name="Google Shape;4485;p48">
                <a:extLst>
                  <a:ext uri="{FF2B5EF4-FFF2-40B4-BE49-F238E27FC236}">
                    <a16:creationId xmlns:a16="http://schemas.microsoft.com/office/drawing/2014/main" id="{1EC3D158-35B1-4C79-5F76-6E33C01FD4BB}"/>
                  </a:ext>
                </a:extLst>
              </p:cNvPr>
              <p:cNvSpPr/>
              <p:nvPr/>
            </p:nvSpPr>
            <p:spPr>
              <a:xfrm>
                <a:off x="4459162" y="5488685"/>
                <a:ext cx="23664" cy="13049"/>
              </a:xfrm>
              <a:custGeom>
                <a:avLst/>
                <a:gdLst/>
                <a:ahLst/>
                <a:cxnLst/>
                <a:rect l="l" t="t" r="r" b="b"/>
                <a:pathLst>
                  <a:path w="23664" h="13049" extrusionOk="0">
                    <a:moveTo>
                      <a:pt x="23664" y="13049"/>
                    </a:moveTo>
                    <a:lnTo>
                      <a:pt x="23664" y="0"/>
                    </a:lnTo>
                    <a:lnTo>
                      <a:pt x="0" y="8573"/>
                    </a:lnTo>
                    <a:lnTo>
                      <a:pt x="23664" y="13049"/>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60" name="Google Shape;4486;p48">
                <a:extLst>
                  <a:ext uri="{FF2B5EF4-FFF2-40B4-BE49-F238E27FC236}">
                    <a16:creationId xmlns:a16="http://schemas.microsoft.com/office/drawing/2014/main" id="{3DFA7912-343F-E3A9-2359-D122650CD5AF}"/>
                  </a:ext>
                </a:extLst>
              </p:cNvPr>
              <p:cNvSpPr/>
              <p:nvPr/>
            </p:nvSpPr>
            <p:spPr>
              <a:xfrm>
                <a:off x="4384748" y="5493543"/>
                <a:ext cx="35639" cy="24669"/>
              </a:xfrm>
              <a:custGeom>
                <a:avLst/>
                <a:gdLst/>
                <a:ahLst/>
                <a:cxnLst/>
                <a:rect l="l" t="t" r="r" b="b"/>
                <a:pathLst>
                  <a:path w="35639" h="24669" extrusionOk="0">
                    <a:moveTo>
                      <a:pt x="0" y="7525"/>
                    </a:moveTo>
                    <a:lnTo>
                      <a:pt x="7888" y="0"/>
                    </a:lnTo>
                    <a:lnTo>
                      <a:pt x="35639" y="19050"/>
                    </a:lnTo>
                    <a:lnTo>
                      <a:pt x="33929" y="24670"/>
                    </a:lnTo>
                    <a:cubicBezTo>
                      <a:pt x="33929" y="24670"/>
                      <a:pt x="13210" y="15907"/>
                      <a:pt x="12545" y="15145"/>
                    </a:cubicBezTo>
                    <a:cubicBezTo>
                      <a:pt x="11880" y="14383"/>
                      <a:pt x="0" y="7525"/>
                      <a:pt x="0" y="7525"/>
                    </a:cubicBez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61" name="Google Shape;4487;p48">
                <a:extLst>
                  <a:ext uri="{FF2B5EF4-FFF2-40B4-BE49-F238E27FC236}">
                    <a16:creationId xmlns:a16="http://schemas.microsoft.com/office/drawing/2014/main" id="{2011DD79-DF5C-EC12-E3E1-314658CC8B6B}"/>
                  </a:ext>
                </a:extLst>
              </p:cNvPr>
              <p:cNvSpPr/>
              <p:nvPr/>
            </p:nvSpPr>
            <p:spPr>
              <a:xfrm>
                <a:off x="4312139" y="5452109"/>
                <a:ext cx="44382" cy="29241"/>
              </a:xfrm>
              <a:custGeom>
                <a:avLst/>
                <a:gdLst/>
                <a:ahLst/>
                <a:cxnLst/>
                <a:rect l="l" t="t" r="r" b="b"/>
                <a:pathLst>
                  <a:path w="44382" h="29241" extrusionOk="0">
                    <a:moveTo>
                      <a:pt x="0" y="8287"/>
                    </a:moveTo>
                    <a:lnTo>
                      <a:pt x="36875" y="29242"/>
                    </a:lnTo>
                    <a:lnTo>
                      <a:pt x="44383" y="23717"/>
                    </a:lnTo>
                    <a:cubicBezTo>
                      <a:pt x="44383" y="23717"/>
                      <a:pt x="39726" y="18383"/>
                      <a:pt x="39441" y="17907"/>
                    </a:cubicBezTo>
                    <a:cubicBezTo>
                      <a:pt x="36140" y="14135"/>
                      <a:pt x="32258" y="10925"/>
                      <a:pt x="27941" y="8382"/>
                    </a:cubicBezTo>
                    <a:cubicBezTo>
                      <a:pt x="25185" y="7811"/>
                      <a:pt x="7698" y="0"/>
                      <a:pt x="7698" y="0"/>
                    </a:cubicBez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62" name="Google Shape;4488;p48">
                <a:extLst>
                  <a:ext uri="{FF2B5EF4-FFF2-40B4-BE49-F238E27FC236}">
                    <a16:creationId xmlns:a16="http://schemas.microsoft.com/office/drawing/2014/main" id="{023699C3-CB0A-75B5-ACB5-B8F2E10B3100}"/>
                  </a:ext>
                </a:extLst>
              </p:cNvPr>
              <p:cNvSpPr/>
              <p:nvPr/>
            </p:nvSpPr>
            <p:spPr>
              <a:xfrm>
                <a:off x="4352910" y="5428583"/>
                <a:ext cx="20528" cy="18478"/>
              </a:xfrm>
              <a:custGeom>
                <a:avLst/>
                <a:gdLst/>
                <a:ahLst/>
                <a:cxnLst/>
                <a:rect l="l" t="t" r="r" b="b"/>
                <a:pathLst>
                  <a:path w="20528" h="18478" extrusionOk="0">
                    <a:moveTo>
                      <a:pt x="20528" y="18479"/>
                    </a:moveTo>
                    <a:lnTo>
                      <a:pt x="20528" y="5525"/>
                    </a:lnTo>
                    <a:lnTo>
                      <a:pt x="3611" y="0"/>
                    </a:lnTo>
                    <a:lnTo>
                      <a:pt x="0" y="10192"/>
                    </a:lnTo>
                    <a:lnTo>
                      <a:pt x="855" y="14764"/>
                    </a:lnTo>
                    <a:lnTo>
                      <a:pt x="20528" y="18479"/>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63" name="Google Shape;4489;p48">
                <a:extLst>
                  <a:ext uri="{FF2B5EF4-FFF2-40B4-BE49-F238E27FC236}">
                    <a16:creationId xmlns:a16="http://schemas.microsoft.com/office/drawing/2014/main" id="{11CA354E-0CD3-DAB5-CA34-A63E5C8F7708}"/>
                  </a:ext>
                </a:extLst>
              </p:cNvPr>
              <p:cNvSpPr/>
              <p:nvPr/>
            </p:nvSpPr>
            <p:spPr>
              <a:xfrm>
                <a:off x="4261008" y="5424773"/>
                <a:ext cx="19672" cy="14668"/>
              </a:xfrm>
              <a:custGeom>
                <a:avLst/>
                <a:gdLst/>
                <a:ahLst/>
                <a:cxnLst/>
                <a:rect l="l" t="t" r="r" b="b"/>
                <a:pathLst>
                  <a:path w="19672" h="14668" extrusionOk="0">
                    <a:moveTo>
                      <a:pt x="0" y="12954"/>
                    </a:moveTo>
                    <a:lnTo>
                      <a:pt x="0" y="0"/>
                    </a:lnTo>
                    <a:lnTo>
                      <a:pt x="19673" y="2096"/>
                    </a:lnTo>
                    <a:lnTo>
                      <a:pt x="13305" y="14669"/>
                    </a:lnTo>
                    <a:lnTo>
                      <a:pt x="0" y="12954"/>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64" name="Google Shape;4490;p48">
                <a:extLst>
                  <a:ext uri="{FF2B5EF4-FFF2-40B4-BE49-F238E27FC236}">
                    <a16:creationId xmlns:a16="http://schemas.microsoft.com/office/drawing/2014/main" id="{E11060B0-204E-84E5-31FD-905FD484A409}"/>
                  </a:ext>
                </a:extLst>
              </p:cNvPr>
              <p:cNvSpPr/>
              <p:nvPr/>
            </p:nvSpPr>
            <p:spPr>
              <a:xfrm>
                <a:off x="4261769" y="5468111"/>
                <a:ext cx="22428" cy="22764"/>
              </a:xfrm>
              <a:custGeom>
                <a:avLst/>
                <a:gdLst/>
                <a:ahLst/>
                <a:cxnLst/>
                <a:rect l="l" t="t" r="r" b="b"/>
                <a:pathLst>
                  <a:path w="22428" h="22764" extrusionOk="0">
                    <a:moveTo>
                      <a:pt x="0" y="13430"/>
                    </a:moveTo>
                    <a:lnTo>
                      <a:pt x="0" y="0"/>
                    </a:lnTo>
                    <a:lnTo>
                      <a:pt x="22429" y="0"/>
                    </a:lnTo>
                    <a:lnTo>
                      <a:pt x="17012" y="12002"/>
                    </a:lnTo>
                    <a:lnTo>
                      <a:pt x="7508" y="22765"/>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65" name="Google Shape;4491;p48">
                <a:extLst>
                  <a:ext uri="{FF2B5EF4-FFF2-40B4-BE49-F238E27FC236}">
                    <a16:creationId xmlns:a16="http://schemas.microsoft.com/office/drawing/2014/main" id="{4168974A-0E6A-D794-47E7-1EE181247895}"/>
                  </a:ext>
                </a:extLst>
              </p:cNvPr>
              <p:cNvSpPr/>
              <p:nvPr/>
            </p:nvSpPr>
            <p:spPr>
              <a:xfrm>
                <a:off x="4261389" y="5412009"/>
                <a:ext cx="221197" cy="139065"/>
              </a:xfrm>
              <a:custGeom>
                <a:avLst/>
                <a:gdLst/>
                <a:ahLst/>
                <a:cxnLst/>
                <a:rect l="l" t="t" r="r" b="b"/>
                <a:pathLst>
                  <a:path w="221197" h="139065" extrusionOk="0">
                    <a:moveTo>
                      <a:pt x="112050" y="22098"/>
                    </a:moveTo>
                    <a:cubicBezTo>
                      <a:pt x="109119" y="22098"/>
                      <a:pt x="106193" y="22355"/>
                      <a:pt x="103306" y="22860"/>
                    </a:cubicBezTo>
                    <a:cubicBezTo>
                      <a:pt x="99441" y="23431"/>
                      <a:pt x="95069" y="24194"/>
                      <a:pt x="90191" y="25146"/>
                    </a:cubicBezTo>
                    <a:cubicBezTo>
                      <a:pt x="85344" y="26194"/>
                      <a:pt x="80687" y="27527"/>
                      <a:pt x="75080" y="29051"/>
                    </a:cubicBezTo>
                    <a:cubicBezTo>
                      <a:pt x="69981" y="30613"/>
                      <a:pt x="64995" y="32518"/>
                      <a:pt x="60159" y="34766"/>
                    </a:cubicBezTo>
                    <a:lnTo>
                      <a:pt x="98174" y="56864"/>
                    </a:lnTo>
                    <a:lnTo>
                      <a:pt x="105017" y="54483"/>
                    </a:lnTo>
                    <a:cubicBezTo>
                      <a:pt x="114521" y="51245"/>
                      <a:pt x="124024" y="48482"/>
                      <a:pt x="132483" y="46196"/>
                    </a:cubicBezTo>
                    <a:cubicBezTo>
                      <a:pt x="140606" y="44063"/>
                      <a:pt x="148910" y="42691"/>
                      <a:pt x="157288" y="42100"/>
                    </a:cubicBezTo>
                    <a:cubicBezTo>
                      <a:pt x="164893" y="41643"/>
                      <a:pt x="172525" y="42158"/>
                      <a:pt x="180002" y="43624"/>
                    </a:cubicBezTo>
                    <a:cubicBezTo>
                      <a:pt x="187668" y="45291"/>
                      <a:pt x="195018" y="48187"/>
                      <a:pt x="201765" y="52197"/>
                    </a:cubicBezTo>
                    <a:cubicBezTo>
                      <a:pt x="208387" y="55540"/>
                      <a:pt x="214046" y="60522"/>
                      <a:pt x="218207" y="66675"/>
                    </a:cubicBezTo>
                    <a:cubicBezTo>
                      <a:pt x="220986" y="71133"/>
                      <a:pt x="221875" y="76514"/>
                      <a:pt x="220678" y="81629"/>
                    </a:cubicBezTo>
                    <a:cubicBezTo>
                      <a:pt x="218855" y="87297"/>
                      <a:pt x="215578" y="92393"/>
                      <a:pt x="211174" y="96393"/>
                    </a:cubicBezTo>
                    <a:cubicBezTo>
                      <a:pt x="205956" y="101689"/>
                      <a:pt x="200116" y="106318"/>
                      <a:pt x="193782" y="110204"/>
                    </a:cubicBezTo>
                    <a:lnTo>
                      <a:pt x="218017" y="124206"/>
                    </a:lnTo>
                    <a:lnTo>
                      <a:pt x="204807" y="131921"/>
                    </a:lnTo>
                    <a:lnTo>
                      <a:pt x="180287" y="117729"/>
                    </a:lnTo>
                    <a:cubicBezTo>
                      <a:pt x="168831" y="123434"/>
                      <a:pt x="156868" y="128064"/>
                      <a:pt x="144553" y="131540"/>
                    </a:cubicBezTo>
                    <a:cubicBezTo>
                      <a:pt x="131385" y="135169"/>
                      <a:pt x="117937" y="137684"/>
                      <a:pt x="104352" y="139065"/>
                    </a:cubicBezTo>
                    <a:lnTo>
                      <a:pt x="91521" y="116014"/>
                    </a:lnTo>
                    <a:cubicBezTo>
                      <a:pt x="95113" y="115967"/>
                      <a:pt x="98698" y="115710"/>
                      <a:pt x="102261" y="115253"/>
                    </a:cubicBezTo>
                    <a:cubicBezTo>
                      <a:pt x="107013" y="114681"/>
                      <a:pt x="112335" y="113729"/>
                      <a:pt x="118227" y="112490"/>
                    </a:cubicBezTo>
                    <a:cubicBezTo>
                      <a:pt x="124119" y="111252"/>
                      <a:pt x="130392" y="109633"/>
                      <a:pt x="137235" y="107728"/>
                    </a:cubicBezTo>
                    <a:cubicBezTo>
                      <a:pt x="143731" y="105842"/>
                      <a:pt x="150083" y="103479"/>
                      <a:pt x="156242" y="100679"/>
                    </a:cubicBezTo>
                    <a:lnTo>
                      <a:pt x="118227" y="78772"/>
                    </a:lnTo>
                    <a:lnTo>
                      <a:pt x="113285" y="80486"/>
                    </a:lnTo>
                    <a:lnTo>
                      <a:pt x="108058" y="82105"/>
                    </a:lnTo>
                    <a:cubicBezTo>
                      <a:pt x="99447" y="85001"/>
                      <a:pt x="90692" y="87449"/>
                      <a:pt x="81828" y="89440"/>
                    </a:cubicBezTo>
                    <a:cubicBezTo>
                      <a:pt x="74467" y="91183"/>
                      <a:pt x="66956" y="92202"/>
                      <a:pt x="59399" y="92488"/>
                    </a:cubicBezTo>
                    <a:cubicBezTo>
                      <a:pt x="52754" y="92745"/>
                      <a:pt x="46105" y="92107"/>
                      <a:pt x="39631" y="90583"/>
                    </a:cubicBezTo>
                    <a:cubicBezTo>
                      <a:pt x="33193" y="89049"/>
                      <a:pt x="27013" y="86573"/>
                      <a:pt x="21288" y="83248"/>
                    </a:cubicBezTo>
                    <a:cubicBezTo>
                      <a:pt x="14922" y="79981"/>
                      <a:pt x="9393" y="75286"/>
                      <a:pt x="5132" y="69532"/>
                    </a:cubicBezTo>
                    <a:cubicBezTo>
                      <a:pt x="2001" y="65275"/>
                      <a:pt x="454" y="60055"/>
                      <a:pt x="760" y="54769"/>
                    </a:cubicBezTo>
                    <a:cubicBezTo>
                      <a:pt x="1351" y="49311"/>
                      <a:pt x="3533" y="44139"/>
                      <a:pt x="7033" y="39910"/>
                    </a:cubicBezTo>
                    <a:cubicBezTo>
                      <a:pt x="11467" y="34462"/>
                      <a:pt x="16689" y="29708"/>
                      <a:pt x="22524" y="25813"/>
                    </a:cubicBezTo>
                    <a:lnTo>
                      <a:pt x="0" y="12763"/>
                    </a:lnTo>
                    <a:lnTo>
                      <a:pt x="13305" y="5144"/>
                    </a:lnTo>
                    <a:lnTo>
                      <a:pt x="35544" y="18002"/>
                    </a:lnTo>
                    <a:cubicBezTo>
                      <a:pt x="46019" y="12849"/>
                      <a:pt x="57010" y="8830"/>
                      <a:pt x="68332" y="6001"/>
                    </a:cubicBezTo>
                    <a:cubicBezTo>
                      <a:pt x="79145" y="3258"/>
                      <a:pt x="90131" y="1248"/>
                      <a:pt x="101215" y="0"/>
                    </a:cubicBezTo>
                    <a:close/>
                    <a:moveTo>
                      <a:pt x="47139" y="62294"/>
                    </a:moveTo>
                    <a:cubicBezTo>
                      <a:pt x="52142" y="65189"/>
                      <a:pt x="57930" y="66418"/>
                      <a:pt x="63675" y="65818"/>
                    </a:cubicBezTo>
                    <a:cubicBezTo>
                      <a:pt x="71416" y="64970"/>
                      <a:pt x="79036" y="63246"/>
                      <a:pt x="86389" y="60674"/>
                    </a:cubicBezTo>
                    <a:lnTo>
                      <a:pt x="50655" y="40005"/>
                    </a:lnTo>
                    <a:cubicBezTo>
                      <a:pt x="37540" y="48578"/>
                      <a:pt x="36368" y="56007"/>
                      <a:pt x="47139" y="62294"/>
                    </a:cubicBezTo>
                    <a:close/>
                    <a:moveTo>
                      <a:pt x="172589" y="72771"/>
                    </a:moveTo>
                    <a:cubicBezTo>
                      <a:pt x="167144" y="69771"/>
                      <a:pt x="160871" y="68628"/>
                      <a:pt x="154722" y="69532"/>
                    </a:cubicBezTo>
                    <a:cubicBezTo>
                      <a:pt x="146240" y="70609"/>
                      <a:pt x="137873" y="72457"/>
                      <a:pt x="129727" y="75057"/>
                    </a:cubicBezTo>
                    <a:lnTo>
                      <a:pt x="165271" y="95631"/>
                    </a:lnTo>
                    <a:cubicBezTo>
                      <a:pt x="180477" y="86296"/>
                      <a:pt x="182853" y="78677"/>
                      <a:pt x="172589" y="72771"/>
                    </a:cubicBezTo>
                    <a:close/>
                  </a:path>
                </a:pathLst>
              </a:custGeom>
              <a:solidFill>
                <a:srgbClr val="F9CA06"/>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grpSp>
        <p:grpSp>
          <p:nvGrpSpPr>
            <p:cNvPr id="384" name="Google Shape;4492;p48">
              <a:extLst>
                <a:ext uri="{FF2B5EF4-FFF2-40B4-BE49-F238E27FC236}">
                  <a16:creationId xmlns:a16="http://schemas.microsoft.com/office/drawing/2014/main" id="{378F76F3-8ACF-3AE4-6DB0-D54AA92BB95B}"/>
                </a:ext>
              </a:extLst>
            </p:cNvPr>
            <p:cNvGrpSpPr/>
            <p:nvPr/>
          </p:nvGrpSpPr>
          <p:grpSpPr>
            <a:xfrm>
              <a:off x="2290688" y="4374965"/>
              <a:ext cx="664599" cy="467010"/>
              <a:chOff x="4071788" y="5191315"/>
              <a:chExt cx="664599" cy="467010"/>
            </a:xfrm>
          </p:grpSpPr>
          <p:sp>
            <p:nvSpPr>
              <p:cNvPr id="433" name="Google Shape;4493;p48">
                <a:extLst>
                  <a:ext uri="{FF2B5EF4-FFF2-40B4-BE49-F238E27FC236}">
                    <a16:creationId xmlns:a16="http://schemas.microsoft.com/office/drawing/2014/main" id="{98D9A90B-D706-8C69-440D-EF77F6000A47}"/>
                  </a:ext>
                </a:extLst>
              </p:cNvPr>
              <p:cNvSpPr/>
              <p:nvPr/>
            </p:nvSpPr>
            <p:spPr>
              <a:xfrm>
                <a:off x="4071788" y="5273706"/>
                <a:ext cx="664504" cy="384619"/>
              </a:xfrm>
              <a:custGeom>
                <a:avLst/>
                <a:gdLst/>
                <a:ahLst/>
                <a:cxnLst/>
                <a:rect l="l" t="t" r="r" b="b"/>
                <a:pathLst>
                  <a:path w="664504" h="384619" extrusionOk="0">
                    <a:moveTo>
                      <a:pt x="664505" y="192310"/>
                    </a:moveTo>
                    <a:cubicBezTo>
                      <a:pt x="664505" y="298519"/>
                      <a:pt x="515750" y="384619"/>
                      <a:pt x="332252" y="384619"/>
                    </a:cubicBezTo>
                    <a:cubicBezTo>
                      <a:pt x="148754" y="384619"/>
                      <a:pt x="0" y="298519"/>
                      <a:pt x="0" y="192310"/>
                    </a:cubicBezTo>
                    <a:cubicBezTo>
                      <a:pt x="0" y="86100"/>
                      <a:pt x="148754" y="0"/>
                      <a:pt x="332252" y="0"/>
                    </a:cubicBezTo>
                    <a:cubicBezTo>
                      <a:pt x="515750" y="0"/>
                      <a:pt x="664505" y="86100"/>
                      <a:pt x="664505" y="192310"/>
                    </a:cubicBezTo>
                    <a:close/>
                  </a:path>
                </a:pathLst>
              </a:custGeom>
              <a:solidFill>
                <a:srgbClr val="DD990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34" name="Google Shape;4494;p48">
                <a:extLst>
                  <a:ext uri="{FF2B5EF4-FFF2-40B4-BE49-F238E27FC236}">
                    <a16:creationId xmlns:a16="http://schemas.microsoft.com/office/drawing/2014/main" id="{B08E0C14-D4B2-CC5B-7161-37DD985F1F5C}"/>
                  </a:ext>
                </a:extLst>
              </p:cNvPr>
              <p:cNvSpPr/>
              <p:nvPr/>
            </p:nvSpPr>
            <p:spPr>
              <a:xfrm>
                <a:off x="4071883" y="5381339"/>
                <a:ext cx="65671" cy="87630"/>
              </a:xfrm>
              <a:custGeom>
                <a:avLst/>
                <a:gdLst/>
                <a:ahLst/>
                <a:cxnLst/>
                <a:rect l="l" t="t" r="r" b="b"/>
                <a:pathLst>
                  <a:path w="65671" h="87630" extrusionOk="0">
                    <a:moveTo>
                      <a:pt x="0" y="87630"/>
                    </a:moveTo>
                    <a:lnTo>
                      <a:pt x="0" y="0"/>
                    </a:lnTo>
                    <a:lnTo>
                      <a:pt x="65671" y="58579"/>
                    </a:lnTo>
                    <a:lnTo>
                      <a:pt x="0" y="87630"/>
                    </a:lnTo>
                    <a:close/>
                  </a:path>
                </a:pathLst>
              </a:custGeom>
              <a:solidFill>
                <a:srgbClr val="DD990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35" name="Google Shape;4495;p48">
                <a:extLst>
                  <a:ext uri="{FF2B5EF4-FFF2-40B4-BE49-F238E27FC236}">
                    <a16:creationId xmlns:a16="http://schemas.microsoft.com/office/drawing/2014/main" id="{0BD94900-D09C-D602-F01E-578B56028130}"/>
                  </a:ext>
                </a:extLst>
              </p:cNvPr>
              <p:cNvSpPr/>
              <p:nvPr/>
            </p:nvSpPr>
            <p:spPr>
              <a:xfrm>
                <a:off x="4686303" y="5383625"/>
                <a:ext cx="50084" cy="118109"/>
              </a:xfrm>
              <a:custGeom>
                <a:avLst/>
                <a:gdLst/>
                <a:ahLst/>
                <a:cxnLst/>
                <a:rect l="l" t="t" r="r" b="b"/>
                <a:pathLst>
                  <a:path w="50084" h="118109" extrusionOk="0">
                    <a:moveTo>
                      <a:pt x="50085" y="0"/>
                    </a:moveTo>
                    <a:lnTo>
                      <a:pt x="50085" y="82391"/>
                    </a:lnTo>
                    <a:lnTo>
                      <a:pt x="16442" y="118110"/>
                    </a:lnTo>
                    <a:lnTo>
                      <a:pt x="0" y="23717"/>
                    </a:lnTo>
                    <a:lnTo>
                      <a:pt x="50085" y="0"/>
                    </a:lnTo>
                    <a:close/>
                  </a:path>
                </a:pathLst>
              </a:custGeom>
              <a:solidFill>
                <a:srgbClr val="DD990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36" name="Google Shape;4496;p48">
                <a:extLst>
                  <a:ext uri="{FF2B5EF4-FFF2-40B4-BE49-F238E27FC236}">
                    <a16:creationId xmlns:a16="http://schemas.microsoft.com/office/drawing/2014/main" id="{587A58BC-0B72-7E22-CF41-F3AB6F4140E3}"/>
                  </a:ext>
                </a:extLst>
              </p:cNvPr>
              <p:cNvSpPr/>
              <p:nvPr/>
            </p:nvSpPr>
            <p:spPr>
              <a:xfrm>
                <a:off x="4071788" y="5191315"/>
                <a:ext cx="664504" cy="384619"/>
              </a:xfrm>
              <a:custGeom>
                <a:avLst/>
                <a:gdLst/>
                <a:ahLst/>
                <a:cxnLst/>
                <a:rect l="l" t="t" r="r" b="b"/>
                <a:pathLst>
                  <a:path w="664504" h="384619" extrusionOk="0">
                    <a:moveTo>
                      <a:pt x="664505" y="192310"/>
                    </a:moveTo>
                    <a:cubicBezTo>
                      <a:pt x="664505" y="298519"/>
                      <a:pt x="515750" y="384619"/>
                      <a:pt x="332252" y="384619"/>
                    </a:cubicBezTo>
                    <a:cubicBezTo>
                      <a:pt x="148754" y="384619"/>
                      <a:pt x="0" y="298519"/>
                      <a:pt x="0" y="192310"/>
                    </a:cubicBezTo>
                    <a:cubicBezTo>
                      <a:pt x="0" y="86100"/>
                      <a:pt x="148754" y="0"/>
                      <a:pt x="332252" y="0"/>
                    </a:cubicBezTo>
                    <a:cubicBezTo>
                      <a:pt x="515750" y="0"/>
                      <a:pt x="664505" y="86100"/>
                      <a:pt x="664505" y="192310"/>
                    </a:cubicBezTo>
                    <a:close/>
                  </a:path>
                </a:pathLst>
              </a:custGeom>
              <a:solidFill>
                <a:srgbClr val="F9CB07"/>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37" name="Google Shape;4497;p48">
                <a:extLst>
                  <a:ext uri="{FF2B5EF4-FFF2-40B4-BE49-F238E27FC236}">
                    <a16:creationId xmlns:a16="http://schemas.microsoft.com/office/drawing/2014/main" id="{683DCBD3-46FF-82BF-8DEB-D757DC9FC12E}"/>
                  </a:ext>
                </a:extLst>
              </p:cNvPr>
              <p:cNvSpPr/>
              <p:nvPr/>
            </p:nvSpPr>
            <p:spPr>
              <a:xfrm>
                <a:off x="4166288" y="5243631"/>
                <a:ext cx="475673" cy="275343"/>
              </a:xfrm>
              <a:custGeom>
                <a:avLst/>
                <a:gdLst/>
                <a:ahLst/>
                <a:cxnLst/>
                <a:rect l="l" t="t" r="r" b="b"/>
                <a:pathLst>
                  <a:path w="475673" h="275343" extrusionOk="0">
                    <a:moveTo>
                      <a:pt x="475252" y="145899"/>
                    </a:moveTo>
                    <a:cubicBezTo>
                      <a:pt x="471830" y="178284"/>
                      <a:pt x="448831" y="210193"/>
                      <a:pt x="405969" y="235053"/>
                    </a:cubicBezTo>
                    <a:cubicBezTo>
                      <a:pt x="313117" y="288774"/>
                      <a:pt x="162482" y="288774"/>
                      <a:pt x="69535" y="235053"/>
                    </a:cubicBezTo>
                    <a:cubicBezTo>
                      <a:pt x="26768" y="210193"/>
                      <a:pt x="3769" y="177903"/>
                      <a:pt x="443" y="145899"/>
                    </a:cubicBezTo>
                    <a:cubicBezTo>
                      <a:pt x="-3549" y="107799"/>
                      <a:pt x="19450" y="69699"/>
                      <a:pt x="69535" y="40362"/>
                    </a:cubicBezTo>
                    <a:cubicBezTo>
                      <a:pt x="162482" y="-13454"/>
                      <a:pt x="313117" y="-13454"/>
                      <a:pt x="405969" y="40362"/>
                    </a:cubicBezTo>
                    <a:cubicBezTo>
                      <a:pt x="456054" y="69318"/>
                      <a:pt x="479148" y="107990"/>
                      <a:pt x="475252" y="145899"/>
                    </a:cubicBez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38" name="Google Shape;4498;p48">
                <a:extLst>
                  <a:ext uri="{FF2B5EF4-FFF2-40B4-BE49-F238E27FC236}">
                    <a16:creationId xmlns:a16="http://schemas.microsoft.com/office/drawing/2014/main" id="{75AF7C12-C6E3-685C-E532-07C4111F67D2}"/>
                  </a:ext>
                </a:extLst>
              </p:cNvPr>
              <p:cNvSpPr/>
              <p:nvPr/>
            </p:nvSpPr>
            <p:spPr>
              <a:xfrm>
                <a:off x="4166731" y="5260109"/>
                <a:ext cx="474809" cy="258865"/>
              </a:xfrm>
              <a:custGeom>
                <a:avLst/>
                <a:gdLst/>
                <a:ahLst/>
                <a:cxnLst/>
                <a:rect l="l" t="t" r="r" b="b"/>
                <a:pathLst>
                  <a:path w="474809" h="258865" extrusionOk="0">
                    <a:moveTo>
                      <a:pt x="474809" y="129421"/>
                    </a:moveTo>
                    <a:cubicBezTo>
                      <a:pt x="471388" y="161806"/>
                      <a:pt x="448389" y="193715"/>
                      <a:pt x="405527" y="218575"/>
                    </a:cubicBezTo>
                    <a:cubicBezTo>
                      <a:pt x="312675" y="272296"/>
                      <a:pt x="162040" y="272296"/>
                      <a:pt x="69093" y="218575"/>
                    </a:cubicBezTo>
                    <a:cubicBezTo>
                      <a:pt x="26325" y="193715"/>
                      <a:pt x="3326" y="161425"/>
                      <a:pt x="0" y="129421"/>
                    </a:cubicBezTo>
                    <a:cubicBezTo>
                      <a:pt x="3326" y="97036"/>
                      <a:pt x="26325" y="65222"/>
                      <a:pt x="69093" y="40362"/>
                    </a:cubicBezTo>
                    <a:cubicBezTo>
                      <a:pt x="162040" y="-13454"/>
                      <a:pt x="312675" y="-13454"/>
                      <a:pt x="405527" y="40362"/>
                    </a:cubicBezTo>
                    <a:cubicBezTo>
                      <a:pt x="448389" y="65222"/>
                      <a:pt x="471388" y="97036"/>
                      <a:pt x="474809" y="129421"/>
                    </a:cubicBezTo>
                    <a:close/>
                  </a:path>
                </a:pathLst>
              </a:custGeom>
              <a:solidFill>
                <a:srgbClr val="E8A30A"/>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39" name="Google Shape;4499;p48">
                <a:extLst>
                  <a:ext uri="{FF2B5EF4-FFF2-40B4-BE49-F238E27FC236}">
                    <a16:creationId xmlns:a16="http://schemas.microsoft.com/office/drawing/2014/main" id="{123E6DE3-4981-8B3B-5AFB-12145C9CCC80}"/>
                  </a:ext>
                </a:extLst>
              </p:cNvPr>
              <p:cNvSpPr/>
              <p:nvPr/>
            </p:nvSpPr>
            <p:spPr>
              <a:xfrm>
                <a:off x="4287999" y="5322379"/>
                <a:ext cx="221706" cy="139065"/>
              </a:xfrm>
              <a:custGeom>
                <a:avLst/>
                <a:gdLst/>
                <a:ahLst/>
                <a:cxnLst/>
                <a:rect l="l" t="t" r="r" b="b"/>
                <a:pathLst>
                  <a:path w="221706" h="139065" extrusionOk="0">
                    <a:moveTo>
                      <a:pt x="112620" y="22098"/>
                    </a:moveTo>
                    <a:cubicBezTo>
                      <a:pt x="109691" y="22146"/>
                      <a:pt x="106769" y="22403"/>
                      <a:pt x="103876" y="22860"/>
                    </a:cubicBezTo>
                    <a:cubicBezTo>
                      <a:pt x="99980" y="23431"/>
                      <a:pt x="95608" y="24194"/>
                      <a:pt x="90761" y="25241"/>
                    </a:cubicBezTo>
                    <a:cubicBezTo>
                      <a:pt x="85627" y="26280"/>
                      <a:pt x="80552" y="27575"/>
                      <a:pt x="75555" y="29146"/>
                    </a:cubicBezTo>
                    <a:cubicBezTo>
                      <a:pt x="70475" y="30632"/>
                      <a:pt x="65518" y="32509"/>
                      <a:pt x="60729" y="34766"/>
                    </a:cubicBezTo>
                    <a:lnTo>
                      <a:pt x="98744" y="56864"/>
                    </a:lnTo>
                    <a:lnTo>
                      <a:pt x="105587" y="54483"/>
                    </a:lnTo>
                    <a:cubicBezTo>
                      <a:pt x="115091" y="51245"/>
                      <a:pt x="124595" y="48482"/>
                      <a:pt x="133053" y="46196"/>
                    </a:cubicBezTo>
                    <a:cubicBezTo>
                      <a:pt x="141144" y="44063"/>
                      <a:pt x="149417" y="42691"/>
                      <a:pt x="157763" y="42101"/>
                    </a:cubicBezTo>
                    <a:cubicBezTo>
                      <a:pt x="165404" y="41624"/>
                      <a:pt x="173074" y="42167"/>
                      <a:pt x="180572" y="43720"/>
                    </a:cubicBezTo>
                    <a:cubicBezTo>
                      <a:pt x="188218" y="45310"/>
                      <a:pt x="195542" y="48178"/>
                      <a:pt x="202241" y="52197"/>
                    </a:cubicBezTo>
                    <a:cubicBezTo>
                      <a:pt x="208885" y="55550"/>
                      <a:pt x="214575" y="60522"/>
                      <a:pt x="218777" y="66675"/>
                    </a:cubicBezTo>
                    <a:cubicBezTo>
                      <a:pt x="221533" y="71142"/>
                      <a:pt x="222390" y="76524"/>
                      <a:pt x="221153" y="81629"/>
                    </a:cubicBezTo>
                    <a:cubicBezTo>
                      <a:pt x="219541" y="87259"/>
                      <a:pt x="216457" y="92355"/>
                      <a:pt x="212220" y="96393"/>
                    </a:cubicBezTo>
                    <a:cubicBezTo>
                      <a:pt x="206946" y="101660"/>
                      <a:pt x="201077" y="106299"/>
                      <a:pt x="194733" y="110204"/>
                    </a:cubicBezTo>
                    <a:lnTo>
                      <a:pt x="219062" y="124206"/>
                    </a:lnTo>
                    <a:lnTo>
                      <a:pt x="205852" y="131921"/>
                    </a:lnTo>
                    <a:lnTo>
                      <a:pt x="181332" y="117729"/>
                    </a:lnTo>
                    <a:cubicBezTo>
                      <a:pt x="169629" y="123473"/>
                      <a:pt x="157410" y="128102"/>
                      <a:pt x="144838" y="131540"/>
                    </a:cubicBezTo>
                    <a:cubicBezTo>
                      <a:pt x="131674" y="135179"/>
                      <a:pt x="118225" y="137703"/>
                      <a:pt x="104637" y="139065"/>
                    </a:cubicBezTo>
                    <a:lnTo>
                      <a:pt x="92567" y="116396"/>
                    </a:lnTo>
                    <a:cubicBezTo>
                      <a:pt x="96128" y="116300"/>
                      <a:pt x="99680" y="116014"/>
                      <a:pt x="103211" y="115538"/>
                    </a:cubicBezTo>
                    <a:cubicBezTo>
                      <a:pt x="108058" y="114967"/>
                      <a:pt x="113380" y="114014"/>
                      <a:pt x="119273" y="112776"/>
                    </a:cubicBezTo>
                    <a:cubicBezTo>
                      <a:pt x="125165" y="111538"/>
                      <a:pt x="131342" y="109919"/>
                      <a:pt x="138280" y="108013"/>
                    </a:cubicBezTo>
                    <a:cubicBezTo>
                      <a:pt x="144781" y="106175"/>
                      <a:pt x="151135" y="103851"/>
                      <a:pt x="157288" y="101060"/>
                    </a:cubicBezTo>
                    <a:lnTo>
                      <a:pt x="119273" y="79057"/>
                    </a:lnTo>
                    <a:lnTo>
                      <a:pt x="114236" y="80772"/>
                    </a:lnTo>
                    <a:lnTo>
                      <a:pt x="109104" y="82391"/>
                    </a:lnTo>
                    <a:cubicBezTo>
                      <a:pt x="99600" y="85535"/>
                      <a:pt x="90761" y="88011"/>
                      <a:pt x="82778" y="89821"/>
                    </a:cubicBezTo>
                    <a:cubicBezTo>
                      <a:pt x="75409" y="91497"/>
                      <a:pt x="67901" y="92488"/>
                      <a:pt x="60349" y="92773"/>
                    </a:cubicBezTo>
                    <a:cubicBezTo>
                      <a:pt x="53710" y="93002"/>
                      <a:pt x="47068" y="92402"/>
                      <a:pt x="40581" y="90964"/>
                    </a:cubicBezTo>
                    <a:cubicBezTo>
                      <a:pt x="34183" y="89354"/>
                      <a:pt x="28042" y="86849"/>
                      <a:pt x="22334" y="83534"/>
                    </a:cubicBezTo>
                    <a:cubicBezTo>
                      <a:pt x="16043" y="80229"/>
                      <a:pt x="10584" y="75543"/>
                      <a:pt x="6368" y="69818"/>
                    </a:cubicBezTo>
                    <a:cubicBezTo>
                      <a:pt x="3291" y="65532"/>
                      <a:pt x="1781" y="60322"/>
                      <a:pt x="2091" y="55054"/>
                    </a:cubicBezTo>
                    <a:cubicBezTo>
                      <a:pt x="2294" y="49730"/>
                      <a:pt x="4009" y="44577"/>
                      <a:pt x="7033" y="40196"/>
                    </a:cubicBezTo>
                    <a:cubicBezTo>
                      <a:pt x="11467" y="34747"/>
                      <a:pt x="16689" y="29994"/>
                      <a:pt x="22524" y="26098"/>
                    </a:cubicBezTo>
                    <a:lnTo>
                      <a:pt x="0" y="13049"/>
                    </a:lnTo>
                    <a:lnTo>
                      <a:pt x="13210" y="5429"/>
                    </a:lnTo>
                    <a:lnTo>
                      <a:pt x="35544" y="18002"/>
                    </a:lnTo>
                    <a:cubicBezTo>
                      <a:pt x="46019" y="12849"/>
                      <a:pt x="57010" y="8830"/>
                      <a:pt x="68332" y="6001"/>
                    </a:cubicBezTo>
                    <a:cubicBezTo>
                      <a:pt x="79113" y="3258"/>
                      <a:pt x="90067" y="1248"/>
                      <a:pt x="101120" y="0"/>
                    </a:cubicBezTo>
                    <a:close/>
                    <a:moveTo>
                      <a:pt x="47614" y="62294"/>
                    </a:moveTo>
                    <a:cubicBezTo>
                      <a:pt x="52651" y="65189"/>
                      <a:pt x="58470" y="66418"/>
                      <a:pt x="64246" y="65818"/>
                    </a:cubicBezTo>
                    <a:cubicBezTo>
                      <a:pt x="71975" y="64951"/>
                      <a:pt x="79590" y="63265"/>
                      <a:pt x="86960" y="60770"/>
                    </a:cubicBezTo>
                    <a:lnTo>
                      <a:pt x="51225" y="40196"/>
                    </a:lnTo>
                    <a:cubicBezTo>
                      <a:pt x="38110" y="48673"/>
                      <a:pt x="36875" y="56007"/>
                      <a:pt x="47614" y="62294"/>
                    </a:cubicBezTo>
                    <a:close/>
                    <a:moveTo>
                      <a:pt x="173064" y="72771"/>
                    </a:moveTo>
                    <a:cubicBezTo>
                      <a:pt x="167619" y="69771"/>
                      <a:pt x="161346" y="68628"/>
                      <a:pt x="155197" y="69532"/>
                    </a:cubicBezTo>
                    <a:cubicBezTo>
                      <a:pt x="146746" y="70609"/>
                      <a:pt x="138412" y="72457"/>
                      <a:pt x="130297" y="75057"/>
                    </a:cubicBezTo>
                    <a:lnTo>
                      <a:pt x="165841" y="95631"/>
                    </a:lnTo>
                    <a:cubicBezTo>
                      <a:pt x="180952" y="86296"/>
                      <a:pt x="183423" y="78296"/>
                      <a:pt x="173064" y="72771"/>
                    </a:cubicBez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40" name="Google Shape;4500;p48">
                <a:extLst>
                  <a:ext uri="{FF2B5EF4-FFF2-40B4-BE49-F238E27FC236}">
                    <a16:creationId xmlns:a16="http://schemas.microsoft.com/office/drawing/2014/main" id="{F83F173A-C2F3-9937-D7DB-1C0ED06043C6}"/>
                  </a:ext>
                </a:extLst>
              </p:cNvPr>
              <p:cNvSpPr/>
              <p:nvPr/>
            </p:nvSpPr>
            <p:spPr>
              <a:xfrm>
                <a:off x="4380566" y="5425821"/>
                <a:ext cx="14540" cy="19050"/>
              </a:xfrm>
              <a:custGeom>
                <a:avLst/>
                <a:gdLst/>
                <a:ahLst/>
                <a:cxnLst/>
                <a:rect l="l" t="t" r="r" b="b"/>
                <a:pathLst>
                  <a:path w="14540" h="19050" extrusionOk="0">
                    <a:moveTo>
                      <a:pt x="0" y="12954"/>
                    </a:moveTo>
                    <a:cubicBezTo>
                      <a:pt x="0" y="12001"/>
                      <a:pt x="0" y="0"/>
                      <a:pt x="0" y="0"/>
                    </a:cubicBezTo>
                    <a:lnTo>
                      <a:pt x="14541" y="9525"/>
                    </a:lnTo>
                    <a:lnTo>
                      <a:pt x="8173" y="19050"/>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41" name="Google Shape;4501;p48">
                <a:extLst>
                  <a:ext uri="{FF2B5EF4-FFF2-40B4-BE49-F238E27FC236}">
                    <a16:creationId xmlns:a16="http://schemas.microsoft.com/office/drawing/2014/main" id="{761598DA-4BCE-9F7B-3D14-0F8B54DEF79E}"/>
                  </a:ext>
                </a:extLst>
              </p:cNvPr>
              <p:cNvSpPr/>
              <p:nvPr/>
            </p:nvSpPr>
            <p:spPr>
              <a:xfrm>
                <a:off x="4475699" y="5433726"/>
                <a:ext cx="31552" cy="14763"/>
              </a:xfrm>
              <a:custGeom>
                <a:avLst/>
                <a:gdLst/>
                <a:ahLst/>
                <a:cxnLst/>
                <a:rect l="l" t="t" r="r" b="b"/>
                <a:pathLst>
                  <a:path w="31552" h="14763" extrusionOk="0">
                    <a:moveTo>
                      <a:pt x="31553" y="12859"/>
                    </a:moveTo>
                    <a:lnTo>
                      <a:pt x="31553" y="0"/>
                    </a:lnTo>
                    <a:lnTo>
                      <a:pt x="0" y="2381"/>
                    </a:lnTo>
                    <a:lnTo>
                      <a:pt x="18152" y="14764"/>
                    </a:lnTo>
                    <a:lnTo>
                      <a:pt x="31553" y="12859"/>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42" name="Google Shape;4502;p48">
                <a:extLst>
                  <a:ext uri="{FF2B5EF4-FFF2-40B4-BE49-F238E27FC236}">
                    <a16:creationId xmlns:a16="http://schemas.microsoft.com/office/drawing/2014/main" id="{E3ABD39D-692D-83C9-75F2-1CF4D385D4C1}"/>
                  </a:ext>
                </a:extLst>
              </p:cNvPr>
              <p:cNvSpPr/>
              <p:nvPr/>
            </p:nvSpPr>
            <p:spPr>
              <a:xfrm>
                <a:off x="4486248" y="5386197"/>
                <a:ext cx="23664" cy="13049"/>
              </a:xfrm>
              <a:custGeom>
                <a:avLst/>
                <a:gdLst/>
                <a:ahLst/>
                <a:cxnLst/>
                <a:rect l="l" t="t" r="r" b="b"/>
                <a:pathLst>
                  <a:path w="23664" h="13049" extrusionOk="0">
                    <a:moveTo>
                      <a:pt x="23664" y="13049"/>
                    </a:moveTo>
                    <a:lnTo>
                      <a:pt x="23664" y="0"/>
                    </a:lnTo>
                    <a:lnTo>
                      <a:pt x="0" y="8572"/>
                    </a:lnTo>
                    <a:lnTo>
                      <a:pt x="23664" y="13049"/>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43" name="Google Shape;4503;p48">
                <a:extLst>
                  <a:ext uri="{FF2B5EF4-FFF2-40B4-BE49-F238E27FC236}">
                    <a16:creationId xmlns:a16="http://schemas.microsoft.com/office/drawing/2014/main" id="{4C0F9BD2-36F5-024A-F8F7-26AD6EF8F154}"/>
                  </a:ext>
                </a:extLst>
              </p:cNvPr>
              <p:cNvSpPr/>
              <p:nvPr/>
            </p:nvSpPr>
            <p:spPr>
              <a:xfrm>
                <a:off x="4411929" y="5390959"/>
                <a:ext cx="35639" cy="24764"/>
              </a:xfrm>
              <a:custGeom>
                <a:avLst/>
                <a:gdLst/>
                <a:ahLst/>
                <a:cxnLst/>
                <a:rect l="l" t="t" r="r" b="b"/>
                <a:pathLst>
                  <a:path w="35639" h="24764" extrusionOk="0">
                    <a:moveTo>
                      <a:pt x="0" y="7620"/>
                    </a:moveTo>
                    <a:lnTo>
                      <a:pt x="7888" y="0"/>
                    </a:lnTo>
                    <a:lnTo>
                      <a:pt x="35639" y="19050"/>
                    </a:lnTo>
                    <a:lnTo>
                      <a:pt x="33929" y="24765"/>
                    </a:lnTo>
                    <a:cubicBezTo>
                      <a:pt x="33929" y="24765"/>
                      <a:pt x="13210" y="16002"/>
                      <a:pt x="12545" y="15240"/>
                    </a:cubicBez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44" name="Google Shape;4504;p48">
                <a:extLst>
                  <a:ext uri="{FF2B5EF4-FFF2-40B4-BE49-F238E27FC236}">
                    <a16:creationId xmlns:a16="http://schemas.microsoft.com/office/drawing/2014/main" id="{7E31A8AC-AEFD-3951-0109-A5DD172F3843}"/>
                  </a:ext>
                </a:extLst>
              </p:cNvPr>
              <p:cNvSpPr/>
              <p:nvPr/>
            </p:nvSpPr>
            <p:spPr>
              <a:xfrm>
                <a:off x="4339320" y="5349621"/>
                <a:ext cx="44382" cy="29146"/>
              </a:xfrm>
              <a:custGeom>
                <a:avLst/>
                <a:gdLst/>
                <a:ahLst/>
                <a:cxnLst/>
                <a:rect l="l" t="t" r="r" b="b"/>
                <a:pathLst>
                  <a:path w="44382" h="29146" extrusionOk="0">
                    <a:moveTo>
                      <a:pt x="0" y="8191"/>
                    </a:moveTo>
                    <a:lnTo>
                      <a:pt x="36780" y="29146"/>
                    </a:lnTo>
                    <a:lnTo>
                      <a:pt x="44383" y="23717"/>
                    </a:lnTo>
                    <a:cubicBezTo>
                      <a:pt x="44383" y="23717"/>
                      <a:pt x="39726" y="18383"/>
                      <a:pt x="39346" y="17812"/>
                    </a:cubicBezTo>
                    <a:cubicBezTo>
                      <a:pt x="36032" y="14097"/>
                      <a:pt x="32188" y="10887"/>
                      <a:pt x="27941" y="8287"/>
                    </a:cubicBezTo>
                    <a:cubicBezTo>
                      <a:pt x="25185" y="7810"/>
                      <a:pt x="7698" y="0"/>
                      <a:pt x="7698" y="0"/>
                    </a:cubicBez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45" name="Google Shape;4505;p48">
                <a:extLst>
                  <a:ext uri="{FF2B5EF4-FFF2-40B4-BE49-F238E27FC236}">
                    <a16:creationId xmlns:a16="http://schemas.microsoft.com/office/drawing/2014/main" id="{11F38F86-8CD4-721E-4C8B-6A8AAD21CC01}"/>
                  </a:ext>
                </a:extLst>
              </p:cNvPr>
              <p:cNvSpPr/>
              <p:nvPr/>
            </p:nvSpPr>
            <p:spPr>
              <a:xfrm>
                <a:off x="4380091" y="5326094"/>
                <a:ext cx="20528" cy="18383"/>
              </a:xfrm>
              <a:custGeom>
                <a:avLst/>
                <a:gdLst/>
                <a:ahLst/>
                <a:cxnLst/>
                <a:rect l="l" t="t" r="r" b="b"/>
                <a:pathLst>
                  <a:path w="20528" h="18383" extrusionOk="0">
                    <a:moveTo>
                      <a:pt x="20528" y="18383"/>
                    </a:moveTo>
                    <a:lnTo>
                      <a:pt x="20528" y="5524"/>
                    </a:lnTo>
                    <a:lnTo>
                      <a:pt x="3611" y="0"/>
                    </a:lnTo>
                    <a:lnTo>
                      <a:pt x="0" y="10096"/>
                    </a:lnTo>
                    <a:lnTo>
                      <a:pt x="855" y="14764"/>
                    </a:lnTo>
                    <a:lnTo>
                      <a:pt x="20528" y="18383"/>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46" name="Google Shape;4506;p48">
                <a:extLst>
                  <a:ext uri="{FF2B5EF4-FFF2-40B4-BE49-F238E27FC236}">
                    <a16:creationId xmlns:a16="http://schemas.microsoft.com/office/drawing/2014/main" id="{0B8C3CFC-9B31-0D1F-F9BE-FC68CBA332CD}"/>
                  </a:ext>
                </a:extLst>
              </p:cNvPr>
              <p:cNvSpPr/>
              <p:nvPr/>
            </p:nvSpPr>
            <p:spPr>
              <a:xfrm>
                <a:off x="4288189" y="5322284"/>
                <a:ext cx="19577" cy="14668"/>
              </a:xfrm>
              <a:custGeom>
                <a:avLst/>
                <a:gdLst/>
                <a:ahLst/>
                <a:cxnLst/>
                <a:rect l="l" t="t" r="r" b="b"/>
                <a:pathLst>
                  <a:path w="19577" h="14668" extrusionOk="0">
                    <a:moveTo>
                      <a:pt x="0" y="12954"/>
                    </a:moveTo>
                    <a:lnTo>
                      <a:pt x="0" y="0"/>
                    </a:lnTo>
                    <a:lnTo>
                      <a:pt x="19578" y="2096"/>
                    </a:lnTo>
                    <a:lnTo>
                      <a:pt x="13305" y="14669"/>
                    </a:lnTo>
                    <a:lnTo>
                      <a:pt x="0" y="12954"/>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47" name="Google Shape;4507;p48">
                <a:extLst>
                  <a:ext uri="{FF2B5EF4-FFF2-40B4-BE49-F238E27FC236}">
                    <a16:creationId xmlns:a16="http://schemas.microsoft.com/office/drawing/2014/main" id="{18948C3C-F49B-009F-BC34-C679585C0C70}"/>
                  </a:ext>
                </a:extLst>
              </p:cNvPr>
              <p:cNvSpPr/>
              <p:nvPr/>
            </p:nvSpPr>
            <p:spPr>
              <a:xfrm>
                <a:off x="4288855" y="5365623"/>
                <a:ext cx="22428" cy="22764"/>
              </a:xfrm>
              <a:custGeom>
                <a:avLst/>
                <a:gdLst/>
                <a:ahLst/>
                <a:cxnLst/>
                <a:rect l="l" t="t" r="r" b="b"/>
                <a:pathLst>
                  <a:path w="22428" h="22764" extrusionOk="0">
                    <a:moveTo>
                      <a:pt x="0" y="13430"/>
                    </a:moveTo>
                    <a:cubicBezTo>
                      <a:pt x="0" y="13430"/>
                      <a:pt x="0" y="0"/>
                      <a:pt x="0" y="0"/>
                    </a:cubicBezTo>
                    <a:lnTo>
                      <a:pt x="22429" y="0"/>
                    </a:lnTo>
                    <a:lnTo>
                      <a:pt x="16917" y="12001"/>
                    </a:lnTo>
                    <a:lnTo>
                      <a:pt x="7413" y="22765"/>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48" name="Google Shape;4508;p48">
                <a:extLst>
                  <a:ext uri="{FF2B5EF4-FFF2-40B4-BE49-F238E27FC236}">
                    <a16:creationId xmlns:a16="http://schemas.microsoft.com/office/drawing/2014/main" id="{AFA79919-2D8D-7209-B74E-B3ED56CFD16D}"/>
                  </a:ext>
                </a:extLst>
              </p:cNvPr>
              <p:cNvSpPr/>
              <p:nvPr/>
            </p:nvSpPr>
            <p:spPr>
              <a:xfrm>
                <a:off x="4289330" y="5309520"/>
                <a:ext cx="220369" cy="139160"/>
              </a:xfrm>
              <a:custGeom>
                <a:avLst/>
                <a:gdLst/>
                <a:ahLst/>
                <a:cxnLst/>
                <a:rect l="l" t="t" r="r" b="b"/>
                <a:pathLst>
                  <a:path w="220369" h="139160" extrusionOk="0">
                    <a:moveTo>
                      <a:pt x="111289" y="22098"/>
                    </a:moveTo>
                    <a:cubicBezTo>
                      <a:pt x="108361" y="22060"/>
                      <a:pt x="105434" y="22279"/>
                      <a:pt x="102546" y="22765"/>
                    </a:cubicBezTo>
                    <a:cubicBezTo>
                      <a:pt x="98649" y="23336"/>
                      <a:pt x="94278" y="24098"/>
                      <a:pt x="89431" y="25146"/>
                    </a:cubicBezTo>
                    <a:cubicBezTo>
                      <a:pt x="84584" y="26194"/>
                      <a:pt x="79452" y="27432"/>
                      <a:pt x="74225" y="29051"/>
                    </a:cubicBezTo>
                    <a:cubicBezTo>
                      <a:pt x="69142" y="30566"/>
                      <a:pt x="64185" y="32480"/>
                      <a:pt x="59399" y="34766"/>
                    </a:cubicBezTo>
                    <a:lnTo>
                      <a:pt x="97414" y="56864"/>
                    </a:lnTo>
                    <a:lnTo>
                      <a:pt x="104257" y="54388"/>
                    </a:lnTo>
                    <a:cubicBezTo>
                      <a:pt x="113760" y="51149"/>
                      <a:pt x="123264" y="48482"/>
                      <a:pt x="131722" y="46196"/>
                    </a:cubicBezTo>
                    <a:cubicBezTo>
                      <a:pt x="139804" y="44015"/>
                      <a:pt x="148080" y="42644"/>
                      <a:pt x="156432" y="42101"/>
                    </a:cubicBezTo>
                    <a:cubicBezTo>
                      <a:pt x="164070" y="41596"/>
                      <a:pt x="171739" y="42101"/>
                      <a:pt x="179241" y="43625"/>
                    </a:cubicBezTo>
                    <a:cubicBezTo>
                      <a:pt x="186874" y="45253"/>
                      <a:pt x="194193" y="48120"/>
                      <a:pt x="200910" y="52102"/>
                    </a:cubicBezTo>
                    <a:cubicBezTo>
                      <a:pt x="207554" y="55455"/>
                      <a:pt x="213244" y="60427"/>
                      <a:pt x="217447" y="66580"/>
                    </a:cubicBezTo>
                    <a:cubicBezTo>
                      <a:pt x="220193" y="71047"/>
                      <a:pt x="221049" y="76429"/>
                      <a:pt x="219823" y="81534"/>
                    </a:cubicBezTo>
                    <a:cubicBezTo>
                      <a:pt x="218233" y="87173"/>
                      <a:pt x="215145" y="92278"/>
                      <a:pt x="210889" y="96298"/>
                    </a:cubicBezTo>
                    <a:cubicBezTo>
                      <a:pt x="205705" y="101613"/>
                      <a:pt x="199897" y="106289"/>
                      <a:pt x="193592" y="110204"/>
                    </a:cubicBezTo>
                    <a:lnTo>
                      <a:pt x="217922" y="124301"/>
                    </a:lnTo>
                    <a:lnTo>
                      <a:pt x="204712" y="131921"/>
                    </a:lnTo>
                    <a:lnTo>
                      <a:pt x="180192" y="117729"/>
                    </a:lnTo>
                    <a:cubicBezTo>
                      <a:pt x="168525" y="123558"/>
                      <a:pt x="156297" y="128188"/>
                      <a:pt x="143697" y="131540"/>
                    </a:cubicBezTo>
                    <a:cubicBezTo>
                      <a:pt x="130535" y="135217"/>
                      <a:pt x="117088" y="137760"/>
                      <a:pt x="103496" y="139160"/>
                    </a:cubicBezTo>
                    <a:lnTo>
                      <a:pt x="91236" y="116014"/>
                    </a:lnTo>
                    <a:cubicBezTo>
                      <a:pt x="94797" y="115919"/>
                      <a:pt x="98350" y="115634"/>
                      <a:pt x="101881" y="115157"/>
                    </a:cubicBezTo>
                    <a:cubicBezTo>
                      <a:pt x="107279" y="114519"/>
                      <a:pt x="112641" y="113595"/>
                      <a:pt x="117942" y="112395"/>
                    </a:cubicBezTo>
                    <a:cubicBezTo>
                      <a:pt x="123834" y="111157"/>
                      <a:pt x="130012" y="109538"/>
                      <a:pt x="136950" y="107633"/>
                    </a:cubicBezTo>
                    <a:cubicBezTo>
                      <a:pt x="143464" y="105842"/>
                      <a:pt x="149821" y="103518"/>
                      <a:pt x="155957" y="100679"/>
                    </a:cubicBezTo>
                    <a:lnTo>
                      <a:pt x="117942" y="78677"/>
                    </a:lnTo>
                    <a:cubicBezTo>
                      <a:pt x="116326" y="79248"/>
                      <a:pt x="114616" y="79915"/>
                      <a:pt x="112905" y="80391"/>
                    </a:cubicBezTo>
                    <a:lnTo>
                      <a:pt x="107773" y="82010"/>
                    </a:lnTo>
                    <a:cubicBezTo>
                      <a:pt x="98269" y="85154"/>
                      <a:pt x="89431" y="87630"/>
                      <a:pt x="81447" y="89440"/>
                    </a:cubicBezTo>
                    <a:cubicBezTo>
                      <a:pt x="74081" y="91145"/>
                      <a:pt x="66572" y="92164"/>
                      <a:pt x="59019" y="92488"/>
                    </a:cubicBezTo>
                    <a:cubicBezTo>
                      <a:pt x="52375" y="92688"/>
                      <a:pt x="45733" y="92050"/>
                      <a:pt x="39251" y="90583"/>
                    </a:cubicBezTo>
                    <a:cubicBezTo>
                      <a:pt x="32826" y="89049"/>
                      <a:pt x="26672" y="86544"/>
                      <a:pt x="21003" y="83153"/>
                    </a:cubicBezTo>
                    <a:cubicBezTo>
                      <a:pt x="14721" y="79886"/>
                      <a:pt x="9261" y="75229"/>
                      <a:pt x="5037" y="69533"/>
                    </a:cubicBezTo>
                    <a:cubicBezTo>
                      <a:pt x="1975" y="65246"/>
                      <a:pt x="466" y="60036"/>
                      <a:pt x="760" y="54769"/>
                    </a:cubicBezTo>
                    <a:cubicBezTo>
                      <a:pt x="1328" y="49273"/>
                      <a:pt x="3511" y="44063"/>
                      <a:pt x="7033" y="39814"/>
                    </a:cubicBezTo>
                    <a:cubicBezTo>
                      <a:pt x="11472" y="34404"/>
                      <a:pt x="16693" y="29680"/>
                      <a:pt x="22524" y="25813"/>
                    </a:cubicBezTo>
                    <a:lnTo>
                      <a:pt x="0" y="12763"/>
                    </a:lnTo>
                    <a:lnTo>
                      <a:pt x="13210" y="5048"/>
                    </a:lnTo>
                    <a:lnTo>
                      <a:pt x="34214" y="18002"/>
                    </a:lnTo>
                    <a:cubicBezTo>
                      <a:pt x="44668" y="12783"/>
                      <a:pt x="55664" y="8725"/>
                      <a:pt x="67002" y="5905"/>
                    </a:cubicBezTo>
                    <a:cubicBezTo>
                      <a:pt x="77774" y="3143"/>
                      <a:pt x="88732" y="1172"/>
                      <a:pt x="99790" y="0"/>
                    </a:cubicBezTo>
                    <a:close/>
                    <a:moveTo>
                      <a:pt x="46283" y="62579"/>
                    </a:moveTo>
                    <a:cubicBezTo>
                      <a:pt x="51312" y="65504"/>
                      <a:pt x="57130" y="66770"/>
                      <a:pt x="62915" y="66199"/>
                    </a:cubicBezTo>
                    <a:cubicBezTo>
                      <a:pt x="70639" y="65246"/>
                      <a:pt x="78248" y="63522"/>
                      <a:pt x="85629" y="61055"/>
                    </a:cubicBezTo>
                    <a:lnTo>
                      <a:pt x="49895" y="40386"/>
                    </a:lnTo>
                    <a:cubicBezTo>
                      <a:pt x="36780" y="48835"/>
                      <a:pt x="35576" y="56226"/>
                      <a:pt x="46283" y="62579"/>
                    </a:cubicBezTo>
                    <a:close/>
                    <a:moveTo>
                      <a:pt x="171733" y="73057"/>
                    </a:moveTo>
                    <a:cubicBezTo>
                      <a:pt x="166278" y="70085"/>
                      <a:pt x="160005" y="68980"/>
                      <a:pt x="153866" y="69913"/>
                    </a:cubicBezTo>
                    <a:cubicBezTo>
                      <a:pt x="145426" y="70999"/>
                      <a:pt x="137095" y="72819"/>
                      <a:pt x="128966" y="75343"/>
                    </a:cubicBezTo>
                    <a:lnTo>
                      <a:pt x="164511" y="95917"/>
                    </a:lnTo>
                    <a:cubicBezTo>
                      <a:pt x="179622" y="86296"/>
                      <a:pt x="182093" y="78677"/>
                      <a:pt x="171733" y="72676"/>
                    </a:cubicBezTo>
                    <a:close/>
                  </a:path>
                </a:pathLst>
              </a:custGeom>
              <a:solidFill>
                <a:srgbClr val="F9CA06"/>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grpSp>
        <p:grpSp>
          <p:nvGrpSpPr>
            <p:cNvPr id="385" name="Google Shape;4509;p48">
              <a:extLst>
                <a:ext uri="{FF2B5EF4-FFF2-40B4-BE49-F238E27FC236}">
                  <a16:creationId xmlns:a16="http://schemas.microsoft.com/office/drawing/2014/main" id="{B995E2BE-3D75-B242-0E24-607421635F7F}"/>
                </a:ext>
              </a:extLst>
            </p:cNvPr>
            <p:cNvGrpSpPr/>
            <p:nvPr/>
          </p:nvGrpSpPr>
          <p:grpSpPr>
            <a:xfrm>
              <a:off x="3915836" y="4477454"/>
              <a:ext cx="746806" cy="516445"/>
              <a:chOff x="5696936" y="5293804"/>
              <a:chExt cx="746806" cy="516445"/>
            </a:xfrm>
          </p:grpSpPr>
          <p:sp>
            <p:nvSpPr>
              <p:cNvPr id="416" name="Google Shape;4510;p48">
                <a:extLst>
                  <a:ext uri="{FF2B5EF4-FFF2-40B4-BE49-F238E27FC236}">
                    <a16:creationId xmlns:a16="http://schemas.microsoft.com/office/drawing/2014/main" id="{34E56C93-60FF-3FE0-36D7-D827FC5F0543}"/>
                  </a:ext>
                </a:extLst>
              </p:cNvPr>
              <p:cNvSpPr/>
              <p:nvPr/>
            </p:nvSpPr>
            <p:spPr>
              <a:xfrm>
                <a:off x="5696936" y="5425630"/>
                <a:ext cx="664504" cy="384619"/>
              </a:xfrm>
              <a:custGeom>
                <a:avLst/>
                <a:gdLst/>
                <a:ahLst/>
                <a:cxnLst/>
                <a:rect l="l" t="t" r="r" b="b"/>
                <a:pathLst>
                  <a:path w="664504" h="384619" extrusionOk="0">
                    <a:moveTo>
                      <a:pt x="664505" y="192310"/>
                    </a:moveTo>
                    <a:cubicBezTo>
                      <a:pt x="664505" y="298520"/>
                      <a:pt x="515750" y="384620"/>
                      <a:pt x="332252" y="384620"/>
                    </a:cubicBezTo>
                    <a:cubicBezTo>
                      <a:pt x="148754" y="384620"/>
                      <a:pt x="0" y="298520"/>
                      <a:pt x="0" y="192310"/>
                    </a:cubicBezTo>
                    <a:cubicBezTo>
                      <a:pt x="0" y="86100"/>
                      <a:pt x="148754" y="0"/>
                      <a:pt x="332252" y="0"/>
                    </a:cubicBezTo>
                    <a:cubicBezTo>
                      <a:pt x="515750" y="0"/>
                      <a:pt x="664505" y="86100"/>
                      <a:pt x="664505" y="192310"/>
                    </a:cubicBezTo>
                    <a:close/>
                  </a:path>
                </a:pathLst>
              </a:custGeom>
              <a:solidFill>
                <a:srgbClr val="D6D8E5">
                  <a:alpha val="298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17" name="Google Shape;4511;p48">
                <a:extLst>
                  <a:ext uri="{FF2B5EF4-FFF2-40B4-BE49-F238E27FC236}">
                    <a16:creationId xmlns:a16="http://schemas.microsoft.com/office/drawing/2014/main" id="{5C223DC9-6B97-FD22-73F8-F23715A1D0C6}"/>
                  </a:ext>
                </a:extLst>
              </p:cNvPr>
              <p:cNvSpPr/>
              <p:nvPr/>
            </p:nvSpPr>
            <p:spPr>
              <a:xfrm>
                <a:off x="5779143" y="5376195"/>
                <a:ext cx="664504" cy="384619"/>
              </a:xfrm>
              <a:custGeom>
                <a:avLst/>
                <a:gdLst/>
                <a:ahLst/>
                <a:cxnLst/>
                <a:rect l="l" t="t" r="r" b="b"/>
                <a:pathLst>
                  <a:path w="664504" h="384619" extrusionOk="0">
                    <a:moveTo>
                      <a:pt x="664505" y="192310"/>
                    </a:moveTo>
                    <a:cubicBezTo>
                      <a:pt x="664505" y="298520"/>
                      <a:pt x="515750" y="384619"/>
                      <a:pt x="332252" y="384619"/>
                    </a:cubicBezTo>
                    <a:cubicBezTo>
                      <a:pt x="148754" y="384619"/>
                      <a:pt x="0" y="298520"/>
                      <a:pt x="0" y="192310"/>
                    </a:cubicBezTo>
                    <a:cubicBezTo>
                      <a:pt x="0" y="86100"/>
                      <a:pt x="148754" y="0"/>
                      <a:pt x="332252" y="0"/>
                    </a:cubicBezTo>
                    <a:cubicBezTo>
                      <a:pt x="515750" y="0"/>
                      <a:pt x="664505" y="86100"/>
                      <a:pt x="664505" y="192310"/>
                    </a:cubicBezTo>
                    <a:close/>
                  </a:path>
                </a:pathLst>
              </a:custGeom>
              <a:solidFill>
                <a:srgbClr val="DD990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18" name="Google Shape;4512;p48">
                <a:extLst>
                  <a:ext uri="{FF2B5EF4-FFF2-40B4-BE49-F238E27FC236}">
                    <a16:creationId xmlns:a16="http://schemas.microsoft.com/office/drawing/2014/main" id="{B5E97FF8-0CF4-842A-028B-D0BC076AFC5C}"/>
                  </a:ext>
                </a:extLst>
              </p:cNvPr>
              <p:cNvSpPr/>
              <p:nvPr/>
            </p:nvSpPr>
            <p:spPr>
              <a:xfrm>
                <a:off x="5779238" y="5483828"/>
                <a:ext cx="65671" cy="87629"/>
              </a:xfrm>
              <a:custGeom>
                <a:avLst/>
                <a:gdLst/>
                <a:ahLst/>
                <a:cxnLst/>
                <a:rect l="l" t="t" r="r" b="b"/>
                <a:pathLst>
                  <a:path w="65671" h="87629" extrusionOk="0">
                    <a:moveTo>
                      <a:pt x="0" y="87630"/>
                    </a:moveTo>
                    <a:lnTo>
                      <a:pt x="0" y="0"/>
                    </a:lnTo>
                    <a:lnTo>
                      <a:pt x="65671" y="58579"/>
                    </a:lnTo>
                    <a:lnTo>
                      <a:pt x="0" y="87630"/>
                    </a:lnTo>
                    <a:close/>
                  </a:path>
                </a:pathLst>
              </a:custGeom>
              <a:solidFill>
                <a:srgbClr val="DD990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19" name="Google Shape;4513;p48">
                <a:extLst>
                  <a:ext uri="{FF2B5EF4-FFF2-40B4-BE49-F238E27FC236}">
                    <a16:creationId xmlns:a16="http://schemas.microsoft.com/office/drawing/2014/main" id="{6FE6CEFD-3E73-7229-7CA1-A89CD2AB5F6D}"/>
                  </a:ext>
                </a:extLst>
              </p:cNvPr>
              <p:cNvSpPr/>
              <p:nvPr/>
            </p:nvSpPr>
            <p:spPr>
              <a:xfrm>
                <a:off x="6393753" y="5486114"/>
                <a:ext cx="49989" cy="118109"/>
              </a:xfrm>
              <a:custGeom>
                <a:avLst/>
                <a:gdLst/>
                <a:ahLst/>
                <a:cxnLst/>
                <a:rect l="l" t="t" r="r" b="b"/>
                <a:pathLst>
                  <a:path w="49989" h="118109" extrusionOk="0">
                    <a:moveTo>
                      <a:pt x="49990" y="0"/>
                    </a:moveTo>
                    <a:lnTo>
                      <a:pt x="49990" y="82391"/>
                    </a:lnTo>
                    <a:lnTo>
                      <a:pt x="16442" y="118110"/>
                    </a:lnTo>
                    <a:lnTo>
                      <a:pt x="0" y="23813"/>
                    </a:lnTo>
                    <a:lnTo>
                      <a:pt x="49990" y="0"/>
                    </a:lnTo>
                    <a:close/>
                  </a:path>
                </a:pathLst>
              </a:custGeom>
              <a:solidFill>
                <a:srgbClr val="DD990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20" name="Google Shape;4514;p48">
                <a:extLst>
                  <a:ext uri="{FF2B5EF4-FFF2-40B4-BE49-F238E27FC236}">
                    <a16:creationId xmlns:a16="http://schemas.microsoft.com/office/drawing/2014/main" id="{D0FDC4FC-74BA-F133-4673-C0BEE847C6CE}"/>
                  </a:ext>
                </a:extLst>
              </p:cNvPr>
              <p:cNvSpPr/>
              <p:nvPr/>
            </p:nvSpPr>
            <p:spPr>
              <a:xfrm>
                <a:off x="5779143" y="5293804"/>
                <a:ext cx="664504" cy="384619"/>
              </a:xfrm>
              <a:custGeom>
                <a:avLst/>
                <a:gdLst/>
                <a:ahLst/>
                <a:cxnLst/>
                <a:rect l="l" t="t" r="r" b="b"/>
                <a:pathLst>
                  <a:path w="664504" h="384619" extrusionOk="0">
                    <a:moveTo>
                      <a:pt x="664505" y="192310"/>
                    </a:moveTo>
                    <a:cubicBezTo>
                      <a:pt x="664505" y="298520"/>
                      <a:pt x="515750" y="384620"/>
                      <a:pt x="332252" y="384620"/>
                    </a:cubicBezTo>
                    <a:cubicBezTo>
                      <a:pt x="148754" y="384620"/>
                      <a:pt x="0" y="298520"/>
                      <a:pt x="0" y="192310"/>
                    </a:cubicBezTo>
                    <a:cubicBezTo>
                      <a:pt x="0" y="86100"/>
                      <a:pt x="148754" y="0"/>
                      <a:pt x="332252" y="0"/>
                    </a:cubicBezTo>
                    <a:cubicBezTo>
                      <a:pt x="515750" y="0"/>
                      <a:pt x="664505" y="86100"/>
                      <a:pt x="664505" y="192310"/>
                    </a:cubicBezTo>
                    <a:close/>
                  </a:path>
                </a:pathLst>
              </a:custGeom>
              <a:solidFill>
                <a:srgbClr val="F9CB07"/>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21" name="Google Shape;4515;p48">
                <a:extLst>
                  <a:ext uri="{FF2B5EF4-FFF2-40B4-BE49-F238E27FC236}">
                    <a16:creationId xmlns:a16="http://schemas.microsoft.com/office/drawing/2014/main" id="{73A9E3C1-4D7B-DD85-68E2-49F3C27046FD}"/>
                  </a:ext>
                </a:extLst>
              </p:cNvPr>
              <p:cNvSpPr/>
              <p:nvPr/>
            </p:nvSpPr>
            <p:spPr>
              <a:xfrm>
                <a:off x="5873643" y="5346215"/>
                <a:ext cx="475693" cy="275248"/>
              </a:xfrm>
              <a:custGeom>
                <a:avLst/>
                <a:gdLst/>
                <a:ahLst/>
                <a:cxnLst/>
                <a:rect l="l" t="t" r="r" b="b"/>
                <a:pathLst>
                  <a:path w="475693" h="275248" extrusionOk="0">
                    <a:moveTo>
                      <a:pt x="475252" y="145899"/>
                    </a:moveTo>
                    <a:cubicBezTo>
                      <a:pt x="471926" y="178284"/>
                      <a:pt x="448831" y="210193"/>
                      <a:pt x="406064" y="234958"/>
                    </a:cubicBezTo>
                    <a:cubicBezTo>
                      <a:pt x="313117" y="288679"/>
                      <a:pt x="162482" y="288679"/>
                      <a:pt x="69630" y="234958"/>
                    </a:cubicBezTo>
                    <a:cubicBezTo>
                      <a:pt x="26768" y="210193"/>
                      <a:pt x="3769" y="178284"/>
                      <a:pt x="443" y="145899"/>
                    </a:cubicBezTo>
                    <a:cubicBezTo>
                      <a:pt x="-3549" y="107799"/>
                      <a:pt x="19450" y="69223"/>
                      <a:pt x="69630" y="40362"/>
                    </a:cubicBezTo>
                    <a:cubicBezTo>
                      <a:pt x="162482" y="-13454"/>
                      <a:pt x="313117" y="-13454"/>
                      <a:pt x="406064" y="40362"/>
                    </a:cubicBezTo>
                    <a:cubicBezTo>
                      <a:pt x="456149" y="69223"/>
                      <a:pt x="479243" y="107990"/>
                      <a:pt x="475252" y="145899"/>
                    </a:cubicBez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22" name="Google Shape;4516;p48">
                <a:extLst>
                  <a:ext uri="{FF2B5EF4-FFF2-40B4-BE49-F238E27FC236}">
                    <a16:creationId xmlns:a16="http://schemas.microsoft.com/office/drawing/2014/main" id="{D4ECBC63-2073-5A1B-3EA6-4E3E0DC9CA3F}"/>
                  </a:ext>
                </a:extLst>
              </p:cNvPr>
              <p:cNvSpPr/>
              <p:nvPr/>
            </p:nvSpPr>
            <p:spPr>
              <a:xfrm>
                <a:off x="5874086" y="5362694"/>
                <a:ext cx="474809" cy="258770"/>
              </a:xfrm>
              <a:custGeom>
                <a:avLst/>
                <a:gdLst/>
                <a:ahLst/>
                <a:cxnLst/>
                <a:rect l="l" t="t" r="r" b="b"/>
                <a:pathLst>
                  <a:path w="474809" h="258770" extrusionOk="0">
                    <a:moveTo>
                      <a:pt x="474809" y="129421"/>
                    </a:moveTo>
                    <a:cubicBezTo>
                      <a:pt x="471483" y="161806"/>
                      <a:pt x="448389" y="193715"/>
                      <a:pt x="405622" y="218480"/>
                    </a:cubicBezTo>
                    <a:cubicBezTo>
                      <a:pt x="312675" y="272201"/>
                      <a:pt x="162040" y="272201"/>
                      <a:pt x="69188" y="218480"/>
                    </a:cubicBezTo>
                    <a:cubicBezTo>
                      <a:pt x="26326" y="193715"/>
                      <a:pt x="3326" y="161806"/>
                      <a:pt x="0" y="129421"/>
                    </a:cubicBezTo>
                    <a:cubicBezTo>
                      <a:pt x="3326" y="97036"/>
                      <a:pt x="26326" y="65127"/>
                      <a:pt x="69188" y="40362"/>
                    </a:cubicBezTo>
                    <a:cubicBezTo>
                      <a:pt x="162040" y="-13454"/>
                      <a:pt x="312675" y="-13454"/>
                      <a:pt x="405622" y="40362"/>
                    </a:cubicBezTo>
                    <a:cubicBezTo>
                      <a:pt x="448389" y="65127"/>
                      <a:pt x="471483" y="97036"/>
                      <a:pt x="474809" y="129421"/>
                    </a:cubicBezTo>
                    <a:close/>
                  </a:path>
                </a:pathLst>
              </a:custGeom>
              <a:solidFill>
                <a:srgbClr val="E8A30A"/>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23" name="Google Shape;4517;p48">
                <a:extLst>
                  <a:ext uri="{FF2B5EF4-FFF2-40B4-BE49-F238E27FC236}">
                    <a16:creationId xmlns:a16="http://schemas.microsoft.com/office/drawing/2014/main" id="{89F25FE6-D649-8293-95A9-3207864658E6}"/>
                  </a:ext>
                </a:extLst>
              </p:cNvPr>
              <p:cNvSpPr/>
              <p:nvPr/>
            </p:nvSpPr>
            <p:spPr>
              <a:xfrm>
                <a:off x="5996115" y="5424963"/>
                <a:ext cx="220987" cy="138970"/>
              </a:xfrm>
              <a:custGeom>
                <a:avLst/>
                <a:gdLst/>
                <a:ahLst/>
                <a:cxnLst/>
                <a:rect l="l" t="t" r="r" b="b"/>
                <a:pathLst>
                  <a:path w="220987" h="138970" extrusionOk="0">
                    <a:moveTo>
                      <a:pt x="111859" y="22098"/>
                    </a:moveTo>
                    <a:cubicBezTo>
                      <a:pt x="108932" y="22060"/>
                      <a:pt x="106005" y="22279"/>
                      <a:pt x="103116" y="22765"/>
                    </a:cubicBezTo>
                    <a:cubicBezTo>
                      <a:pt x="99219" y="23336"/>
                      <a:pt x="94848" y="24098"/>
                      <a:pt x="90001" y="25146"/>
                    </a:cubicBezTo>
                    <a:cubicBezTo>
                      <a:pt x="85154" y="26194"/>
                      <a:pt x="80497" y="27432"/>
                      <a:pt x="74890" y="29051"/>
                    </a:cubicBezTo>
                    <a:cubicBezTo>
                      <a:pt x="69777" y="30566"/>
                      <a:pt x="64787" y="32480"/>
                      <a:pt x="59969" y="34766"/>
                    </a:cubicBezTo>
                    <a:lnTo>
                      <a:pt x="97984" y="56864"/>
                    </a:lnTo>
                    <a:lnTo>
                      <a:pt x="104827" y="54388"/>
                    </a:lnTo>
                    <a:cubicBezTo>
                      <a:pt x="114331" y="51149"/>
                      <a:pt x="123834" y="48387"/>
                      <a:pt x="132293" y="46196"/>
                    </a:cubicBezTo>
                    <a:cubicBezTo>
                      <a:pt x="140409" y="44015"/>
                      <a:pt x="148715" y="42644"/>
                      <a:pt x="157098" y="42101"/>
                    </a:cubicBezTo>
                    <a:cubicBezTo>
                      <a:pt x="164701" y="41596"/>
                      <a:pt x="172342" y="42101"/>
                      <a:pt x="179812" y="43625"/>
                    </a:cubicBezTo>
                    <a:cubicBezTo>
                      <a:pt x="187472" y="45253"/>
                      <a:pt x="194828" y="48120"/>
                      <a:pt x="201575" y="52102"/>
                    </a:cubicBezTo>
                    <a:cubicBezTo>
                      <a:pt x="208199" y="55445"/>
                      <a:pt x="213854" y="60427"/>
                      <a:pt x="218017" y="66580"/>
                    </a:cubicBezTo>
                    <a:cubicBezTo>
                      <a:pt x="220839" y="71019"/>
                      <a:pt x="221695" y="76438"/>
                      <a:pt x="220393" y="81534"/>
                    </a:cubicBezTo>
                    <a:cubicBezTo>
                      <a:pt x="218806" y="87173"/>
                      <a:pt x="215717" y="92278"/>
                      <a:pt x="211459" y="96298"/>
                    </a:cubicBezTo>
                    <a:cubicBezTo>
                      <a:pt x="206261" y="101613"/>
                      <a:pt x="200425" y="106261"/>
                      <a:pt x="194067" y="110109"/>
                    </a:cubicBezTo>
                    <a:lnTo>
                      <a:pt x="218302" y="124206"/>
                    </a:lnTo>
                    <a:lnTo>
                      <a:pt x="205092" y="131826"/>
                    </a:lnTo>
                    <a:lnTo>
                      <a:pt x="180667" y="117634"/>
                    </a:lnTo>
                    <a:cubicBezTo>
                      <a:pt x="169034" y="123463"/>
                      <a:pt x="156841" y="128092"/>
                      <a:pt x="144267" y="131445"/>
                    </a:cubicBezTo>
                    <a:cubicBezTo>
                      <a:pt x="131114" y="135112"/>
                      <a:pt x="117657" y="137636"/>
                      <a:pt x="104066" y="138970"/>
                    </a:cubicBezTo>
                    <a:lnTo>
                      <a:pt x="91236" y="116015"/>
                    </a:lnTo>
                    <a:cubicBezTo>
                      <a:pt x="94829" y="115919"/>
                      <a:pt x="98412" y="115634"/>
                      <a:pt x="101976" y="115158"/>
                    </a:cubicBezTo>
                    <a:cubicBezTo>
                      <a:pt x="107345" y="114510"/>
                      <a:pt x="112667" y="113586"/>
                      <a:pt x="117942" y="112395"/>
                    </a:cubicBezTo>
                    <a:cubicBezTo>
                      <a:pt x="123834" y="111157"/>
                      <a:pt x="130012" y="109538"/>
                      <a:pt x="136949" y="107633"/>
                    </a:cubicBezTo>
                    <a:cubicBezTo>
                      <a:pt x="143460" y="105823"/>
                      <a:pt x="149818" y="103489"/>
                      <a:pt x="155957" y="100679"/>
                    </a:cubicBezTo>
                    <a:lnTo>
                      <a:pt x="117942" y="78677"/>
                    </a:lnTo>
                    <a:cubicBezTo>
                      <a:pt x="116326" y="79248"/>
                      <a:pt x="114711" y="79915"/>
                      <a:pt x="113000" y="80391"/>
                    </a:cubicBezTo>
                    <a:lnTo>
                      <a:pt x="107773" y="82010"/>
                    </a:lnTo>
                    <a:cubicBezTo>
                      <a:pt x="98269" y="85154"/>
                      <a:pt x="89431" y="87630"/>
                      <a:pt x="81543" y="89440"/>
                    </a:cubicBezTo>
                    <a:cubicBezTo>
                      <a:pt x="74177" y="91154"/>
                      <a:pt x="66669" y="92145"/>
                      <a:pt x="59114" y="92393"/>
                    </a:cubicBezTo>
                    <a:cubicBezTo>
                      <a:pt x="52470" y="92678"/>
                      <a:pt x="45827" y="92069"/>
                      <a:pt x="39346" y="90583"/>
                    </a:cubicBezTo>
                    <a:cubicBezTo>
                      <a:pt x="32893" y="89059"/>
                      <a:pt x="26706" y="86554"/>
                      <a:pt x="21003" y="83153"/>
                    </a:cubicBezTo>
                    <a:cubicBezTo>
                      <a:pt x="14750" y="79886"/>
                      <a:pt x="9314" y="75229"/>
                      <a:pt x="5132" y="69533"/>
                    </a:cubicBezTo>
                    <a:cubicBezTo>
                      <a:pt x="2005" y="65275"/>
                      <a:pt x="456" y="60055"/>
                      <a:pt x="760" y="54769"/>
                    </a:cubicBezTo>
                    <a:cubicBezTo>
                      <a:pt x="1331" y="49273"/>
                      <a:pt x="3507" y="44063"/>
                      <a:pt x="7033" y="39815"/>
                    </a:cubicBezTo>
                    <a:cubicBezTo>
                      <a:pt x="11443" y="34376"/>
                      <a:pt x="16670" y="29651"/>
                      <a:pt x="22524" y="25813"/>
                    </a:cubicBezTo>
                    <a:lnTo>
                      <a:pt x="0" y="12764"/>
                    </a:lnTo>
                    <a:lnTo>
                      <a:pt x="13305" y="5048"/>
                    </a:lnTo>
                    <a:lnTo>
                      <a:pt x="35544" y="18002"/>
                    </a:lnTo>
                    <a:cubicBezTo>
                      <a:pt x="45998" y="12783"/>
                      <a:pt x="56994" y="8725"/>
                      <a:pt x="68332" y="5906"/>
                    </a:cubicBezTo>
                    <a:cubicBezTo>
                      <a:pt x="79109" y="3153"/>
                      <a:pt x="90067" y="1181"/>
                      <a:pt x="101120" y="0"/>
                    </a:cubicBezTo>
                    <a:close/>
                    <a:moveTo>
                      <a:pt x="46949" y="62198"/>
                    </a:moveTo>
                    <a:cubicBezTo>
                      <a:pt x="51948" y="65122"/>
                      <a:pt x="57726" y="66389"/>
                      <a:pt x="63485" y="65818"/>
                    </a:cubicBezTo>
                    <a:cubicBezTo>
                      <a:pt x="71212" y="64875"/>
                      <a:pt x="78824" y="63151"/>
                      <a:pt x="86199" y="60674"/>
                    </a:cubicBezTo>
                    <a:lnTo>
                      <a:pt x="50465" y="40005"/>
                    </a:lnTo>
                    <a:cubicBezTo>
                      <a:pt x="37350" y="48578"/>
                      <a:pt x="36181" y="55979"/>
                      <a:pt x="46949" y="62198"/>
                    </a:cubicBezTo>
                    <a:close/>
                    <a:moveTo>
                      <a:pt x="172399" y="72676"/>
                    </a:moveTo>
                    <a:cubicBezTo>
                      <a:pt x="166896" y="69733"/>
                      <a:pt x="160605" y="68628"/>
                      <a:pt x="154437" y="69533"/>
                    </a:cubicBezTo>
                    <a:cubicBezTo>
                      <a:pt x="145997" y="70628"/>
                      <a:pt x="137672" y="72447"/>
                      <a:pt x="129537" y="74962"/>
                    </a:cubicBezTo>
                    <a:lnTo>
                      <a:pt x="165081" y="95536"/>
                    </a:lnTo>
                    <a:cubicBezTo>
                      <a:pt x="180667" y="86296"/>
                      <a:pt x="182663" y="78677"/>
                      <a:pt x="172399" y="72676"/>
                    </a:cubicBez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24" name="Google Shape;4518;p48">
                <a:extLst>
                  <a:ext uri="{FF2B5EF4-FFF2-40B4-BE49-F238E27FC236}">
                    <a16:creationId xmlns:a16="http://schemas.microsoft.com/office/drawing/2014/main" id="{B18223E8-8775-303D-8B4E-B3ACFA4AC12F}"/>
                  </a:ext>
                </a:extLst>
              </p:cNvPr>
              <p:cNvSpPr/>
              <p:nvPr/>
            </p:nvSpPr>
            <p:spPr>
              <a:xfrm>
                <a:off x="6087446" y="5528024"/>
                <a:ext cx="14540" cy="19050"/>
              </a:xfrm>
              <a:custGeom>
                <a:avLst/>
                <a:gdLst/>
                <a:ahLst/>
                <a:cxnLst/>
                <a:rect l="l" t="t" r="r" b="b"/>
                <a:pathLst>
                  <a:path w="14540" h="19050" extrusionOk="0">
                    <a:moveTo>
                      <a:pt x="0" y="12954"/>
                    </a:moveTo>
                    <a:cubicBezTo>
                      <a:pt x="0" y="12002"/>
                      <a:pt x="0" y="0"/>
                      <a:pt x="0" y="0"/>
                    </a:cubicBezTo>
                    <a:lnTo>
                      <a:pt x="14541" y="9525"/>
                    </a:lnTo>
                    <a:lnTo>
                      <a:pt x="8268" y="19050"/>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25" name="Google Shape;4519;p48">
                <a:extLst>
                  <a:ext uri="{FF2B5EF4-FFF2-40B4-BE49-F238E27FC236}">
                    <a16:creationId xmlns:a16="http://schemas.microsoft.com/office/drawing/2014/main" id="{F2265C20-53DA-D790-AC12-B6C0201D9210}"/>
                  </a:ext>
                </a:extLst>
              </p:cNvPr>
              <p:cNvSpPr/>
              <p:nvPr/>
            </p:nvSpPr>
            <p:spPr>
              <a:xfrm>
                <a:off x="6183054" y="5536215"/>
                <a:ext cx="31552" cy="14858"/>
              </a:xfrm>
              <a:custGeom>
                <a:avLst/>
                <a:gdLst/>
                <a:ahLst/>
                <a:cxnLst/>
                <a:rect l="l" t="t" r="r" b="b"/>
                <a:pathLst>
                  <a:path w="31552" h="14858" extrusionOk="0">
                    <a:moveTo>
                      <a:pt x="31552" y="12954"/>
                    </a:moveTo>
                    <a:lnTo>
                      <a:pt x="31552" y="0"/>
                    </a:lnTo>
                    <a:lnTo>
                      <a:pt x="0" y="2476"/>
                    </a:lnTo>
                    <a:lnTo>
                      <a:pt x="18152" y="14859"/>
                    </a:lnTo>
                    <a:lnTo>
                      <a:pt x="31552" y="12954"/>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26" name="Google Shape;4520;p48">
                <a:extLst>
                  <a:ext uri="{FF2B5EF4-FFF2-40B4-BE49-F238E27FC236}">
                    <a16:creationId xmlns:a16="http://schemas.microsoft.com/office/drawing/2014/main" id="{9B322FAF-2B47-588A-02E2-BD8E87AD9463}"/>
                  </a:ext>
                </a:extLst>
              </p:cNvPr>
              <p:cNvSpPr/>
              <p:nvPr/>
            </p:nvSpPr>
            <p:spPr>
              <a:xfrm>
                <a:off x="6193698" y="5488685"/>
                <a:ext cx="23569" cy="13049"/>
              </a:xfrm>
              <a:custGeom>
                <a:avLst/>
                <a:gdLst/>
                <a:ahLst/>
                <a:cxnLst/>
                <a:rect l="l" t="t" r="r" b="b"/>
                <a:pathLst>
                  <a:path w="23569" h="13049" extrusionOk="0">
                    <a:moveTo>
                      <a:pt x="23569" y="13049"/>
                    </a:moveTo>
                    <a:lnTo>
                      <a:pt x="23569" y="0"/>
                    </a:lnTo>
                    <a:lnTo>
                      <a:pt x="0" y="8573"/>
                    </a:lnTo>
                    <a:lnTo>
                      <a:pt x="23569" y="13049"/>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27" name="Google Shape;4521;p48">
                <a:extLst>
                  <a:ext uri="{FF2B5EF4-FFF2-40B4-BE49-F238E27FC236}">
                    <a16:creationId xmlns:a16="http://schemas.microsoft.com/office/drawing/2014/main" id="{7BF87020-2891-B6BC-4C1F-DD61AABCB5CE}"/>
                  </a:ext>
                </a:extLst>
              </p:cNvPr>
              <p:cNvSpPr/>
              <p:nvPr/>
            </p:nvSpPr>
            <p:spPr>
              <a:xfrm>
                <a:off x="6119759" y="5493543"/>
                <a:ext cx="35639" cy="24669"/>
              </a:xfrm>
              <a:custGeom>
                <a:avLst/>
                <a:gdLst/>
                <a:ahLst/>
                <a:cxnLst/>
                <a:rect l="l" t="t" r="r" b="b"/>
                <a:pathLst>
                  <a:path w="35639" h="24669" extrusionOk="0">
                    <a:moveTo>
                      <a:pt x="0" y="7525"/>
                    </a:moveTo>
                    <a:lnTo>
                      <a:pt x="7888" y="0"/>
                    </a:lnTo>
                    <a:lnTo>
                      <a:pt x="35639" y="19050"/>
                    </a:lnTo>
                    <a:lnTo>
                      <a:pt x="33929" y="24670"/>
                    </a:lnTo>
                    <a:cubicBezTo>
                      <a:pt x="33929" y="24670"/>
                      <a:pt x="13210" y="15907"/>
                      <a:pt x="12545" y="15145"/>
                    </a:cubicBezTo>
                    <a:cubicBezTo>
                      <a:pt x="11880" y="14383"/>
                      <a:pt x="0" y="7525"/>
                      <a:pt x="0" y="7525"/>
                    </a:cubicBez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28" name="Google Shape;4522;p48">
                <a:extLst>
                  <a:ext uri="{FF2B5EF4-FFF2-40B4-BE49-F238E27FC236}">
                    <a16:creationId xmlns:a16="http://schemas.microsoft.com/office/drawing/2014/main" id="{425B1E02-ECA9-6C90-F36D-2D1CEC467EB6}"/>
                  </a:ext>
                </a:extLst>
              </p:cNvPr>
              <p:cNvSpPr/>
              <p:nvPr/>
            </p:nvSpPr>
            <p:spPr>
              <a:xfrm>
                <a:off x="6046675" y="5452109"/>
                <a:ext cx="44382" cy="29241"/>
              </a:xfrm>
              <a:custGeom>
                <a:avLst/>
                <a:gdLst/>
                <a:ahLst/>
                <a:cxnLst/>
                <a:rect l="l" t="t" r="r" b="b"/>
                <a:pathLst>
                  <a:path w="44382" h="29241" extrusionOk="0">
                    <a:moveTo>
                      <a:pt x="0" y="8287"/>
                    </a:moveTo>
                    <a:lnTo>
                      <a:pt x="36875" y="29242"/>
                    </a:lnTo>
                    <a:lnTo>
                      <a:pt x="44383" y="23717"/>
                    </a:lnTo>
                    <a:cubicBezTo>
                      <a:pt x="44383" y="23717"/>
                      <a:pt x="39726" y="18383"/>
                      <a:pt x="39441" y="17907"/>
                    </a:cubicBezTo>
                    <a:cubicBezTo>
                      <a:pt x="36143" y="14135"/>
                      <a:pt x="32256" y="10925"/>
                      <a:pt x="27941" y="8382"/>
                    </a:cubicBezTo>
                    <a:cubicBezTo>
                      <a:pt x="25185" y="7811"/>
                      <a:pt x="7698" y="0"/>
                      <a:pt x="7698" y="0"/>
                    </a:cubicBez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29" name="Google Shape;4523;p48">
                <a:extLst>
                  <a:ext uri="{FF2B5EF4-FFF2-40B4-BE49-F238E27FC236}">
                    <a16:creationId xmlns:a16="http://schemas.microsoft.com/office/drawing/2014/main" id="{50F9A225-DA91-01C4-09D6-B3E8CB888593}"/>
                  </a:ext>
                </a:extLst>
              </p:cNvPr>
              <p:cNvSpPr/>
              <p:nvPr/>
            </p:nvSpPr>
            <p:spPr>
              <a:xfrm>
                <a:off x="6087446" y="5428583"/>
                <a:ext cx="20528" cy="18478"/>
              </a:xfrm>
              <a:custGeom>
                <a:avLst/>
                <a:gdLst/>
                <a:ahLst/>
                <a:cxnLst/>
                <a:rect l="l" t="t" r="r" b="b"/>
                <a:pathLst>
                  <a:path w="20528" h="18478" extrusionOk="0">
                    <a:moveTo>
                      <a:pt x="20528" y="18479"/>
                    </a:moveTo>
                    <a:lnTo>
                      <a:pt x="20528" y="5525"/>
                    </a:lnTo>
                    <a:lnTo>
                      <a:pt x="3611" y="0"/>
                    </a:lnTo>
                    <a:lnTo>
                      <a:pt x="0" y="10192"/>
                    </a:lnTo>
                    <a:lnTo>
                      <a:pt x="855" y="14764"/>
                    </a:lnTo>
                    <a:lnTo>
                      <a:pt x="20528" y="18479"/>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30" name="Google Shape;4524;p48">
                <a:extLst>
                  <a:ext uri="{FF2B5EF4-FFF2-40B4-BE49-F238E27FC236}">
                    <a16:creationId xmlns:a16="http://schemas.microsoft.com/office/drawing/2014/main" id="{F84B53C8-0963-BC96-A5C2-099A32644897}"/>
                  </a:ext>
                </a:extLst>
              </p:cNvPr>
              <p:cNvSpPr/>
              <p:nvPr/>
            </p:nvSpPr>
            <p:spPr>
              <a:xfrm>
                <a:off x="5995544" y="5424773"/>
                <a:ext cx="19672" cy="14668"/>
              </a:xfrm>
              <a:custGeom>
                <a:avLst/>
                <a:gdLst/>
                <a:ahLst/>
                <a:cxnLst/>
                <a:rect l="l" t="t" r="r" b="b"/>
                <a:pathLst>
                  <a:path w="19672" h="14668" extrusionOk="0">
                    <a:moveTo>
                      <a:pt x="0" y="12954"/>
                    </a:moveTo>
                    <a:lnTo>
                      <a:pt x="0" y="0"/>
                    </a:lnTo>
                    <a:lnTo>
                      <a:pt x="19673" y="2096"/>
                    </a:lnTo>
                    <a:lnTo>
                      <a:pt x="13305" y="14669"/>
                    </a:lnTo>
                    <a:lnTo>
                      <a:pt x="0" y="12954"/>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31" name="Google Shape;4525;p48">
                <a:extLst>
                  <a:ext uri="{FF2B5EF4-FFF2-40B4-BE49-F238E27FC236}">
                    <a16:creationId xmlns:a16="http://schemas.microsoft.com/office/drawing/2014/main" id="{4220642D-9AE3-24F5-1A08-E7660B322487}"/>
                  </a:ext>
                </a:extLst>
              </p:cNvPr>
              <p:cNvSpPr/>
              <p:nvPr/>
            </p:nvSpPr>
            <p:spPr>
              <a:xfrm>
                <a:off x="5996210" y="5468111"/>
                <a:ext cx="22428" cy="22764"/>
              </a:xfrm>
              <a:custGeom>
                <a:avLst/>
                <a:gdLst/>
                <a:ahLst/>
                <a:cxnLst/>
                <a:rect l="l" t="t" r="r" b="b"/>
                <a:pathLst>
                  <a:path w="22428" h="22764" extrusionOk="0">
                    <a:moveTo>
                      <a:pt x="0" y="13430"/>
                    </a:moveTo>
                    <a:lnTo>
                      <a:pt x="0" y="0"/>
                    </a:lnTo>
                    <a:lnTo>
                      <a:pt x="22429" y="0"/>
                    </a:lnTo>
                    <a:lnTo>
                      <a:pt x="17012" y="12002"/>
                    </a:lnTo>
                    <a:lnTo>
                      <a:pt x="7508" y="22765"/>
                    </a:lnTo>
                    <a:close/>
                  </a:path>
                </a:pathLst>
              </a:custGeom>
              <a:solidFill>
                <a:srgbClr val="CC8B0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32" name="Google Shape;4526;p48">
                <a:extLst>
                  <a:ext uri="{FF2B5EF4-FFF2-40B4-BE49-F238E27FC236}">
                    <a16:creationId xmlns:a16="http://schemas.microsoft.com/office/drawing/2014/main" id="{F23B18E3-0E80-1E7D-9D01-C38150EC3B4A}"/>
                  </a:ext>
                </a:extLst>
              </p:cNvPr>
              <p:cNvSpPr/>
              <p:nvPr/>
            </p:nvSpPr>
            <p:spPr>
              <a:xfrm>
                <a:off x="5996115" y="5412009"/>
                <a:ext cx="220987" cy="139065"/>
              </a:xfrm>
              <a:custGeom>
                <a:avLst/>
                <a:gdLst/>
                <a:ahLst/>
                <a:cxnLst/>
                <a:rect l="l" t="t" r="r" b="b"/>
                <a:pathLst>
                  <a:path w="220987" h="139065" extrusionOk="0">
                    <a:moveTo>
                      <a:pt x="111859" y="22098"/>
                    </a:moveTo>
                    <a:cubicBezTo>
                      <a:pt x="108932" y="22098"/>
                      <a:pt x="106005" y="22355"/>
                      <a:pt x="103116" y="22860"/>
                    </a:cubicBezTo>
                    <a:cubicBezTo>
                      <a:pt x="99248" y="23431"/>
                      <a:pt x="94876" y="24194"/>
                      <a:pt x="90001" y="25146"/>
                    </a:cubicBezTo>
                    <a:cubicBezTo>
                      <a:pt x="85154" y="26194"/>
                      <a:pt x="80497" y="27527"/>
                      <a:pt x="74890" y="29051"/>
                    </a:cubicBezTo>
                    <a:cubicBezTo>
                      <a:pt x="69786" y="30613"/>
                      <a:pt x="64806" y="32518"/>
                      <a:pt x="59969" y="34766"/>
                    </a:cubicBezTo>
                    <a:lnTo>
                      <a:pt x="97984" y="56864"/>
                    </a:lnTo>
                    <a:lnTo>
                      <a:pt x="104827" y="54483"/>
                    </a:lnTo>
                    <a:cubicBezTo>
                      <a:pt x="114331" y="51245"/>
                      <a:pt x="123834" y="48482"/>
                      <a:pt x="132293" y="46196"/>
                    </a:cubicBezTo>
                    <a:cubicBezTo>
                      <a:pt x="140418" y="44063"/>
                      <a:pt x="148725" y="42691"/>
                      <a:pt x="157098" y="42100"/>
                    </a:cubicBezTo>
                    <a:cubicBezTo>
                      <a:pt x="164701" y="41643"/>
                      <a:pt x="172332" y="42158"/>
                      <a:pt x="179812" y="43624"/>
                    </a:cubicBezTo>
                    <a:cubicBezTo>
                      <a:pt x="187481" y="45291"/>
                      <a:pt x="194828" y="48187"/>
                      <a:pt x="201575" y="52197"/>
                    </a:cubicBezTo>
                    <a:cubicBezTo>
                      <a:pt x="208199" y="55540"/>
                      <a:pt x="213854" y="60522"/>
                      <a:pt x="218017" y="66675"/>
                    </a:cubicBezTo>
                    <a:cubicBezTo>
                      <a:pt x="220839" y="71114"/>
                      <a:pt x="221695" y="76533"/>
                      <a:pt x="220393" y="81629"/>
                    </a:cubicBezTo>
                    <a:cubicBezTo>
                      <a:pt x="218777" y="87259"/>
                      <a:pt x="215698" y="92354"/>
                      <a:pt x="211459" y="96393"/>
                    </a:cubicBezTo>
                    <a:cubicBezTo>
                      <a:pt x="206242" y="101689"/>
                      <a:pt x="200397" y="106318"/>
                      <a:pt x="194067" y="110204"/>
                    </a:cubicBezTo>
                    <a:lnTo>
                      <a:pt x="218302" y="124206"/>
                    </a:lnTo>
                    <a:lnTo>
                      <a:pt x="205092" y="131921"/>
                    </a:lnTo>
                    <a:lnTo>
                      <a:pt x="180667" y="117729"/>
                    </a:lnTo>
                    <a:cubicBezTo>
                      <a:pt x="168996" y="123473"/>
                      <a:pt x="156812" y="128102"/>
                      <a:pt x="144267" y="131540"/>
                    </a:cubicBezTo>
                    <a:cubicBezTo>
                      <a:pt x="131095" y="135169"/>
                      <a:pt x="117657" y="137684"/>
                      <a:pt x="104066" y="139065"/>
                    </a:cubicBezTo>
                    <a:lnTo>
                      <a:pt x="91236" y="116014"/>
                    </a:lnTo>
                    <a:cubicBezTo>
                      <a:pt x="94829" y="115967"/>
                      <a:pt x="98412" y="115710"/>
                      <a:pt x="101976" y="115253"/>
                    </a:cubicBezTo>
                    <a:cubicBezTo>
                      <a:pt x="106727" y="114681"/>
                      <a:pt x="112050" y="113729"/>
                      <a:pt x="117942" y="112490"/>
                    </a:cubicBezTo>
                    <a:cubicBezTo>
                      <a:pt x="123834" y="111252"/>
                      <a:pt x="130012" y="109633"/>
                      <a:pt x="136949" y="107728"/>
                    </a:cubicBezTo>
                    <a:cubicBezTo>
                      <a:pt x="143450" y="105842"/>
                      <a:pt x="149799" y="103479"/>
                      <a:pt x="155957" y="100679"/>
                    </a:cubicBezTo>
                    <a:lnTo>
                      <a:pt x="117942" y="78772"/>
                    </a:lnTo>
                    <a:lnTo>
                      <a:pt x="113000" y="80486"/>
                    </a:lnTo>
                    <a:lnTo>
                      <a:pt x="107773" y="82105"/>
                    </a:lnTo>
                    <a:cubicBezTo>
                      <a:pt x="99162" y="85001"/>
                      <a:pt x="90410" y="87449"/>
                      <a:pt x="81543" y="89440"/>
                    </a:cubicBezTo>
                    <a:cubicBezTo>
                      <a:pt x="74187" y="91183"/>
                      <a:pt x="66669" y="92202"/>
                      <a:pt x="59114" y="92488"/>
                    </a:cubicBezTo>
                    <a:cubicBezTo>
                      <a:pt x="52470" y="92745"/>
                      <a:pt x="45818" y="92107"/>
                      <a:pt x="39346" y="90583"/>
                    </a:cubicBezTo>
                    <a:cubicBezTo>
                      <a:pt x="32912" y="89049"/>
                      <a:pt x="26725" y="86573"/>
                      <a:pt x="21003" y="83248"/>
                    </a:cubicBezTo>
                    <a:cubicBezTo>
                      <a:pt x="14740" y="79943"/>
                      <a:pt x="9314" y="75257"/>
                      <a:pt x="5132" y="69532"/>
                    </a:cubicBezTo>
                    <a:cubicBezTo>
                      <a:pt x="2005" y="65275"/>
                      <a:pt x="456" y="60055"/>
                      <a:pt x="760" y="54769"/>
                    </a:cubicBezTo>
                    <a:cubicBezTo>
                      <a:pt x="1350" y="49311"/>
                      <a:pt x="3535" y="44139"/>
                      <a:pt x="7033" y="39910"/>
                    </a:cubicBezTo>
                    <a:cubicBezTo>
                      <a:pt x="11471" y="34462"/>
                      <a:pt x="16689" y="29708"/>
                      <a:pt x="22524" y="25813"/>
                    </a:cubicBezTo>
                    <a:lnTo>
                      <a:pt x="0" y="12763"/>
                    </a:lnTo>
                    <a:lnTo>
                      <a:pt x="13305" y="5144"/>
                    </a:lnTo>
                    <a:lnTo>
                      <a:pt x="35544" y="18002"/>
                    </a:lnTo>
                    <a:cubicBezTo>
                      <a:pt x="46017" y="12849"/>
                      <a:pt x="57013" y="8830"/>
                      <a:pt x="68332" y="6001"/>
                    </a:cubicBezTo>
                    <a:cubicBezTo>
                      <a:pt x="79119" y="3267"/>
                      <a:pt x="90067" y="1257"/>
                      <a:pt x="101120" y="0"/>
                    </a:cubicBezTo>
                    <a:close/>
                    <a:moveTo>
                      <a:pt x="46949" y="62294"/>
                    </a:moveTo>
                    <a:cubicBezTo>
                      <a:pt x="51948" y="65189"/>
                      <a:pt x="57735" y="66418"/>
                      <a:pt x="63485" y="65818"/>
                    </a:cubicBezTo>
                    <a:cubicBezTo>
                      <a:pt x="71231" y="64970"/>
                      <a:pt x="78843" y="63246"/>
                      <a:pt x="86199" y="60674"/>
                    </a:cubicBezTo>
                    <a:lnTo>
                      <a:pt x="50465" y="40005"/>
                    </a:lnTo>
                    <a:cubicBezTo>
                      <a:pt x="37350" y="48578"/>
                      <a:pt x="36181" y="56007"/>
                      <a:pt x="46949" y="62294"/>
                    </a:cubicBezTo>
                    <a:close/>
                    <a:moveTo>
                      <a:pt x="172399" y="72771"/>
                    </a:moveTo>
                    <a:cubicBezTo>
                      <a:pt x="166924" y="69752"/>
                      <a:pt x="160614" y="68609"/>
                      <a:pt x="154437" y="69532"/>
                    </a:cubicBezTo>
                    <a:cubicBezTo>
                      <a:pt x="145988" y="70618"/>
                      <a:pt x="137653" y="72466"/>
                      <a:pt x="129537" y="75057"/>
                    </a:cubicBezTo>
                    <a:lnTo>
                      <a:pt x="165081" y="95631"/>
                    </a:lnTo>
                    <a:cubicBezTo>
                      <a:pt x="180667" y="86296"/>
                      <a:pt x="182663" y="78677"/>
                      <a:pt x="172399" y="72771"/>
                    </a:cubicBezTo>
                    <a:close/>
                  </a:path>
                </a:pathLst>
              </a:custGeom>
              <a:solidFill>
                <a:srgbClr val="F9CA06"/>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grpSp>
        <p:sp>
          <p:nvSpPr>
            <p:cNvPr id="386" name="Google Shape;4527;p48">
              <a:extLst>
                <a:ext uri="{FF2B5EF4-FFF2-40B4-BE49-F238E27FC236}">
                  <a16:creationId xmlns:a16="http://schemas.microsoft.com/office/drawing/2014/main" id="{911BB8B2-8C30-A076-350E-BFBBF91D7B6A}"/>
                </a:ext>
              </a:extLst>
            </p:cNvPr>
            <p:cNvSpPr/>
            <p:nvPr/>
          </p:nvSpPr>
          <p:spPr>
            <a:xfrm>
              <a:off x="5615017" y="4460119"/>
              <a:ext cx="828920" cy="479679"/>
            </a:xfrm>
            <a:custGeom>
              <a:avLst/>
              <a:gdLst/>
              <a:ahLst/>
              <a:cxnLst/>
              <a:rect l="l" t="t" r="r" b="b"/>
              <a:pathLst>
                <a:path w="828920" h="479679" extrusionOk="0">
                  <a:moveTo>
                    <a:pt x="828920" y="239840"/>
                  </a:moveTo>
                  <a:cubicBezTo>
                    <a:pt x="828920" y="372299"/>
                    <a:pt x="643360" y="479679"/>
                    <a:pt x="414460" y="479679"/>
                  </a:cubicBezTo>
                  <a:cubicBezTo>
                    <a:pt x="185560" y="479679"/>
                    <a:pt x="0" y="372299"/>
                    <a:pt x="0" y="239840"/>
                  </a:cubicBezTo>
                  <a:cubicBezTo>
                    <a:pt x="0" y="107380"/>
                    <a:pt x="185560" y="0"/>
                    <a:pt x="414460" y="0"/>
                  </a:cubicBezTo>
                  <a:cubicBezTo>
                    <a:pt x="643360" y="0"/>
                    <a:pt x="828920" y="107380"/>
                    <a:pt x="828920" y="239840"/>
                  </a:cubicBezTo>
                  <a:close/>
                </a:path>
              </a:pathLst>
            </a:custGeom>
            <a:solidFill>
              <a:srgbClr val="D6D8E5">
                <a:alpha val="400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87" name="Google Shape;4528;p48">
              <a:extLst>
                <a:ext uri="{FF2B5EF4-FFF2-40B4-BE49-F238E27FC236}">
                  <a16:creationId xmlns:a16="http://schemas.microsoft.com/office/drawing/2014/main" id="{5DBFB724-244C-E3FF-8919-CCF314B3A88B}"/>
                </a:ext>
              </a:extLst>
            </p:cNvPr>
            <p:cNvSpPr/>
            <p:nvPr/>
          </p:nvSpPr>
          <p:spPr>
            <a:xfrm>
              <a:off x="5846435" y="2182763"/>
              <a:ext cx="465451" cy="682637"/>
            </a:xfrm>
            <a:custGeom>
              <a:avLst/>
              <a:gdLst/>
              <a:ahLst/>
              <a:cxnLst/>
              <a:rect l="l" t="t" r="r" b="b"/>
              <a:pathLst>
                <a:path w="465451" h="682637" extrusionOk="0">
                  <a:moveTo>
                    <a:pt x="164035" y="22597"/>
                  </a:moveTo>
                  <a:cubicBezTo>
                    <a:pt x="182568" y="-7216"/>
                    <a:pt x="324079" y="-26837"/>
                    <a:pt x="370648" y="93368"/>
                  </a:cubicBezTo>
                  <a:cubicBezTo>
                    <a:pt x="388325" y="138898"/>
                    <a:pt x="385569" y="255293"/>
                    <a:pt x="400299" y="328540"/>
                  </a:cubicBezTo>
                  <a:cubicBezTo>
                    <a:pt x="415030" y="401788"/>
                    <a:pt x="449909" y="442840"/>
                    <a:pt x="462359" y="502562"/>
                  </a:cubicBezTo>
                  <a:cubicBezTo>
                    <a:pt x="474809" y="562284"/>
                    <a:pt x="454471" y="661534"/>
                    <a:pt x="311724" y="679060"/>
                  </a:cubicBezTo>
                  <a:cubicBezTo>
                    <a:pt x="168977" y="696586"/>
                    <a:pt x="59209" y="646390"/>
                    <a:pt x="25470" y="600765"/>
                  </a:cubicBezTo>
                  <a:cubicBezTo>
                    <a:pt x="-8268" y="555140"/>
                    <a:pt x="-8934" y="457890"/>
                    <a:pt x="26135" y="406169"/>
                  </a:cubicBezTo>
                  <a:cubicBezTo>
                    <a:pt x="61204" y="354448"/>
                    <a:pt x="87720" y="311776"/>
                    <a:pt x="86865" y="244244"/>
                  </a:cubicBezTo>
                  <a:close/>
                </a:path>
              </a:pathLst>
            </a:custGeom>
            <a:solidFill>
              <a:srgbClr val="3A2C6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88" name="Google Shape;4529;p48">
              <a:extLst>
                <a:ext uri="{FF2B5EF4-FFF2-40B4-BE49-F238E27FC236}">
                  <a16:creationId xmlns:a16="http://schemas.microsoft.com/office/drawing/2014/main" id="{6F742A8D-BC94-E855-1E42-B79AFE505E8B}"/>
                </a:ext>
              </a:extLst>
            </p:cNvPr>
            <p:cNvSpPr/>
            <p:nvPr/>
          </p:nvSpPr>
          <p:spPr>
            <a:xfrm>
              <a:off x="5832052" y="2673876"/>
              <a:ext cx="86758" cy="504907"/>
            </a:xfrm>
            <a:custGeom>
              <a:avLst/>
              <a:gdLst/>
              <a:ahLst/>
              <a:cxnLst/>
              <a:rect l="l" t="t" r="r" b="b"/>
              <a:pathLst>
                <a:path w="86758" h="504907" extrusionOk="0">
                  <a:moveTo>
                    <a:pt x="8870" y="34023"/>
                  </a:moveTo>
                  <a:cubicBezTo>
                    <a:pt x="8870" y="34023"/>
                    <a:pt x="-24678" y="271196"/>
                    <a:pt x="38712" y="439789"/>
                  </a:cubicBezTo>
                  <a:cubicBezTo>
                    <a:pt x="102102" y="608381"/>
                    <a:pt x="84520" y="396355"/>
                    <a:pt x="84520" y="396355"/>
                  </a:cubicBezTo>
                  <a:lnTo>
                    <a:pt x="69314" y="345967"/>
                  </a:lnTo>
                  <a:cubicBezTo>
                    <a:pt x="69314" y="345967"/>
                    <a:pt x="56579" y="152038"/>
                    <a:pt x="61807" y="104508"/>
                  </a:cubicBezTo>
                  <a:cubicBezTo>
                    <a:pt x="67033" y="56979"/>
                    <a:pt x="65798" y="16116"/>
                    <a:pt x="69314" y="12306"/>
                  </a:cubicBezTo>
                  <a:cubicBezTo>
                    <a:pt x="72831" y="8497"/>
                    <a:pt x="56674" y="972"/>
                    <a:pt x="50307" y="19"/>
                  </a:cubicBezTo>
                  <a:cubicBezTo>
                    <a:pt x="43939" y="-933"/>
                    <a:pt x="8870" y="34023"/>
                    <a:pt x="8870" y="34023"/>
                  </a:cubicBezTo>
                  <a:close/>
                </a:path>
              </a:pathLst>
            </a:custGeom>
            <a:solidFill>
              <a:srgbClr val="DFAE8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89" name="Google Shape;4530;p48">
              <a:extLst>
                <a:ext uri="{FF2B5EF4-FFF2-40B4-BE49-F238E27FC236}">
                  <a16:creationId xmlns:a16="http://schemas.microsoft.com/office/drawing/2014/main" id="{902C3006-A97D-3B05-1D4C-1A856A42C819}"/>
                </a:ext>
              </a:extLst>
            </p:cNvPr>
            <p:cNvSpPr/>
            <p:nvPr/>
          </p:nvSpPr>
          <p:spPr>
            <a:xfrm>
              <a:off x="5882176" y="2176405"/>
              <a:ext cx="221715" cy="275766"/>
            </a:xfrm>
            <a:custGeom>
              <a:avLst/>
              <a:gdLst/>
              <a:ahLst/>
              <a:cxnLst/>
              <a:rect l="l" t="t" r="r" b="b"/>
              <a:pathLst>
                <a:path w="221715" h="275766" extrusionOk="0">
                  <a:moveTo>
                    <a:pt x="221716" y="8191"/>
                  </a:moveTo>
                  <a:cubicBezTo>
                    <a:pt x="221716" y="8191"/>
                    <a:pt x="115178" y="-22575"/>
                    <a:pt x="50648" y="35147"/>
                  </a:cubicBezTo>
                  <a:cubicBezTo>
                    <a:pt x="-8371" y="87915"/>
                    <a:pt x="-3429" y="159734"/>
                    <a:pt x="5125" y="193452"/>
                  </a:cubicBezTo>
                  <a:cubicBezTo>
                    <a:pt x="13678" y="227171"/>
                    <a:pt x="30975" y="273176"/>
                    <a:pt x="57681" y="275748"/>
                  </a:cubicBezTo>
                  <a:cubicBezTo>
                    <a:pt x="84386" y="278320"/>
                    <a:pt x="221716" y="8191"/>
                    <a:pt x="221716" y="8191"/>
                  </a:cubicBezTo>
                  <a:close/>
                </a:path>
              </a:pathLst>
            </a:custGeom>
            <a:solidFill>
              <a:srgbClr val="3A2C6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90" name="Google Shape;4531;p48">
              <a:extLst>
                <a:ext uri="{FF2B5EF4-FFF2-40B4-BE49-F238E27FC236}">
                  <a16:creationId xmlns:a16="http://schemas.microsoft.com/office/drawing/2014/main" id="{C9974AB6-27CF-D425-A615-0D3FCDCD48D8}"/>
                </a:ext>
              </a:extLst>
            </p:cNvPr>
            <p:cNvSpPr/>
            <p:nvPr/>
          </p:nvSpPr>
          <p:spPr>
            <a:xfrm>
              <a:off x="5925036" y="2475870"/>
              <a:ext cx="274953" cy="308347"/>
            </a:xfrm>
            <a:custGeom>
              <a:avLst/>
              <a:gdLst/>
              <a:ahLst/>
              <a:cxnLst/>
              <a:rect l="l" t="t" r="r" b="b"/>
              <a:pathLst>
                <a:path w="274953" h="308347" extrusionOk="0">
                  <a:moveTo>
                    <a:pt x="219342" y="0"/>
                  </a:moveTo>
                  <a:cubicBezTo>
                    <a:pt x="219342" y="0"/>
                    <a:pt x="212310" y="119063"/>
                    <a:pt x="214495" y="127825"/>
                  </a:cubicBezTo>
                  <a:cubicBezTo>
                    <a:pt x="216681" y="136588"/>
                    <a:pt x="261159" y="144971"/>
                    <a:pt x="273609" y="155353"/>
                  </a:cubicBezTo>
                  <a:cubicBezTo>
                    <a:pt x="286059" y="165735"/>
                    <a:pt x="208983" y="286512"/>
                    <a:pt x="169828" y="304419"/>
                  </a:cubicBezTo>
                  <a:cubicBezTo>
                    <a:pt x="130672" y="322326"/>
                    <a:pt x="9308" y="276606"/>
                    <a:pt x="945" y="216122"/>
                  </a:cubicBezTo>
                  <a:cubicBezTo>
                    <a:pt x="-6848" y="160401"/>
                    <a:pt x="35634" y="117158"/>
                    <a:pt x="51981" y="101822"/>
                  </a:cubicBezTo>
                  <a:cubicBezTo>
                    <a:pt x="63100" y="100841"/>
                    <a:pt x="74276" y="100555"/>
                    <a:pt x="85434" y="100965"/>
                  </a:cubicBezTo>
                  <a:lnTo>
                    <a:pt x="89045" y="43243"/>
                  </a:lnTo>
                  <a:cubicBezTo>
                    <a:pt x="142457" y="26575"/>
                    <a:pt x="219342" y="0"/>
                    <a:pt x="219342" y="0"/>
                  </a:cubicBezTo>
                  <a:close/>
                </a:path>
              </a:pathLst>
            </a:custGeom>
            <a:solidFill>
              <a:srgbClr val="DFAE8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91" name="Google Shape;4532;p48">
              <a:extLst>
                <a:ext uri="{FF2B5EF4-FFF2-40B4-BE49-F238E27FC236}">
                  <a16:creationId xmlns:a16="http://schemas.microsoft.com/office/drawing/2014/main" id="{9E17A31B-66F0-55A7-FB3B-59BABFFEE102}"/>
                </a:ext>
              </a:extLst>
            </p:cNvPr>
            <p:cNvSpPr/>
            <p:nvPr/>
          </p:nvSpPr>
          <p:spPr>
            <a:xfrm>
              <a:off x="5845497" y="2576533"/>
              <a:ext cx="400459" cy="461811"/>
            </a:xfrm>
            <a:custGeom>
              <a:avLst/>
              <a:gdLst/>
              <a:ahLst/>
              <a:cxnLst/>
              <a:rect l="l" t="t" r="r" b="b"/>
              <a:pathLst>
                <a:path w="400459" h="461811" extrusionOk="0">
                  <a:moveTo>
                    <a:pt x="315417" y="38688"/>
                  </a:moveTo>
                  <a:cubicBezTo>
                    <a:pt x="348776" y="43832"/>
                    <a:pt x="386981" y="61739"/>
                    <a:pt x="392208" y="80027"/>
                  </a:cubicBezTo>
                  <a:cubicBezTo>
                    <a:pt x="398290" y="101363"/>
                    <a:pt x="411216" y="202042"/>
                    <a:pt x="382704" y="278718"/>
                  </a:cubicBezTo>
                  <a:cubicBezTo>
                    <a:pt x="354193" y="355394"/>
                    <a:pt x="334330" y="404067"/>
                    <a:pt x="317793" y="437024"/>
                  </a:cubicBezTo>
                  <a:cubicBezTo>
                    <a:pt x="317793" y="437024"/>
                    <a:pt x="173431" y="499126"/>
                    <a:pt x="57009" y="426737"/>
                  </a:cubicBezTo>
                  <a:cubicBezTo>
                    <a:pt x="57009" y="426737"/>
                    <a:pt x="49026" y="344631"/>
                    <a:pt x="48456" y="300721"/>
                  </a:cubicBezTo>
                  <a:cubicBezTo>
                    <a:pt x="-58937" y="206804"/>
                    <a:pt x="32870" y="91171"/>
                    <a:pt x="123916" y="969"/>
                  </a:cubicBezTo>
                  <a:cubicBezTo>
                    <a:pt x="134807" y="-136"/>
                    <a:pt x="145784" y="-298"/>
                    <a:pt x="156704" y="493"/>
                  </a:cubicBezTo>
                  <a:cubicBezTo>
                    <a:pt x="156704" y="493"/>
                    <a:pt x="75447" y="96791"/>
                    <a:pt x="131899" y="151464"/>
                  </a:cubicBezTo>
                  <a:cubicBezTo>
                    <a:pt x="252693" y="114793"/>
                    <a:pt x="276737" y="60405"/>
                    <a:pt x="315417" y="38688"/>
                  </a:cubicBezTo>
                  <a:close/>
                </a:path>
              </a:pathLst>
            </a:custGeom>
            <a:solidFill>
              <a:srgbClr val="F4F4F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92" name="Google Shape;4533;p48">
              <a:extLst>
                <a:ext uri="{FF2B5EF4-FFF2-40B4-BE49-F238E27FC236}">
                  <a16:creationId xmlns:a16="http://schemas.microsoft.com/office/drawing/2014/main" id="{49FE3D9E-194A-54E0-C02E-2E3FD40C9805}"/>
                </a:ext>
              </a:extLst>
            </p:cNvPr>
            <p:cNvSpPr/>
            <p:nvPr/>
          </p:nvSpPr>
          <p:spPr>
            <a:xfrm>
              <a:off x="5916607" y="2198526"/>
              <a:ext cx="294816" cy="364308"/>
            </a:xfrm>
            <a:custGeom>
              <a:avLst/>
              <a:gdLst/>
              <a:ahLst/>
              <a:cxnLst/>
              <a:rect l="l" t="t" r="r" b="b"/>
              <a:pathLst>
                <a:path w="294816" h="364308" extrusionOk="0">
                  <a:moveTo>
                    <a:pt x="6143" y="129898"/>
                  </a:moveTo>
                  <a:lnTo>
                    <a:pt x="6143" y="129898"/>
                  </a:lnTo>
                  <a:cubicBezTo>
                    <a:pt x="18118" y="53698"/>
                    <a:pt x="73240" y="-4405"/>
                    <a:pt x="151931" y="263"/>
                  </a:cubicBezTo>
                  <a:cubicBezTo>
                    <a:pt x="235318" y="4873"/>
                    <a:pt x="299183" y="76348"/>
                    <a:pt x="294583" y="159921"/>
                  </a:cubicBezTo>
                  <a:cubicBezTo>
                    <a:pt x="291970" y="207365"/>
                    <a:pt x="267307" y="250837"/>
                    <a:pt x="227961" y="277345"/>
                  </a:cubicBezTo>
                  <a:cubicBezTo>
                    <a:pt x="225244" y="288937"/>
                    <a:pt x="221157" y="300157"/>
                    <a:pt x="215797" y="310778"/>
                  </a:cubicBezTo>
                  <a:cubicBezTo>
                    <a:pt x="187855" y="343353"/>
                    <a:pt x="113916" y="363927"/>
                    <a:pt x="89492" y="364308"/>
                  </a:cubicBezTo>
                  <a:cubicBezTo>
                    <a:pt x="68298" y="364308"/>
                    <a:pt x="50146" y="344782"/>
                    <a:pt x="30283" y="311921"/>
                  </a:cubicBezTo>
                  <a:cubicBezTo>
                    <a:pt x="-10774" y="243436"/>
                    <a:pt x="-319" y="167617"/>
                    <a:pt x="6143" y="129898"/>
                  </a:cubicBezTo>
                  <a:close/>
                </a:path>
              </a:pathLst>
            </a:custGeom>
            <a:solidFill>
              <a:srgbClr val="DFAE8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93" name="Google Shape;4534;p48">
              <a:extLst>
                <a:ext uri="{FF2B5EF4-FFF2-40B4-BE49-F238E27FC236}">
                  <a16:creationId xmlns:a16="http://schemas.microsoft.com/office/drawing/2014/main" id="{D9DDC9B8-D800-50F3-FD07-233960454D59}"/>
                </a:ext>
              </a:extLst>
            </p:cNvPr>
            <p:cNvSpPr/>
            <p:nvPr/>
          </p:nvSpPr>
          <p:spPr>
            <a:xfrm>
              <a:off x="5928072" y="2197020"/>
              <a:ext cx="296585" cy="278850"/>
            </a:xfrm>
            <a:custGeom>
              <a:avLst/>
              <a:gdLst/>
              <a:ahLst/>
              <a:cxnLst/>
              <a:rect l="l" t="t" r="r" b="b"/>
              <a:pathLst>
                <a:path w="296585" h="278850" extrusionOk="0">
                  <a:moveTo>
                    <a:pt x="164891" y="3197"/>
                  </a:moveTo>
                  <a:cubicBezTo>
                    <a:pt x="220108" y="13961"/>
                    <a:pt x="265441" y="29582"/>
                    <a:pt x="280457" y="83874"/>
                  </a:cubicBezTo>
                  <a:cubicBezTo>
                    <a:pt x="290721" y="121307"/>
                    <a:pt x="304121" y="192554"/>
                    <a:pt x="291386" y="222653"/>
                  </a:cubicBezTo>
                  <a:lnTo>
                    <a:pt x="283403" y="244370"/>
                  </a:lnTo>
                  <a:lnTo>
                    <a:pt x="216876" y="278851"/>
                  </a:lnTo>
                  <a:cubicBezTo>
                    <a:pt x="216876" y="278851"/>
                    <a:pt x="185704" y="252848"/>
                    <a:pt x="195398" y="176457"/>
                  </a:cubicBezTo>
                  <a:cubicBezTo>
                    <a:pt x="194980" y="166227"/>
                    <a:pt x="191692" y="156321"/>
                    <a:pt x="185894" y="147882"/>
                  </a:cubicBezTo>
                  <a:cubicBezTo>
                    <a:pt x="181580" y="140729"/>
                    <a:pt x="178367" y="132956"/>
                    <a:pt x="176390" y="124832"/>
                  </a:cubicBezTo>
                  <a:cubicBezTo>
                    <a:pt x="168531" y="104162"/>
                    <a:pt x="153001" y="87332"/>
                    <a:pt x="133053" y="77873"/>
                  </a:cubicBezTo>
                  <a:cubicBezTo>
                    <a:pt x="83348" y="49870"/>
                    <a:pt x="10454" y="74063"/>
                    <a:pt x="0" y="84160"/>
                  </a:cubicBezTo>
                  <a:cubicBezTo>
                    <a:pt x="33929" y="14627"/>
                    <a:pt x="100645" y="-9376"/>
                    <a:pt x="164891" y="3197"/>
                  </a:cubicBezTo>
                  <a:close/>
                </a:path>
              </a:pathLst>
            </a:custGeom>
            <a:solidFill>
              <a:srgbClr val="3A2C6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94" name="Google Shape;4535;p48">
              <a:extLst>
                <a:ext uri="{FF2B5EF4-FFF2-40B4-BE49-F238E27FC236}">
                  <a16:creationId xmlns:a16="http://schemas.microsoft.com/office/drawing/2014/main" id="{378218D3-D7A0-97BC-A2DE-00DC3C94BFFF}"/>
                </a:ext>
              </a:extLst>
            </p:cNvPr>
            <p:cNvSpPr/>
            <p:nvPr/>
          </p:nvSpPr>
          <p:spPr>
            <a:xfrm>
              <a:off x="5977205" y="4610895"/>
              <a:ext cx="232912" cy="178155"/>
            </a:xfrm>
            <a:custGeom>
              <a:avLst/>
              <a:gdLst/>
              <a:ahLst/>
              <a:cxnLst/>
              <a:rect l="l" t="t" r="r" b="b"/>
              <a:pathLst>
                <a:path w="232912" h="178155" extrusionOk="0">
                  <a:moveTo>
                    <a:pt x="216022" y="5"/>
                  </a:moveTo>
                  <a:cubicBezTo>
                    <a:pt x="188081" y="22769"/>
                    <a:pt x="144649" y="7053"/>
                    <a:pt x="142558" y="9053"/>
                  </a:cubicBezTo>
                  <a:cubicBezTo>
                    <a:pt x="114047" y="37628"/>
                    <a:pt x="71755" y="62489"/>
                    <a:pt x="40202" y="87444"/>
                  </a:cubicBezTo>
                  <a:cubicBezTo>
                    <a:pt x="22810" y="101160"/>
                    <a:pt x="-4276" y="119543"/>
                    <a:pt x="571" y="145927"/>
                  </a:cubicBezTo>
                  <a:cubicBezTo>
                    <a:pt x="9410" y="193076"/>
                    <a:pt x="84775" y="178598"/>
                    <a:pt x="113191" y="164120"/>
                  </a:cubicBezTo>
                  <a:cubicBezTo>
                    <a:pt x="141608" y="149642"/>
                    <a:pt x="164797" y="126020"/>
                    <a:pt x="191692" y="109066"/>
                  </a:cubicBezTo>
                  <a:cubicBezTo>
                    <a:pt x="210700" y="97064"/>
                    <a:pt x="229708" y="90873"/>
                    <a:pt x="232749" y="66584"/>
                  </a:cubicBezTo>
                  <a:cubicBezTo>
                    <a:pt x="234555" y="51916"/>
                    <a:pt x="220964" y="-567"/>
                    <a:pt x="216022" y="5"/>
                  </a:cubicBezTo>
                  <a:close/>
                </a:path>
              </a:pathLst>
            </a:custGeom>
            <a:solidFill>
              <a:srgbClr val="38226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95" name="Google Shape;4536;p48">
              <a:extLst>
                <a:ext uri="{FF2B5EF4-FFF2-40B4-BE49-F238E27FC236}">
                  <a16:creationId xmlns:a16="http://schemas.microsoft.com/office/drawing/2014/main" id="{6E9F944F-001F-F366-CCF9-18CD444481A5}"/>
                </a:ext>
              </a:extLst>
            </p:cNvPr>
            <p:cNvSpPr/>
            <p:nvPr/>
          </p:nvSpPr>
          <p:spPr>
            <a:xfrm>
              <a:off x="5978157" y="4667764"/>
              <a:ext cx="231905" cy="121227"/>
            </a:xfrm>
            <a:custGeom>
              <a:avLst/>
              <a:gdLst/>
              <a:ahLst/>
              <a:cxnLst/>
              <a:rect l="l" t="t" r="r" b="b"/>
              <a:pathLst>
                <a:path w="231905" h="121227" extrusionOk="0">
                  <a:moveTo>
                    <a:pt x="231417" y="0"/>
                  </a:moveTo>
                  <a:cubicBezTo>
                    <a:pt x="227711" y="23241"/>
                    <a:pt x="209083" y="29623"/>
                    <a:pt x="190076" y="41434"/>
                  </a:cubicBezTo>
                  <a:cubicBezTo>
                    <a:pt x="162705" y="58483"/>
                    <a:pt x="138660" y="83058"/>
                    <a:pt x="110244" y="97441"/>
                  </a:cubicBezTo>
                  <a:cubicBezTo>
                    <a:pt x="84013" y="110776"/>
                    <a:pt x="18437" y="124015"/>
                    <a:pt x="0" y="90392"/>
                  </a:cubicBezTo>
                  <a:cubicBezTo>
                    <a:pt x="10074" y="135826"/>
                    <a:pt x="84108" y="121539"/>
                    <a:pt x="112240" y="107251"/>
                  </a:cubicBezTo>
                  <a:cubicBezTo>
                    <a:pt x="140371" y="92964"/>
                    <a:pt x="163845" y="69151"/>
                    <a:pt x="190741" y="52197"/>
                  </a:cubicBezTo>
                  <a:cubicBezTo>
                    <a:pt x="209748" y="40196"/>
                    <a:pt x="228756" y="34004"/>
                    <a:pt x="231797" y="9715"/>
                  </a:cubicBezTo>
                  <a:cubicBezTo>
                    <a:pt x="232025" y="6477"/>
                    <a:pt x="231892" y="3219"/>
                    <a:pt x="231417" y="0"/>
                  </a:cubicBezTo>
                  <a:close/>
                </a:path>
              </a:pathLst>
            </a:custGeom>
            <a:solidFill>
              <a:srgbClr val="757B8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96" name="Google Shape;4537;p48">
              <a:extLst>
                <a:ext uri="{FF2B5EF4-FFF2-40B4-BE49-F238E27FC236}">
                  <a16:creationId xmlns:a16="http://schemas.microsoft.com/office/drawing/2014/main" id="{4A2B7FDA-009A-B054-C333-BC9F9B10FB56}"/>
                </a:ext>
              </a:extLst>
            </p:cNvPr>
            <p:cNvSpPr/>
            <p:nvPr/>
          </p:nvSpPr>
          <p:spPr>
            <a:xfrm>
              <a:off x="5800764" y="4571652"/>
              <a:ext cx="213680" cy="165568"/>
            </a:xfrm>
            <a:custGeom>
              <a:avLst/>
              <a:gdLst/>
              <a:ahLst/>
              <a:cxnLst/>
              <a:rect l="l" t="t" r="r" b="b"/>
              <a:pathLst>
                <a:path w="213680" h="165568" extrusionOk="0">
                  <a:moveTo>
                    <a:pt x="196496" y="5"/>
                  </a:moveTo>
                  <a:cubicBezTo>
                    <a:pt x="170931" y="20864"/>
                    <a:pt x="132345" y="9530"/>
                    <a:pt x="130445" y="11054"/>
                  </a:cubicBezTo>
                  <a:cubicBezTo>
                    <a:pt x="104404" y="37247"/>
                    <a:pt x="65819" y="59726"/>
                    <a:pt x="36927" y="82491"/>
                  </a:cubicBezTo>
                  <a:cubicBezTo>
                    <a:pt x="20961" y="95064"/>
                    <a:pt x="-3939" y="111924"/>
                    <a:pt x="528" y="136022"/>
                  </a:cubicBezTo>
                  <a:cubicBezTo>
                    <a:pt x="8606" y="179265"/>
                    <a:pt x="77604" y="165930"/>
                    <a:pt x="103644" y="152786"/>
                  </a:cubicBezTo>
                  <a:cubicBezTo>
                    <a:pt x="129684" y="139641"/>
                    <a:pt x="151163" y="117638"/>
                    <a:pt x="175588" y="102303"/>
                  </a:cubicBezTo>
                  <a:cubicBezTo>
                    <a:pt x="193170" y="91350"/>
                    <a:pt x="210466" y="85634"/>
                    <a:pt x="213603" y="63441"/>
                  </a:cubicBezTo>
                  <a:cubicBezTo>
                    <a:pt x="214838" y="50011"/>
                    <a:pt x="201058" y="-567"/>
                    <a:pt x="196496" y="5"/>
                  </a:cubicBezTo>
                  <a:close/>
                </a:path>
              </a:pathLst>
            </a:custGeom>
            <a:solidFill>
              <a:srgbClr val="38226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97" name="Google Shape;4538;p48">
              <a:extLst>
                <a:ext uri="{FF2B5EF4-FFF2-40B4-BE49-F238E27FC236}">
                  <a16:creationId xmlns:a16="http://schemas.microsoft.com/office/drawing/2014/main" id="{E1AC184F-C9F6-1882-CABF-B08A5F1EC39B}"/>
                </a:ext>
              </a:extLst>
            </p:cNvPr>
            <p:cNvSpPr/>
            <p:nvPr/>
          </p:nvSpPr>
          <p:spPr>
            <a:xfrm>
              <a:off x="5801482" y="4626139"/>
              <a:ext cx="212755" cy="111143"/>
            </a:xfrm>
            <a:custGeom>
              <a:avLst/>
              <a:gdLst/>
              <a:ahLst/>
              <a:cxnLst/>
              <a:rect l="l" t="t" r="r" b="b"/>
              <a:pathLst>
                <a:path w="212755" h="111143" extrusionOk="0">
                  <a:moveTo>
                    <a:pt x="212124" y="0"/>
                  </a:moveTo>
                  <a:cubicBezTo>
                    <a:pt x="208798" y="21241"/>
                    <a:pt x="191691" y="27146"/>
                    <a:pt x="174109" y="38100"/>
                  </a:cubicBezTo>
                  <a:cubicBezTo>
                    <a:pt x="149019" y="53721"/>
                    <a:pt x="126590" y="76200"/>
                    <a:pt x="100930" y="89344"/>
                  </a:cubicBezTo>
                  <a:cubicBezTo>
                    <a:pt x="76886" y="101632"/>
                    <a:pt x="16917" y="113728"/>
                    <a:pt x="0" y="82867"/>
                  </a:cubicBezTo>
                  <a:cubicBezTo>
                    <a:pt x="9504" y="124492"/>
                    <a:pt x="76980" y="111442"/>
                    <a:pt x="102736" y="98393"/>
                  </a:cubicBezTo>
                  <a:cubicBezTo>
                    <a:pt x="128491" y="85344"/>
                    <a:pt x="150255" y="63246"/>
                    <a:pt x="174679" y="47911"/>
                  </a:cubicBezTo>
                  <a:cubicBezTo>
                    <a:pt x="192261" y="36957"/>
                    <a:pt x="209558" y="31242"/>
                    <a:pt x="212694" y="9049"/>
                  </a:cubicBezTo>
                  <a:cubicBezTo>
                    <a:pt x="212866" y="6020"/>
                    <a:pt x="212676" y="2981"/>
                    <a:pt x="212124" y="0"/>
                  </a:cubicBezTo>
                  <a:close/>
                </a:path>
              </a:pathLst>
            </a:custGeom>
            <a:solidFill>
              <a:srgbClr val="757B8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98" name="Google Shape;4539;p48">
              <a:extLst>
                <a:ext uri="{FF2B5EF4-FFF2-40B4-BE49-F238E27FC236}">
                  <a16:creationId xmlns:a16="http://schemas.microsoft.com/office/drawing/2014/main" id="{959D9B6F-C13A-AAA2-8E07-8965716CD20F}"/>
                </a:ext>
              </a:extLst>
            </p:cNvPr>
            <p:cNvSpPr/>
            <p:nvPr/>
          </p:nvSpPr>
          <p:spPr>
            <a:xfrm>
              <a:off x="5835285" y="3032607"/>
              <a:ext cx="455829" cy="1595222"/>
            </a:xfrm>
            <a:custGeom>
              <a:avLst/>
              <a:gdLst/>
              <a:ahLst/>
              <a:cxnLst/>
              <a:rect l="l" t="t" r="r" b="b"/>
              <a:pathLst>
                <a:path w="455829" h="1595222" extrusionOk="0">
                  <a:moveTo>
                    <a:pt x="11434" y="236696"/>
                  </a:moveTo>
                  <a:cubicBezTo>
                    <a:pt x="23694" y="140208"/>
                    <a:pt x="58953" y="0"/>
                    <a:pt x="58953" y="0"/>
                  </a:cubicBezTo>
                  <a:cubicBezTo>
                    <a:pt x="92720" y="15859"/>
                    <a:pt x="129281" y="24889"/>
                    <a:pt x="166536" y="26575"/>
                  </a:cubicBezTo>
                  <a:cubicBezTo>
                    <a:pt x="228691" y="29718"/>
                    <a:pt x="328101" y="10859"/>
                    <a:pt x="328101" y="10859"/>
                  </a:cubicBezTo>
                  <a:cubicBezTo>
                    <a:pt x="345540" y="41281"/>
                    <a:pt x="364576" y="70752"/>
                    <a:pt x="385123" y="99155"/>
                  </a:cubicBezTo>
                  <a:cubicBezTo>
                    <a:pt x="412875" y="137731"/>
                    <a:pt x="466856" y="222409"/>
                    <a:pt x="453836" y="370332"/>
                  </a:cubicBezTo>
                  <a:cubicBezTo>
                    <a:pt x="445282" y="467011"/>
                    <a:pt x="391301" y="877443"/>
                    <a:pt x="391301" y="877443"/>
                  </a:cubicBezTo>
                  <a:cubicBezTo>
                    <a:pt x="412295" y="946490"/>
                    <a:pt x="423452" y="1018156"/>
                    <a:pt x="424469" y="1090327"/>
                  </a:cubicBezTo>
                  <a:cubicBezTo>
                    <a:pt x="423899" y="1150048"/>
                    <a:pt x="408218" y="1251490"/>
                    <a:pt x="390635" y="1345311"/>
                  </a:cubicBezTo>
                  <a:lnTo>
                    <a:pt x="358418" y="1578293"/>
                  </a:lnTo>
                  <a:cubicBezTo>
                    <a:pt x="358418" y="1578293"/>
                    <a:pt x="315556" y="1609344"/>
                    <a:pt x="284953" y="1587341"/>
                  </a:cubicBezTo>
                  <a:lnTo>
                    <a:pt x="288850" y="1359408"/>
                  </a:lnTo>
                  <a:cubicBezTo>
                    <a:pt x="285049" y="1303592"/>
                    <a:pt x="279346" y="1221296"/>
                    <a:pt x="276020" y="1168908"/>
                  </a:cubicBezTo>
                  <a:cubicBezTo>
                    <a:pt x="270223" y="1083183"/>
                    <a:pt x="254921" y="947356"/>
                    <a:pt x="250550" y="913352"/>
                  </a:cubicBezTo>
                  <a:cubicBezTo>
                    <a:pt x="246178" y="879348"/>
                    <a:pt x="235249" y="820103"/>
                    <a:pt x="230117" y="753618"/>
                  </a:cubicBezTo>
                  <a:cubicBezTo>
                    <a:pt x="224985" y="687134"/>
                    <a:pt x="199895" y="349282"/>
                    <a:pt x="199895" y="349282"/>
                  </a:cubicBezTo>
                  <a:lnTo>
                    <a:pt x="196473" y="412528"/>
                  </a:lnTo>
                  <a:cubicBezTo>
                    <a:pt x="196473" y="412528"/>
                    <a:pt x="193147" y="515303"/>
                    <a:pt x="178416" y="641985"/>
                  </a:cubicBezTo>
                  <a:cubicBezTo>
                    <a:pt x="163685" y="768668"/>
                    <a:pt x="158553" y="824960"/>
                    <a:pt x="158553" y="824960"/>
                  </a:cubicBezTo>
                  <a:cubicBezTo>
                    <a:pt x="158553" y="824960"/>
                    <a:pt x="184118" y="872109"/>
                    <a:pt x="187065" y="906780"/>
                  </a:cubicBezTo>
                  <a:cubicBezTo>
                    <a:pt x="189630" y="934212"/>
                    <a:pt x="220898" y="1150906"/>
                    <a:pt x="202271" y="1261110"/>
                  </a:cubicBezTo>
                  <a:lnTo>
                    <a:pt x="164256" y="1541336"/>
                  </a:lnTo>
                  <a:cubicBezTo>
                    <a:pt x="144782" y="1554832"/>
                    <a:pt x="120015" y="1558090"/>
                    <a:pt x="97729" y="1550098"/>
                  </a:cubicBezTo>
                  <a:lnTo>
                    <a:pt x="75205" y="1267682"/>
                  </a:lnTo>
                  <a:cubicBezTo>
                    <a:pt x="60094" y="1160145"/>
                    <a:pt x="27686" y="932307"/>
                    <a:pt x="23124" y="902684"/>
                  </a:cubicBezTo>
                  <a:cubicBezTo>
                    <a:pt x="16662" y="863727"/>
                    <a:pt x="11340" y="844487"/>
                    <a:pt x="4117" y="721709"/>
                  </a:cubicBezTo>
                  <a:cubicBezTo>
                    <a:pt x="-3106" y="598932"/>
                    <a:pt x="-920" y="333185"/>
                    <a:pt x="11434" y="236696"/>
                  </a:cubicBezTo>
                  <a:close/>
                </a:path>
              </a:pathLst>
            </a:custGeom>
            <a:solidFill>
              <a:srgbClr val="DFAE8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99" name="Google Shape;4540;p48">
              <a:extLst>
                <a:ext uri="{FF2B5EF4-FFF2-40B4-BE49-F238E27FC236}">
                  <a16:creationId xmlns:a16="http://schemas.microsoft.com/office/drawing/2014/main" id="{491DE747-AEAE-099E-15F9-C98A9D13CD5C}"/>
                </a:ext>
              </a:extLst>
            </p:cNvPr>
            <p:cNvSpPr/>
            <p:nvPr/>
          </p:nvSpPr>
          <p:spPr>
            <a:xfrm>
              <a:off x="5815995" y="3000698"/>
              <a:ext cx="485198" cy="1060979"/>
            </a:xfrm>
            <a:custGeom>
              <a:avLst/>
              <a:gdLst/>
              <a:ahLst/>
              <a:cxnLst/>
              <a:rect l="l" t="t" r="r" b="b"/>
              <a:pathLst>
                <a:path w="485198" h="1060979" extrusionOk="0">
                  <a:moveTo>
                    <a:pt x="347391" y="12859"/>
                  </a:moveTo>
                  <a:lnTo>
                    <a:pt x="430264" y="179832"/>
                  </a:lnTo>
                  <a:cubicBezTo>
                    <a:pt x="430264" y="179832"/>
                    <a:pt x="556855" y="365474"/>
                    <a:pt x="425702" y="842772"/>
                  </a:cubicBezTo>
                  <a:lnTo>
                    <a:pt x="450317" y="990029"/>
                  </a:lnTo>
                  <a:cubicBezTo>
                    <a:pt x="450317" y="990029"/>
                    <a:pt x="202078" y="1149668"/>
                    <a:pt x="35952" y="990029"/>
                  </a:cubicBezTo>
                  <a:cubicBezTo>
                    <a:pt x="35952" y="990029"/>
                    <a:pt x="-21641" y="548926"/>
                    <a:pt x="8961" y="345567"/>
                  </a:cubicBezTo>
                  <a:cubicBezTo>
                    <a:pt x="26011" y="228591"/>
                    <a:pt x="51871" y="113071"/>
                    <a:pt x="86322" y="0"/>
                  </a:cubicBezTo>
                  <a:cubicBezTo>
                    <a:pt x="86322" y="0"/>
                    <a:pt x="126998" y="45053"/>
                    <a:pt x="336367" y="15335"/>
                  </a:cubicBezTo>
                </a:path>
              </a:pathLst>
            </a:custGeom>
            <a:solidFill>
              <a:schemeClr val="accent1"/>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00" name="Google Shape;4541;p48">
              <a:extLst>
                <a:ext uri="{FF2B5EF4-FFF2-40B4-BE49-F238E27FC236}">
                  <a16:creationId xmlns:a16="http://schemas.microsoft.com/office/drawing/2014/main" id="{FCD4DB26-4CDF-B7A1-4599-D3DA98ADF637}"/>
                </a:ext>
              </a:extLst>
            </p:cNvPr>
            <p:cNvSpPr/>
            <p:nvPr/>
          </p:nvSpPr>
          <p:spPr>
            <a:xfrm>
              <a:off x="5561118" y="2683306"/>
              <a:ext cx="698939" cy="609714"/>
            </a:xfrm>
            <a:custGeom>
              <a:avLst/>
              <a:gdLst/>
              <a:ahLst/>
              <a:cxnLst/>
              <a:rect l="l" t="t" r="r" b="b"/>
              <a:pathLst>
                <a:path w="698939" h="609714" extrusionOk="0">
                  <a:moveTo>
                    <a:pt x="82790" y="448837"/>
                  </a:moveTo>
                  <a:cubicBezTo>
                    <a:pt x="101798" y="452457"/>
                    <a:pt x="119950" y="448361"/>
                    <a:pt x="146561" y="455600"/>
                  </a:cubicBezTo>
                  <a:cubicBezTo>
                    <a:pt x="166452" y="461905"/>
                    <a:pt x="187190" y="465125"/>
                    <a:pt x="208050" y="465125"/>
                  </a:cubicBezTo>
                  <a:cubicBezTo>
                    <a:pt x="230669" y="465125"/>
                    <a:pt x="294155" y="433407"/>
                    <a:pt x="348611" y="395116"/>
                  </a:cubicBezTo>
                  <a:cubicBezTo>
                    <a:pt x="412762" y="350063"/>
                    <a:pt x="476437" y="272244"/>
                    <a:pt x="499436" y="234811"/>
                  </a:cubicBezTo>
                  <a:cubicBezTo>
                    <a:pt x="548951" y="154038"/>
                    <a:pt x="596375" y="70695"/>
                    <a:pt x="611011" y="28023"/>
                  </a:cubicBezTo>
                  <a:cubicBezTo>
                    <a:pt x="628498" y="-23222"/>
                    <a:pt x="628118" y="11640"/>
                    <a:pt x="658530" y="10878"/>
                  </a:cubicBezTo>
                  <a:cubicBezTo>
                    <a:pt x="693979" y="10020"/>
                    <a:pt x="713082" y="23070"/>
                    <a:pt x="686471" y="92602"/>
                  </a:cubicBezTo>
                  <a:cubicBezTo>
                    <a:pt x="659860" y="162135"/>
                    <a:pt x="635626" y="210522"/>
                    <a:pt x="576322" y="292627"/>
                  </a:cubicBezTo>
                  <a:cubicBezTo>
                    <a:pt x="532918" y="354245"/>
                    <a:pt x="479260" y="407918"/>
                    <a:pt x="417704" y="451314"/>
                  </a:cubicBezTo>
                  <a:cubicBezTo>
                    <a:pt x="363608" y="489280"/>
                    <a:pt x="305151" y="520589"/>
                    <a:pt x="243595" y="544563"/>
                  </a:cubicBezTo>
                  <a:cubicBezTo>
                    <a:pt x="225823" y="551898"/>
                    <a:pt x="214513" y="561709"/>
                    <a:pt x="182295" y="579615"/>
                  </a:cubicBezTo>
                  <a:cubicBezTo>
                    <a:pt x="150381" y="597951"/>
                    <a:pt x="114514" y="608276"/>
                    <a:pt x="77753" y="609714"/>
                  </a:cubicBezTo>
                  <a:cubicBezTo>
                    <a:pt x="46961" y="608953"/>
                    <a:pt x="35937" y="603809"/>
                    <a:pt x="33371" y="597522"/>
                  </a:cubicBezTo>
                  <a:cubicBezTo>
                    <a:pt x="30139" y="589617"/>
                    <a:pt x="36127" y="584188"/>
                    <a:pt x="50193" y="582854"/>
                  </a:cubicBezTo>
                  <a:cubicBezTo>
                    <a:pt x="72688" y="582521"/>
                    <a:pt x="94936" y="578101"/>
                    <a:pt x="115864" y="569805"/>
                  </a:cubicBezTo>
                  <a:cubicBezTo>
                    <a:pt x="115864" y="569805"/>
                    <a:pt x="85166" y="574186"/>
                    <a:pt x="66634" y="575139"/>
                  </a:cubicBezTo>
                  <a:cubicBezTo>
                    <a:pt x="50088" y="576034"/>
                    <a:pt x="33504" y="574729"/>
                    <a:pt x="17310" y="571234"/>
                  </a:cubicBezTo>
                  <a:cubicBezTo>
                    <a:pt x="1723" y="567519"/>
                    <a:pt x="-7020" y="545421"/>
                    <a:pt x="7140" y="543706"/>
                  </a:cubicBezTo>
                  <a:cubicBezTo>
                    <a:pt x="21301" y="541992"/>
                    <a:pt x="32706" y="544659"/>
                    <a:pt x="60267" y="542849"/>
                  </a:cubicBezTo>
                  <a:cubicBezTo>
                    <a:pt x="74845" y="541935"/>
                    <a:pt x="89272" y="539277"/>
                    <a:pt x="103224" y="534943"/>
                  </a:cubicBezTo>
                  <a:cubicBezTo>
                    <a:pt x="84805" y="535105"/>
                    <a:pt x="66396" y="533772"/>
                    <a:pt x="48197" y="530943"/>
                  </a:cubicBezTo>
                  <a:cubicBezTo>
                    <a:pt x="33390" y="529543"/>
                    <a:pt x="19296" y="523885"/>
                    <a:pt x="7615" y="514655"/>
                  </a:cubicBezTo>
                  <a:cubicBezTo>
                    <a:pt x="1628" y="509702"/>
                    <a:pt x="583" y="495605"/>
                    <a:pt x="18450" y="495605"/>
                  </a:cubicBezTo>
                  <a:cubicBezTo>
                    <a:pt x="34511" y="495605"/>
                    <a:pt x="54659" y="503035"/>
                    <a:pt x="84976" y="498844"/>
                  </a:cubicBezTo>
                  <a:cubicBezTo>
                    <a:pt x="107310" y="495700"/>
                    <a:pt x="122992" y="490462"/>
                    <a:pt x="119190" y="487509"/>
                  </a:cubicBezTo>
                  <a:cubicBezTo>
                    <a:pt x="115388" y="484556"/>
                    <a:pt x="102748" y="487509"/>
                    <a:pt x="84311" y="480746"/>
                  </a:cubicBezTo>
                  <a:cubicBezTo>
                    <a:pt x="65874" y="473983"/>
                    <a:pt x="52949" y="457791"/>
                    <a:pt x="57225" y="448075"/>
                  </a:cubicBezTo>
                  <a:cubicBezTo>
                    <a:pt x="61502" y="438360"/>
                    <a:pt x="63593" y="445313"/>
                    <a:pt x="82790" y="448837"/>
                  </a:cubicBezTo>
                  <a:close/>
                </a:path>
              </a:pathLst>
            </a:custGeom>
            <a:solidFill>
              <a:srgbClr val="DFAE8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01" name="Google Shape;4542;p48">
              <a:extLst>
                <a:ext uri="{FF2B5EF4-FFF2-40B4-BE49-F238E27FC236}">
                  <a16:creationId xmlns:a16="http://schemas.microsoft.com/office/drawing/2014/main" id="{B90F1377-E1DE-66E8-7404-991F90634DAC}"/>
                </a:ext>
              </a:extLst>
            </p:cNvPr>
            <p:cNvSpPr/>
            <p:nvPr/>
          </p:nvSpPr>
          <p:spPr>
            <a:xfrm>
              <a:off x="6103702" y="2644294"/>
              <a:ext cx="168312" cy="197615"/>
            </a:xfrm>
            <a:custGeom>
              <a:avLst/>
              <a:gdLst/>
              <a:ahLst/>
              <a:cxnLst/>
              <a:rect l="l" t="t" r="r" b="b"/>
              <a:pathLst>
                <a:path w="168312" h="197615" extrusionOk="0">
                  <a:moveTo>
                    <a:pt x="127446" y="197527"/>
                  </a:moveTo>
                  <a:cubicBezTo>
                    <a:pt x="127446" y="197527"/>
                    <a:pt x="46188" y="201813"/>
                    <a:pt x="0" y="150759"/>
                  </a:cubicBezTo>
                  <a:lnTo>
                    <a:pt x="50085" y="45984"/>
                  </a:lnTo>
                  <a:cubicBezTo>
                    <a:pt x="50085" y="45984"/>
                    <a:pt x="73179" y="-12023"/>
                    <a:pt x="127351" y="2264"/>
                  </a:cubicBezTo>
                  <a:cubicBezTo>
                    <a:pt x="181522" y="16552"/>
                    <a:pt x="182378" y="92942"/>
                    <a:pt x="127446" y="197527"/>
                  </a:cubicBezTo>
                  <a:close/>
                </a:path>
              </a:pathLst>
            </a:custGeom>
            <a:solidFill>
              <a:srgbClr val="EDEDE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02" name="Google Shape;4543;p48">
              <a:extLst>
                <a:ext uri="{FF2B5EF4-FFF2-40B4-BE49-F238E27FC236}">
                  <a16:creationId xmlns:a16="http://schemas.microsoft.com/office/drawing/2014/main" id="{F9C25671-542B-2A71-446F-F2AED99B2F24}"/>
                </a:ext>
              </a:extLst>
            </p:cNvPr>
            <p:cNvSpPr/>
            <p:nvPr/>
          </p:nvSpPr>
          <p:spPr>
            <a:xfrm>
              <a:off x="5833319" y="2576558"/>
              <a:ext cx="135999" cy="142961"/>
            </a:xfrm>
            <a:custGeom>
              <a:avLst/>
              <a:gdLst/>
              <a:ahLst/>
              <a:cxnLst/>
              <a:rect l="l" t="t" r="r" b="b"/>
              <a:pathLst>
                <a:path w="135999" h="142961" extrusionOk="0">
                  <a:moveTo>
                    <a:pt x="135999" y="944"/>
                  </a:moveTo>
                  <a:cubicBezTo>
                    <a:pt x="135999" y="944"/>
                    <a:pt x="70043" y="-19249"/>
                    <a:pt x="0" y="127150"/>
                  </a:cubicBezTo>
                  <a:lnTo>
                    <a:pt x="26231" y="142962"/>
                  </a:lnTo>
                  <a:cubicBezTo>
                    <a:pt x="26231" y="142962"/>
                    <a:pt x="95133" y="38473"/>
                    <a:pt x="135999" y="944"/>
                  </a:cubicBezTo>
                  <a:close/>
                </a:path>
              </a:pathLst>
            </a:custGeom>
            <a:solidFill>
              <a:srgbClr val="EDEDE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03" name="Google Shape;4544;p48">
              <a:extLst>
                <a:ext uri="{FF2B5EF4-FFF2-40B4-BE49-F238E27FC236}">
                  <a16:creationId xmlns:a16="http://schemas.microsoft.com/office/drawing/2014/main" id="{7452BD49-A12F-7D0C-F6C2-4A9C10FAAD57}"/>
                </a:ext>
              </a:extLst>
            </p:cNvPr>
            <p:cNvSpPr/>
            <p:nvPr/>
          </p:nvSpPr>
          <p:spPr>
            <a:xfrm>
              <a:off x="2925535" y="2722330"/>
              <a:ext cx="1200895" cy="746478"/>
            </a:xfrm>
            <a:custGeom>
              <a:avLst/>
              <a:gdLst/>
              <a:ahLst/>
              <a:cxnLst/>
              <a:rect l="l" t="t" r="r" b="b"/>
              <a:pathLst>
                <a:path w="1200895" h="746478" extrusionOk="0">
                  <a:moveTo>
                    <a:pt x="1109954" y="738045"/>
                  </a:moveTo>
                  <a:lnTo>
                    <a:pt x="30323" y="113395"/>
                  </a:lnTo>
                  <a:cubicBezTo>
                    <a:pt x="1323" y="96612"/>
                    <a:pt x="-8610" y="59446"/>
                    <a:pt x="8136" y="30385"/>
                  </a:cubicBezTo>
                  <a:cubicBezTo>
                    <a:pt x="13457" y="21145"/>
                    <a:pt x="21109" y="13478"/>
                    <a:pt x="30323" y="8144"/>
                  </a:cubicBezTo>
                  <a:lnTo>
                    <a:pt x="30323" y="8144"/>
                  </a:lnTo>
                  <a:cubicBezTo>
                    <a:pt x="49084" y="-2715"/>
                    <a:pt x="72197" y="-2715"/>
                    <a:pt x="90957" y="8144"/>
                  </a:cubicBezTo>
                  <a:lnTo>
                    <a:pt x="1170588" y="633270"/>
                  </a:lnTo>
                  <a:cubicBezTo>
                    <a:pt x="1199584" y="650062"/>
                    <a:pt x="1209506" y="687229"/>
                    <a:pt x="1192750" y="716290"/>
                  </a:cubicBezTo>
                  <a:cubicBezTo>
                    <a:pt x="1186117" y="727805"/>
                    <a:pt x="1175891" y="736816"/>
                    <a:pt x="1163650" y="741950"/>
                  </a:cubicBezTo>
                  <a:lnTo>
                    <a:pt x="1163650" y="741950"/>
                  </a:lnTo>
                  <a:cubicBezTo>
                    <a:pt x="1146125" y="749151"/>
                    <a:pt x="1126253" y="747703"/>
                    <a:pt x="1109954" y="738045"/>
                  </a:cubicBezTo>
                  <a:close/>
                </a:path>
              </a:pathLst>
            </a:custGeom>
            <a:solidFill>
              <a:srgbClr val="D6D8E5">
                <a:alpha val="400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04" name="Google Shape;4545;p48">
              <a:extLst>
                <a:ext uri="{FF2B5EF4-FFF2-40B4-BE49-F238E27FC236}">
                  <a16:creationId xmlns:a16="http://schemas.microsoft.com/office/drawing/2014/main" id="{5F77DD8A-97D8-154A-CB11-5BADC8605FBD}"/>
                </a:ext>
              </a:extLst>
            </p:cNvPr>
            <p:cNvSpPr/>
            <p:nvPr/>
          </p:nvSpPr>
          <p:spPr>
            <a:xfrm>
              <a:off x="2868613" y="1365288"/>
              <a:ext cx="1401428" cy="1812876"/>
            </a:xfrm>
            <a:custGeom>
              <a:avLst/>
              <a:gdLst/>
              <a:ahLst/>
              <a:cxnLst/>
              <a:rect l="l" t="t" r="r" b="b"/>
              <a:pathLst>
                <a:path w="1401428" h="1812876" extrusionOk="0">
                  <a:moveTo>
                    <a:pt x="700714" y="1717230"/>
                  </a:moveTo>
                  <a:cubicBezTo>
                    <a:pt x="314290" y="1493678"/>
                    <a:pt x="0" y="947991"/>
                    <a:pt x="0" y="500888"/>
                  </a:cubicBezTo>
                  <a:cubicBezTo>
                    <a:pt x="0" y="53784"/>
                    <a:pt x="314290" y="-127762"/>
                    <a:pt x="700714" y="95504"/>
                  </a:cubicBezTo>
                  <a:cubicBezTo>
                    <a:pt x="1087138" y="318770"/>
                    <a:pt x="1401428" y="864647"/>
                    <a:pt x="1401428" y="1311846"/>
                  </a:cubicBezTo>
                  <a:cubicBezTo>
                    <a:pt x="1401428" y="1759045"/>
                    <a:pt x="1087043" y="1940782"/>
                    <a:pt x="700714" y="1717230"/>
                  </a:cubicBezTo>
                  <a:close/>
                  <a:moveTo>
                    <a:pt x="700714" y="240855"/>
                  </a:moveTo>
                  <a:cubicBezTo>
                    <a:pt x="383478" y="57308"/>
                    <a:pt x="125355" y="206660"/>
                    <a:pt x="125355" y="573754"/>
                  </a:cubicBezTo>
                  <a:cubicBezTo>
                    <a:pt x="125355" y="940847"/>
                    <a:pt x="383478" y="1388808"/>
                    <a:pt x="700714" y="1572355"/>
                  </a:cubicBezTo>
                  <a:cubicBezTo>
                    <a:pt x="1017951" y="1755902"/>
                    <a:pt x="1275978" y="1606645"/>
                    <a:pt x="1275978" y="1239551"/>
                  </a:cubicBezTo>
                  <a:cubicBezTo>
                    <a:pt x="1275978" y="872458"/>
                    <a:pt x="1017951" y="424116"/>
                    <a:pt x="700714" y="240569"/>
                  </a:cubicBezTo>
                  <a:close/>
                </a:path>
              </a:pathLst>
            </a:custGeom>
            <a:solidFill>
              <a:schemeClr val="accent2"/>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05" name="Google Shape;4546;p48">
              <a:extLst>
                <a:ext uri="{FF2B5EF4-FFF2-40B4-BE49-F238E27FC236}">
                  <a16:creationId xmlns:a16="http://schemas.microsoft.com/office/drawing/2014/main" id="{E7192F85-3D73-C58F-6DFB-A2A7CDE8EDB4}"/>
                </a:ext>
              </a:extLst>
            </p:cNvPr>
            <p:cNvSpPr/>
            <p:nvPr/>
          </p:nvSpPr>
          <p:spPr>
            <a:xfrm>
              <a:off x="2977907" y="1395545"/>
              <a:ext cx="128396" cy="88201"/>
            </a:xfrm>
            <a:custGeom>
              <a:avLst/>
              <a:gdLst/>
              <a:ahLst/>
              <a:cxnLst/>
              <a:rect l="l" t="t" r="r" b="b"/>
              <a:pathLst>
                <a:path w="128396" h="88201" extrusionOk="0">
                  <a:moveTo>
                    <a:pt x="0" y="70295"/>
                  </a:moveTo>
                  <a:lnTo>
                    <a:pt x="128396" y="0"/>
                  </a:lnTo>
                  <a:lnTo>
                    <a:pt x="109198" y="88201"/>
                  </a:lnTo>
                  <a:lnTo>
                    <a:pt x="0" y="70295"/>
                  </a:lnTo>
                  <a:close/>
                </a:path>
              </a:pathLst>
            </a:custGeom>
            <a:solidFill>
              <a:srgbClr val="D33D3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06" name="Google Shape;4547;p48">
              <a:extLst>
                <a:ext uri="{FF2B5EF4-FFF2-40B4-BE49-F238E27FC236}">
                  <a16:creationId xmlns:a16="http://schemas.microsoft.com/office/drawing/2014/main" id="{CB19DDAC-2030-430C-FE2D-9A59315FF616}"/>
                </a:ext>
              </a:extLst>
            </p:cNvPr>
            <p:cNvSpPr/>
            <p:nvPr/>
          </p:nvSpPr>
          <p:spPr>
            <a:xfrm>
              <a:off x="3945392" y="3100901"/>
              <a:ext cx="140370" cy="95440"/>
            </a:xfrm>
            <a:custGeom>
              <a:avLst/>
              <a:gdLst/>
              <a:ahLst/>
              <a:cxnLst/>
              <a:rect l="l" t="t" r="r" b="b"/>
              <a:pathLst>
                <a:path w="140370" h="95440" extrusionOk="0">
                  <a:moveTo>
                    <a:pt x="0" y="95440"/>
                  </a:moveTo>
                  <a:cubicBezTo>
                    <a:pt x="3136" y="94012"/>
                    <a:pt x="140371" y="17050"/>
                    <a:pt x="140371" y="17050"/>
                  </a:cubicBezTo>
                  <a:lnTo>
                    <a:pt x="34309" y="0"/>
                  </a:lnTo>
                  <a:close/>
                </a:path>
              </a:pathLst>
            </a:custGeom>
            <a:solidFill>
              <a:srgbClr val="D33D3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07" name="Google Shape;4548;p48">
              <a:extLst>
                <a:ext uri="{FF2B5EF4-FFF2-40B4-BE49-F238E27FC236}">
                  <a16:creationId xmlns:a16="http://schemas.microsoft.com/office/drawing/2014/main" id="{79ED059B-A3CA-0C5F-4C26-6E5987CFF97E}"/>
                </a:ext>
              </a:extLst>
            </p:cNvPr>
            <p:cNvSpPr/>
            <p:nvPr/>
          </p:nvSpPr>
          <p:spPr>
            <a:xfrm rot="-1801764">
              <a:off x="2958862" y="1416978"/>
              <a:ext cx="1040879" cy="1807000"/>
            </a:xfrm>
            <a:custGeom>
              <a:avLst/>
              <a:gdLst/>
              <a:ahLst/>
              <a:cxnLst/>
              <a:rect l="l" t="t" r="r" b="b"/>
              <a:pathLst>
                <a:path w="1041804" h="1808606" extrusionOk="0">
                  <a:moveTo>
                    <a:pt x="1041805" y="904303"/>
                  </a:moveTo>
                  <a:cubicBezTo>
                    <a:pt x="1041805" y="1403736"/>
                    <a:pt x="808589" y="1808606"/>
                    <a:pt x="520902" y="1808606"/>
                  </a:cubicBezTo>
                  <a:cubicBezTo>
                    <a:pt x="233216" y="1808606"/>
                    <a:pt x="0" y="1403736"/>
                    <a:pt x="0" y="904303"/>
                  </a:cubicBezTo>
                  <a:cubicBezTo>
                    <a:pt x="0" y="404870"/>
                    <a:pt x="233216" y="0"/>
                    <a:pt x="520902" y="0"/>
                  </a:cubicBezTo>
                  <a:cubicBezTo>
                    <a:pt x="808589" y="0"/>
                    <a:pt x="1041805" y="404870"/>
                    <a:pt x="1041805" y="904303"/>
                  </a:cubicBezTo>
                  <a:close/>
                </a:path>
              </a:pathLst>
            </a:custGeom>
            <a:solidFill>
              <a:srgbClr val="F4F4F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08" name="Google Shape;4549;p48">
              <a:extLst>
                <a:ext uri="{FF2B5EF4-FFF2-40B4-BE49-F238E27FC236}">
                  <a16:creationId xmlns:a16="http://schemas.microsoft.com/office/drawing/2014/main" id="{523039F2-0752-0061-0768-414CC3B1F05E}"/>
                </a:ext>
              </a:extLst>
            </p:cNvPr>
            <p:cNvSpPr/>
            <p:nvPr/>
          </p:nvSpPr>
          <p:spPr>
            <a:xfrm>
              <a:off x="2779183" y="1414991"/>
              <a:ext cx="1401428" cy="1812826"/>
            </a:xfrm>
            <a:custGeom>
              <a:avLst/>
              <a:gdLst/>
              <a:ahLst/>
              <a:cxnLst/>
              <a:rect l="l" t="t" r="r" b="b"/>
              <a:pathLst>
                <a:path w="1401428" h="1812826" extrusionOk="0">
                  <a:moveTo>
                    <a:pt x="700714" y="1717343"/>
                  </a:moveTo>
                  <a:cubicBezTo>
                    <a:pt x="314480" y="1493695"/>
                    <a:pt x="0" y="948104"/>
                    <a:pt x="0" y="500905"/>
                  </a:cubicBezTo>
                  <a:cubicBezTo>
                    <a:pt x="0" y="53706"/>
                    <a:pt x="314385" y="-127745"/>
                    <a:pt x="700714" y="95521"/>
                  </a:cubicBezTo>
                  <a:cubicBezTo>
                    <a:pt x="1087043" y="318787"/>
                    <a:pt x="1401428" y="864760"/>
                    <a:pt x="1401428" y="1311863"/>
                  </a:cubicBezTo>
                  <a:cubicBezTo>
                    <a:pt x="1401428" y="1758967"/>
                    <a:pt x="1087138" y="1940609"/>
                    <a:pt x="700714" y="1717343"/>
                  </a:cubicBezTo>
                  <a:close/>
                  <a:moveTo>
                    <a:pt x="700714" y="240967"/>
                  </a:moveTo>
                  <a:cubicBezTo>
                    <a:pt x="383573" y="57421"/>
                    <a:pt x="125450" y="206678"/>
                    <a:pt x="125450" y="573771"/>
                  </a:cubicBezTo>
                  <a:cubicBezTo>
                    <a:pt x="125450" y="940864"/>
                    <a:pt x="383573" y="1388920"/>
                    <a:pt x="700714" y="1572467"/>
                  </a:cubicBezTo>
                  <a:cubicBezTo>
                    <a:pt x="1017855" y="1756014"/>
                    <a:pt x="1276073" y="1606662"/>
                    <a:pt x="1276073" y="1239568"/>
                  </a:cubicBezTo>
                  <a:cubicBezTo>
                    <a:pt x="1276073" y="872475"/>
                    <a:pt x="1017760" y="424229"/>
                    <a:pt x="700714" y="240682"/>
                  </a:cubicBezTo>
                  <a:close/>
                </a:path>
              </a:pathLst>
            </a:custGeom>
            <a:solidFill>
              <a:schemeClr val="accent1"/>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09" name="Google Shape;4550;p48">
              <a:extLst>
                <a:ext uri="{FF2B5EF4-FFF2-40B4-BE49-F238E27FC236}">
                  <a16:creationId xmlns:a16="http://schemas.microsoft.com/office/drawing/2014/main" id="{0EB9E49F-7319-DD64-194C-7F14A173D72D}"/>
                </a:ext>
              </a:extLst>
            </p:cNvPr>
            <p:cNvSpPr/>
            <p:nvPr/>
          </p:nvSpPr>
          <p:spPr>
            <a:xfrm>
              <a:off x="3046144" y="1759790"/>
              <a:ext cx="868170" cy="1123263"/>
            </a:xfrm>
            <a:custGeom>
              <a:avLst/>
              <a:gdLst/>
              <a:ahLst/>
              <a:cxnLst/>
              <a:rect l="l" t="t" r="r" b="b"/>
              <a:pathLst>
                <a:path w="868170" h="1123263" extrusionOk="0">
                  <a:moveTo>
                    <a:pt x="433753" y="1063934"/>
                  </a:moveTo>
                  <a:cubicBezTo>
                    <a:pt x="194447" y="925440"/>
                    <a:pt x="0" y="587398"/>
                    <a:pt x="0" y="310411"/>
                  </a:cubicBezTo>
                  <a:cubicBezTo>
                    <a:pt x="0" y="33424"/>
                    <a:pt x="194733" y="-79257"/>
                    <a:pt x="434038" y="59237"/>
                  </a:cubicBezTo>
                  <a:cubicBezTo>
                    <a:pt x="673343" y="197730"/>
                    <a:pt x="868171" y="535487"/>
                    <a:pt x="868171" y="812759"/>
                  </a:cubicBezTo>
                  <a:cubicBezTo>
                    <a:pt x="868171" y="1090032"/>
                    <a:pt x="673153" y="1202523"/>
                    <a:pt x="433753" y="1063934"/>
                  </a:cubicBezTo>
                  <a:close/>
                  <a:moveTo>
                    <a:pt x="433753" y="204398"/>
                  </a:moveTo>
                  <a:cubicBezTo>
                    <a:pt x="263540" y="105909"/>
                    <a:pt x="125070" y="186015"/>
                    <a:pt x="125070" y="382992"/>
                  </a:cubicBezTo>
                  <a:cubicBezTo>
                    <a:pt x="125070" y="579969"/>
                    <a:pt x="263540" y="820380"/>
                    <a:pt x="433753" y="918868"/>
                  </a:cubicBezTo>
                  <a:cubicBezTo>
                    <a:pt x="603966" y="1017356"/>
                    <a:pt x="742436" y="937156"/>
                    <a:pt x="742436" y="740179"/>
                  </a:cubicBezTo>
                  <a:cubicBezTo>
                    <a:pt x="742436" y="543202"/>
                    <a:pt x="603966" y="302886"/>
                    <a:pt x="433753" y="204398"/>
                  </a:cubicBezTo>
                  <a:close/>
                </a:path>
              </a:pathLst>
            </a:custGeom>
            <a:solidFill>
              <a:schemeClr val="accent1"/>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10" name="Google Shape;4551;p48">
              <a:extLst>
                <a:ext uri="{FF2B5EF4-FFF2-40B4-BE49-F238E27FC236}">
                  <a16:creationId xmlns:a16="http://schemas.microsoft.com/office/drawing/2014/main" id="{3E912782-8101-D350-B178-DCD3A856B54D}"/>
                </a:ext>
              </a:extLst>
            </p:cNvPr>
            <p:cNvSpPr/>
            <p:nvPr/>
          </p:nvSpPr>
          <p:spPr>
            <a:xfrm>
              <a:off x="3308258" y="2099261"/>
              <a:ext cx="343371" cy="444102"/>
            </a:xfrm>
            <a:custGeom>
              <a:avLst/>
              <a:gdLst/>
              <a:ahLst/>
              <a:cxnLst/>
              <a:rect l="l" t="t" r="r" b="b"/>
              <a:pathLst>
                <a:path w="343371" h="444102" extrusionOk="0">
                  <a:moveTo>
                    <a:pt x="171638" y="420806"/>
                  </a:moveTo>
                  <a:cubicBezTo>
                    <a:pt x="76600" y="366037"/>
                    <a:pt x="0" y="232306"/>
                    <a:pt x="0" y="122768"/>
                  </a:cubicBezTo>
                  <a:cubicBezTo>
                    <a:pt x="0" y="13231"/>
                    <a:pt x="76981" y="-31346"/>
                    <a:pt x="171638" y="23423"/>
                  </a:cubicBezTo>
                  <a:cubicBezTo>
                    <a:pt x="266296" y="78191"/>
                    <a:pt x="343372" y="211922"/>
                    <a:pt x="343372" y="321460"/>
                  </a:cubicBezTo>
                  <a:cubicBezTo>
                    <a:pt x="343372" y="430997"/>
                    <a:pt x="266391" y="475289"/>
                    <a:pt x="171638" y="420806"/>
                  </a:cubicBezTo>
                  <a:close/>
                  <a:moveTo>
                    <a:pt x="171638" y="168584"/>
                  </a:moveTo>
                  <a:cubicBezTo>
                    <a:pt x="146168" y="153820"/>
                    <a:pt x="125355" y="165821"/>
                    <a:pt x="125355" y="195349"/>
                  </a:cubicBezTo>
                  <a:cubicBezTo>
                    <a:pt x="127170" y="227962"/>
                    <a:pt x="144353" y="257776"/>
                    <a:pt x="171638" y="275644"/>
                  </a:cubicBezTo>
                  <a:cubicBezTo>
                    <a:pt x="197204" y="290408"/>
                    <a:pt x="217922" y="278407"/>
                    <a:pt x="217922" y="248879"/>
                  </a:cubicBezTo>
                  <a:cubicBezTo>
                    <a:pt x="216145" y="216247"/>
                    <a:pt x="198952" y="186424"/>
                    <a:pt x="171638" y="168584"/>
                  </a:cubicBezTo>
                  <a:close/>
                </a:path>
              </a:pathLst>
            </a:custGeom>
            <a:solidFill>
              <a:schemeClr val="accent1"/>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11" name="Google Shape;4552;p48">
              <a:extLst>
                <a:ext uri="{FF2B5EF4-FFF2-40B4-BE49-F238E27FC236}">
                  <a16:creationId xmlns:a16="http://schemas.microsoft.com/office/drawing/2014/main" id="{3749F5F4-A2C0-3581-FE0C-D4222BB7D20C}"/>
                </a:ext>
              </a:extLst>
            </p:cNvPr>
            <p:cNvSpPr/>
            <p:nvPr/>
          </p:nvSpPr>
          <p:spPr>
            <a:xfrm>
              <a:off x="2221786" y="2914306"/>
              <a:ext cx="208703" cy="88772"/>
            </a:xfrm>
            <a:custGeom>
              <a:avLst/>
              <a:gdLst/>
              <a:ahLst/>
              <a:cxnLst/>
              <a:rect l="l" t="t" r="r" b="b"/>
              <a:pathLst>
                <a:path w="208703" h="88772" extrusionOk="0">
                  <a:moveTo>
                    <a:pt x="64246" y="87916"/>
                  </a:moveTo>
                  <a:lnTo>
                    <a:pt x="0" y="88773"/>
                  </a:lnTo>
                  <a:lnTo>
                    <a:pt x="208703" y="0"/>
                  </a:lnTo>
                  <a:lnTo>
                    <a:pt x="87720" y="75342"/>
                  </a:lnTo>
                  <a:lnTo>
                    <a:pt x="64246" y="87916"/>
                  </a:lnTo>
                  <a:close/>
                </a:path>
              </a:pathLst>
            </a:custGeom>
            <a:solidFill>
              <a:srgbClr val="2B303F"/>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12" name="Google Shape;4553;p48">
              <a:extLst>
                <a:ext uri="{FF2B5EF4-FFF2-40B4-BE49-F238E27FC236}">
                  <a16:creationId xmlns:a16="http://schemas.microsoft.com/office/drawing/2014/main" id="{C767D038-4DEF-6F0E-9C50-07CEDB2237DF}"/>
                </a:ext>
              </a:extLst>
            </p:cNvPr>
            <p:cNvSpPr/>
            <p:nvPr/>
          </p:nvSpPr>
          <p:spPr>
            <a:xfrm rot="-1801764">
              <a:off x="2288993" y="2988576"/>
              <a:ext cx="26776" cy="46440"/>
            </a:xfrm>
            <a:custGeom>
              <a:avLst/>
              <a:gdLst/>
              <a:ahLst/>
              <a:cxnLst/>
              <a:rect l="l" t="t" r="r" b="b"/>
              <a:pathLst>
                <a:path w="26800" h="46481" extrusionOk="0">
                  <a:moveTo>
                    <a:pt x="26801" y="23241"/>
                  </a:moveTo>
                  <a:cubicBezTo>
                    <a:pt x="26801" y="36076"/>
                    <a:pt x="20801" y="46482"/>
                    <a:pt x="13400" y="46482"/>
                  </a:cubicBezTo>
                  <a:cubicBezTo>
                    <a:pt x="6000" y="46482"/>
                    <a:pt x="0" y="36076"/>
                    <a:pt x="0" y="23241"/>
                  </a:cubicBezTo>
                  <a:cubicBezTo>
                    <a:pt x="0" y="10405"/>
                    <a:pt x="6000" y="0"/>
                    <a:pt x="13400" y="0"/>
                  </a:cubicBezTo>
                  <a:cubicBezTo>
                    <a:pt x="20801" y="0"/>
                    <a:pt x="26801" y="10405"/>
                    <a:pt x="26801" y="23241"/>
                  </a:cubicBezTo>
                  <a:close/>
                </a:path>
              </a:pathLst>
            </a:custGeom>
            <a:solidFill>
              <a:srgbClr val="E8A30A"/>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13" name="Google Shape;4554;p48">
              <a:extLst>
                <a:ext uri="{FF2B5EF4-FFF2-40B4-BE49-F238E27FC236}">
                  <a16:creationId xmlns:a16="http://schemas.microsoft.com/office/drawing/2014/main" id="{945F3D68-20AA-105E-B045-AC0A9CFB5358}"/>
                </a:ext>
              </a:extLst>
            </p:cNvPr>
            <p:cNvSpPr/>
            <p:nvPr/>
          </p:nvSpPr>
          <p:spPr>
            <a:xfrm rot="-1801764">
              <a:off x="3469496" y="2304051"/>
              <a:ext cx="26776" cy="46440"/>
            </a:xfrm>
            <a:custGeom>
              <a:avLst/>
              <a:gdLst/>
              <a:ahLst/>
              <a:cxnLst/>
              <a:rect l="l" t="t" r="r" b="b"/>
              <a:pathLst>
                <a:path w="26800" h="46481" extrusionOk="0">
                  <a:moveTo>
                    <a:pt x="26801" y="23241"/>
                  </a:moveTo>
                  <a:cubicBezTo>
                    <a:pt x="26801" y="36077"/>
                    <a:pt x="20801" y="46482"/>
                    <a:pt x="13400" y="46482"/>
                  </a:cubicBezTo>
                  <a:cubicBezTo>
                    <a:pt x="5999" y="46482"/>
                    <a:pt x="0" y="36077"/>
                    <a:pt x="0" y="23241"/>
                  </a:cubicBezTo>
                  <a:cubicBezTo>
                    <a:pt x="0" y="10405"/>
                    <a:pt x="5999" y="0"/>
                    <a:pt x="13400" y="0"/>
                  </a:cubicBezTo>
                  <a:cubicBezTo>
                    <a:pt x="20801" y="0"/>
                    <a:pt x="26801" y="10405"/>
                    <a:pt x="26801" y="23241"/>
                  </a:cubicBezTo>
                  <a:close/>
                </a:path>
              </a:pathLst>
            </a:custGeom>
            <a:solidFill>
              <a:srgbClr val="E8A30A"/>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14" name="Google Shape;4555;p48">
              <a:extLst>
                <a:ext uri="{FF2B5EF4-FFF2-40B4-BE49-F238E27FC236}">
                  <a16:creationId xmlns:a16="http://schemas.microsoft.com/office/drawing/2014/main" id="{F5D59B05-4E49-51D9-A970-C3C5311F7243}"/>
                </a:ext>
              </a:extLst>
            </p:cNvPr>
            <p:cNvSpPr/>
            <p:nvPr/>
          </p:nvSpPr>
          <p:spPr>
            <a:xfrm>
              <a:off x="2314638" y="2924117"/>
              <a:ext cx="167836" cy="171354"/>
            </a:xfrm>
            <a:custGeom>
              <a:avLst/>
              <a:gdLst/>
              <a:ahLst/>
              <a:cxnLst/>
              <a:rect l="l" t="t" r="r" b="b"/>
              <a:pathLst>
                <a:path w="167836" h="171354" extrusionOk="0">
                  <a:moveTo>
                    <a:pt x="15301" y="171355"/>
                  </a:moveTo>
                  <a:lnTo>
                    <a:pt x="0" y="107251"/>
                  </a:lnTo>
                  <a:lnTo>
                    <a:pt x="167837" y="0"/>
                  </a:lnTo>
                  <a:lnTo>
                    <a:pt x="160519" y="15145"/>
                  </a:lnTo>
                  <a:lnTo>
                    <a:pt x="15301" y="171355"/>
                  </a:lnTo>
                  <a:close/>
                </a:path>
              </a:pathLst>
            </a:custGeom>
            <a:solidFill>
              <a:srgbClr val="2B303F"/>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15" name="Google Shape;4556;p48">
              <a:extLst>
                <a:ext uri="{FF2B5EF4-FFF2-40B4-BE49-F238E27FC236}">
                  <a16:creationId xmlns:a16="http://schemas.microsoft.com/office/drawing/2014/main" id="{62D17EAE-6EF3-593F-1597-E4517F517E72}"/>
                </a:ext>
              </a:extLst>
            </p:cNvPr>
            <p:cNvSpPr/>
            <p:nvPr/>
          </p:nvSpPr>
          <p:spPr>
            <a:xfrm>
              <a:off x="2290498" y="2306802"/>
              <a:ext cx="1203749" cy="724947"/>
            </a:xfrm>
            <a:custGeom>
              <a:avLst/>
              <a:gdLst/>
              <a:ahLst/>
              <a:cxnLst/>
              <a:rect l="l" t="t" r="r" b="b"/>
              <a:pathLst>
                <a:path w="1203749" h="724947" extrusionOk="0">
                  <a:moveTo>
                    <a:pt x="23855" y="724948"/>
                  </a:moveTo>
                  <a:cubicBezTo>
                    <a:pt x="25280" y="723709"/>
                    <a:pt x="1203750" y="40958"/>
                    <a:pt x="1203750" y="40958"/>
                  </a:cubicBezTo>
                  <a:lnTo>
                    <a:pt x="1182081" y="0"/>
                  </a:lnTo>
                  <a:lnTo>
                    <a:pt x="0" y="685800"/>
                  </a:lnTo>
                  <a:close/>
                </a:path>
              </a:pathLst>
            </a:custGeom>
            <a:solidFill>
              <a:srgbClr val="E8A30A"/>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C1D5B-BD7E-71A2-8A36-F92B23E36AEE}"/>
              </a:ext>
            </a:extLst>
          </p:cNvPr>
          <p:cNvSpPr>
            <a:spLocks noGrp="1"/>
          </p:cNvSpPr>
          <p:nvPr>
            <p:ph type="title"/>
          </p:nvPr>
        </p:nvSpPr>
        <p:spPr/>
        <p:txBody>
          <a:bodyPr>
            <a:normAutofit/>
          </a:bodyPr>
          <a:lstStyle/>
          <a:p>
            <a:r>
              <a:rPr lang="en-GB" sz="3600" b="1">
                <a:latin typeface="Rockwell" panose="02060603020205020403" pitchFamily="18" charset="0"/>
              </a:rPr>
              <a:t>Agenda</a:t>
            </a:r>
          </a:p>
        </p:txBody>
      </p:sp>
      <p:sp>
        <p:nvSpPr>
          <p:cNvPr id="3" name="Content Placeholder 2">
            <a:extLst>
              <a:ext uri="{FF2B5EF4-FFF2-40B4-BE49-F238E27FC236}">
                <a16:creationId xmlns:a16="http://schemas.microsoft.com/office/drawing/2014/main" id="{379D9011-134C-4CF4-307B-8CC2944734B9}"/>
              </a:ext>
            </a:extLst>
          </p:cNvPr>
          <p:cNvSpPr>
            <a:spLocks noGrp="1"/>
          </p:cNvSpPr>
          <p:nvPr>
            <p:ph idx="1"/>
          </p:nvPr>
        </p:nvSpPr>
        <p:spPr>
          <a:xfrm>
            <a:off x="838200" y="2065655"/>
            <a:ext cx="10515600" cy="3155950"/>
          </a:xfrm>
        </p:spPr>
        <p:txBody>
          <a:bodyPr>
            <a:normAutofit/>
          </a:bodyPr>
          <a:lstStyle/>
          <a:p>
            <a:r>
              <a:rPr lang="en-GB" sz="2400">
                <a:latin typeface="Rockwell" panose="02060603020205020403" pitchFamily="18" charset="0"/>
              </a:rPr>
              <a:t>Overview of methodology (if needed)</a:t>
            </a:r>
          </a:p>
          <a:p>
            <a:endParaRPr lang="en-GB" sz="2400">
              <a:latin typeface="Rockwell" panose="02060603020205020403" pitchFamily="18" charset="0"/>
            </a:endParaRPr>
          </a:p>
          <a:p>
            <a:r>
              <a:rPr lang="en-GB" sz="2400">
                <a:latin typeface="Rockwell" panose="02060603020205020403" pitchFamily="18" charset="0"/>
              </a:rPr>
              <a:t>BBQ Brand level results and trend</a:t>
            </a:r>
          </a:p>
          <a:p>
            <a:endParaRPr lang="en-GB" sz="2400">
              <a:latin typeface="Rockwell" panose="02060603020205020403" pitchFamily="18" charset="0"/>
            </a:endParaRPr>
          </a:p>
          <a:p>
            <a:r>
              <a:rPr lang="en-GB" sz="2400">
                <a:latin typeface="Rockwell" panose="02060603020205020403" pitchFamily="18" charset="0"/>
              </a:rPr>
              <a:t>Salad Cream Brand level results and trend</a:t>
            </a:r>
          </a:p>
          <a:p>
            <a:endParaRPr lang="en-GB" sz="2400">
              <a:latin typeface="Rockwell" panose="02060603020205020403" pitchFamily="18" charset="0"/>
            </a:endParaRPr>
          </a:p>
          <a:p>
            <a:endParaRPr lang="en-GB" sz="2400">
              <a:latin typeface="Rockwell" panose="02060603020205020403" pitchFamily="18" charset="0"/>
            </a:endParaRPr>
          </a:p>
          <a:p>
            <a:pPr marL="0" indent="0">
              <a:buNone/>
            </a:pPr>
            <a:endParaRPr lang="en-GB" sz="2400">
              <a:latin typeface="Rockwell" panose="02060603020205020403" pitchFamily="18" charset="0"/>
            </a:endParaRPr>
          </a:p>
        </p:txBody>
      </p:sp>
    </p:spTree>
    <p:extLst>
      <p:ext uri="{BB962C8B-B14F-4D97-AF65-F5344CB8AC3E}">
        <p14:creationId xmlns:p14="http://schemas.microsoft.com/office/powerpoint/2010/main" val="100666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984C4-59D8-2E29-6D77-6D98A5B07D9D}"/>
              </a:ext>
            </a:extLst>
          </p:cNvPr>
          <p:cNvSpPr>
            <a:spLocks noGrp="1"/>
          </p:cNvSpPr>
          <p:nvPr>
            <p:ph type="ctrTitle"/>
          </p:nvPr>
        </p:nvSpPr>
        <p:spPr>
          <a:xfrm>
            <a:off x="1763085" y="2410372"/>
            <a:ext cx="8665830" cy="1888400"/>
          </a:xfrm>
        </p:spPr>
        <p:txBody>
          <a:bodyPr/>
          <a:lstStyle/>
          <a:p>
            <a:pPr algn="ctr"/>
            <a:r>
              <a:rPr lang="en-GB" sz="4000" b="1">
                <a:latin typeface="Rockwell" panose="02060603020205020403" pitchFamily="18" charset="0"/>
              </a:rPr>
              <a:t>CSF Methodology</a:t>
            </a:r>
          </a:p>
        </p:txBody>
      </p:sp>
    </p:spTree>
    <p:extLst>
      <p:ext uri="{BB962C8B-B14F-4D97-AF65-F5344CB8AC3E}">
        <p14:creationId xmlns:p14="http://schemas.microsoft.com/office/powerpoint/2010/main" val="16333770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Title 1">
            <a:extLst>
              <a:ext uri="{FF2B5EF4-FFF2-40B4-BE49-F238E27FC236}">
                <a16:creationId xmlns:a16="http://schemas.microsoft.com/office/drawing/2014/main" id="{8E75C8DF-1F34-67B8-0839-DFB38B9544B4}"/>
              </a:ext>
            </a:extLst>
          </p:cNvPr>
          <p:cNvSpPr txBox="1">
            <a:spLocks/>
          </p:cNvSpPr>
          <p:nvPr/>
        </p:nvSpPr>
        <p:spPr>
          <a:xfrm>
            <a:off x="650919" y="489391"/>
            <a:ext cx="7621211" cy="419725"/>
          </a:xfrm>
          <a:prstGeom prst="rect">
            <a:avLst/>
          </a:prstGeom>
        </p:spPr>
        <p:txBody>
          <a:bodyPr vert="horz" lIns="36576" tIns="0" rIns="36576" bIns="0" rtlCol="0" anchor="t" anchorCtr="0">
            <a:noAutofit/>
          </a:bodyPr>
          <a:lstStyle>
            <a:lvl1pPr algn="l" defTabSz="711200" rtl="0" eaLnBrk="1" latinLnBrk="0" hangingPunct="1">
              <a:lnSpc>
                <a:spcPct val="90000"/>
              </a:lnSpc>
              <a:spcBef>
                <a:spcPct val="0"/>
              </a:spcBef>
              <a:buNone/>
              <a:defRPr sz="2400" kern="1200" baseline="0">
                <a:solidFill>
                  <a:schemeClr val="tx2"/>
                </a:solidFill>
                <a:latin typeface="+mj-lt"/>
                <a:ea typeface="+mj-ea"/>
                <a:cs typeface="+mj-cs"/>
              </a:defRPr>
            </a:lvl1pPr>
          </a:lstStyle>
          <a:p>
            <a:pPr defTabSz="457200">
              <a:lnSpc>
                <a:spcPct val="80000"/>
              </a:lnSpc>
            </a:pPr>
            <a:r>
              <a:rPr lang="en-US" b="1" spc="-64">
                <a:solidFill>
                  <a:schemeClr val="accent1">
                    <a:lumMod val="50000"/>
                  </a:schemeClr>
                </a:solidFill>
                <a:latin typeface="Rockwell" panose="02060603020205020403" pitchFamily="18" charset="0"/>
                <a:ea typeface="+mn-ea"/>
                <a:cs typeface="Arial" panose="020B0604020202020204" pitchFamily="34" charset="0"/>
              </a:rPr>
              <a:t>Objective of a Consumer Surplus Factor (CSF) study</a:t>
            </a:r>
          </a:p>
        </p:txBody>
      </p:sp>
      <p:graphicFrame>
        <p:nvGraphicFramePr>
          <p:cNvPr id="46" name="Diagram 45">
            <a:extLst>
              <a:ext uri="{FF2B5EF4-FFF2-40B4-BE49-F238E27FC236}">
                <a16:creationId xmlns:a16="http://schemas.microsoft.com/office/drawing/2014/main" id="{78B968E5-38AC-4E11-823D-EF443B2FB48C}"/>
              </a:ext>
            </a:extLst>
          </p:cNvPr>
          <p:cNvGraphicFramePr/>
          <p:nvPr/>
        </p:nvGraphicFramePr>
        <p:xfrm>
          <a:off x="1768414" y="974785"/>
          <a:ext cx="9204385" cy="52571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0" name="Graphic 59" descr="Pinch Zoom Out with solid fill">
            <a:extLst>
              <a:ext uri="{FF2B5EF4-FFF2-40B4-BE49-F238E27FC236}">
                <a16:creationId xmlns:a16="http://schemas.microsoft.com/office/drawing/2014/main" id="{5057EE80-7FEC-4E5B-A85C-BF48C5313AC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021986" y="1610697"/>
            <a:ext cx="864000" cy="864000"/>
          </a:xfrm>
          <a:prstGeom prst="rect">
            <a:avLst/>
          </a:prstGeom>
        </p:spPr>
      </p:pic>
      <p:pic>
        <p:nvPicPr>
          <p:cNvPr id="61" name="Graphic 60" descr="Tag with solid fill">
            <a:extLst>
              <a:ext uri="{FF2B5EF4-FFF2-40B4-BE49-F238E27FC236}">
                <a16:creationId xmlns:a16="http://schemas.microsoft.com/office/drawing/2014/main" id="{CAF3B6D7-87BC-4B59-8879-EB1E0FC38D7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53986" y="3175007"/>
            <a:ext cx="864000" cy="864000"/>
          </a:xfrm>
          <a:prstGeom prst="rect">
            <a:avLst/>
          </a:prstGeom>
        </p:spPr>
      </p:pic>
      <p:pic>
        <p:nvPicPr>
          <p:cNvPr id="62" name="Graphic 61" descr="Blueprint with solid fill">
            <a:extLst>
              <a:ext uri="{FF2B5EF4-FFF2-40B4-BE49-F238E27FC236}">
                <a16:creationId xmlns:a16="http://schemas.microsoft.com/office/drawing/2014/main" id="{E3E8572C-456F-4E6D-B2EF-BCF53647837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064518" y="4739317"/>
            <a:ext cx="864000" cy="864000"/>
          </a:xfrm>
          <a:prstGeom prst="rect">
            <a:avLst/>
          </a:prstGeom>
        </p:spPr>
      </p:pic>
    </p:spTree>
    <p:extLst>
      <p:ext uri="{BB962C8B-B14F-4D97-AF65-F5344CB8AC3E}">
        <p14:creationId xmlns:p14="http://schemas.microsoft.com/office/powerpoint/2010/main" val="906237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 name="Picture 104">
            <a:extLst>
              <a:ext uri="{FF2B5EF4-FFF2-40B4-BE49-F238E27FC236}">
                <a16:creationId xmlns:a16="http://schemas.microsoft.com/office/drawing/2014/main" id="{7D4478B2-1840-4127-B1CF-9982BC951403}"/>
              </a:ext>
            </a:extLst>
          </p:cNvPr>
          <p:cNvPicPr>
            <a:picLocks noChangeAspect="1"/>
          </p:cNvPicPr>
          <p:nvPr/>
        </p:nvPicPr>
        <p:blipFill>
          <a:blip r:embed="rId4"/>
          <a:stretch>
            <a:fillRect/>
          </a:stretch>
        </p:blipFill>
        <p:spPr>
          <a:xfrm>
            <a:off x="388859" y="1023457"/>
            <a:ext cx="11692559" cy="5101020"/>
          </a:xfrm>
          <a:prstGeom prst="rect">
            <a:avLst/>
          </a:prstGeom>
        </p:spPr>
      </p:pic>
      <p:graphicFrame>
        <p:nvGraphicFramePr>
          <p:cNvPr id="69" name="Object 68" hidden="1">
            <a:extLst>
              <a:ext uri="{FF2B5EF4-FFF2-40B4-BE49-F238E27FC236}">
                <a16:creationId xmlns:a16="http://schemas.microsoft.com/office/drawing/2014/main" id="{57B75EF3-3DA6-5F1D-B902-76E8B92B374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9" name="Object 68" hidden="1">
                        <a:extLst>
                          <a:ext uri="{FF2B5EF4-FFF2-40B4-BE49-F238E27FC236}">
                            <a16:creationId xmlns:a16="http://schemas.microsoft.com/office/drawing/2014/main" id="{57B75EF3-3DA6-5F1D-B902-76E8B92B3745}"/>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06" name="TextBox 105">
            <a:extLst>
              <a:ext uri="{FF2B5EF4-FFF2-40B4-BE49-F238E27FC236}">
                <a16:creationId xmlns:a16="http://schemas.microsoft.com/office/drawing/2014/main" id="{84704D7F-6AD5-47A9-8070-4CFFE2CBBCDC}"/>
              </a:ext>
            </a:extLst>
          </p:cNvPr>
          <p:cNvSpPr txBox="1"/>
          <p:nvPr/>
        </p:nvSpPr>
        <p:spPr>
          <a:xfrm>
            <a:off x="388859" y="372887"/>
            <a:ext cx="6282774" cy="391345"/>
          </a:xfrm>
          <a:prstGeom prst="rect">
            <a:avLst/>
          </a:prstGeom>
        </p:spPr>
        <p:txBody>
          <a:bodyPr vert="horz" lIns="91440" tIns="45720" rIns="91440" bIns="45720" rtlCol="0" anchor="ctr">
            <a:normAutofit/>
          </a:bodyPr>
          <a:lstStyle>
            <a:defPPr>
              <a:defRPr lang="en-US"/>
            </a:defPPr>
            <a:lvl1pPr algn="l">
              <a:lnSpc>
                <a:spcPct val="80000"/>
              </a:lnSpc>
              <a:defRPr sz="1800" b="1" spc="-64">
                <a:solidFill>
                  <a:schemeClr val="accent1">
                    <a:lumMod val="50000"/>
                  </a:schemeClr>
                </a:solidFill>
                <a:latin typeface="Arial" panose="020B0604020202020204" pitchFamily="34" charset="0"/>
                <a:cs typeface="Arial" panose="020B0604020202020204" pitchFamily="34" charset="0"/>
              </a:defRPr>
            </a:lvl1pPr>
            <a:lvl2pPr algn="l">
              <a:lnSpc>
                <a:spcPct val="80000"/>
              </a:lnSpc>
              <a:defRPr sz="3188" b="1" spc="-64">
                <a:solidFill>
                  <a:srgbClr val="000000"/>
                </a:solidFill>
              </a:defRPr>
            </a:lvl2pPr>
            <a:lvl3pPr algn="l">
              <a:lnSpc>
                <a:spcPct val="80000"/>
              </a:lnSpc>
              <a:defRPr sz="3188" b="1" spc="-64">
                <a:solidFill>
                  <a:srgbClr val="000000"/>
                </a:solidFill>
              </a:defRPr>
            </a:lvl3pPr>
            <a:lvl4pPr algn="l">
              <a:lnSpc>
                <a:spcPct val="80000"/>
              </a:lnSpc>
              <a:defRPr sz="3188" b="1" spc="-64">
                <a:solidFill>
                  <a:srgbClr val="000000"/>
                </a:solidFill>
              </a:defRPr>
            </a:lvl4pPr>
            <a:lvl5pPr algn="l">
              <a:lnSpc>
                <a:spcPct val="80000"/>
              </a:lnSpc>
              <a:defRPr sz="3188" b="1" spc="-64">
                <a:solidFill>
                  <a:srgbClr val="000000"/>
                </a:solidFill>
              </a:defRPr>
            </a:lvl5pPr>
            <a:lvl6pPr algn="l">
              <a:lnSpc>
                <a:spcPct val="80000"/>
              </a:lnSpc>
              <a:defRPr sz="3188" b="1" spc="-64">
                <a:solidFill>
                  <a:srgbClr val="000000"/>
                </a:solidFill>
              </a:defRPr>
            </a:lvl6pPr>
            <a:lvl7pPr algn="l">
              <a:lnSpc>
                <a:spcPct val="80000"/>
              </a:lnSpc>
              <a:defRPr sz="3188" b="1" spc="-64">
                <a:solidFill>
                  <a:srgbClr val="000000"/>
                </a:solidFill>
              </a:defRPr>
            </a:lvl7pPr>
            <a:lvl8pPr algn="l">
              <a:lnSpc>
                <a:spcPct val="80000"/>
              </a:lnSpc>
              <a:defRPr sz="3188" b="1" spc="-64">
                <a:solidFill>
                  <a:srgbClr val="000000"/>
                </a:solidFill>
              </a:defRPr>
            </a:lvl8pPr>
            <a:lvl9pPr algn="l">
              <a:lnSpc>
                <a:spcPct val="80000"/>
              </a:lnSpc>
              <a:defRPr sz="3188" b="1" spc="-64">
                <a:solidFill>
                  <a:srgbClr val="000000"/>
                </a:solidFill>
              </a:defRPr>
            </a:lvl9pPr>
          </a:lstStyle>
          <a:p>
            <a:r>
              <a:rPr lang="en-US" sz="2400">
                <a:latin typeface="Rockwell" panose="02060603020205020403" pitchFamily="18" charset="0"/>
              </a:rPr>
              <a:t>CSF is a measure of value left on the table</a:t>
            </a:r>
          </a:p>
        </p:txBody>
      </p:sp>
      <p:sp>
        <p:nvSpPr>
          <p:cNvPr id="109" name="TextBox 108">
            <a:extLst>
              <a:ext uri="{FF2B5EF4-FFF2-40B4-BE49-F238E27FC236}">
                <a16:creationId xmlns:a16="http://schemas.microsoft.com/office/drawing/2014/main" id="{F44FCE60-842F-4CAC-AFF2-7E7C335EF892}"/>
              </a:ext>
            </a:extLst>
          </p:cNvPr>
          <p:cNvSpPr txBox="1"/>
          <p:nvPr/>
        </p:nvSpPr>
        <p:spPr>
          <a:xfrm>
            <a:off x="1041381" y="6060504"/>
            <a:ext cx="2273782" cy="738664"/>
          </a:xfrm>
          <a:prstGeom prst="rect">
            <a:avLst/>
          </a:prstGeom>
          <a:noFill/>
        </p:spPr>
        <p:txBody>
          <a:bodyPr wrap="square" rtlCol="0" anchor="ctr" anchorCtr="0">
            <a:spAutoFit/>
          </a:bodyPr>
          <a:lstStyle/>
          <a:p>
            <a:pPr algn="l"/>
            <a:r>
              <a:rPr lang="en-IN" sz="1400">
                <a:latin typeface="Arial" panose="020B0604020202020204" pitchFamily="34" charset="0"/>
                <a:cs typeface="Arial" panose="020B0604020202020204" pitchFamily="34" charset="0"/>
              </a:rPr>
              <a:t>Based on analysis of real consumer behaviour data (Sales)</a:t>
            </a:r>
          </a:p>
        </p:txBody>
      </p:sp>
      <p:pic>
        <p:nvPicPr>
          <p:cNvPr id="124" name="Picture 123">
            <a:extLst>
              <a:ext uri="{FF2B5EF4-FFF2-40B4-BE49-F238E27FC236}">
                <a16:creationId xmlns:a16="http://schemas.microsoft.com/office/drawing/2014/main" id="{7590C512-7BE4-43D6-89C7-5518ECA9B56C}"/>
              </a:ext>
            </a:extLst>
          </p:cNvPr>
          <p:cNvPicPr>
            <a:picLocks noChangeAspect="1"/>
          </p:cNvPicPr>
          <p:nvPr/>
        </p:nvPicPr>
        <p:blipFill rotWithShape="1">
          <a:blip r:embed="rId7"/>
          <a:srcRect l="25919" t="18267" r="24620" b="27080"/>
          <a:stretch/>
        </p:blipFill>
        <p:spPr>
          <a:xfrm>
            <a:off x="722059" y="6263874"/>
            <a:ext cx="334240" cy="326057"/>
          </a:xfrm>
          <a:prstGeom prst="rect">
            <a:avLst/>
          </a:prstGeom>
        </p:spPr>
      </p:pic>
    </p:spTree>
    <p:extLst>
      <p:ext uri="{BB962C8B-B14F-4D97-AF65-F5344CB8AC3E}">
        <p14:creationId xmlns:p14="http://schemas.microsoft.com/office/powerpoint/2010/main" val="4231376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E72775-F804-429E-BF55-0FCA62ABE8EB}"/>
              </a:ext>
            </a:extLst>
          </p:cNvPr>
          <p:cNvPicPr>
            <a:picLocks noChangeAspect="1"/>
          </p:cNvPicPr>
          <p:nvPr/>
        </p:nvPicPr>
        <p:blipFill>
          <a:blip r:embed="rId2"/>
          <a:stretch>
            <a:fillRect/>
          </a:stretch>
        </p:blipFill>
        <p:spPr>
          <a:xfrm>
            <a:off x="971977" y="1231460"/>
            <a:ext cx="10417022" cy="5094912"/>
          </a:xfrm>
          <a:prstGeom prst="rect">
            <a:avLst/>
          </a:prstGeom>
        </p:spPr>
      </p:pic>
      <p:sp>
        <p:nvSpPr>
          <p:cNvPr id="5" name="TextBox 4">
            <a:extLst>
              <a:ext uri="{FF2B5EF4-FFF2-40B4-BE49-F238E27FC236}">
                <a16:creationId xmlns:a16="http://schemas.microsoft.com/office/drawing/2014/main" id="{9E06163A-7B3A-4613-9020-AA94ED32D789}"/>
              </a:ext>
            </a:extLst>
          </p:cNvPr>
          <p:cNvSpPr txBox="1"/>
          <p:nvPr/>
        </p:nvSpPr>
        <p:spPr>
          <a:xfrm>
            <a:off x="527278" y="431501"/>
            <a:ext cx="10317932" cy="655607"/>
          </a:xfrm>
          <a:prstGeom prst="rect">
            <a:avLst/>
          </a:prstGeom>
        </p:spPr>
        <p:txBody>
          <a:bodyPr vert="horz" lIns="91440" tIns="45720" rIns="91440" bIns="45720" rtlCol="0" anchor="ctr">
            <a:normAutofit lnSpcReduction="10000"/>
          </a:bodyPr>
          <a:lstStyle>
            <a:defPPr>
              <a:defRPr lang="en-US"/>
            </a:defPPr>
            <a:lvl1pPr algn="l">
              <a:lnSpc>
                <a:spcPct val="80000"/>
              </a:lnSpc>
              <a:defRPr sz="1800" b="1" spc="-64">
                <a:solidFill>
                  <a:schemeClr val="accent1">
                    <a:lumMod val="50000"/>
                  </a:schemeClr>
                </a:solidFill>
                <a:latin typeface="Arial" panose="020B0604020202020204" pitchFamily="34" charset="0"/>
                <a:cs typeface="Arial" panose="020B0604020202020204" pitchFamily="34" charset="0"/>
              </a:defRPr>
            </a:lvl1pPr>
            <a:lvl2pPr algn="l">
              <a:lnSpc>
                <a:spcPct val="80000"/>
              </a:lnSpc>
              <a:defRPr sz="3188" b="1" spc="-64">
                <a:solidFill>
                  <a:srgbClr val="000000"/>
                </a:solidFill>
              </a:defRPr>
            </a:lvl2pPr>
            <a:lvl3pPr algn="l">
              <a:lnSpc>
                <a:spcPct val="80000"/>
              </a:lnSpc>
              <a:defRPr sz="3188" b="1" spc="-64">
                <a:solidFill>
                  <a:srgbClr val="000000"/>
                </a:solidFill>
              </a:defRPr>
            </a:lvl3pPr>
            <a:lvl4pPr algn="l">
              <a:lnSpc>
                <a:spcPct val="80000"/>
              </a:lnSpc>
              <a:defRPr sz="3188" b="1" spc="-64">
                <a:solidFill>
                  <a:srgbClr val="000000"/>
                </a:solidFill>
              </a:defRPr>
            </a:lvl4pPr>
            <a:lvl5pPr algn="l">
              <a:lnSpc>
                <a:spcPct val="80000"/>
              </a:lnSpc>
              <a:defRPr sz="3188" b="1" spc="-64">
                <a:solidFill>
                  <a:srgbClr val="000000"/>
                </a:solidFill>
              </a:defRPr>
            </a:lvl5pPr>
            <a:lvl6pPr algn="l">
              <a:lnSpc>
                <a:spcPct val="80000"/>
              </a:lnSpc>
              <a:defRPr sz="3188" b="1" spc="-64">
                <a:solidFill>
                  <a:srgbClr val="000000"/>
                </a:solidFill>
              </a:defRPr>
            </a:lvl6pPr>
            <a:lvl7pPr algn="l">
              <a:lnSpc>
                <a:spcPct val="80000"/>
              </a:lnSpc>
              <a:defRPr sz="3188" b="1" spc="-64">
                <a:solidFill>
                  <a:srgbClr val="000000"/>
                </a:solidFill>
              </a:defRPr>
            </a:lvl7pPr>
            <a:lvl8pPr algn="l">
              <a:lnSpc>
                <a:spcPct val="80000"/>
              </a:lnSpc>
              <a:defRPr sz="3188" b="1" spc="-64">
                <a:solidFill>
                  <a:srgbClr val="000000"/>
                </a:solidFill>
              </a:defRPr>
            </a:lvl8pPr>
            <a:lvl9pPr algn="l">
              <a:lnSpc>
                <a:spcPct val="80000"/>
              </a:lnSpc>
              <a:defRPr sz="3188" b="1" spc="-64">
                <a:solidFill>
                  <a:srgbClr val="000000"/>
                </a:solidFill>
              </a:defRPr>
            </a:lvl9pPr>
          </a:lstStyle>
          <a:p>
            <a:r>
              <a:rPr lang="en-US" sz="2400">
                <a:latin typeface="Rockwell" panose="02060603020205020403" pitchFamily="18" charset="0"/>
              </a:rPr>
              <a:t>Brands with higher CSF can lead price increase and/or target higher market share</a:t>
            </a:r>
          </a:p>
        </p:txBody>
      </p:sp>
    </p:spTree>
    <p:extLst>
      <p:ext uri="{BB962C8B-B14F-4D97-AF65-F5344CB8AC3E}">
        <p14:creationId xmlns:p14="http://schemas.microsoft.com/office/powerpoint/2010/main" val="1219183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id="{34CD7E58-B62E-49C3-8569-CE69A911FE62}"/>
              </a:ext>
            </a:extLst>
          </p:cNvPr>
          <p:cNvSpPr txBox="1"/>
          <p:nvPr/>
        </p:nvSpPr>
        <p:spPr>
          <a:xfrm>
            <a:off x="508027" y="223534"/>
            <a:ext cx="10413625" cy="526961"/>
          </a:xfrm>
          <a:prstGeom prst="rect">
            <a:avLst/>
          </a:prstGeom>
        </p:spPr>
        <p:txBody>
          <a:bodyPr vert="horz" lIns="91440" tIns="45720" rIns="91440" bIns="45720" rtlCol="0" anchor="ctr">
            <a:normAutofit/>
          </a:bodyPr>
          <a:lstStyle>
            <a:defPPr>
              <a:defRPr lang="en-US"/>
            </a:defPPr>
            <a:lvl1pPr>
              <a:lnSpc>
                <a:spcPct val="80000"/>
              </a:lnSpc>
              <a:defRPr sz="2400" b="1" spc="-64">
                <a:solidFill>
                  <a:schemeClr val="accent1">
                    <a:lumMod val="50000"/>
                  </a:schemeClr>
                </a:solidFill>
                <a:latin typeface="Rockwell" panose="02060603020205020403" pitchFamily="18" charset="0"/>
                <a:cs typeface="Arial" panose="020B0604020202020204" pitchFamily="34" charset="0"/>
              </a:defRPr>
            </a:lvl1pPr>
            <a:lvl2pPr>
              <a:lnSpc>
                <a:spcPct val="80000"/>
              </a:lnSpc>
              <a:defRPr sz="3188" b="1" spc="-64">
                <a:solidFill>
                  <a:srgbClr val="000000"/>
                </a:solidFill>
              </a:defRPr>
            </a:lvl2pPr>
            <a:lvl3pPr>
              <a:lnSpc>
                <a:spcPct val="80000"/>
              </a:lnSpc>
              <a:defRPr sz="3188" b="1" spc="-64">
                <a:solidFill>
                  <a:srgbClr val="000000"/>
                </a:solidFill>
              </a:defRPr>
            </a:lvl3pPr>
            <a:lvl4pPr>
              <a:lnSpc>
                <a:spcPct val="80000"/>
              </a:lnSpc>
              <a:defRPr sz="3188" b="1" spc="-64">
                <a:solidFill>
                  <a:srgbClr val="000000"/>
                </a:solidFill>
              </a:defRPr>
            </a:lvl4pPr>
            <a:lvl5pPr>
              <a:lnSpc>
                <a:spcPct val="80000"/>
              </a:lnSpc>
              <a:defRPr sz="3188" b="1" spc="-64">
                <a:solidFill>
                  <a:srgbClr val="000000"/>
                </a:solidFill>
              </a:defRPr>
            </a:lvl5pPr>
            <a:lvl6pPr>
              <a:lnSpc>
                <a:spcPct val="80000"/>
              </a:lnSpc>
              <a:defRPr sz="3188" b="1" spc="-64">
                <a:solidFill>
                  <a:srgbClr val="000000"/>
                </a:solidFill>
              </a:defRPr>
            </a:lvl6pPr>
            <a:lvl7pPr>
              <a:lnSpc>
                <a:spcPct val="80000"/>
              </a:lnSpc>
              <a:defRPr sz="3188" b="1" spc="-64">
                <a:solidFill>
                  <a:srgbClr val="000000"/>
                </a:solidFill>
              </a:defRPr>
            </a:lvl7pPr>
            <a:lvl8pPr>
              <a:lnSpc>
                <a:spcPct val="80000"/>
              </a:lnSpc>
              <a:defRPr sz="3188" b="1" spc="-64">
                <a:solidFill>
                  <a:srgbClr val="000000"/>
                </a:solidFill>
              </a:defRPr>
            </a:lvl8pPr>
            <a:lvl9pPr>
              <a:lnSpc>
                <a:spcPct val="80000"/>
              </a:lnSpc>
              <a:defRPr sz="3188" b="1" spc="-64">
                <a:solidFill>
                  <a:srgbClr val="000000"/>
                </a:solidFill>
              </a:defRPr>
            </a:lvl9pPr>
          </a:lstStyle>
          <a:p>
            <a:r>
              <a:rPr lang="en-US"/>
              <a:t>CSF methodology in summary</a:t>
            </a:r>
          </a:p>
        </p:txBody>
      </p:sp>
      <p:sp>
        <p:nvSpPr>
          <p:cNvPr id="35" name="TextBox 34">
            <a:extLst>
              <a:ext uri="{FF2B5EF4-FFF2-40B4-BE49-F238E27FC236}">
                <a16:creationId xmlns:a16="http://schemas.microsoft.com/office/drawing/2014/main" id="{33CBD8AF-9B8F-4F38-88C9-54207B8FF274}"/>
              </a:ext>
            </a:extLst>
          </p:cNvPr>
          <p:cNvSpPr txBox="1"/>
          <p:nvPr/>
        </p:nvSpPr>
        <p:spPr>
          <a:xfrm>
            <a:off x="508027" y="702306"/>
            <a:ext cx="10901125" cy="811544"/>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RPr lang="en-US"/>
            </a:defPPr>
            <a:lvl1pPr marR="0" lvl="0" indent="0">
              <a:lnSpc>
                <a:spcPct val="80000"/>
              </a:lnSpc>
              <a:spcBef>
                <a:spcPts val="0"/>
              </a:spcBef>
              <a:spcAft>
                <a:spcPts val="0"/>
              </a:spcAft>
              <a:buClr>
                <a:schemeClr val="accent2"/>
              </a:buClr>
              <a:buSzPts val="4800"/>
              <a:buFont typeface="Raleway Thin"/>
              <a:buNone/>
              <a:defRPr sz="2400" b="1" i="0" u="none" strike="noStrike" cap="none">
                <a:latin typeface="Raleway Medium" panose="020B0604020202020204" pitchFamily="2" charset="0"/>
                <a:ea typeface="Raleway Thin"/>
                <a:cs typeface="Raleway Thin"/>
              </a:defRPr>
            </a:lvl1pPr>
            <a:lvl2pPr marR="0" lvl="1">
              <a:lnSpc>
                <a:spcPct val="80000"/>
              </a:lnSpc>
              <a:spcBef>
                <a:spcPts val="0"/>
              </a:spcBef>
              <a:spcAft>
                <a:spcPts val="0"/>
              </a:spcAft>
              <a:buClr>
                <a:schemeClr val="accent2"/>
              </a:buClr>
              <a:buSzPts val="4800"/>
              <a:buFont typeface="Raleway Thin"/>
              <a:buNone/>
              <a:defRPr sz="6400" b="0" i="0" u="none" strike="noStrike" cap="none">
                <a:solidFill>
                  <a:schemeClr val="accent2"/>
                </a:solidFill>
                <a:latin typeface="Raleway Thin"/>
                <a:ea typeface="Raleway Thin"/>
                <a:cs typeface="Raleway Thin"/>
              </a:defRPr>
            </a:lvl2pPr>
            <a:lvl3pPr marR="0" lvl="2">
              <a:lnSpc>
                <a:spcPct val="80000"/>
              </a:lnSpc>
              <a:spcBef>
                <a:spcPts val="0"/>
              </a:spcBef>
              <a:spcAft>
                <a:spcPts val="0"/>
              </a:spcAft>
              <a:buClr>
                <a:schemeClr val="accent2"/>
              </a:buClr>
              <a:buSzPts val="4800"/>
              <a:buFont typeface="Raleway Thin"/>
              <a:buNone/>
              <a:defRPr sz="6400" b="0" i="0" u="none" strike="noStrike" cap="none">
                <a:solidFill>
                  <a:schemeClr val="accent2"/>
                </a:solidFill>
                <a:latin typeface="Raleway Thin"/>
                <a:ea typeface="Raleway Thin"/>
                <a:cs typeface="Raleway Thin"/>
              </a:defRPr>
            </a:lvl3pPr>
            <a:lvl4pPr marR="0" lvl="3">
              <a:lnSpc>
                <a:spcPct val="80000"/>
              </a:lnSpc>
              <a:spcBef>
                <a:spcPts val="0"/>
              </a:spcBef>
              <a:spcAft>
                <a:spcPts val="0"/>
              </a:spcAft>
              <a:buClr>
                <a:schemeClr val="accent2"/>
              </a:buClr>
              <a:buSzPts val="4800"/>
              <a:buFont typeface="Raleway Thin"/>
              <a:buNone/>
              <a:defRPr sz="6400" b="0" i="0" u="none" strike="noStrike" cap="none">
                <a:solidFill>
                  <a:schemeClr val="accent2"/>
                </a:solidFill>
                <a:latin typeface="Raleway Thin"/>
                <a:ea typeface="Raleway Thin"/>
                <a:cs typeface="Raleway Thin"/>
              </a:defRPr>
            </a:lvl4pPr>
            <a:lvl5pPr marR="0" lvl="4">
              <a:lnSpc>
                <a:spcPct val="80000"/>
              </a:lnSpc>
              <a:spcBef>
                <a:spcPts val="0"/>
              </a:spcBef>
              <a:spcAft>
                <a:spcPts val="0"/>
              </a:spcAft>
              <a:buClr>
                <a:schemeClr val="accent2"/>
              </a:buClr>
              <a:buSzPts val="4800"/>
              <a:buFont typeface="Raleway Thin"/>
              <a:buNone/>
              <a:defRPr sz="6400" b="0" i="0" u="none" strike="noStrike" cap="none">
                <a:solidFill>
                  <a:schemeClr val="accent2"/>
                </a:solidFill>
                <a:latin typeface="Raleway Thin"/>
                <a:ea typeface="Raleway Thin"/>
                <a:cs typeface="Raleway Thin"/>
              </a:defRPr>
            </a:lvl5pPr>
            <a:lvl6pPr marR="0" lvl="5">
              <a:lnSpc>
                <a:spcPct val="80000"/>
              </a:lnSpc>
              <a:spcBef>
                <a:spcPts val="0"/>
              </a:spcBef>
              <a:spcAft>
                <a:spcPts val="0"/>
              </a:spcAft>
              <a:buClr>
                <a:schemeClr val="accent2"/>
              </a:buClr>
              <a:buSzPts val="4800"/>
              <a:buFont typeface="Raleway Thin"/>
              <a:buNone/>
              <a:defRPr sz="6400" b="0" i="0" u="none" strike="noStrike" cap="none">
                <a:solidFill>
                  <a:schemeClr val="accent2"/>
                </a:solidFill>
                <a:latin typeface="Raleway Thin"/>
                <a:ea typeface="Raleway Thin"/>
                <a:cs typeface="Raleway Thin"/>
              </a:defRPr>
            </a:lvl6pPr>
            <a:lvl7pPr marR="0" lvl="6">
              <a:lnSpc>
                <a:spcPct val="80000"/>
              </a:lnSpc>
              <a:spcBef>
                <a:spcPts val="0"/>
              </a:spcBef>
              <a:spcAft>
                <a:spcPts val="0"/>
              </a:spcAft>
              <a:buClr>
                <a:schemeClr val="accent2"/>
              </a:buClr>
              <a:buSzPts val="4800"/>
              <a:buFont typeface="Raleway Thin"/>
              <a:buNone/>
              <a:defRPr sz="6400" b="0" i="0" u="none" strike="noStrike" cap="none">
                <a:solidFill>
                  <a:schemeClr val="accent2"/>
                </a:solidFill>
                <a:latin typeface="Raleway Thin"/>
                <a:ea typeface="Raleway Thin"/>
                <a:cs typeface="Raleway Thin"/>
              </a:defRPr>
            </a:lvl7pPr>
            <a:lvl8pPr marR="0" lvl="7">
              <a:lnSpc>
                <a:spcPct val="80000"/>
              </a:lnSpc>
              <a:spcBef>
                <a:spcPts val="0"/>
              </a:spcBef>
              <a:spcAft>
                <a:spcPts val="0"/>
              </a:spcAft>
              <a:buClr>
                <a:schemeClr val="accent2"/>
              </a:buClr>
              <a:buSzPts val="4800"/>
              <a:buFont typeface="Raleway Thin"/>
              <a:buNone/>
              <a:defRPr sz="6400" b="0" i="0" u="none" strike="noStrike" cap="none">
                <a:solidFill>
                  <a:schemeClr val="accent2"/>
                </a:solidFill>
                <a:latin typeface="Raleway Thin"/>
                <a:ea typeface="Raleway Thin"/>
                <a:cs typeface="Raleway Thin"/>
              </a:defRPr>
            </a:lvl8pPr>
            <a:lvl9pPr marR="0" lvl="8">
              <a:lnSpc>
                <a:spcPct val="80000"/>
              </a:lnSpc>
              <a:spcBef>
                <a:spcPts val="0"/>
              </a:spcBef>
              <a:spcAft>
                <a:spcPts val="0"/>
              </a:spcAft>
              <a:buClr>
                <a:schemeClr val="accent2"/>
              </a:buClr>
              <a:buSzPts val="4800"/>
              <a:buFont typeface="Raleway Thin"/>
              <a:buNone/>
              <a:defRPr sz="6400" b="0" i="0" u="none" strike="noStrike" cap="none">
                <a:solidFill>
                  <a:schemeClr val="accent2"/>
                </a:solidFill>
                <a:latin typeface="Raleway Thin"/>
                <a:ea typeface="Raleway Thin"/>
                <a:cs typeface="Raleway Thin"/>
              </a:defRPr>
            </a:lvl9pPr>
          </a:lstStyle>
          <a:p>
            <a:r>
              <a:rPr lang="en-GB" sz="1600">
                <a:latin typeface="Rockwell" panose="02060603020205020403" pitchFamily="18" charset="0"/>
              </a:rPr>
              <a:t>A CSF analysis runs on a proprietary modelling framework which consists of a series of advanced regression models that run through 100K+ combinations of causal variables per brand with four key milestones:</a:t>
            </a:r>
          </a:p>
        </p:txBody>
      </p:sp>
      <p:grpSp>
        <p:nvGrpSpPr>
          <p:cNvPr id="6" name="Group 5">
            <a:extLst>
              <a:ext uri="{FF2B5EF4-FFF2-40B4-BE49-F238E27FC236}">
                <a16:creationId xmlns:a16="http://schemas.microsoft.com/office/drawing/2014/main" id="{0BA81A53-AB99-071F-ECA8-FADEA57B5F4B}"/>
              </a:ext>
            </a:extLst>
          </p:cNvPr>
          <p:cNvGrpSpPr/>
          <p:nvPr/>
        </p:nvGrpSpPr>
        <p:grpSpPr>
          <a:xfrm>
            <a:off x="288758" y="1749811"/>
            <a:ext cx="11601684" cy="4306692"/>
            <a:chOff x="288758" y="1749811"/>
            <a:chExt cx="11601684" cy="4306692"/>
          </a:xfrm>
        </p:grpSpPr>
        <p:cxnSp>
          <p:nvCxnSpPr>
            <p:cNvPr id="21" name="Straight Arrow Connector 20">
              <a:extLst>
                <a:ext uri="{FF2B5EF4-FFF2-40B4-BE49-F238E27FC236}">
                  <a16:creationId xmlns:a16="http://schemas.microsoft.com/office/drawing/2014/main" id="{2D6E97B1-2A28-4717-8D76-16CC37723DA7}"/>
                </a:ext>
              </a:extLst>
            </p:cNvPr>
            <p:cNvCxnSpPr>
              <a:cxnSpLocks/>
              <a:stCxn id="11" idx="6"/>
              <a:endCxn id="13" idx="2"/>
            </p:cNvCxnSpPr>
            <p:nvPr/>
          </p:nvCxnSpPr>
          <p:spPr>
            <a:xfrm flipV="1">
              <a:off x="2128005" y="2178464"/>
              <a:ext cx="2203723" cy="56"/>
            </a:xfrm>
            <a:prstGeom prst="straightConnector1">
              <a:avLst/>
            </a:prstGeom>
            <a:ln w="38100" cap="rnd">
              <a:solidFill>
                <a:schemeClr val="tx1">
                  <a:lumMod val="50000"/>
                  <a:lumOff val="50000"/>
                </a:schemeClr>
              </a:solidFill>
              <a:prstDash val="dashDot"/>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9AA030C7-0776-4EBD-93E1-59E36A079EA5}"/>
                </a:ext>
              </a:extLst>
            </p:cNvPr>
            <p:cNvCxnSpPr>
              <a:cxnSpLocks/>
              <a:stCxn id="13" idx="6"/>
              <a:endCxn id="16" idx="2"/>
            </p:cNvCxnSpPr>
            <p:nvPr/>
          </p:nvCxnSpPr>
          <p:spPr>
            <a:xfrm>
              <a:off x="5188867" y="2178464"/>
              <a:ext cx="1870247" cy="11467"/>
            </a:xfrm>
            <a:prstGeom prst="straightConnector1">
              <a:avLst/>
            </a:prstGeom>
            <a:ln w="38100" cap="rnd">
              <a:solidFill>
                <a:schemeClr val="tx1">
                  <a:lumMod val="50000"/>
                  <a:lumOff val="50000"/>
                </a:schemeClr>
              </a:solidFill>
              <a:prstDash val="dashDot"/>
              <a:tailEnd type="triangle"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A1E0EC58-4BB2-4D32-AA75-FCB39412DB57}"/>
                </a:ext>
              </a:extLst>
            </p:cNvPr>
            <p:cNvCxnSpPr>
              <a:cxnSpLocks/>
              <a:stCxn id="15" idx="6"/>
              <a:endCxn id="18" idx="2"/>
            </p:cNvCxnSpPr>
            <p:nvPr/>
          </p:nvCxnSpPr>
          <p:spPr>
            <a:xfrm flipV="1">
              <a:off x="7913269" y="2183262"/>
              <a:ext cx="2100114" cy="6725"/>
            </a:xfrm>
            <a:prstGeom prst="straightConnector1">
              <a:avLst/>
            </a:prstGeom>
            <a:ln w="38100" cap="rnd">
              <a:solidFill>
                <a:schemeClr val="tx1">
                  <a:lumMod val="50000"/>
                  <a:lumOff val="50000"/>
                </a:schemeClr>
              </a:solidFill>
              <a:prstDash val="dashDot"/>
              <a:tailEnd type="triangle" w="lg" len="lg"/>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8A5553D3-CA41-4BF6-B205-45BC9B291E40}"/>
                </a:ext>
              </a:extLst>
            </p:cNvPr>
            <p:cNvGrpSpPr/>
            <p:nvPr/>
          </p:nvGrpSpPr>
          <p:grpSpPr>
            <a:xfrm>
              <a:off x="1270865" y="1749867"/>
              <a:ext cx="857140" cy="857250"/>
              <a:chOff x="2137139" y="1692836"/>
              <a:chExt cx="857140" cy="857250"/>
            </a:xfrm>
          </p:grpSpPr>
          <p:sp>
            <p:nvSpPr>
              <p:cNvPr id="11" name="Freeform 86">
                <a:extLst>
                  <a:ext uri="{FF2B5EF4-FFF2-40B4-BE49-F238E27FC236}">
                    <a16:creationId xmlns:a16="http://schemas.microsoft.com/office/drawing/2014/main" id="{8AEBB442-A4E3-44C9-92F1-7FCD53CC0575}"/>
                  </a:ext>
                </a:extLst>
              </p:cNvPr>
              <p:cNvSpPr>
                <a:spLocks noChangeAspect="1" noChangeArrowheads="1"/>
              </p:cNvSpPr>
              <p:nvPr/>
            </p:nvSpPr>
            <p:spPr bwMode="auto">
              <a:xfrm>
                <a:off x="2137140" y="1692891"/>
                <a:ext cx="857139" cy="857195"/>
              </a:xfrm>
              <a:prstGeom prst="ellipse">
                <a:avLst/>
              </a:prstGeom>
              <a:solidFill>
                <a:schemeClr val="accent1"/>
              </a:solidFill>
              <a:ln w="57150">
                <a:noFill/>
              </a:ln>
              <a:effectLst/>
            </p:spPr>
            <p:txBody>
              <a:bodyPr wrap="none" anchor="ctr"/>
              <a:lstStyle/>
              <a:p>
                <a:endParaRPr lang="en-US" sz="2400" b="1">
                  <a:latin typeface="Rockwell" panose="02060603020205020403" pitchFamily="18" charset="0"/>
                </a:endParaRPr>
              </a:p>
            </p:txBody>
          </p:sp>
          <p:sp>
            <p:nvSpPr>
              <p:cNvPr id="12" name="Pie 2">
                <a:extLst>
                  <a:ext uri="{FF2B5EF4-FFF2-40B4-BE49-F238E27FC236}">
                    <a16:creationId xmlns:a16="http://schemas.microsoft.com/office/drawing/2014/main" id="{D4B47828-20D4-4CDB-A05D-53D39B66C52D}"/>
                  </a:ext>
                </a:extLst>
              </p:cNvPr>
              <p:cNvSpPr>
                <a:spLocks/>
              </p:cNvSpPr>
              <p:nvPr/>
            </p:nvSpPr>
            <p:spPr>
              <a:xfrm>
                <a:off x="2137139" y="1692836"/>
                <a:ext cx="854153" cy="857194"/>
              </a:xfrm>
              <a:prstGeom prst="pie">
                <a:avLst>
                  <a:gd name="adj1" fmla="val 16170288"/>
                  <a:gd name="adj2" fmla="val 16173805"/>
                </a:avLst>
              </a:prstGeom>
              <a:pattFill prst="zigZag">
                <a:fgClr>
                  <a:schemeClr val="accent1"/>
                </a:fgClr>
                <a:bgClr>
                  <a:schemeClr val="accent1">
                    <a:lumMod val="60000"/>
                    <a:lumOff val="40000"/>
                  </a:schemeClr>
                </a:bgClr>
              </a:patt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8">
                  <a:solidFill>
                    <a:schemeClr val="tx1"/>
                  </a:solidFill>
                  <a:latin typeface="Rockwell" panose="02060603020205020403" pitchFamily="18" charset="0"/>
                </a:endParaRPr>
              </a:p>
            </p:txBody>
          </p:sp>
          <p:sp>
            <p:nvSpPr>
              <p:cNvPr id="25" name="TextBox 24">
                <a:extLst>
                  <a:ext uri="{FF2B5EF4-FFF2-40B4-BE49-F238E27FC236}">
                    <a16:creationId xmlns:a16="http://schemas.microsoft.com/office/drawing/2014/main" id="{86B27DFB-D744-4B10-937F-27282D4CC70A}"/>
                  </a:ext>
                </a:extLst>
              </p:cNvPr>
              <p:cNvSpPr txBox="1"/>
              <p:nvPr/>
            </p:nvSpPr>
            <p:spPr>
              <a:xfrm>
                <a:off x="2317472" y="1885471"/>
                <a:ext cx="493486"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a:ln>
                      <a:noFill/>
                    </a:ln>
                    <a:solidFill>
                      <a:schemeClr val="bg1"/>
                    </a:solidFill>
                    <a:effectLst/>
                    <a:uFillTx/>
                    <a:latin typeface="Rockwell" panose="02060603020205020403" pitchFamily="18" charset="0"/>
                    <a:sym typeface="Helvetica Neue"/>
                  </a:rPr>
                  <a:t>1</a:t>
                </a:r>
              </a:p>
            </p:txBody>
          </p:sp>
        </p:grpSp>
        <p:grpSp>
          <p:nvGrpSpPr>
            <p:cNvPr id="3" name="Group 2">
              <a:extLst>
                <a:ext uri="{FF2B5EF4-FFF2-40B4-BE49-F238E27FC236}">
                  <a16:creationId xmlns:a16="http://schemas.microsoft.com/office/drawing/2014/main" id="{870A7519-D8D0-4194-B506-37B739B22A40}"/>
                </a:ext>
              </a:extLst>
            </p:cNvPr>
            <p:cNvGrpSpPr/>
            <p:nvPr/>
          </p:nvGrpSpPr>
          <p:grpSpPr>
            <a:xfrm>
              <a:off x="4331728" y="1749811"/>
              <a:ext cx="857139" cy="857250"/>
              <a:chOff x="3865732" y="1692836"/>
              <a:chExt cx="857139" cy="857250"/>
            </a:xfrm>
          </p:grpSpPr>
          <p:sp>
            <p:nvSpPr>
              <p:cNvPr id="13" name="Freeform 86">
                <a:extLst>
                  <a:ext uri="{FF2B5EF4-FFF2-40B4-BE49-F238E27FC236}">
                    <a16:creationId xmlns:a16="http://schemas.microsoft.com/office/drawing/2014/main" id="{E2F728B0-68A3-4045-9D54-20BC09E2EBB6}"/>
                  </a:ext>
                </a:extLst>
              </p:cNvPr>
              <p:cNvSpPr>
                <a:spLocks noChangeAspect="1" noChangeArrowheads="1"/>
              </p:cNvSpPr>
              <p:nvPr/>
            </p:nvSpPr>
            <p:spPr bwMode="auto">
              <a:xfrm>
                <a:off x="3865732" y="1692891"/>
                <a:ext cx="857139" cy="857195"/>
              </a:xfrm>
              <a:prstGeom prst="ellipse">
                <a:avLst/>
              </a:prstGeom>
              <a:solidFill>
                <a:schemeClr val="accent2"/>
              </a:solidFill>
              <a:ln w="57150">
                <a:noFill/>
              </a:ln>
              <a:effectLst/>
            </p:spPr>
            <p:txBody>
              <a:bodyPr wrap="none" anchor="ctr"/>
              <a:lstStyle/>
              <a:p>
                <a:endParaRPr lang="en-US" sz="7463" b="1">
                  <a:latin typeface="Rockwell" panose="02060603020205020403" pitchFamily="18" charset="0"/>
                </a:endParaRPr>
              </a:p>
            </p:txBody>
          </p:sp>
          <p:sp>
            <p:nvSpPr>
              <p:cNvPr id="14" name="Pie 4">
                <a:extLst>
                  <a:ext uri="{FF2B5EF4-FFF2-40B4-BE49-F238E27FC236}">
                    <a16:creationId xmlns:a16="http://schemas.microsoft.com/office/drawing/2014/main" id="{D6F15FDC-7A59-49A6-B20A-F82BEE01799F}"/>
                  </a:ext>
                </a:extLst>
              </p:cNvPr>
              <p:cNvSpPr>
                <a:spLocks/>
              </p:cNvSpPr>
              <p:nvPr/>
            </p:nvSpPr>
            <p:spPr>
              <a:xfrm>
                <a:off x="3868717" y="1692836"/>
                <a:ext cx="854153" cy="857194"/>
              </a:xfrm>
              <a:prstGeom prst="pie">
                <a:avLst>
                  <a:gd name="adj1" fmla="val 10816493"/>
                  <a:gd name="adj2" fmla="val 16173805"/>
                </a:avLst>
              </a:prstGeom>
              <a:pattFill prst="zigZag">
                <a:fgClr>
                  <a:schemeClr val="accent2"/>
                </a:fgClr>
                <a:bgClr>
                  <a:schemeClr val="accent2">
                    <a:lumMod val="60000"/>
                    <a:lumOff val="40000"/>
                  </a:schemeClr>
                </a:bgClr>
              </a:patt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8">
                  <a:solidFill>
                    <a:schemeClr val="tx1"/>
                  </a:solidFill>
                  <a:latin typeface="Rockwell" panose="02060603020205020403" pitchFamily="18" charset="0"/>
                </a:endParaRPr>
              </a:p>
            </p:txBody>
          </p:sp>
          <p:sp>
            <p:nvSpPr>
              <p:cNvPr id="28" name="TextBox 27">
                <a:extLst>
                  <a:ext uri="{FF2B5EF4-FFF2-40B4-BE49-F238E27FC236}">
                    <a16:creationId xmlns:a16="http://schemas.microsoft.com/office/drawing/2014/main" id="{6B05590C-A5C5-4EEC-A315-D1A35CD6E5A7}"/>
                  </a:ext>
                </a:extLst>
              </p:cNvPr>
              <p:cNvSpPr txBox="1"/>
              <p:nvPr/>
            </p:nvSpPr>
            <p:spPr>
              <a:xfrm>
                <a:off x="4039197" y="1853790"/>
                <a:ext cx="493486"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a:ln>
                      <a:noFill/>
                    </a:ln>
                    <a:solidFill>
                      <a:schemeClr val="bg1"/>
                    </a:solidFill>
                    <a:effectLst/>
                    <a:uFillTx/>
                    <a:latin typeface="Rockwell" panose="02060603020205020403" pitchFamily="18" charset="0"/>
                    <a:sym typeface="Helvetica Neue"/>
                  </a:rPr>
                  <a:t>2</a:t>
                </a:r>
              </a:p>
            </p:txBody>
          </p:sp>
        </p:grpSp>
        <p:grpSp>
          <p:nvGrpSpPr>
            <p:cNvPr id="4" name="Group 3">
              <a:extLst>
                <a:ext uri="{FF2B5EF4-FFF2-40B4-BE49-F238E27FC236}">
                  <a16:creationId xmlns:a16="http://schemas.microsoft.com/office/drawing/2014/main" id="{6F621844-257A-48EE-A7F0-7379D925C95E}"/>
                </a:ext>
              </a:extLst>
            </p:cNvPr>
            <p:cNvGrpSpPr/>
            <p:nvPr/>
          </p:nvGrpSpPr>
          <p:grpSpPr>
            <a:xfrm>
              <a:off x="7056130" y="1761334"/>
              <a:ext cx="857139" cy="857250"/>
              <a:chOff x="5563288" y="1692836"/>
              <a:chExt cx="857139" cy="857250"/>
            </a:xfrm>
          </p:grpSpPr>
          <p:sp>
            <p:nvSpPr>
              <p:cNvPr id="15" name="Freeform 86">
                <a:extLst>
                  <a:ext uri="{FF2B5EF4-FFF2-40B4-BE49-F238E27FC236}">
                    <a16:creationId xmlns:a16="http://schemas.microsoft.com/office/drawing/2014/main" id="{3D102463-564C-45BC-9044-2B03FF3F7B61}"/>
                  </a:ext>
                </a:extLst>
              </p:cNvPr>
              <p:cNvSpPr>
                <a:spLocks noChangeAspect="1" noChangeArrowheads="1"/>
              </p:cNvSpPr>
              <p:nvPr/>
            </p:nvSpPr>
            <p:spPr bwMode="auto">
              <a:xfrm>
                <a:off x="5563288" y="1692891"/>
                <a:ext cx="857139" cy="857195"/>
              </a:xfrm>
              <a:prstGeom prst="ellipse">
                <a:avLst/>
              </a:prstGeom>
              <a:solidFill>
                <a:schemeClr val="accent3"/>
              </a:solidFill>
              <a:ln w="57150">
                <a:noFill/>
              </a:ln>
              <a:effectLst/>
            </p:spPr>
            <p:txBody>
              <a:bodyPr wrap="none" anchor="ctr"/>
              <a:lstStyle/>
              <a:p>
                <a:endParaRPr lang="en-US" sz="7463" b="1">
                  <a:latin typeface="Rockwell" panose="02060603020205020403" pitchFamily="18" charset="0"/>
                </a:endParaRPr>
              </a:p>
            </p:txBody>
          </p:sp>
          <p:sp>
            <p:nvSpPr>
              <p:cNvPr id="16" name="Pie 6">
                <a:extLst>
                  <a:ext uri="{FF2B5EF4-FFF2-40B4-BE49-F238E27FC236}">
                    <a16:creationId xmlns:a16="http://schemas.microsoft.com/office/drawing/2014/main" id="{20AD7750-B2F9-4B86-896C-F1DA9943CB06}"/>
                  </a:ext>
                </a:extLst>
              </p:cNvPr>
              <p:cNvSpPr>
                <a:spLocks/>
              </p:cNvSpPr>
              <p:nvPr/>
            </p:nvSpPr>
            <p:spPr>
              <a:xfrm>
                <a:off x="5566272" y="1692836"/>
                <a:ext cx="854153" cy="857194"/>
              </a:xfrm>
              <a:prstGeom prst="pie">
                <a:avLst>
                  <a:gd name="adj1" fmla="val 5425910"/>
                  <a:gd name="adj2" fmla="val 16173805"/>
                </a:avLst>
              </a:prstGeom>
              <a:pattFill prst="zigZag">
                <a:fgClr>
                  <a:schemeClr val="accent3"/>
                </a:fgClr>
                <a:bgClr>
                  <a:schemeClr val="accent3">
                    <a:lumMod val="90000"/>
                  </a:schemeClr>
                </a:bgClr>
              </a:patt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8">
                  <a:solidFill>
                    <a:schemeClr val="tx1"/>
                  </a:solidFill>
                  <a:latin typeface="Rockwell" panose="02060603020205020403" pitchFamily="18" charset="0"/>
                </a:endParaRPr>
              </a:p>
            </p:txBody>
          </p:sp>
          <p:sp>
            <p:nvSpPr>
              <p:cNvPr id="29" name="TextBox 28">
                <a:extLst>
                  <a:ext uri="{FF2B5EF4-FFF2-40B4-BE49-F238E27FC236}">
                    <a16:creationId xmlns:a16="http://schemas.microsoft.com/office/drawing/2014/main" id="{78690675-20E4-44C1-92A4-B1D0F606DEE0}"/>
                  </a:ext>
                </a:extLst>
              </p:cNvPr>
              <p:cNvSpPr txBox="1"/>
              <p:nvPr/>
            </p:nvSpPr>
            <p:spPr>
              <a:xfrm>
                <a:off x="5733188" y="1878590"/>
                <a:ext cx="493486"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a:ln>
                      <a:noFill/>
                    </a:ln>
                    <a:solidFill>
                      <a:schemeClr val="bg1"/>
                    </a:solidFill>
                    <a:effectLst/>
                    <a:uFillTx/>
                    <a:latin typeface="Rockwell" panose="02060603020205020403" pitchFamily="18" charset="0"/>
                    <a:sym typeface="Helvetica Neue"/>
                  </a:rPr>
                  <a:t>3</a:t>
                </a:r>
              </a:p>
            </p:txBody>
          </p:sp>
        </p:grpSp>
        <p:grpSp>
          <p:nvGrpSpPr>
            <p:cNvPr id="5" name="Group 4">
              <a:extLst>
                <a:ext uri="{FF2B5EF4-FFF2-40B4-BE49-F238E27FC236}">
                  <a16:creationId xmlns:a16="http://schemas.microsoft.com/office/drawing/2014/main" id="{B1B4C987-CDDA-492B-A41E-A4D38D2DB673}"/>
                </a:ext>
              </a:extLst>
            </p:cNvPr>
            <p:cNvGrpSpPr/>
            <p:nvPr/>
          </p:nvGrpSpPr>
          <p:grpSpPr>
            <a:xfrm>
              <a:off x="10010398" y="1754665"/>
              <a:ext cx="857139" cy="857250"/>
              <a:chOff x="7268611" y="1692836"/>
              <a:chExt cx="857139" cy="857250"/>
            </a:xfrm>
          </p:grpSpPr>
          <p:sp>
            <p:nvSpPr>
              <p:cNvPr id="17" name="Freeform 86">
                <a:extLst>
                  <a:ext uri="{FF2B5EF4-FFF2-40B4-BE49-F238E27FC236}">
                    <a16:creationId xmlns:a16="http://schemas.microsoft.com/office/drawing/2014/main" id="{5606DBC0-9E0F-4316-9241-B90D8D59F28B}"/>
                  </a:ext>
                </a:extLst>
              </p:cNvPr>
              <p:cNvSpPr>
                <a:spLocks noChangeAspect="1" noChangeArrowheads="1"/>
              </p:cNvSpPr>
              <p:nvPr/>
            </p:nvSpPr>
            <p:spPr bwMode="auto">
              <a:xfrm>
                <a:off x="7268611" y="1692891"/>
                <a:ext cx="857139" cy="857195"/>
              </a:xfrm>
              <a:prstGeom prst="ellipse">
                <a:avLst/>
              </a:prstGeom>
              <a:solidFill>
                <a:schemeClr val="accent4"/>
              </a:solidFill>
              <a:ln w="57150">
                <a:noFill/>
              </a:ln>
              <a:effectLst/>
            </p:spPr>
            <p:txBody>
              <a:bodyPr wrap="none" anchor="ctr"/>
              <a:lstStyle/>
              <a:p>
                <a:endParaRPr lang="en-US" sz="7463" b="1">
                  <a:latin typeface="Rockwell" panose="02060603020205020403" pitchFamily="18" charset="0"/>
                </a:endParaRPr>
              </a:p>
            </p:txBody>
          </p:sp>
          <p:sp>
            <p:nvSpPr>
              <p:cNvPr id="18" name="Pie 8">
                <a:extLst>
                  <a:ext uri="{FF2B5EF4-FFF2-40B4-BE49-F238E27FC236}">
                    <a16:creationId xmlns:a16="http://schemas.microsoft.com/office/drawing/2014/main" id="{8DC04746-9EB9-4476-80CC-B597EE87AC31}"/>
                  </a:ext>
                </a:extLst>
              </p:cNvPr>
              <p:cNvSpPr>
                <a:spLocks/>
              </p:cNvSpPr>
              <p:nvPr/>
            </p:nvSpPr>
            <p:spPr>
              <a:xfrm>
                <a:off x="7271596" y="1692836"/>
                <a:ext cx="854153" cy="857194"/>
              </a:xfrm>
              <a:prstGeom prst="pie">
                <a:avLst>
                  <a:gd name="adj1" fmla="val 55425"/>
                  <a:gd name="adj2" fmla="val 16173805"/>
                </a:avLst>
              </a:prstGeom>
              <a:pattFill prst="zigZag">
                <a:fgClr>
                  <a:schemeClr val="accent4"/>
                </a:fgClr>
                <a:bgClr>
                  <a:schemeClr val="accent4">
                    <a:lumMod val="60000"/>
                    <a:lumOff val="40000"/>
                  </a:schemeClr>
                </a:bgClr>
              </a:patt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8">
                  <a:solidFill>
                    <a:schemeClr val="tx1"/>
                  </a:solidFill>
                  <a:latin typeface="Rockwell" panose="02060603020205020403" pitchFamily="18" charset="0"/>
                </a:endParaRPr>
              </a:p>
            </p:txBody>
          </p:sp>
          <p:sp>
            <p:nvSpPr>
              <p:cNvPr id="30" name="TextBox 29">
                <a:extLst>
                  <a:ext uri="{FF2B5EF4-FFF2-40B4-BE49-F238E27FC236}">
                    <a16:creationId xmlns:a16="http://schemas.microsoft.com/office/drawing/2014/main" id="{EE19CE19-00CE-4DF1-9E24-4D9A500BF818}"/>
                  </a:ext>
                </a:extLst>
              </p:cNvPr>
              <p:cNvSpPr txBox="1"/>
              <p:nvPr/>
            </p:nvSpPr>
            <p:spPr>
              <a:xfrm>
                <a:off x="7438509" y="1864537"/>
                <a:ext cx="493486"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a:ln>
                      <a:noFill/>
                    </a:ln>
                    <a:solidFill>
                      <a:schemeClr val="bg1"/>
                    </a:solidFill>
                    <a:effectLst/>
                    <a:uFillTx/>
                    <a:latin typeface="Rockwell" panose="02060603020205020403" pitchFamily="18" charset="0"/>
                    <a:sym typeface="Helvetica Neue"/>
                  </a:rPr>
                  <a:t>4</a:t>
                </a:r>
              </a:p>
            </p:txBody>
          </p:sp>
        </p:grpSp>
        <p:sp>
          <p:nvSpPr>
            <p:cNvPr id="36" name="TextBox 35">
              <a:extLst>
                <a:ext uri="{FF2B5EF4-FFF2-40B4-BE49-F238E27FC236}">
                  <a16:creationId xmlns:a16="http://schemas.microsoft.com/office/drawing/2014/main" id="{7F9FB1EA-5E3B-406E-8BFB-31CE23712A67}"/>
                </a:ext>
              </a:extLst>
            </p:cNvPr>
            <p:cNvSpPr txBox="1"/>
            <p:nvPr/>
          </p:nvSpPr>
          <p:spPr>
            <a:xfrm>
              <a:off x="508027" y="2709168"/>
              <a:ext cx="2415941" cy="699807"/>
            </a:xfrm>
            <a:prstGeom prst="rect">
              <a:avLst/>
            </a:prstGeom>
            <a:noFill/>
          </p:spPr>
          <p:txBody>
            <a:bodyPr wrap="square">
              <a:spAutoFit/>
            </a:bodyPr>
            <a:lstStyle/>
            <a:p>
              <a:pPr algn="ctr">
                <a:lnSpc>
                  <a:spcPct val="150000"/>
                </a:lnSpc>
              </a:pPr>
              <a:r>
                <a:rPr lang="en-GB" sz="1400" b="1">
                  <a:latin typeface="Rockwell" panose="02060603020205020403" pitchFamily="18" charset="0"/>
                </a:rPr>
                <a:t>Estimate long term price elasticities (LTEs)</a:t>
              </a:r>
            </a:p>
          </p:txBody>
        </p:sp>
        <p:sp>
          <p:nvSpPr>
            <p:cNvPr id="37" name="Rectangle 36">
              <a:extLst>
                <a:ext uri="{FF2B5EF4-FFF2-40B4-BE49-F238E27FC236}">
                  <a16:creationId xmlns:a16="http://schemas.microsoft.com/office/drawing/2014/main" id="{48DDD873-B5EB-42A7-9E2A-D76F0332DF9E}"/>
                </a:ext>
              </a:extLst>
            </p:cNvPr>
            <p:cNvSpPr/>
            <p:nvPr/>
          </p:nvSpPr>
          <p:spPr>
            <a:xfrm>
              <a:off x="1744774" y="3511026"/>
              <a:ext cx="760491" cy="369333"/>
            </a:xfrm>
            <a:prstGeom prst="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a:solidFill>
                    <a:schemeClr val="tx1"/>
                  </a:solidFill>
                  <a:latin typeface="Rockwell" panose="02060603020205020403" pitchFamily="18" charset="0"/>
                  <a:cs typeface="Arial" panose="020B0604020202020204" pitchFamily="34" charset="0"/>
                </a:rPr>
                <a:t>-1.2</a:t>
              </a:r>
            </a:p>
          </p:txBody>
        </p:sp>
        <p:sp>
          <p:nvSpPr>
            <p:cNvPr id="38" name="Rectangle 37">
              <a:extLst>
                <a:ext uri="{FF2B5EF4-FFF2-40B4-BE49-F238E27FC236}">
                  <a16:creationId xmlns:a16="http://schemas.microsoft.com/office/drawing/2014/main" id="{9FBB3999-0641-4A4A-81F5-30DABB1BD19B}"/>
                </a:ext>
              </a:extLst>
            </p:cNvPr>
            <p:cNvSpPr/>
            <p:nvPr/>
          </p:nvSpPr>
          <p:spPr>
            <a:xfrm>
              <a:off x="1744773" y="3971343"/>
              <a:ext cx="760492" cy="369333"/>
            </a:xfrm>
            <a:prstGeom prst="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a:solidFill>
                    <a:schemeClr val="tx1"/>
                  </a:solidFill>
                  <a:latin typeface="Rockwell" panose="02060603020205020403" pitchFamily="18" charset="0"/>
                  <a:cs typeface="Arial" panose="020B0604020202020204" pitchFamily="34" charset="0"/>
                </a:rPr>
                <a:t>-1.3</a:t>
              </a:r>
            </a:p>
          </p:txBody>
        </p:sp>
        <p:sp>
          <p:nvSpPr>
            <p:cNvPr id="45" name="Rectangle 44">
              <a:extLst>
                <a:ext uri="{FF2B5EF4-FFF2-40B4-BE49-F238E27FC236}">
                  <a16:creationId xmlns:a16="http://schemas.microsoft.com/office/drawing/2014/main" id="{30AD258A-84EE-444D-BE71-822A797A78F9}"/>
                </a:ext>
              </a:extLst>
            </p:cNvPr>
            <p:cNvSpPr/>
            <p:nvPr/>
          </p:nvSpPr>
          <p:spPr>
            <a:xfrm>
              <a:off x="1744773" y="4431660"/>
              <a:ext cx="760492" cy="369333"/>
            </a:xfrm>
            <a:prstGeom prst="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a:solidFill>
                    <a:schemeClr val="tx1"/>
                  </a:solidFill>
                  <a:latin typeface="Rockwell" panose="02060603020205020403" pitchFamily="18" charset="0"/>
                  <a:cs typeface="Arial" panose="020B0604020202020204" pitchFamily="34" charset="0"/>
                </a:rPr>
                <a:t>-0.7</a:t>
              </a:r>
            </a:p>
          </p:txBody>
        </p:sp>
        <p:sp>
          <p:nvSpPr>
            <p:cNvPr id="47" name="TextBox 46">
              <a:extLst>
                <a:ext uri="{FF2B5EF4-FFF2-40B4-BE49-F238E27FC236}">
                  <a16:creationId xmlns:a16="http://schemas.microsoft.com/office/drawing/2014/main" id="{0F30E211-0D21-4FD1-A1BB-DB6D0FBB62B6}"/>
                </a:ext>
              </a:extLst>
            </p:cNvPr>
            <p:cNvSpPr txBox="1"/>
            <p:nvPr/>
          </p:nvSpPr>
          <p:spPr>
            <a:xfrm>
              <a:off x="676467" y="3526415"/>
              <a:ext cx="905346" cy="338554"/>
            </a:xfrm>
            <a:prstGeom prst="rect">
              <a:avLst/>
            </a:prstGeom>
            <a:noFill/>
          </p:spPr>
          <p:txBody>
            <a:bodyPr wrap="square">
              <a:spAutoFit/>
            </a:bodyPr>
            <a:lstStyle/>
            <a:p>
              <a:r>
                <a:rPr lang="en-US" sz="1600">
                  <a:solidFill>
                    <a:schemeClr val="tx1"/>
                  </a:solidFill>
                  <a:latin typeface="Rockwell" panose="02060603020205020403" pitchFamily="18" charset="0"/>
                  <a:cs typeface="Arial" panose="020B0604020202020204" pitchFamily="34" charset="0"/>
                </a:rPr>
                <a:t>Brand 1 </a:t>
              </a:r>
              <a:endParaRPr lang="en-US" sz="1600">
                <a:latin typeface="Rockwell" panose="02060603020205020403" pitchFamily="18" charset="0"/>
              </a:endParaRPr>
            </a:p>
          </p:txBody>
        </p:sp>
        <p:sp>
          <p:nvSpPr>
            <p:cNvPr id="48" name="TextBox 47">
              <a:extLst>
                <a:ext uri="{FF2B5EF4-FFF2-40B4-BE49-F238E27FC236}">
                  <a16:creationId xmlns:a16="http://schemas.microsoft.com/office/drawing/2014/main" id="{ABA60C04-E681-4FE3-A83B-A462F700F4FD}"/>
                </a:ext>
              </a:extLst>
            </p:cNvPr>
            <p:cNvSpPr txBox="1"/>
            <p:nvPr/>
          </p:nvSpPr>
          <p:spPr>
            <a:xfrm>
              <a:off x="675465" y="3990645"/>
              <a:ext cx="905346" cy="338554"/>
            </a:xfrm>
            <a:prstGeom prst="rect">
              <a:avLst/>
            </a:prstGeom>
            <a:noFill/>
          </p:spPr>
          <p:txBody>
            <a:bodyPr wrap="square">
              <a:spAutoFit/>
            </a:bodyPr>
            <a:lstStyle/>
            <a:p>
              <a:r>
                <a:rPr lang="en-US" sz="1600">
                  <a:solidFill>
                    <a:schemeClr val="tx1"/>
                  </a:solidFill>
                  <a:latin typeface="Rockwell" panose="02060603020205020403" pitchFamily="18" charset="0"/>
                  <a:cs typeface="Arial" panose="020B0604020202020204" pitchFamily="34" charset="0"/>
                </a:rPr>
                <a:t>Brand </a:t>
              </a:r>
              <a:r>
                <a:rPr lang="en-US" sz="1600">
                  <a:latin typeface="Rockwell" panose="02060603020205020403" pitchFamily="18" charset="0"/>
                  <a:cs typeface="Arial" panose="020B0604020202020204" pitchFamily="34" charset="0"/>
                </a:rPr>
                <a:t>2</a:t>
              </a:r>
              <a:r>
                <a:rPr lang="en-US" sz="1600">
                  <a:solidFill>
                    <a:schemeClr val="tx1"/>
                  </a:solidFill>
                  <a:latin typeface="Rockwell" panose="02060603020205020403" pitchFamily="18" charset="0"/>
                  <a:cs typeface="Arial" panose="020B0604020202020204" pitchFamily="34" charset="0"/>
                </a:rPr>
                <a:t> </a:t>
              </a:r>
              <a:endParaRPr lang="en-US" sz="1600">
                <a:latin typeface="Rockwell" panose="02060603020205020403" pitchFamily="18" charset="0"/>
              </a:endParaRPr>
            </a:p>
          </p:txBody>
        </p:sp>
        <p:sp>
          <p:nvSpPr>
            <p:cNvPr id="49" name="TextBox 48">
              <a:extLst>
                <a:ext uri="{FF2B5EF4-FFF2-40B4-BE49-F238E27FC236}">
                  <a16:creationId xmlns:a16="http://schemas.microsoft.com/office/drawing/2014/main" id="{AE4A0DC6-5706-4F3D-B127-B49F7AE394EA}"/>
                </a:ext>
              </a:extLst>
            </p:cNvPr>
            <p:cNvSpPr txBox="1"/>
            <p:nvPr/>
          </p:nvSpPr>
          <p:spPr>
            <a:xfrm>
              <a:off x="666410" y="4447049"/>
              <a:ext cx="905346" cy="338554"/>
            </a:xfrm>
            <a:prstGeom prst="rect">
              <a:avLst/>
            </a:prstGeom>
            <a:noFill/>
          </p:spPr>
          <p:txBody>
            <a:bodyPr wrap="square">
              <a:spAutoFit/>
            </a:bodyPr>
            <a:lstStyle/>
            <a:p>
              <a:r>
                <a:rPr lang="en-US" sz="1600">
                  <a:solidFill>
                    <a:schemeClr val="tx1"/>
                  </a:solidFill>
                  <a:latin typeface="Rockwell" panose="02060603020205020403" pitchFamily="18" charset="0"/>
                  <a:cs typeface="Arial" panose="020B0604020202020204" pitchFamily="34" charset="0"/>
                </a:rPr>
                <a:t>Brand </a:t>
              </a:r>
              <a:r>
                <a:rPr lang="en-US" sz="1600">
                  <a:latin typeface="Rockwell" panose="02060603020205020403" pitchFamily="18" charset="0"/>
                  <a:cs typeface="Arial" panose="020B0604020202020204" pitchFamily="34" charset="0"/>
                </a:rPr>
                <a:t>3</a:t>
              </a:r>
              <a:r>
                <a:rPr lang="en-US" sz="1600">
                  <a:solidFill>
                    <a:schemeClr val="tx1"/>
                  </a:solidFill>
                  <a:latin typeface="Rockwell" panose="02060603020205020403" pitchFamily="18" charset="0"/>
                  <a:cs typeface="Arial" panose="020B0604020202020204" pitchFamily="34" charset="0"/>
                </a:rPr>
                <a:t> </a:t>
              </a:r>
              <a:endParaRPr lang="en-US" sz="1600">
                <a:latin typeface="Rockwell" panose="02060603020205020403" pitchFamily="18" charset="0"/>
              </a:endParaRPr>
            </a:p>
          </p:txBody>
        </p:sp>
        <p:sp>
          <p:nvSpPr>
            <p:cNvPr id="51" name="TextBox 50">
              <a:extLst>
                <a:ext uri="{FF2B5EF4-FFF2-40B4-BE49-F238E27FC236}">
                  <a16:creationId xmlns:a16="http://schemas.microsoft.com/office/drawing/2014/main" id="{50F001FF-DBC4-43A1-B210-F34DAF8BCC7C}"/>
                </a:ext>
              </a:extLst>
            </p:cNvPr>
            <p:cNvSpPr txBox="1"/>
            <p:nvPr/>
          </p:nvSpPr>
          <p:spPr>
            <a:xfrm>
              <a:off x="288758" y="5040840"/>
              <a:ext cx="2719879" cy="846386"/>
            </a:xfrm>
            <a:prstGeom prst="rect">
              <a:avLst/>
            </a:prstGeom>
            <a:noFill/>
          </p:spPr>
          <p:txBody>
            <a:bodyPr wrap="square">
              <a:spAutoFit/>
            </a:bodyPr>
            <a:lstStyle/>
            <a:p>
              <a:pPr>
                <a:spcBef>
                  <a:spcPts val="600"/>
                </a:spcBef>
              </a:pPr>
              <a:r>
                <a:rPr lang="en-US" sz="1100" b="1">
                  <a:latin typeface="Rockwell" panose="02060603020205020403" pitchFamily="18" charset="0"/>
                </a:rPr>
                <a:t>LTE</a:t>
              </a:r>
              <a:r>
                <a:rPr lang="en-US" sz="1100">
                  <a:latin typeface="Rockwell" panose="02060603020205020403" pitchFamily="18" charset="0"/>
                </a:rPr>
                <a:t> - Estimating long-term (12+) effect of price change</a:t>
              </a:r>
            </a:p>
            <a:p>
              <a:pPr>
                <a:spcBef>
                  <a:spcPts val="600"/>
                </a:spcBef>
              </a:pPr>
              <a:r>
                <a:rPr lang="en-US" sz="1100">
                  <a:latin typeface="Rockwell" panose="02060603020205020403" pitchFamily="18" charset="0"/>
                </a:rPr>
                <a:t>Brand response to price change is represents brand </a:t>
              </a:r>
              <a:r>
                <a:rPr lang="en-US" sz="1100" err="1">
                  <a:latin typeface="Rockwell" panose="02060603020205020403" pitchFamily="18" charset="0"/>
                </a:rPr>
                <a:t>strengh</a:t>
              </a:r>
              <a:endParaRPr lang="en-US" sz="1100">
                <a:latin typeface="Rockwell" panose="02060603020205020403" pitchFamily="18" charset="0"/>
              </a:endParaRPr>
            </a:p>
          </p:txBody>
        </p:sp>
        <p:sp>
          <p:nvSpPr>
            <p:cNvPr id="52" name="TextBox 51">
              <a:extLst>
                <a:ext uri="{FF2B5EF4-FFF2-40B4-BE49-F238E27FC236}">
                  <a16:creationId xmlns:a16="http://schemas.microsoft.com/office/drawing/2014/main" id="{B296BD0D-73B9-4757-9031-CDD0C253C0AA}"/>
                </a:ext>
              </a:extLst>
            </p:cNvPr>
            <p:cNvSpPr txBox="1"/>
            <p:nvPr/>
          </p:nvSpPr>
          <p:spPr>
            <a:xfrm>
              <a:off x="3812198" y="2719108"/>
              <a:ext cx="2030101" cy="699807"/>
            </a:xfrm>
            <a:prstGeom prst="rect">
              <a:avLst/>
            </a:prstGeom>
            <a:noFill/>
          </p:spPr>
          <p:txBody>
            <a:bodyPr wrap="square">
              <a:spAutoFit/>
            </a:bodyPr>
            <a:lstStyle/>
            <a:p>
              <a:pPr algn="ctr">
                <a:lnSpc>
                  <a:spcPct val="150000"/>
                </a:lnSpc>
              </a:pPr>
              <a:r>
                <a:rPr lang="en-GB" sz="1400" b="1">
                  <a:latin typeface="Rockwell" panose="02060603020205020403" pitchFamily="18" charset="0"/>
                </a:rPr>
                <a:t>Use LTEs to estimate MCV</a:t>
              </a:r>
            </a:p>
          </p:txBody>
        </p:sp>
        <p:sp>
          <p:nvSpPr>
            <p:cNvPr id="53" name="Rectangle 52">
              <a:extLst>
                <a:ext uri="{FF2B5EF4-FFF2-40B4-BE49-F238E27FC236}">
                  <a16:creationId xmlns:a16="http://schemas.microsoft.com/office/drawing/2014/main" id="{39A578AA-05F2-4E43-AECC-6A215C15F580}"/>
                </a:ext>
              </a:extLst>
            </p:cNvPr>
            <p:cNvSpPr/>
            <p:nvPr/>
          </p:nvSpPr>
          <p:spPr>
            <a:xfrm>
              <a:off x="4331728" y="3526415"/>
              <a:ext cx="991043" cy="369333"/>
            </a:xfrm>
            <a:prstGeom prst="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a:solidFill>
                    <a:schemeClr val="tx1"/>
                  </a:solidFill>
                  <a:latin typeface="Rockwell" panose="02060603020205020403" pitchFamily="18" charset="0"/>
                  <a:cs typeface="Arial" panose="020B0604020202020204" pitchFamily="34" charset="0"/>
                </a:rPr>
                <a:t>4.0 $/L</a:t>
              </a:r>
            </a:p>
          </p:txBody>
        </p:sp>
        <p:sp>
          <p:nvSpPr>
            <p:cNvPr id="54" name="Rectangle 53">
              <a:extLst>
                <a:ext uri="{FF2B5EF4-FFF2-40B4-BE49-F238E27FC236}">
                  <a16:creationId xmlns:a16="http://schemas.microsoft.com/office/drawing/2014/main" id="{E8B4D71E-261A-4BE3-A9FD-23590A4746A6}"/>
                </a:ext>
              </a:extLst>
            </p:cNvPr>
            <p:cNvSpPr/>
            <p:nvPr/>
          </p:nvSpPr>
          <p:spPr>
            <a:xfrm>
              <a:off x="4331729" y="3986732"/>
              <a:ext cx="991042" cy="369333"/>
            </a:xfrm>
            <a:prstGeom prst="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a:solidFill>
                    <a:schemeClr val="tx1"/>
                  </a:solidFill>
                  <a:latin typeface="Rockwell" panose="02060603020205020403" pitchFamily="18" charset="0"/>
                  <a:cs typeface="Arial" panose="020B0604020202020204" pitchFamily="34" charset="0"/>
                </a:rPr>
                <a:t>4.7 $/L</a:t>
              </a:r>
            </a:p>
          </p:txBody>
        </p:sp>
        <p:sp>
          <p:nvSpPr>
            <p:cNvPr id="55" name="Rectangle 54">
              <a:extLst>
                <a:ext uri="{FF2B5EF4-FFF2-40B4-BE49-F238E27FC236}">
                  <a16:creationId xmlns:a16="http://schemas.microsoft.com/office/drawing/2014/main" id="{CFED4695-D5A6-4EB2-9A80-3F258FFA0C7F}"/>
                </a:ext>
              </a:extLst>
            </p:cNvPr>
            <p:cNvSpPr/>
            <p:nvPr/>
          </p:nvSpPr>
          <p:spPr>
            <a:xfrm>
              <a:off x="4331729" y="4447049"/>
              <a:ext cx="991042" cy="369333"/>
            </a:xfrm>
            <a:prstGeom prst="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a:solidFill>
                    <a:schemeClr val="tx1"/>
                  </a:solidFill>
                  <a:latin typeface="Rockwell" panose="02060603020205020403" pitchFamily="18" charset="0"/>
                  <a:cs typeface="Arial" panose="020B0604020202020204" pitchFamily="34" charset="0"/>
                </a:rPr>
                <a:t>5.1 $/L</a:t>
              </a:r>
            </a:p>
          </p:txBody>
        </p:sp>
        <p:sp>
          <p:nvSpPr>
            <p:cNvPr id="57" name="TextBox 56">
              <a:extLst>
                <a:ext uri="{FF2B5EF4-FFF2-40B4-BE49-F238E27FC236}">
                  <a16:creationId xmlns:a16="http://schemas.microsoft.com/office/drawing/2014/main" id="{5B93A46C-1986-453A-9671-494F14DCE7F3}"/>
                </a:ext>
              </a:extLst>
            </p:cNvPr>
            <p:cNvSpPr txBox="1"/>
            <p:nvPr/>
          </p:nvSpPr>
          <p:spPr>
            <a:xfrm>
              <a:off x="3387595" y="5040840"/>
              <a:ext cx="2653747" cy="600164"/>
            </a:xfrm>
            <a:prstGeom prst="rect">
              <a:avLst/>
            </a:prstGeom>
            <a:noFill/>
          </p:spPr>
          <p:txBody>
            <a:bodyPr wrap="square">
              <a:spAutoFit/>
            </a:bodyPr>
            <a:lstStyle/>
            <a:p>
              <a:pPr>
                <a:spcBef>
                  <a:spcPts val="600"/>
                </a:spcBef>
              </a:pPr>
              <a:r>
                <a:rPr lang="en-GB" sz="1100" b="1">
                  <a:latin typeface="Rockwell" panose="02060603020205020403" pitchFamily="18" charset="0"/>
                </a:rPr>
                <a:t>MCV (Maximum Consumer Value) -</a:t>
              </a:r>
              <a:r>
                <a:rPr lang="en-GB" sz="1100">
                  <a:latin typeface="Rockwell" panose="02060603020205020403" pitchFamily="18" charset="0"/>
                </a:rPr>
                <a:t> a theoretical price at which sales of a brand decrease to Zero. </a:t>
              </a:r>
            </a:p>
          </p:txBody>
        </p:sp>
        <p:sp>
          <p:nvSpPr>
            <p:cNvPr id="58" name="TextBox 57">
              <a:extLst>
                <a:ext uri="{FF2B5EF4-FFF2-40B4-BE49-F238E27FC236}">
                  <a16:creationId xmlns:a16="http://schemas.microsoft.com/office/drawing/2014/main" id="{BE7CEEDD-8443-4BEE-AAE6-9CCD0A3F7B56}"/>
                </a:ext>
              </a:extLst>
            </p:cNvPr>
            <p:cNvSpPr txBox="1"/>
            <p:nvPr/>
          </p:nvSpPr>
          <p:spPr>
            <a:xfrm>
              <a:off x="6469648" y="2737448"/>
              <a:ext cx="2030101" cy="699807"/>
            </a:xfrm>
            <a:prstGeom prst="rect">
              <a:avLst/>
            </a:prstGeom>
            <a:noFill/>
          </p:spPr>
          <p:txBody>
            <a:bodyPr wrap="square">
              <a:spAutoFit/>
            </a:bodyPr>
            <a:lstStyle/>
            <a:p>
              <a:pPr algn="ctr">
                <a:lnSpc>
                  <a:spcPct val="150000"/>
                </a:lnSpc>
              </a:pPr>
              <a:r>
                <a:rPr lang="en-GB" sz="1400" b="1">
                  <a:latin typeface="Rockwell" panose="02060603020205020403" pitchFamily="18" charset="0"/>
                </a:rPr>
                <a:t>Divide MCV by Price to derive CSF</a:t>
              </a:r>
            </a:p>
          </p:txBody>
        </p:sp>
        <p:sp>
          <p:nvSpPr>
            <p:cNvPr id="59" name="Rectangle 58">
              <a:extLst>
                <a:ext uri="{FF2B5EF4-FFF2-40B4-BE49-F238E27FC236}">
                  <a16:creationId xmlns:a16="http://schemas.microsoft.com/office/drawing/2014/main" id="{295A9B3F-4349-4171-9095-D83FDCFBB737}"/>
                </a:ext>
              </a:extLst>
            </p:cNvPr>
            <p:cNvSpPr/>
            <p:nvPr/>
          </p:nvSpPr>
          <p:spPr>
            <a:xfrm>
              <a:off x="7056130" y="3526667"/>
              <a:ext cx="991043" cy="369333"/>
            </a:xfrm>
            <a:prstGeom prst="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a:solidFill>
                    <a:schemeClr val="tx1"/>
                  </a:solidFill>
                  <a:latin typeface="Rockwell" panose="02060603020205020403" pitchFamily="18" charset="0"/>
                  <a:cs typeface="Arial" panose="020B0604020202020204" pitchFamily="34" charset="0"/>
                </a:rPr>
                <a:t>2.0</a:t>
              </a:r>
            </a:p>
          </p:txBody>
        </p:sp>
        <p:sp>
          <p:nvSpPr>
            <p:cNvPr id="60" name="Rectangle 59">
              <a:extLst>
                <a:ext uri="{FF2B5EF4-FFF2-40B4-BE49-F238E27FC236}">
                  <a16:creationId xmlns:a16="http://schemas.microsoft.com/office/drawing/2014/main" id="{91E91DC7-C22F-4420-85AB-CD664A9F39F6}"/>
                </a:ext>
              </a:extLst>
            </p:cNvPr>
            <p:cNvSpPr/>
            <p:nvPr/>
          </p:nvSpPr>
          <p:spPr>
            <a:xfrm>
              <a:off x="7056131" y="3986984"/>
              <a:ext cx="991042" cy="369333"/>
            </a:xfrm>
            <a:prstGeom prst="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a:solidFill>
                    <a:schemeClr val="tx1"/>
                  </a:solidFill>
                  <a:latin typeface="Rockwell" panose="02060603020205020403" pitchFamily="18" charset="0"/>
                  <a:cs typeface="Arial" panose="020B0604020202020204" pitchFamily="34" charset="0"/>
                </a:rPr>
                <a:t>1.8</a:t>
              </a:r>
            </a:p>
          </p:txBody>
        </p:sp>
        <p:sp>
          <p:nvSpPr>
            <p:cNvPr id="61" name="Rectangle 60">
              <a:extLst>
                <a:ext uri="{FF2B5EF4-FFF2-40B4-BE49-F238E27FC236}">
                  <a16:creationId xmlns:a16="http://schemas.microsoft.com/office/drawing/2014/main" id="{9E660EF2-793D-405C-81B4-A2BCFF59C86C}"/>
                </a:ext>
              </a:extLst>
            </p:cNvPr>
            <p:cNvSpPr/>
            <p:nvPr/>
          </p:nvSpPr>
          <p:spPr>
            <a:xfrm>
              <a:off x="7056131" y="4447301"/>
              <a:ext cx="991042" cy="369333"/>
            </a:xfrm>
            <a:prstGeom prst="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a:solidFill>
                    <a:schemeClr val="tx1"/>
                  </a:solidFill>
                  <a:latin typeface="Rockwell" panose="02060603020205020403" pitchFamily="18" charset="0"/>
                  <a:cs typeface="Arial" panose="020B0604020202020204" pitchFamily="34" charset="0"/>
                </a:rPr>
                <a:t>2.3</a:t>
              </a:r>
            </a:p>
          </p:txBody>
        </p:sp>
        <p:sp>
          <p:nvSpPr>
            <p:cNvPr id="62" name="TextBox 61">
              <a:extLst>
                <a:ext uri="{FF2B5EF4-FFF2-40B4-BE49-F238E27FC236}">
                  <a16:creationId xmlns:a16="http://schemas.microsoft.com/office/drawing/2014/main" id="{D33E3CC6-82D4-4CCA-A31C-5E8D8063B262}"/>
                </a:ext>
              </a:extLst>
            </p:cNvPr>
            <p:cNvSpPr txBox="1"/>
            <p:nvPr/>
          </p:nvSpPr>
          <p:spPr>
            <a:xfrm>
              <a:off x="6489300" y="5040840"/>
              <a:ext cx="2548374" cy="1015663"/>
            </a:xfrm>
            <a:prstGeom prst="rect">
              <a:avLst/>
            </a:prstGeom>
            <a:noFill/>
          </p:spPr>
          <p:txBody>
            <a:bodyPr wrap="square">
              <a:spAutoFit/>
            </a:bodyPr>
            <a:lstStyle/>
            <a:p>
              <a:pPr>
                <a:spcBef>
                  <a:spcPts val="600"/>
                </a:spcBef>
              </a:pPr>
              <a:r>
                <a:rPr lang="en-GB" sz="1100" b="1">
                  <a:latin typeface="Rockwell" panose="02060603020205020403" pitchFamily="18" charset="0"/>
                </a:rPr>
                <a:t>CSF (Consumer Surplus Factor) –</a:t>
              </a:r>
              <a:r>
                <a:rPr lang="en-GB" sz="1100">
                  <a:latin typeface="Rockwell" panose="02060603020205020403" pitchFamily="18" charset="0"/>
                </a:rPr>
                <a:t>metric that helps assess the surplus offered by brands. </a:t>
              </a:r>
            </a:p>
            <a:p>
              <a:pPr>
                <a:spcBef>
                  <a:spcPts val="600"/>
                </a:spcBef>
              </a:pPr>
              <a:r>
                <a:rPr lang="en-GB" sz="1100">
                  <a:latin typeface="Rockwell" panose="02060603020205020403" pitchFamily="18" charset="0"/>
                </a:rPr>
                <a:t>Calculated as difference between price and MCB</a:t>
              </a:r>
            </a:p>
          </p:txBody>
        </p:sp>
        <p:sp>
          <p:nvSpPr>
            <p:cNvPr id="63" name="TextBox 62">
              <a:extLst>
                <a:ext uri="{FF2B5EF4-FFF2-40B4-BE49-F238E27FC236}">
                  <a16:creationId xmlns:a16="http://schemas.microsoft.com/office/drawing/2014/main" id="{2CE255F5-A26C-4C72-8C89-1B7288F8463E}"/>
                </a:ext>
              </a:extLst>
            </p:cNvPr>
            <p:cNvSpPr txBox="1"/>
            <p:nvPr/>
          </p:nvSpPr>
          <p:spPr>
            <a:xfrm>
              <a:off x="9350419" y="2721157"/>
              <a:ext cx="2251003" cy="699807"/>
            </a:xfrm>
            <a:prstGeom prst="rect">
              <a:avLst/>
            </a:prstGeom>
            <a:noFill/>
          </p:spPr>
          <p:txBody>
            <a:bodyPr wrap="square">
              <a:spAutoFit/>
            </a:bodyPr>
            <a:lstStyle/>
            <a:p>
              <a:pPr algn="ctr">
                <a:lnSpc>
                  <a:spcPct val="150000"/>
                </a:lnSpc>
              </a:pPr>
              <a:r>
                <a:rPr lang="en-GB" sz="1400" b="1">
                  <a:latin typeface="Rockwell" panose="02060603020205020403" pitchFamily="18" charset="0"/>
                </a:rPr>
                <a:t>Compare CSFs to estimate MSP</a:t>
              </a:r>
            </a:p>
          </p:txBody>
        </p:sp>
        <p:sp>
          <p:nvSpPr>
            <p:cNvPr id="65" name="Rectangle 64">
              <a:extLst>
                <a:ext uri="{FF2B5EF4-FFF2-40B4-BE49-F238E27FC236}">
                  <a16:creationId xmlns:a16="http://schemas.microsoft.com/office/drawing/2014/main" id="{F8880C9B-32F7-44D2-96BD-1080CB5CBF91}"/>
                </a:ext>
              </a:extLst>
            </p:cNvPr>
            <p:cNvSpPr/>
            <p:nvPr/>
          </p:nvSpPr>
          <p:spPr>
            <a:xfrm>
              <a:off x="10010398" y="3526415"/>
              <a:ext cx="991043" cy="369333"/>
            </a:xfrm>
            <a:prstGeom prst="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a:solidFill>
                    <a:schemeClr val="tx1"/>
                  </a:solidFill>
                  <a:latin typeface="Rockwell" panose="02060603020205020403" pitchFamily="18" charset="0"/>
                  <a:cs typeface="Arial" panose="020B0604020202020204" pitchFamily="34" charset="0"/>
                </a:rPr>
                <a:t>+0.5%</a:t>
              </a:r>
            </a:p>
          </p:txBody>
        </p:sp>
        <p:sp>
          <p:nvSpPr>
            <p:cNvPr id="66" name="Rectangle 65">
              <a:extLst>
                <a:ext uri="{FF2B5EF4-FFF2-40B4-BE49-F238E27FC236}">
                  <a16:creationId xmlns:a16="http://schemas.microsoft.com/office/drawing/2014/main" id="{5F3F5F6C-0196-402B-8A70-C06738230D61}"/>
                </a:ext>
              </a:extLst>
            </p:cNvPr>
            <p:cNvSpPr/>
            <p:nvPr/>
          </p:nvSpPr>
          <p:spPr>
            <a:xfrm>
              <a:off x="10010399" y="3986732"/>
              <a:ext cx="991042" cy="369333"/>
            </a:xfrm>
            <a:prstGeom prst="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a:solidFill>
                    <a:schemeClr val="tx1"/>
                  </a:solidFill>
                  <a:latin typeface="Rockwell" panose="02060603020205020403" pitchFamily="18" charset="0"/>
                  <a:cs typeface="Arial" panose="020B0604020202020204" pitchFamily="34" charset="0"/>
                </a:rPr>
                <a:t>-1.7%</a:t>
              </a:r>
            </a:p>
          </p:txBody>
        </p:sp>
        <p:sp>
          <p:nvSpPr>
            <p:cNvPr id="67" name="Rectangle 66">
              <a:extLst>
                <a:ext uri="{FF2B5EF4-FFF2-40B4-BE49-F238E27FC236}">
                  <a16:creationId xmlns:a16="http://schemas.microsoft.com/office/drawing/2014/main" id="{E51FA419-BBEA-4445-8EAD-AF136F7C7848}"/>
                </a:ext>
              </a:extLst>
            </p:cNvPr>
            <p:cNvSpPr/>
            <p:nvPr/>
          </p:nvSpPr>
          <p:spPr>
            <a:xfrm>
              <a:off x="10010399" y="4447049"/>
              <a:ext cx="991042" cy="369333"/>
            </a:xfrm>
            <a:prstGeom prst="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a:solidFill>
                    <a:schemeClr val="tx1"/>
                  </a:solidFill>
                  <a:latin typeface="Rockwell" panose="02060603020205020403" pitchFamily="18" charset="0"/>
                  <a:cs typeface="Arial" panose="020B0604020202020204" pitchFamily="34" charset="0"/>
                </a:rPr>
                <a:t>+1.2%</a:t>
              </a:r>
            </a:p>
          </p:txBody>
        </p:sp>
        <p:sp>
          <p:nvSpPr>
            <p:cNvPr id="68" name="TextBox 67">
              <a:extLst>
                <a:ext uri="{FF2B5EF4-FFF2-40B4-BE49-F238E27FC236}">
                  <a16:creationId xmlns:a16="http://schemas.microsoft.com/office/drawing/2014/main" id="{0A69F3EB-0D57-4AC9-942E-0DB55249557F}"/>
                </a:ext>
              </a:extLst>
            </p:cNvPr>
            <p:cNvSpPr txBox="1"/>
            <p:nvPr/>
          </p:nvSpPr>
          <p:spPr>
            <a:xfrm>
              <a:off x="9457122" y="5040840"/>
              <a:ext cx="2433320" cy="938719"/>
            </a:xfrm>
            <a:prstGeom prst="rect">
              <a:avLst/>
            </a:prstGeom>
            <a:noFill/>
          </p:spPr>
          <p:txBody>
            <a:bodyPr wrap="square">
              <a:spAutoFit/>
            </a:bodyPr>
            <a:lstStyle/>
            <a:p>
              <a:pPr>
                <a:spcBef>
                  <a:spcPts val="600"/>
                </a:spcBef>
              </a:pPr>
              <a:r>
                <a:rPr lang="en-GB" sz="1100" b="1">
                  <a:latin typeface="Rockwell" panose="02060603020205020403" pitchFamily="18" charset="0"/>
                </a:rPr>
                <a:t>MSP (Market share potential)  – </a:t>
              </a:r>
              <a:r>
                <a:rPr lang="en-GB" sz="1100">
                  <a:latin typeface="Rockwell" panose="02060603020205020403" pitchFamily="18" charset="0"/>
                </a:rPr>
                <a:t>projected market share in the next 12 months. It is the differential between the equity share and the current market share</a:t>
              </a:r>
            </a:p>
          </p:txBody>
        </p:sp>
      </p:grpSp>
    </p:spTree>
    <p:extLst>
      <p:ext uri="{BB962C8B-B14F-4D97-AF65-F5344CB8AC3E}">
        <p14:creationId xmlns:p14="http://schemas.microsoft.com/office/powerpoint/2010/main" val="9452446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A24E0CCC-9489-4933-D5A3-AC14EA1E4755}"/>
              </a:ext>
            </a:extLst>
          </p:cNvPr>
          <p:cNvGrpSpPr/>
          <p:nvPr/>
        </p:nvGrpSpPr>
        <p:grpSpPr>
          <a:xfrm>
            <a:off x="142240" y="653388"/>
            <a:ext cx="10566400" cy="45719"/>
            <a:chOff x="142240" y="653388"/>
            <a:chExt cx="10566400" cy="45719"/>
          </a:xfrm>
        </p:grpSpPr>
        <p:cxnSp>
          <p:nvCxnSpPr>
            <p:cNvPr id="5" name="Straight Connector 4">
              <a:extLst>
                <a:ext uri="{FF2B5EF4-FFF2-40B4-BE49-F238E27FC236}">
                  <a16:creationId xmlns:a16="http://schemas.microsoft.com/office/drawing/2014/main" id="{CEC7C73F-BDA8-EA63-13DE-E2D84AC4DC4A}"/>
                </a:ext>
              </a:extLst>
            </p:cNvPr>
            <p:cNvCxnSpPr>
              <a:cxnSpLocks/>
            </p:cNvCxnSpPr>
            <p:nvPr/>
          </p:nvCxnSpPr>
          <p:spPr>
            <a:xfrm>
              <a:off x="822960" y="673708"/>
              <a:ext cx="988568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A2728AAD-AC72-94D2-6F5E-53B4EFE33AD2}"/>
                </a:ext>
              </a:extLst>
            </p:cNvPr>
            <p:cNvSpPr/>
            <p:nvPr/>
          </p:nvSpPr>
          <p:spPr>
            <a:xfrm>
              <a:off x="142240" y="653388"/>
              <a:ext cx="1158240" cy="45719"/>
            </a:xfrm>
            <a:prstGeom prst="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7" name="Title 3">
            <a:extLst>
              <a:ext uri="{FF2B5EF4-FFF2-40B4-BE49-F238E27FC236}">
                <a16:creationId xmlns:a16="http://schemas.microsoft.com/office/drawing/2014/main" id="{3E391611-0910-0367-1C65-8742E9C012F7}"/>
              </a:ext>
            </a:extLst>
          </p:cNvPr>
          <p:cNvSpPr txBox="1">
            <a:spLocks/>
          </p:cNvSpPr>
          <p:nvPr/>
        </p:nvSpPr>
        <p:spPr>
          <a:xfrm>
            <a:off x="408859" y="107634"/>
            <a:ext cx="11681542" cy="611002"/>
          </a:xfrm>
          <a:prstGeom prst="rect">
            <a:avLst/>
          </a:prstGeom>
        </p:spPr>
        <p:txBody>
          <a:bodyPr vert="horz" lIns="121920" tIns="60960" rIns="121920" bIns="6096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a:lnSpc>
                <a:spcPct val="80000"/>
              </a:lnSpc>
              <a:spcBef>
                <a:spcPts val="0"/>
              </a:spcBef>
              <a:defRPr/>
            </a:pPr>
            <a:r>
              <a:rPr lang="en-US" sz="2400" b="1" spc="-64">
                <a:solidFill>
                  <a:srgbClr val="4472C4">
                    <a:lumMod val="50000"/>
                  </a:srgbClr>
                </a:solidFill>
                <a:latin typeface="Rockwell"/>
                <a:ea typeface="+mn-ea"/>
                <a:cs typeface="Arial" panose="020B0604020202020204" pitchFamily="34" charset="0"/>
              </a:rPr>
              <a:t>Executive Summary – Main takeaways</a:t>
            </a:r>
          </a:p>
        </p:txBody>
      </p:sp>
      <p:sp>
        <p:nvSpPr>
          <p:cNvPr id="9" name="TextBox 8">
            <a:extLst>
              <a:ext uri="{FF2B5EF4-FFF2-40B4-BE49-F238E27FC236}">
                <a16:creationId xmlns:a16="http://schemas.microsoft.com/office/drawing/2014/main" id="{F4A75C2F-75EE-C282-6EC2-878630E10BF4}"/>
              </a:ext>
            </a:extLst>
          </p:cNvPr>
          <p:cNvSpPr txBox="1"/>
          <p:nvPr/>
        </p:nvSpPr>
        <p:spPr>
          <a:xfrm>
            <a:off x="408859" y="994138"/>
            <a:ext cx="11340118" cy="5016758"/>
          </a:xfrm>
          <a:prstGeom prst="rect">
            <a:avLst/>
          </a:prstGeom>
          <a:noFill/>
        </p:spPr>
        <p:txBody>
          <a:bodyPr wrap="square" rtlCol="0">
            <a:spAutoFit/>
          </a:bodyPr>
          <a:lstStyle/>
          <a:p>
            <a:r>
              <a:rPr lang="en-GB" sz="1600" b="1">
                <a:latin typeface="Rockwell" panose="02060603020205020403" pitchFamily="18" charset="0"/>
              </a:rPr>
              <a:t>Overall – Both categories are losing MS in both the channels with Tesco doing better as a channel for the brands</a:t>
            </a:r>
          </a:p>
          <a:p>
            <a:endParaRPr lang="en-GB" sz="1600" b="1">
              <a:latin typeface="Rockwell" panose="02060603020205020403" pitchFamily="18" charset="0"/>
            </a:endParaRPr>
          </a:p>
          <a:p>
            <a:r>
              <a:rPr lang="en-GB" sz="1600" b="1" u="sng">
                <a:latin typeface="Rockwell" panose="02060603020205020403" pitchFamily="18" charset="0"/>
              </a:rPr>
              <a:t>BBQ</a:t>
            </a:r>
          </a:p>
          <a:p>
            <a:endParaRPr lang="en-GB" sz="1600">
              <a:latin typeface="Rockwell" panose="02060603020205020403" pitchFamily="18" charset="0"/>
            </a:endParaRPr>
          </a:p>
          <a:p>
            <a:pPr marL="285750" indent="-285750">
              <a:buFont typeface="Arial" panose="020B0604020202020204" pitchFamily="34" charset="0"/>
              <a:buChar char="•"/>
            </a:pPr>
            <a:r>
              <a:rPr lang="en-GB" sz="1600">
                <a:latin typeface="Rockwell" panose="02060603020205020403" pitchFamily="18" charset="0"/>
              </a:rPr>
              <a:t>Heinz has potential market stability given it’s consolidation at the right price in both the channels</a:t>
            </a:r>
          </a:p>
          <a:p>
            <a:pPr marL="285750" indent="-285750">
              <a:buFont typeface="Arial" panose="020B0604020202020204" pitchFamily="34" charset="0"/>
              <a:buChar char="•"/>
            </a:pPr>
            <a:r>
              <a:rPr lang="en-GB" sz="1600">
                <a:latin typeface="Rockwell" panose="02060603020205020403" pitchFamily="18" charset="0"/>
              </a:rPr>
              <a:t>HP in Supermarkets, while offering a similar value proposition to Heinz has a sub-par CSF as compared to HP in Tesco where it is also priced lower to Heinz</a:t>
            </a:r>
          </a:p>
          <a:p>
            <a:pPr marL="285750" indent="-285750">
              <a:buFont typeface="Arial" panose="020B0604020202020204" pitchFamily="34" charset="0"/>
              <a:buChar char="•"/>
            </a:pPr>
            <a:r>
              <a:rPr lang="en-GB" sz="1600">
                <a:latin typeface="Rockwell" panose="02060603020205020403" pitchFamily="18" charset="0"/>
              </a:rPr>
              <a:t>A marketing focused approach to set a USP is required for Bull’s eye which has the least CSF in both the channels even after price reductions </a:t>
            </a:r>
          </a:p>
          <a:p>
            <a:endParaRPr lang="en-GB" sz="1600">
              <a:latin typeface="Rockwell" panose="02060603020205020403" pitchFamily="18" charset="0"/>
            </a:endParaRPr>
          </a:p>
          <a:p>
            <a:endParaRPr lang="en-GB" sz="1600">
              <a:latin typeface="Rockwell" panose="02060603020205020403" pitchFamily="18" charset="0"/>
            </a:endParaRPr>
          </a:p>
          <a:p>
            <a:r>
              <a:rPr lang="en-GB" sz="1600" b="1" u="sng">
                <a:latin typeface="Rockwell" panose="02060603020205020403" pitchFamily="18" charset="0"/>
              </a:rPr>
              <a:t>Salad Cream</a:t>
            </a:r>
          </a:p>
          <a:p>
            <a:pPr marL="285750" indent="-285750">
              <a:buFont typeface="Arial" panose="020B0604020202020204" pitchFamily="34" charset="0"/>
              <a:buChar char="•"/>
            </a:pPr>
            <a:endParaRPr lang="en-GB" sz="1600">
              <a:latin typeface="Rockwell" panose="02060603020205020403" pitchFamily="18" charset="0"/>
            </a:endParaRPr>
          </a:p>
          <a:p>
            <a:pPr marL="285750" indent="-285750">
              <a:buFont typeface="Arial" panose="020B0604020202020204" pitchFamily="34" charset="0"/>
              <a:buChar char="•"/>
            </a:pPr>
            <a:r>
              <a:rPr lang="en-GB" sz="1600">
                <a:latin typeface="Rockwell" panose="02060603020205020403" pitchFamily="18" charset="0"/>
              </a:rPr>
              <a:t>The price disparity between Private label and Heinz plays a major role in determining the market share headroom in an almost duopolistic market</a:t>
            </a:r>
          </a:p>
          <a:p>
            <a:pPr marL="285750" indent="-285750">
              <a:buFont typeface="Arial" panose="020B0604020202020204" pitchFamily="34" charset="0"/>
              <a:buChar char="•"/>
            </a:pPr>
            <a:r>
              <a:rPr lang="en-GB" sz="1600">
                <a:latin typeface="Rockwell" panose="02060603020205020403" pitchFamily="18" charset="0"/>
              </a:rPr>
              <a:t>The category has very less differentiation in terms of channel level CSF of both the channels</a:t>
            </a:r>
          </a:p>
          <a:p>
            <a:pPr marL="285750" indent="-285750">
              <a:buFont typeface="Arial" panose="020B0604020202020204" pitchFamily="34" charset="0"/>
              <a:buChar char="•"/>
            </a:pPr>
            <a:r>
              <a:rPr lang="en-GB" sz="1600">
                <a:latin typeface="Rockwell" panose="02060603020205020403" pitchFamily="18" charset="0"/>
              </a:rPr>
              <a:t>The CSF of private label is higher than that of Heinz ; the individual brand level CSF of this category are good</a:t>
            </a:r>
          </a:p>
          <a:p>
            <a:pPr marL="285750" indent="-285750">
              <a:buFont typeface="Arial" panose="020B0604020202020204" pitchFamily="34" charset="0"/>
              <a:buChar char="•"/>
            </a:pPr>
            <a:r>
              <a:rPr lang="en-GB" sz="1600">
                <a:latin typeface="Rockwell" panose="02060603020205020403" pitchFamily="18" charset="0"/>
              </a:rPr>
              <a:t>Given the improving MCV trend, Heinz has improved its CSF after price consolidation from last year where as Private Label has increased prices year on year</a:t>
            </a:r>
          </a:p>
          <a:p>
            <a:endParaRPr lang="en-GB" sz="1600">
              <a:latin typeface="Rockwell" panose="02060603020205020403" pitchFamily="18" charset="0"/>
            </a:endParaRPr>
          </a:p>
        </p:txBody>
      </p:sp>
    </p:spTree>
    <p:extLst>
      <p:ext uri="{BB962C8B-B14F-4D97-AF65-F5344CB8AC3E}">
        <p14:creationId xmlns:p14="http://schemas.microsoft.com/office/powerpoint/2010/main" val="7114898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3C18215F-E536-A0B7-4266-E6C3EF302EC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think-cell data - do not delete" hidden="1">
                        <a:extLst>
                          <a:ext uri="{FF2B5EF4-FFF2-40B4-BE49-F238E27FC236}">
                            <a16:creationId xmlns:a16="http://schemas.microsoft.com/office/drawing/2014/main" id="{3C18215F-E536-A0B7-4266-E6C3EF302EC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1F11582-64A1-4E36-07CE-CD1A5766E623}"/>
              </a:ext>
            </a:extLst>
          </p:cNvPr>
          <p:cNvSpPr>
            <a:spLocks noGrp="1"/>
          </p:cNvSpPr>
          <p:nvPr>
            <p:ph type="title"/>
          </p:nvPr>
        </p:nvSpPr>
        <p:spPr>
          <a:xfrm>
            <a:off x="838200" y="2766218"/>
            <a:ext cx="10515600" cy="1325563"/>
          </a:xfrm>
        </p:spPr>
        <p:txBody>
          <a:bodyPr vert="horz"/>
          <a:lstStyle/>
          <a:p>
            <a:pPr algn="ctr"/>
            <a:r>
              <a:rPr lang="en-US" sz="4400" b="1" spc="-64">
                <a:solidFill>
                  <a:srgbClr val="4472C4">
                    <a:lumMod val="50000"/>
                  </a:srgbClr>
                </a:solidFill>
                <a:latin typeface="Rockwell"/>
                <a:ea typeface="+mn-ea"/>
                <a:cs typeface="Arial" panose="020B0604020202020204" pitchFamily="34" charset="0"/>
              </a:rPr>
              <a:t>UK – BBQ</a:t>
            </a:r>
            <a:endParaRPr lang="en-GB"/>
          </a:p>
        </p:txBody>
      </p:sp>
    </p:spTree>
    <p:extLst>
      <p:ext uri="{BB962C8B-B14F-4D97-AF65-F5344CB8AC3E}">
        <p14:creationId xmlns:p14="http://schemas.microsoft.com/office/powerpoint/2010/main" val="42046379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DBB21-6DAA-43E0-2181-7C0FB85EB094}"/>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9C48BF99-3CDA-E9EE-EC0E-89932FB4531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6" progId="TCLayout.ActiveDocument.1">
                  <p:embed/>
                </p:oleObj>
              </mc:Choice>
              <mc:Fallback>
                <p:oleObj name="think-cell Slide" r:id="rId5" imgW="395" imgH="396" progId="TCLayout.ActiveDocument.1">
                  <p:embed/>
                  <p:pic>
                    <p:nvPicPr>
                      <p:cNvPr id="4" name="think-cell data - do not delete" hidden="1">
                        <a:extLst>
                          <a:ext uri="{FF2B5EF4-FFF2-40B4-BE49-F238E27FC236}">
                            <a16:creationId xmlns:a16="http://schemas.microsoft.com/office/drawing/2014/main" id="{9C48BF99-3CDA-E9EE-EC0E-89932FB45310}"/>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Sev01">
            <a:extLst>
              <a:ext uri="{FF2B5EF4-FFF2-40B4-BE49-F238E27FC236}">
                <a16:creationId xmlns:a16="http://schemas.microsoft.com/office/drawing/2014/main" id="{DF7741DA-D2D7-DC94-59B2-A5B754423C23}"/>
              </a:ext>
            </a:extLst>
          </p:cNvPr>
          <p:cNvSpPr/>
          <p:nvPr/>
        </p:nvSpPr>
        <p:spPr>
          <a:xfrm>
            <a:off x="1731345" y="1004423"/>
            <a:ext cx="3554896" cy="55558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39" hangingPunct="0"/>
            <a:r>
              <a:rPr lang="en-US" b="1" u="sng" kern="0">
                <a:solidFill>
                  <a:srgbClr val="000000"/>
                </a:solidFill>
                <a:latin typeface="+mj-lt"/>
                <a:sym typeface="Helvetica Neue"/>
              </a:rPr>
              <a:t>Supermarkets</a:t>
            </a:r>
            <a:endParaRPr lang="en-US" sz="1400" b="1" u="sng" kern="0">
              <a:solidFill>
                <a:srgbClr val="000000"/>
              </a:solidFill>
              <a:latin typeface="+mj-lt"/>
              <a:sym typeface="Helvetica Neue"/>
            </a:endParaRPr>
          </a:p>
          <a:p>
            <a:pPr algn="ctr" defTabSz="1219139" hangingPunct="0"/>
            <a:r>
              <a:rPr lang="en-US" sz="1200" b="1" kern="0">
                <a:solidFill>
                  <a:srgbClr val="000000"/>
                </a:solidFill>
                <a:latin typeface="+mj-lt"/>
                <a:sym typeface="Helvetica Neue"/>
              </a:rPr>
              <a:t>Change in: </a:t>
            </a:r>
          </a:p>
          <a:p>
            <a:pPr algn="ctr" defTabSz="1219139" hangingPunct="0"/>
            <a:r>
              <a:rPr lang="en-US" sz="1200" b="1" kern="0">
                <a:solidFill>
                  <a:srgbClr val="000000"/>
                </a:solidFill>
                <a:latin typeface="+mj-lt"/>
                <a:sym typeface="Helvetica Neue"/>
              </a:rPr>
              <a:t>Value = </a:t>
            </a:r>
            <a:r>
              <a:rPr lang="en-US" sz="1200" b="1" kern="0">
                <a:solidFill>
                  <a:srgbClr val="FF0000"/>
                </a:solidFill>
                <a:latin typeface="+mj-lt"/>
                <a:sym typeface="Helvetica Neue"/>
              </a:rPr>
              <a:t>-3.8</a:t>
            </a:r>
            <a:r>
              <a:rPr lang="en-US" sz="1200" b="1" kern="0">
                <a:solidFill>
                  <a:srgbClr val="000000"/>
                </a:solidFill>
                <a:latin typeface="+mj-lt"/>
                <a:sym typeface="Helvetica Neue"/>
              </a:rPr>
              <a:t>%  Vol. = </a:t>
            </a:r>
            <a:r>
              <a:rPr lang="en-US" sz="1200" b="1" kern="0">
                <a:solidFill>
                  <a:schemeClr val="tx1"/>
                </a:solidFill>
                <a:latin typeface="+mj-lt"/>
                <a:sym typeface="Helvetica Neue"/>
              </a:rPr>
              <a:t>0.5%</a:t>
            </a:r>
            <a:r>
              <a:rPr lang="en-US" sz="1200" b="1" kern="0">
                <a:solidFill>
                  <a:srgbClr val="FF0000"/>
                </a:solidFill>
                <a:latin typeface="+mj-lt"/>
                <a:sym typeface="Helvetica Neue"/>
              </a:rPr>
              <a:t> </a:t>
            </a:r>
            <a:r>
              <a:rPr lang="en-US" sz="1200" b="1" kern="0">
                <a:solidFill>
                  <a:srgbClr val="000000"/>
                </a:solidFill>
                <a:latin typeface="+mj-lt"/>
                <a:sym typeface="Helvetica Neue"/>
              </a:rPr>
              <a:t>, Price = </a:t>
            </a:r>
            <a:r>
              <a:rPr lang="en-US" sz="1200" b="1" kern="0">
                <a:solidFill>
                  <a:srgbClr val="FF0000"/>
                </a:solidFill>
                <a:latin typeface="+mj-lt"/>
                <a:sym typeface="Helvetica Neue"/>
              </a:rPr>
              <a:t>-4.3%</a:t>
            </a:r>
            <a:r>
              <a:rPr lang="en-US" sz="1200" b="1" kern="0">
                <a:solidFill>
                  <a:srgbClr val="000000"/>
                </a:solidFill>
                <a:latin typeface="+mj-lt"/>
                <a:sym typeface="Helvetica Neue"/>
              </a:rPr>
              <a:t> </a:t>
            </a:r>
            <a:endParaRPr lang="en-US" sz="1200" b="1" kern="0">
              <a:solidFill>
                <a:srgbClr val="FF0000"/>
              </a:solidFill>
              <a:latin typeface="+mj-lt"/>
              <a:sym typeface="Helvetica Neue"/>
            </a:endParaRPr>
          </a:p>
        </p:txBody>
      </p:sp>
      <p:graphicFrame>
        <p:nvGraphicFramePr>
          <p:cNvPr id="9" name="Table 8">
            <a:extLst>
              <a:ext uri="{FF2B5EF4-FFF2-40B4-BE49-F238E27FC236}">
                <a16:creationId xmlns:a16="http://schemas.microsoft.com/office/drawing/2014/main" id="{A78092CD-AE84-8B43-C3B4-E66FD4E0FE5E}"/>
              </a:ext>
            </a:extLst>
          </p:cNvPr>
          <p:cNvGraphicFramePr>
            <a:graphicFrameLocks noGrp="1"/>
          </p:cNvGraphicFramePr>
          <p:nvPr>
            <p:extLst>
              <p:ext uri="{D42A27DB-BD31-4B8C-83A1-F6EECF244321}">
                <p14:modId xmlns:p14="http://schemas.microsoft.com/office/powerpoint/2010/main" val="362310552"/>
              </p:ext>
            </p:extLst>
          </p:nvPr>
        </p:nvGraphicFramePr>
        <p:xfrm>
          <a:off x="1034013" y="1698659"/>
          <a:ext cx="4694080" cy="2956539"/>
        </p:xfrm>
        <a:graphic>
          <a:graphicData uri="http://schemas.openxmlformats.org/drawingml/2006/table">
            <a:tbl>
              <a:tblPr/>
              <a:tblGrid>
                <a:gridCol w="1131217">
                  <a:extLst>
                    <a:ext uri="{9D8B030D-6E8A-4147-A177-3AD203B41FA5}">
                      <a16:colId xmlns:a16="http://schemas.microsoft.com/office/drawing/2014/main" val="3832534343"/>
                    </a:ext>
                  </a:extLst>
                </a:gridCol>
                <a:gridCol w="481183">
                  <a:extLst>
                    <a:ext uri="{9D8B030D-6E8A-4147-A177-3AD203B41FA5}">
                      <a16:colId xmlns:a16="http://schemas.microsoft.com/office/drawing/2014/main" val="791496339"/>
                    </a:ext>
                  </a:extLst>
                </a:gridCol>
                <a:gridCol w="1100600">
                  <a:extLst>
                    <a:ext uri="{9D8B030D-6E8A-4147-A177-3AD203B41FA5}">
                      <a16:colId xmlns:a16="http://schemas.microsoft.com/office/drawing/2014/main" val="1857494171"/>
                    </a:ext>
                  </a:extLst>
                </a:gridCol>
                <a:gridCol w="990540">
                  <a:extLst>
                    <a:ext uri="{9D8B030D-6E8A-4147-A177-3AD203B41FA5}">
                      <a16:colId xmlns:a16="http://schemas.microsoft.com/office/drawing/2014/main" val="3610767515"/>
                    </a:ext>
                  </a:extLst>
                </a:gridCol>
                <a:gridCol w="990540">
                  <a:extLst>
                    <a:ext uri="{9D8B030D-6E8A-4147-A177-3AD203B41FA5}">
                      <a16:colId xmlns:a16="http://schemas.microsoft.com/office/drawing/2014/main" val="1054921765"/>
                    </a:ext>
                  </a:extLst>
                </a:gridCol>
              </a:tblGrid>
              <a:tr h="421581">
                <a:tc>
                  <a:txBody>
                    <a:bodyPr/>
                    <a:lstStyle/>
                    <a:p>
                      <a:pPr algn="l" fontAlgn="b"/>
                      <a:endParaRPr lang="en-IN" sz="1200" b="1" i="0" u="none" strike="noStrike">
                        <a:solidFill>
                          <a:srgbClr val="000000"/>
                        </a:solidFill>
                        <a:effectLst/>
                        <a:latin typeface="Arial" panose="020B0604020202020204" pitchFamily="34" charset="0"/>
                        <a:cs typeface="Arial" panose="020B0604020202020204" pitchFamily="34" charset="0"/>
                      </a:endParaRPr>
                    </a:p>
                  </a:txBody>
                  <a:tcPr marL="8284" marR="8284" marT="8284"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N" sz="12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MS%</a:t>
                      </a:r>
                    </a:p>
                  </a:txBody>
                  <a:tcPr marL="8284" marR="8284" marT="8284"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N" sz="12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Change*</a:t>
                      </a:r>
                    </a:p>
                  </a:txBody>
                  <a:tcPr marL="8284" marR="8284" marT="8284"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N" sz="12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Avg Price</a:t>
                      </a:r>
                    </a:p>
                  </a:txBody>
                  <a:tcPr marL="8284" marR="8284" marT="8284"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N" sz="12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Change</a:t>
                      </a:r>
                    </a:p>
                  </a:txBody>
                  <a:tcPr marL="8284" marR="8284" marT="8284"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81129718"/>
                  </a:ext>
                </a:extLst>
              </a:tr>
              <a:tr h="321322">
                <a:tc>
                  <a:txBody>
                    <a:bodyPr/>
                    <a:lstStyle/>
                    <a:p>
                      <a:pPr algn="ctr" fontAlgn="b"/>
                      <a:r>
                        <a:rPr lang="en-US" sz="1100" b="1" i="0" u="none" strike="noStrike">
                          <a:solidFill>
                            <a:srgbClr val="000000"/>
                          </a:solidFill>
                          <a:effectLst/>
                          <a:latin typeface="Calibri" panose="020F0502020204030204" pitchFamily="34" charset="0"/>
                        </a:rPr>
                        <a:t>HEINZ</a:t>
                      </a: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000000"/>
                          </a:solidFill>
                          <a:effectLst/>
                          <a:latin typeface="Calibri" panose="020F0502020204030204" pitchFamily="34" charset="0"/>
                        </a:rPr>
                        <a:t>31.7%</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FF0000"/>
                          </a:solidFill>
                          <a:effectLst/>
                          <a:latin typeface="Calibri" panose="020F0502020204030204" pitchFamily="34" charset="0"/>
                        </a:rPr>
                        <a:t>-1.0%</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000000"/>
                          </a:solidFill>
                          <a:effectLst/>
                          <a:latin typeface="Calibri" panose="020F0502020204030204" pitchFamily="34" charset="0"/>
                        </a:rPr>
                        <a:t>5.57</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FF0000"/>
                          </a:solidFill>
                          <a:effectLst/>
                          <a:latin typeface="Calibri" panose="020F0502020204030204" pitchFamily="34" charset="0"/>
                        </a:rPr>
                        <a:t>-1.4%</a:t>
                      </a:r>
                    </a:p>
                  </a:txBody>
                  <a:tcPr marL="7620" marR="7620" marT="762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610470122"/>
                  </a:ext>
                </a:extLst>
              </a:tr>
              <a:tr h="372443">
                <a:tc>
                  <a:txBody>
                    <a:bodyPr/>
                    <a:lstStyle/>
                    <a:p>
                      <a:pPr algn="ctr" fontAlgn="b"/>
                      <a:r>
                        <a:rPr lang="en-US" sz="1100" b="1" i="0" u="none" strike="noStrike">
                          <a:solidFill>
                            <a:srgbClr val="000000"/>
                          </a:solidFill>
                          <a:effectLst/>
                          <a:latin typeface="Calibri" panose="020F0502020204030204" pitchFamily="34" charset="0"/>
                        </a:rPr>
                        <a:t>HP</a:t>
                      </a: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000000"/>
                          </a:solidFill>
                          <a:effectLst/>
                          <a:latin typeface="Calibri" panose="020F0502020204030204" pitchFamily="34" charset="0"/>
                        </a:rPr>
                        <a:t>9.4%</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FF0000"/>
                          </a:solidFill>
                          <a:effectLst/>
                          <a:latin typeface="Calibri" panose="020F0502020204030204" pitchFamily="34" charset="0"/>
                        </a:rPr>
                        <a:t>-0.2%</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000000"/>
                          </a:solidFill>
                          <a:effectLst/>
                          <a:latin typeface="Calibri" panose="020F0502020204030204" pitchFamily="34" charset="0"/>
                        </a:rPr>
                        <a:t>5.69</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FF0000"/>
                          </a:solidFill>
                          <a:effectLst/>
                          <a:latin typeface="Calibri" panose="020F0502020204030204" pitchFamily="34" charset="0"/>
                        </a:rPr>
                        <a:t>-0.9%</a:t>
                      </a:r>
                    </a:p>
                  </a:txBody>
                  <a:tcPr marL="7620" marR="7620" marT="762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767797743"/>
                  </a:ext>
                </a:extLst>
              </a:tr>
              <a:tr h="351421">
                <a:tc>
                  <a:txBody>
                    <a:bodyPr/>
                    <a:lstStyle/>
                    <a:p>
                      <a:pPr algn="ctr" fontAlgn="b"/>
                      <a:r>
                        <a:rPr lang="en-US" sz="1100" b="1" i="0" u="none" strike="noStrike">
                          <a:solidFill>
                            <a:srgbClr val="000000"/>
                          </a:solidFill>
                          <a:effectLst/>
                          <a:latin typeface="Calibri" panose="020F0502020204030204" pitchFamily="34" charset="0"/>
                        </a:rPr>
                        <a:t>BULLS EYE</a:t>
                      </a: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000000"/>
                          </a:solidFill>
                          <a:effectLst/>
                          <a:latin typeface="Calibri" panose="020F0502020204030204" pitchFamily="34" charset="0"/>
                        </a:rPr>
                        <a:t>6.2%</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FF0000"/>
                          </a:solidFill>
                          <a:effectLst/>
                          <a:latin typeface="Calibri" panose="020F0502020204030204" pitchFamily="34" charset="0"/>
                        </a:rPr>
                        <a:t>-0.4%</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000000"/>
                          </a:solidFill>
                          <a:effectLst/>
                          <a:latin typeface="Calibri" panose="020F0502020204030204" pitchFamily="34" charset="0"/>
                        </a:rPr>
                        <a:t>6.87</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FF0000"/>
                          </a:solidFill>
                          <a:effectLst/>
                          <a:latin typeface="Calibri" panose="020F0502020204030204" pitchFamily="34" charset="0"/>
                        </a:rPr>
                        <a:t>-2.2%</a:t>
                      </a:r>
                    </a:p>
                  </a:txBody>
                  <a:tcPr marL="7620" marR="7620" marT="762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488963442"/>
                  </a:ext>
                </a:extLst>
              </a:tr>
              <a:tr h="372443">
                <a:tc>
                  <a:txBody>
                    <a:bodyPr/>
                    <a:lstStyle/>
                    <a:p>
                      <a:pPr algn="ctr" fontAlgn="b"/>
                      <a:r>
                        <a:rPr lang="en-US" sz="1100" b="1" i="0" u="none" strike="noStrike">
                          <a:solidFill>
                            <a:srgbClr val="000000"/>
                          </a:solidFill>
                          <a:effectLst/>
                          <a:latin typeface="Calibri" panose="020F0502020204030204" pitchFamily="34" charset="0"/>
                        </a:rPr>
                        <a:t>PRIVATE LABEL</a:t>
                      </a: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17.8%</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FF0000"/>
                          </a:solidFill>
                          <a:effectLst/>
                          <a:latin typeface="Calibri" panose="020F0502020204030204" pitchFamily="34" charset="0"/>
                        </a:rPr>
                        <a:t>-0.2%</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2.45</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FF0000"/>
                          </a:solidFill>
                          <a:effectLst/>
                          <a:latin typeface="Calibri" panose="020F0502020204030204" pitchFamily="34" charset="0"/>
                        </a:rPr>
                        <a:t>-10.6%</a:t>
                      </a:r>
                    </a:p>
                  </a:txBody>
                  <a:tcPr marL="7620" marR="7620" marT="762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354633"/>
                  </a:ext>
                </a:extLst>
              </a:tr>
              <a:tr h="372443">
                <a:tc>
                  <a:txBody>
                    <a:bodyPr/>
                    <a:lstStyle/>
                    <a:p>
                      <a:pPr algn="ctr" fontAlgn="b"/>
                      <a:r>
                        <a:rPr lang="en-US" sz="1100" b="1" i="0" u="none" strike="noStrike">
                          <a:solidFill>
                            <a:srgbClr val="000000"/>
                          </a:solidFill>
                          <a:effectLst/>
                          <a:latin typeface="Calibri" panose="020F0502020204030204" pitchFamily="34" charset="0"/>
                        </a:rPr>
                        <a:t>LEVI ROOTS</a:t>
                      </a: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7.9%</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FF0000"/>
                          </a:solidFill>
                          <a:effectLst/>
                          <a:latin typeface="Calibri" panose="020F0502020204030204" pitchFamily="34" charset="0"/>
                        </a:rPr>
                        <a:t>-0.3%</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6.59</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FF0000"/>
                          </a:solidFill>
                          <a:effectLst/>
                          <a:latin typeface="Calibri" panose="020F0502020204030204" pitchFamily="34" charset="0"/>
                        </a:rPr>
                        <a:t>-0.3%</a:t>
                      </a:r>
                    </a:p>
                  </a:txBody>
                  <a:tcPr marL="7620" marR="7620" marT="762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0308103"/>
                  </a:ext>
                </a:extLst>
              </a:tr>
              <a:tr h="372443">
                <a:tc>
                  <a:txBody>
                    <a:bodyPr/>
                    <a:lstStyle/>
                    <a:p>
                      <a:pPr algn="ctr" fontAlgn="b"/>
                      <a:r>
                        <a:rPr lang="en-US" sz="1100" b="1" i="0" u="none" strike="noStrike">
                          <a:solidFill>
                            <a:srgbClr val="000000"/>
                          </a:solidFill>
                          <a:effectLst/>
                          <a:latin typeface="Calibri" panose="020F0502020204030204" pitchFamily="34" charset="0"/>
                        </a:rPr>
                        <a:t>SWEET BABY RAYS</a:t>
                      </a: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8.3%</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1100" b="0" i="0" u="none" strike="noStrike">
                          <a:solidFill>
                            <a:schemeClr val="tx1"/>
                          </a:solidFill>
                          <a:effectLst/>
                          <a:latin typeface="Calibri" panose="020F0502020204030204" pitchFamily="34" charset="0"/>
                        </a:rPr>
                        <a:t>1.5%</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6.88</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1100" b="0" i="0" u="none" strike="noStrike">
                          <a:solidFill>
                            <a:schemeClr val="tx1"/>
                          </a:solidFill>
                          <a:effectLst/>
                          <a:latin typeface="Calibri" panose="020F0502020204030204" pitchFamily="34" charset="0"/>
                        </a:rPr>
                        <a:t>1.8%</a:t>
                      </a:r>
                    </a:p>
                  </a:txBody>
                  <a:tcPr marL="7620" marR="7620" marT="762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66084410"/>
                  </a:ext>
                </a:extLst>
              </a:tr>
              <a:tr h="372443">
                <a:tc>
                  <a:txBody>
                    <a:bodyPr/>
                    <a:lstStyle/>
                    <a:p>
                      <a:pPr algn="ctr" fontAlgn="b"/>
                      <a:r>
                        <a:rPr lang="en-US" sz="1100" b="1" i="0" u="none" strike="noStrike" err="1">
                          <a:solidFill>
                            <a:srgbClr val="000000"/>
                          </a:solidFill>
                          <a:effectLst/>
                          <a:latin typeface="Calibri" panose="020F0502020204030204" pitchFamily="34" charset="0"/>
                        </a:rPr>
                        <a:t>Restofcategory</a:t>
                      </a:r>
                      <a:endParaRPr lang="en-US" sz="1100" b="1" i="0" u="none" strike="noStrike">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18.6%</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0.6%</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6.40</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FF0000"/>
                          </a:solidFill>
                          <a:effectLst/>
                          <a:latin typeface="Calibri" panose="020F0502020204030204" pitchFamily="34" charset="0"/>
                        </a:rPr>
                        <a:t>-1.2%</a:t>
                      </a:r>
                    </a:p>
                  </a:txBody>
                  <a:tcPr marL="7620" marR="7620" marT="762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303144"/>
                  </a:ext>
                </a:extLst>
              </a:tr>
            </a:tbl>
          </a:graphicData>
        </a:graphic>
      </p:graphicFrame>
      <p:sp>
        <p:nvSpPr>
          <p:cNvPr id="11" name="Title 3">
            <a:extLst>
              <a:ext uri="{FF2B5EF4-FFF2-40B4-BE49-F238E27FC236}">
                <a16:creationId xmlns:a16="http://schemas.microsoft.com/office/drawing/2014/main" id="{048EC372-EF34-DBFB-05AA-03E5C3607E6A}"/>
              </a:ext>
            </a:extLst>
          </p:cNvPr>
          <p:cNvSpPr txBox="1">
            <a:spLocks/>
          </p:cNvSpPr>
          <p:nvPr/>
        </p:nvSpPr>
        <p:spPr>
          <a:xfrm>
            <a:off x="408859" y="107634"/>
            <a:ext cx="11681542" cy="611002"/>
          </a:xfrm>
          <a:prstGeom prst="rect">
            <a:avLst/>
          </a:prstGeom>
        </p:spPr>
        <p:txBody>
          <a:bodyPr vert="horz" lIns="121920" tIns="60960" rIns="121920" bIns="6096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a:lnSpc>
                <a:spcPct val="80000"/>
              </a:lnSpc>
              <a:spcBef>
                <a:spcPts val="0"/>
              </a:spcBef>
              <a:defRPr/>
            </a:pPr>
            <a:r>
              <a:rPr lang="en-US" sz="2400" b="1" spc="-64">
                <a:solidFill>
                  <a:srgbClr val="4472C4">
                    <a:lumMod val="50000"/>
                  </a:srgbClr>
                </a:solidFill>
                <a:latin typeface="Rockwell"/>
                <a:ea typeface="+mn-ea"/>
                <a:cs typeface="Arial" panose="020B0604020202020204" pitchFamily="34" charset="0"/>
              </a:rPr>
              <a:t>UK – BBQ – Market Context - (P52W vs L52W)…..</a:t>
            </a:r>
          </a:p>
        </p:txBody>
      </p:sp>
      <p:grpSp>
        <p:nvGrpSpPr>
          <p:cNvPr id="12" name="Group 11">
            <a:extLst>
              <a:ext uri="{FF2B5EF4-FFF2-40B4-BE49-F238E27FC236}">
                <a16:creationId xmlns:a16="http://schemas.microsoft.com/office/drawing/2014/main" id="{548718E8-7876-125B-9FF3-3C43A771DD68}"/>
              </a:ext>
            </a:extLst>
          </p:cNvPr>
          <p:cNvGrpSpPr/>
          <p:nvPr/>
        </p:nvGrpSpPr>
        <p:grpSpPr>
          <a:xfrm>
            <a:off x="142240" y="653388"/>
            <a:ext cx="10566400" cy="45719"/>
            <a:chOff x="142240" y="653388"/>
            <a:chExt cx="10566400" cy="45719"/>
          </a:xfrm>
        </p:grpSpPr>
        <p:cxnSp>
          <p:nvCxnSpPr>
            <p:cNvPr id="13" name="Straight Connector 12">
              <a:extLst>
                <a:ext uri="{FF2B5EF4-FFF2-40B4-BE49-F238E27FC236}">
                  <a16:creationId xmlns:a16="http://schemas.microsoft.com/office/drawing/2014/main" id="{5E86A8B4-0450-EDF4-B5CC-0DE33C8F1727}"/>
                </a:ext>
              </a:extLst>
            </p:cNvPr>
            <p:cNvCxnSpPr>
              <a:cxnSpLocks/>
            </p:cNvCxnSpPr>
            <p:nvPr/>
          </p:nvCxnSpPr>
          <p:spPr>
            <a:xfrm>
              <a:off x="822960" y="673708"/>
              <a:ext cx="988568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467136BE-D0A1-6921-4C3B-ADF077F3F91F}"/>
                </a:ext>
              </a:extLst>
            </p:cNvPr>
            <p:cNvSpPr/>
            <p:nvPr/>
          </p:nvSpPr>
          <p:spPr>
            <a:xfrm>
              <a:off x="142240" y="653388"/>
              <a:ext cx="1158240" cy="45719"/>
            </a:xfrm>
            <a:prstGeom prst="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5" name="TextBox 14">
            <a:extLst>
              <a:ext uri="{FF2B5EF4-FFF2-40B4-BE49-F238E27FC236}">
                <a16:creationId xmlns:a16="http://schemas.microsoft.com/office/drawing/2014/main" id="{0FEA9EB2-2B41-D869-3BAE-A0A3C8110A6C}"/>
              </a:ext>
            </a:extLst>
          </p:cNvPr>
          <p:cNvSpPr txBox="1"/>
          <p:nvPr/>
        </p:nvSpPr>
        <p:spPr>
          <a:xfrm>
            <a:off x="-2256696" y="6858000"/>
            <a:ext cx="6346272" cy="461665"/>
          </a:xfrm>
          <a:prstGeom prst="rect">
            <a:avLst/>
          </a:prstGeom>
          <a:noFill/>
        </p:spPr>
        <p:txBody>
          <a:bodyPr wrap="square" rtlCol="0">
            <a:spAutoFit/>
          </a:bodyPr>
          <a:lstStyle/>
          <a:p>
            <a:r>
              <a:rPr lang="en-GB" sz="1200" i="1"/>
              <a:t>*Change is 2023 vs 2022; Price is in Euro/kg; Share is in Value terms</a:t>
            </a:r>
          </a:p>
          <a:p>
            <a:endParaRPr lang="en-GB" sz="1200" i="1"/>
          </a:p>
        </p:txBody>
      </p:sp>
      <p:sp>
        <p:nvSpPr>
          <p:cNvPr id="3" name="Sev01">
            <a:extLst>
              <a:ext uri="{FF2B5EF4-FFF2-40B4-BE49-F238E27FC236}">
                <a16:creationId xmlns:a16="http://schemas.microsoft.com/office/drawing/2014/main" id="{61FCC2A7-F76B-5C20-F9A2-098E1A50DBEA}"/>
              </a:ext>
            </a:extLst>
          </p:cNvPr>
          <p:cNvSpPr/>
          <p:nvPr/>
        </p:nvSpPr>
        <p:spPr>
          <a:xfrm>
            <a:off x="5610726" y="912990"/>
            <a:ext cx="5097914" cy="4542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39" hangingPunct="0"/>
            <a:endParaRPr lang="en-US" sz="1200" b="1" kern="0">
              <a:solidFill>
                <a:srgbClr val="FF0000"/>
              </a:solidFill>
              <a:latin typeface="+mj-lt"/>
              <a:sym typeface="Helvetica Neue"/>
            </a:endParaRPr>
          </a:p>
        </p:txBody>
      </p:sp>
      <p:sp>
        <p:nvSpPr>
          <p:cNvPr id="6" name="Sev01">
            <a:extLst>
              <a:ext uri="{FF2B5EF4-FFF2-40B4-BE49-F238E27FC236}">
                <a16:creationId xmlns:a16="http://schemas.microsoft.com/office/drawing/2014/main" id="{39C89EA1-60AD-A6E2-2360-DED71E539071}"/>
              </a:ext>
            </a:extLst>
          </p:cNvPr>
          <p:cNvSpPr/>
          <p:nvPr/>
        </p:nvSpPr>
        <p:spPr>
          <a:xfrm>
            <a:off x="9355887" y="858329"/>
            <a:ext cx="2988146" cy="55558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39" hangingPunct="0"/>
            <a:endParaRPr lang="en-US" sz="1200" b="1" kern="0">
              <a:solidFill>
                <a:srgbClr val="FF0000"/>
              </a:solidFill>
              <a:latin typeface="+mj-lt"/>
              <a:sym typeface="Helvetica Neue"/>
            </a:endParaRPr>
          </a:p>
        </p:txBody>
      </p:sp>
      <p:sp>
        <p:nvSpPr>
          <p:cNvPr id="10" name="Text Placeholder 2">
            <a:extLst>
              <a:ext uri="{FF2B5EF4-FFF2-40B4-BE49-F238E27FC236}">
                <a16:creationId xmlns:a16="http://schemas.microsoft.com/office/drawing/2014/main" id="{DCD7B524-8746-D002-0E7F-DC09ACB46E09}"/>
              </a:ext>
            </a:extLst>
          </p:cNvPr>
          <p:cNvSpPr>
            <a:spLocks noGrp="1"/>
          </p:cNvSpPr>
          <p:nvPr>
            <p:custDataLst>
              <p:tags r:id="rId2"/>
            </p:custDataLst>
          </p:nvPr>
        </p:nvSpPr>
        <p:spPr bwMode="auto">
          <a:xfrm>
            <a:off x="1367872" y="1282214"/>
            <a:ext cx="53340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endParaRPr lang="en-GB" sz="1200" b="1"/>
          </a:p>
        </p:txBody>
      </p:sp>
      <p:sp>
        <p:nvSpPr>
          <p:cNvPr id="23" name="Text Placeholder 2">
            <a:extLst>
              <a:ext uri="{FF2B5EF4-FFF2-40B4-BE49-F238E27FC236}">
                <a16:creationId xmlns:a16="http://schemas.microsoft.com/office/drawing/2014/main" id="{A9AE08B2-CF48-0F02-C86A-5AF0148B7FA6}"/>
              </a:ext>
            </a:extLst>
          </p:cNvPr>
          <p:cNvSpPr>
            <a:spLocks noGrp="1"/>
          </p:cNvSpPr>
          <p:nvPr>
            <p:custDataLst>
              <p:tags r:id="rId3"/>
            </p:custDataLst>
          </p:nvPr>
        </p:nvSpPr>
        <p:spPr bwMode="auto">
          <a:xfrm>
            <a:off x="7693043" y="1299052"/>
            <a:ext cx="53340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endParaRPr lang="en-GB" sz="1200" b="1"/>
          </a:p>
        </p:txBody>
      </p:sp>
      <p:sp>
        <p:nvSpPr>
          <p:cNvPr id="19" name="Sev01">
            <a:extLst>
              <a:ext uri="{FF2B5EF4-FFF2-40B4-BE49-F238E27FC236}">
                <a16:creationId xmlns:a16="http://schemas.microsoft.com/office/drawing/2014/main" id="{163D3DDC-370E-28C3-1837-A3D6ACDAE3D6}"/>
              </a:ext>
            </a:extLst>
          </p:cNvPr>
          <p:cNvSpPr/>
          <p:nvPr/>
        </p:nvSpPr>
        <p:spPr>
          <a:xfrm>
            <a:off x="7381694" y="1004423"/>
            <a:ext cx="3554896" cy="55558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39" hangingPunct="0"/>
            <a:r>
              <a:rPr lang="en-US" b="1" u="sng" kern="0">
                <a:solidFill>
                  <a:srgbClr val="000000"/>
                </a:solidFill>
                <a:latin typeface="+mj-lt"/>
                <a:sym typeface="Helvetica Neue"/>
              </a:rPr>
              <a:t>Tesco</a:t>
            </a:r>
            <a:endParaRPr lang="en-US" sz="1400" b="1" u="sng" kern="0">
              <a:solidFill>
                <a:srgbClr val="000000"/>
              </a:solidFill>
              <a:latin typeface="+mj-lt"/>
              <a:sym typeface="Helvetica Neue"/>
            </a:endParaRPr>
          </a:p>
          <a:p>
            <a:pPr algn="ctr" defTabSz="1219139" hangingPunct="0"/>
            <a:r>
              <a:rPr lang="en-US" sz="1200" b="1" kern="0">
                <a:solidFill>
                  <a:srgbClr val="000000"/>
                </a:solidFill>
                <a:latin typeface="+mj-lt"/>
                <a:sym typeface="Helvetica Neue"/>
              </a:rPr>
              <a:t>Change in: </a:t>
            </a:r>
          </a:p>
          <a:p>
            <a:pPr algn="ctr" defTabSz="1219139" hangingPunct="0"/>
            <a:r>
              <a:rPr lang="en-US" sz="1200" b="1" kern="0">
                <a:solidFill>
                  <a:srgbClr val="000000"/>
                </a:solidFill>
                <a:latin typeface="+mj-lt"/>
                <a:sym typeface="Helvetica Neue"/>
              </a:rPr>
              <a:t>Value = </a:t>
            </a:r>
            <a:r>
              <a:rPr lang="en-US" sz="1200" b="1" kern="0">
                <a:solidFill>
                  <a:srgbClr val="FF0000"/>
                </a:solidFill>
                <a:latin typeface="+mj-lt"/>
                <a:sym typeface="Helvetica Neue"/>
              </a:rPr>
              <a:t>-3.0</a:t>
            </a:r>
            <a:r>
              <a:rPr lang="en-US" sz="1200" b="1" kern="0">
                <a:solidFill>
                  <a:srgbClr val="000000"/>
                </a:solidFill>
                <a:latin typeface="+mj-lt"/>
                <a:sym typeface="Helvetica Neue"/>
              </a:rPr>
              <a:t>%  Vol. = </a:t>
            </a:r>
            <a:r>
              <a:rPr lang="en-US" sz="1200" b="1" kern="0">
                <a:solidFill>
                  <a:schemeClr val="tx1"/>
                </a:solidFill>
                <a:latin typeface="+mj-lt"/>
                <a:sym typeface="Helvetica Neue"/>
              </a:rPr>
              <a:t>6.7%</a:t>
            </a:r>
            <a:r>
              <a:rPr lang="en-US" sz="1200" b="1" kern="0">
                <a:solidFill>
                  <a:srgbClr val="FF0000"/>
                </a:solidFill>
                <a:latin typeface="+mj-lt"/>
                <a:sym typeface="Helvetica Neue"/>
              </a:rPr>
              <a:t> </a:t>
            </a:r>
            <a:r>
              <a:rPr lang="en-US" sz="1200" b="1" kern="0">
                <a:solidFill>
                  <a:srgbClr val="000000"/>
                </a:solidFill>
                <a:latin typeface="+mj-lt"/>
                <a:sym typeface="Helvetica Neue"/>
              </a:rPr>
              <a:t>, Price = </a:t>
            </a:r>
            <a:r>
              <a:rPr lang="en-US" sz="1200" b="1" kern="0">
                <a:solidFill>
                  <a:srgbClr val="FF0000"/>
                </a:solidFill>
                <a:latin typeface="+mj-lt"/>
                <a:sym typeface="Helvetica Neue"/>
              </a:rPr>
              <a:t>-9.1%</a:t>
            </a:r>
            <a:r>
              <a:rPr lang="en-US" sz="1200" b="1" kern="0">
                <a:solidFill>
                  <a:srgbClr val="000000"/>
                </a:solidFill>
                <a:latin typeface="+mj-lt"/>
                <a:sym typeface="Helvetica Neue"/>
              </a:rPr>
              <a:t> </a:t>
            </a:r>
            <a:endParaRPr lang="en-US" sz="1200" b="1" kern="0">
              <a:solidFill>
                <a:srgbClr val="FF0000"/>
              </a:solidFill>
              <a:latin typeface="+mj-lt"/>
              <a:sym typeface="Helvetica Neue"/>
            </a:endParaRPr>
          </a:p>
        </p:txBody>
      </p:sp>
      <p:graphicFrame>
        <p:nvGraphicFramePr>
          <p:cNvPr id="20" name="Table 19">
            <a:extLst>
              <a:ext uri="{FF2B5EF4-FFF2-40B4-BE49-F238E27FC236}">
                <a16:creationId xmlns:a16="http://schemas.microsoft.com/office/drawing/2014/main" id="{FBFF7C3A-22CE-809C-4CDD-086FC34A542B}"/>
              </a:ext>
            </a:extLst>
          </p:cNvPr>
          <p:cNvGraphicFramePr>
            <a:graphicFrameLocks noGrp="1"/>
          </p:cNvGraphicFramePr>
          <p:nvPr>
            <p:extLst>
              <p:ext uri="{D42A27DB-BD31-4B8C-83A1-F6EECF244321}">
                <p14:modId xmlns:p14="http://schemas.microsoft.com/office/powerpoint/2010/main" val="3944769858"/>
              </p:ext>
            </p:extLst>
          </p:nvPr>
        </p:nvGraphicFramePr>
        <p:xfrm>
          <a:off x="6684362" y="1707803"/>
          <a:ext cx="4694080" cy="2956539"/>
        </p:xfrm>
        <a:graphic>
          <a:graphicData uri="http://schemas.openxmlformats.org/drawingml/2006/table">
            <a:tbl>
              <a:tblPr/>
              <a:tblGrid>
                <a:gridCol w="1131217">
                  <a:extLst>
                    <a:ext uri="{9D8B030D-6E8A-4147-A177-3AD203B41FA5}">
                      <a16:colId xmlns:a16="http://schemas.microsoft.com/office/drawing/2014/main" val="3832534343"/>
                    </a:ext>
                  </a:extLst>
                </a:gridCol>
                <a:gridCol w="481183">
                  <a:extLst>
                    <a:ext uri="{9D8B030D-6E8A-4147-A177-3AD203B41FA5}">
                      <a16:colId xmlns:a16="http://schemas.microsoft.com/office/drawing/2014/main" val="791496339"/>
                    </a:ext>
                  </a:extLst>
                </a:gridCol>
                <a:gridCol w="1100600">
                  <a:extLst>
                    <a:ext uri="{9D8B030D-6E8A-4147-A177-3AD203B41FA5}">
                      <a16:colId xmlns:a16="http://schemas.microsoft.com/office/drawing/2014/main" val="1857494171"/>
                    </a:ext>
                  </a:extLst>
                </a:gridCol>
                <a:gridCol w="990540">
                  <a:extLst>
                    <a:ext uri="{9D8B030D-6E8A-4147-A177-3AD203B41FA5}">
                      <a16:colId xmlns:a16="http://schemas.microsoft.com/office/drawing/2014/main" val="3610767515"/>
                    </a:ext>
                  </a:extLst>
                </a:gridCol>
                <a:gridCol w="990540">
                  <a:extLst>
                    <a:ext uri="{9D8B030D-6E8A-4147-A177-3AD203B41FA5}">
                      <a16:colId xmlns:a16="http://schemas.microsoft.com/office/drawing/2014/main" val="1054921765"/>
                    </a:ext>
                  </a:extLst>
                </a:gridCol>
              </a:tblGrid>
              <a:tr h="421581">
                <a:tc>
                  <a:txBody>
                    <a:bodyPr/>
                    <a:lstStyle/>
                    <a:p>
                      <a:pPr algn="l" fontAlgn="b"/>
                      <a:endParaRPr lang="en-IN" sz="1200" b="1" i="0" u="none" strike="noStrike">
                        <a:solidFill>
                          <a:srgbClr val="000000"/>
                        </a:solidFill>
                        <a:effectLst/>
                        <a:latin typeface="Arial" panose="020B0604020202020204" pitchFamily="34" charset="0"/>
                        <a:cs typeface="Arial" panose="020B0604020202020204" pitchFamily="34" charset="0"/>
                      </a:endParaRPr>
                    </a:p>
                  </a:txBody>
                  <a:tcPr marL="8284" marR="8284" marT="8284"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N" sz="12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MS%</a:t>
                      </a:r>
                    </a:p>
                  </a:txBody>
                  <a:tcPr marL="8284" marR="8284" marT="8284"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N" sz="12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Change*</a:t>
                      </a:r>
                    </a:p>
                  </a:txBody>
                  <a:tcPr marL="8284" marR="8284" marT="8284"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N" sz="12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Avg Price</a:t>
                      </a:r>
                    </a:p>
                  </a:txBody>
                  <a:tcPr marL="8284" marR="8284" marT="8284"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N" sz="12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Change</a:t>
                      </a:r>
                    </a:p>
                  </a:txBody>
                  <a:tcPr marL="8284" marR="8284" marT="8284"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81129718"/>
                  </a:ext>
                </a:extLst>
              </a:tr>
              <a:tr h="321322">
                <a:tc>
                  <a:txBody>
                    <a:bodyPr/>
                    <a:lstStyle/>
                    <a:p>
                      <a:pPr algn="ctr" fontAlgn="b"/>
                      <a:r>
                        <a:rPr lang="en-US" sz="1100" b="1" i="0" u="none" strike="noStrike">
                          <a:solidFill>
                            <a:srgbClr val="000000"/>
                          </a:solidFill>
                          <a:effectLst/>
                          <a:latin typeface="Calibri" panose="020F0502020204030204" pitchFamily="34" charset="0"/>
                        </a:rPr>
                        <a:t>HEINZ</a:t>
                      </a: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000000"/>
                          </a:solidFill>
                          <a:effectLst/>
                          <a:latin typeface="Calibri" panose="020F0502020204030204" pitchFamily="34" charset="0"/>
                        </a:rPr>
                        <a:t>34.5%</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FF0000"/>
                          </a:solidFill>
                          <a:effectLst/>
                          <a:latin typeface="Calibri" panose="020F0502020204030204" pitchFamily="34" charset="0"/>
                        </a:rPr>
                        <a:t>-1.7%</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000000"/>
                          </a:solidFill>
                          <a:effectLst/>
                          <a:latin typeface="Calibri" panose="020F0502020204030204" pitchFamily="34" charset="0"/>
                        </a:rPr>
                        <a:t>5.75</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000000"/>
                          </a:solidFill>
                          <a:effectLst/>
                          <a:latin typeface="Calibri" panose="020F0502020204030204" pitchFamily="34" charset="0"/>
                        </a:rPr>
                        <a:t>0.2%</a:t>
                      </a:r>
                    </a:p>
                  </a:txBody>
                  <a:tcPr marL="7620" marR="7620" marT="762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610470122"/>
                  </a:ext>
                </a:extLst>
              </a:tr>
              <a:tr h="372443">
                <a:tc>
                  <a:txBody>
                    <a:bodyPr/>
                    <a:lstStyle/>
                    <a:p>
                      <a:pPr algn="ctr" fontAlgn="b"/>
                      <a:r>
                        <a:rPr lang="en-US" sz="1100" b="1" i="0" u="none" strike="noStrike">
                          <a:solidFill>
                            <a:srgbClr val="000000"/>
                          </a:solidFill>
                          <a:effectLst/>
                          <a:latin typeface="Calibri" panose="020F0502020204030204" pitchFamily="34" charset="0"/>
                        </a:rPr>
                        <a:t>HP</a:t>
                      </a: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000000"/>
                          </a:solidFill>
                          <a:effectLst/>
                          <a:latin typeface="Calibri" panose="020F0502020204030204" pitchFamily="34" charset="0"/>
                        </a:rPr>
                        <a:t>10.9%</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chemeClr val="tx1"/>
                          </a:solidFill>
                          <a:effectLst/>
                          <a:latin typeface="Calibri" panose="020F0502020204030204" pitchFamily="34" charset="0"/>
                        </a:rPr>
                        <a:t>0.9%</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000000"/>
                          </a:solidFill>
                          <a:effectLst/>
                          <a:latin typeface="Calibri" panose="020F0502020204030204" pitchFamily="34" charset="0"/>
                        </a:rPr>
                        <a:t>5.47</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FF0000"/>
                          </a:solidFill>
                          <a:effectLst/>
                          <a:latin typeface="Calibri" panose="020F0502020204030204" pitchFamily="34" charset="0"/>
                        </a:rPr>
                        <a:t>-1.1%</a:t>
                      </a:r>
                    </a:p>
                  </a:txBody>
                  <a:tcPr marL="7620" marR="7620" marT="762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767797743"/>
                  </a:ext>
                </a:extLst>
              </a:tr>
              <a:tr h="351421">
                <a:tc>
                  <a:txBody>
                    <a:bodyPr/>
                    <a:lstStyle/>
                    <a:p>
                      <a:pPr algn="ctr" fontAlgn="b"/>
                      <a:r>
                        <a:rPr lang="en-US" sz="1100" b="1" i="0" u="none" strike="noStrike">
                          <a:solidFill>
                            <a:srgbClr val="000000"/>
                          </a:solidFill>
                          <a:effectLst/>
                          <a:latin typeface="Calibri" panose="020F0502020204030204" pitchFamily="34" charset="0"/>
                        </a:rPr>
                        <a:t>BULLS EYE</a:t>
                      </a: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000000"/>
                          </a:solidFill>
                          <a:effectLst/>
                          <a:latin typeface="Calibri" panose="020F0502020204030204" pitchFamily="34" charset="0"/>
                        </a:rPr>
                        <a:t>6.8%</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000000"/>
                          </a:solidFill>
                          <a:effectLst/>
                          <a:latin typeface="Calibri" panose="020F0502020204030204" pitchFamily="34" charset="0"/>
                        </a:rPr>
                        <a:t>0.4%</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000000"/>
                          </a:solidFill>
                          <a:effectLst/>
                          <a:latin typeface="Calibri" panose="020F0502020204030204" pitchFamily="34" charset="0"/>
                        </a:rPr>
                        <a:t>6.89</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FF0000"/>
                          </a:solidFill>
                          <a:effectLst/>
                          <a:latin typeface="Calibri" panose="020F0502020204030204" pitchFamily="34" charset="0"/>
                        </a:rPr>
                        <a:t>-4.6%</a:t>
                      </a:r>
                    </a:p>
                  </a:txBody>
                  <a:tcPr marL="7620" marR="7620" marT="762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488963442"/>
                  </a:ext>
                </a:extLst>
              </a:tr>
              <a:tr h="372443">
                <a:tc>
                  <a:txBody>
                    <a:bodyPr/>
                    <a:lstStyle/>
                    <a:p>
                      <a:pPr algn="ctr" fontAlgn="b"/>
                      <a:r>
                        <a:rPr lang="en-US" sz="1100" b="1" i="0" u="none" strike="noStrike">
                          <a:solidFill>
                            <a:srgbClr val="000000"/>
                          </a:solidFill>
                          <a:effectLst/>
                          <a:latin typeface="Calibri" panose="020F0502020204030204" pitchFamily="34" charset="0"/>
                        </a:rPr>
                        <a:t>PRIVATE LABEL</a:t>
                      </a: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13.3%</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FF0000"/>
                          </a:solidFill>
                          <a:effectLst/>
                          <a:latin typeface="Calibri" panose="020F0502020204030204" pitchFamily="34" charset="0"/>
                        </a:rPr>
                        <a:t>-1.1%</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2.04</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FF0000"/>
                          </a:solidFill>
                          <a:effectLst/>
                          <a:latin typeface="Calibri" panose="020F0502020204030204" pitchFamily="34" charset="0"/>
                        </a:rPr>
                        <a:t>-26.5%</a:t>
                      </a:r>
                    </a:p>
                  </a:txBody>
                  <a:tcPr marL="7620" marR="7620" marT="762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354633"/>
                  </a:ext>
                </a:extLst>
              </a:tr>
              <a:tr h="372443">
                <a:tc>
                  <a:txBody>
                    <a:bodyPr/>
                    <a:lstStyle/>
                    <a:p>
                      <a:pPr algn="ctr" fontAlgn="b"/>
                      <a:r>
                        <a:rPr lang="en-US" sz="1100" b="1" i="0" u="none" strike="noStrike">
                          <a:solidFill>
                            <a:srgbClr val="000000"/>
                          </a:solidFill>
                          <a:effectLst/>
                          <a:latin typeface="Calibri" panose="020F0502020204030204" pitchFamily="34" charset="0"/>
                        </a:rPr>
                        <a:t>LEVI ROOTS</a:t>
                      </a: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9.4%</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0.1%</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6.71</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FF0000"/>
                          </a:solidFill>
                          <a:effectLst/>
                          <a:latin typeface="Calibri" panose="020F0502020204030204" pitchFamily="34" charset="0"/>
                        </a:rPr>
                        <a:t>-2.1%</a:t>
                      </a:r>
                    </a:p>
                  </a:txBody>
                  <a:tcPr marL="7620" marR="7620" marT="762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0308103"/>
                  </a:ext>
                </a:extLst>
              </a:tr>
              <a:tr h="372443">
                <a:tc>
                  <a:txBody>
                    <a:bodyPr/>
                    <a:lstStyle/>
                    <a:p>
                      <a:pPr algn="ctr" fontAlgn="b"/>
                      <a:r>
                        <a:rPr lang="en-US" sz="1100" b="1" i="0" u="none" strike="noStrike">
                          <a:solidFill>
                            <a:srgbClr val="000000"/>
                          </a:solidFill>
                          <a:effectLst/>
                          <a:latin typeface="Calibri" panose="020F0502020204030204" pitchFamily="34" charset="0"/>
                        </a:rPr>
                        <a:t>SWEET BABY RAYS</a:t>
                      </a: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8.9%</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1100" b="0" i="0" u="none" strike="noStrike">
                          <a:solidFill>
                            <a:schemeClr val="tx1"/>
                          </a:solidFill>
                          <a:effectLst/>
                          <a:latin typeface="Calibri" panose="020F0502020204030204" pitchFamily="34" charset="0"/>
                        </a:rPr>
                        <a:t>1.4%</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6.79</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1100" b="0" i="0" u="none" strike="noStrike">
                          <a:solidFill>
                            <a:schemeClr val="tx1"/>
                          </a:solidFill>
                          <a:effectLst/>
                          <a:latin typeface="Calibri" panose="020F0502020204030204" pitchFamily="34" charset="0"/>
                        </a:rPr>
                        <a:t>3.2%</a:t>
                      </a:r>
                    </a:p>
                  </a:txBody>
                  <a:tcPr marL="7620" marR="7620" marT="762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66084410"/>
                  </a:ext>
                </a:extLst>
              </a:tr>
              <a:tr h="372443">
                <a:tc>
                  <a:txBody>
                    <a:bodyPr/>
                    <a:lstStyle/>
                    <a:p>
                      <a:pPr algn="ctr" fontAlgn="b"/>
                      <a:r>
                        <a:rPr lang="en-US" sz="1100" b="1" i="0" u="none" strike="noStrike" err="1">
                          <a:solidFill>
                            <a:srgbClr val="000000"/>
                          </a:solidFill>
                          <a:effectLst/>
                          <a:latin typeface="Calibri" panose="020F0502020204030204" pitchFamily="34" charset="0"/>
                        </a:rPr>
                        <a:t>Restofcategory</a:t>
                      </a:r>
                      <a:endParaRPr lang="en-US" sz="1100" b="1" i="0" u="none" strike="noStrike">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16.2%</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FF0000"/>
                          </a:solidFill>
                          <a:effectLst/>
                          <a:latin typeface="Calibri" panose="020F0502020204030204" pitchFamily="34" charset="0"/>
                        </a:rPr>
                        <a:t>-0.1%</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6.33</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FF0000"/>
                          </a:solidFill>
                          <a:effectLst/>
                          <a:latin typeface="Calibri" panose="020F0502020204030204" pitchFamily="34" charset="0"/>
                        </a:rPr>
                        <a:t>-8.3%</a:t>
                      </a:r>
                    </a:p>
                  </a:txBody>
                  <a:tcPr marL="7620" marR="7620" marT="762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303144"/>
                  </a:ext>
                </a:extLst>
              </a:tr>
            </a:tbl>
          </a:graphicData>
        </a:graphic>
      </p:graphicFrame>
      <p:sp>
        <p:nvSpPr>
          <p:cNvPr id="2" name="Rectangle 1">
            <a:extLst>
              <a:ext uri="{FF2B5EF4-FFF2-40B4-BE49-F238E27FC236}">
                <a16:creationId xmlns:a16="http://schemas.microsoft.com/office/drawing/2014/main" id="{0A25D68C-6026-EE2A-B912-6EDF224EB3D2}"/>
              </a:ext>
            </a:extLst>
          </p:cNvPr>
          <p:cNvSpPr/>
          <p:nvPr/>
        </p:nvSpPr>
        <p:spPr>
          <a:xfrm>
            <a:off x="916440" y="4790827"/>
            <a:ext cx="10627106" cy="1609974"/>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IN" sz="1200">
                <a:solidFill>
                  <a:schemeClr val="tx1"/>
                </a:solidFill>
              </a:rPr>
              <a:t>In Supermarkets, category lost value due to an average price decrease in the present timeframe after consolidating in the previous timeframe whereas in Tesco the loss in value was traded off with gain in volume even after double the average price increase</a:t>
            </a:r>
          </a:p>
          <a:p>
            <a:pPr marL="171450" indent="-171450">
              <a:buFont typeface="Arial" panose="020B0604020202020204" pitchFamily="34" charset="0"/>
              <a:buChar char="•"/>
            </a:pPr>
            <a:r>
              <a:rPr lang="en-IN" sz="1200">
                <a:solidFill>
                  <a:schemeClr val="tx1"/>
                </a:solidFill>
              </a:rPr>
              <a:t>Heinz is more expensive in Tesco as compared to Supermarkets</a:t>
            </a:r>
          </a:p>
          <a:p>
            <a:pPr marL="171450" indent="-171450">
              <a:buFont typeface="Arial" panose="020B0604020202020204" pitchFamily="34" charset="0"/>
              <a:buChar char="•"/>
            </a:pPr>
            <a:r>
              <a:rPr lang="en-IN" sz="1200">
                <a:solidFill>
                  <a:schemeClr val="tx1"/>
                </a:solidFill>
              </a:rPr>
              <a:t>HP is priced higher than Heinz in supermarkets and priced lower in Tesco, where it is gaining Market share</a:t>
            </a:r>
          </a:p>
          <a:p>
            <a:pPr marL="171450" indent="-171450">
              <a:buFont typeface="Arial" panose="020B0604020202020204" pitchFamily="34" charset="0"/>
              <a:buChar char="•"/>
            </a:pPr>
            <a:r>
              <a:rPr lang="en-IN" sz="1200">
                <a:solidFill>
                  <a:schemeClr val="tx1"/>
                </a:solidFill>
              </a:rPr>
              <a:t>Private label is aggressively cutting prices in both the channels, more so in Tesco to set a distinct value proposition as compared to other brands</a:t>
            </a:r>
          </a:p>
          <a:p>
            <a:pPr marL="171450" indent="-171450">
              <a:buFont typeface="Arial" panose="020B0604020202020204" pitchFamily="34" charset="0"/>
              <a:buChar char="•"/>
            </a:pPr>
            <a:r>
              <a:rPr lang="en-IN" sz="1200">
                <a:solidFill>
                  <a:schemeClr val="tx1"/>
                </a:solidFill>
              </a:rPr>
              <a:t>Sweet Baby Rays is the only brand which is increasing prices and growing in MS in both the channels</a:t>
            </a:r>
          </a:p>
          <a:p>
            <a:pPr marL="171450" indent="-171450">
              <a:buFont typeface="Arial" panose="020B0604020202020204" pitchFamily="34" charset="0"/>
              <a:buChar char="•"/>
            </a:pPr>
            <a:r>
              <a:rPr lang="en-IN" sz="1200">
                <a:solidFill>
                  <a:schemeClr val="tx1"/>
                </a:solidFill>
              </a:rPr>
              <a:t>The authentic brands (Bulls Eye, Levi roots and Sweet baby rays) are almost priced similar and at premium to core brands indicating a potential premiumization trend</a:t>
            </a:r>
            <a:endParaRPr lang="en-IN" sz="1050">
              <a:solidFill>
                <a:schemeClr val="tx1"/>
              </a:solidFill>
            </a:endParaRPr>
          </a:p>
        </p:txBody>
      </p:sp>
    </p:spTree>
    <p:extLst>
      <p:ext uri="{BB962C8B-B14F-4D97-AF65-F5344CB8AC3E}">
        <p14:creationId xmlns:p14="http://schemas.microsoft.com/office/powerpoint/2010/main" val="28510181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5CBEE-9323-677A-1C30-D7E8CC1F7370}"/>
            </a:ext>
          </a:extLst>
        </p:cNvPr>
        <p:cNvGrpSpPr/>
        <p:nvPr/>
      </p:nvGrpSpPr>
      <p:grpSpPr>
        <a:xfrm>
          <a:off x="0" y="0"/>
          <a:ext cx="0" cy="0"/>
          <a:chOff x="0" y="0"/>
          <a:chExt cx="0" cy="0"/>
        </a:xfrm>
      </p:grpSpPr>
      <p:graphicFrame>
        <p:nvGraphicFramePr>
          <p:cNvPr id="34" name="Chart 33">
            <a:extLst>
              <a:ext uri="{FF2B5EF4-FFF2-40B4-BE49-F238E27FC236}">
                <a16:creationId xmlns:a16="http://schemas.microsoft.com/office/drawing/2014/main" id="{E2677FD4-9685-B701-99AB-190BD5752D2B}"/>
              </a:ext>
            </a:extLst>
          </p:cNvPr>
          <p:cNvGraphicFramePr/>
          <p:nvPr>
            <p:extLst>
              <p:ext uri="{D42A27DB-BD31-4B8C-83A1-F6EECF244321}">
                <p14:modId xmlns:p14="http://schemas.microsoft.com/office/powerpoint/2010/main" val="784038845"/>
              </p:ext>
            </p:extLst>
          </p:nvPr>
        </p:nvGraphicFramePr>
        <p:xfrm>
          <a:off x="1089914" y="586346"/>
          <a:ext cx="10754153" cy="447821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think-cell data - do not delete" hidden="1">
            <a:extLst>
              <a:ext uri="{FF2B5EF4-FFF2-40B4-BE49-F238E27FC236}">
                <a16:creationId xmlns:a16="http://schemas.microsoft.com/office/drawing/2014/main" id="{D71C6F2F-F057-0206-EDD0-A934DC8EB1D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think-cell data - do not delete" hidden="1">
                        <a:extLst>
                          <a:ext uri="{FF2B5EF4-FFF2-40B4-BE49-F238E27FC236}">
                            <a16:creationId xmlns:a16="http://schemas.microsoft.com/office/drawing/2014/main" id="{D71C6F2F-F057-0206-EDD0-A934DC8EB1DB}"/>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le 3">
            <a:extLst>
              <a:ext uri="{FF2B5EF4-FFF2-40B4-BE49-F238E27FC236}">
                <a16:creationId xmlns:a16="http://schemas.microsoft.com/office/drawing/2014/main" id="{B202D70F-1C3E-A7A5-EE39-F2B62D2E7835}"/>
              </a:ext>
            </a:extLst>
          </p:cNvPr>
          <p:cNvSpPr txBox="1">
            <a:spLocks/>
          </p:cNvSpPr>
          <p:nvPr/>
        </p:nvSpPr>
        <p:spPr>
          <a:xfrm>
            <a:off x="147996" y="18659"/>
            <a:ext cx="12044003" cy="611002"/>
          </a:xfrm>
          <a:prstGeom prst="rect">
            <a:avLst/>
          </a:prstGeom>
        </p:spPr>
        <p:txBody>
          <a:bodyPr vert="horz" lIns="121920" tIns="60960" rIns="121920" bIns="6096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a:lnSpc>
                <a:spcPct val="80000"/>
              </a:lnSpc>
              <a:spcBef>
                <a:spcPts val="0"/>
              </a:spcBef>
              <a:defRPr/>
            </a:pPr>
            <a:r>
              <a:rPr lang="en-GB" sz="2100" b="1" spc="-64">
                <a:solidFill>
                  <a:srgbClr val="4472C4">
                    <a:lumMod val="50000"/>
                  </a:srgbClr>
                </a:solidFill>
                <a:latin typeface="Rockwell"/>
                <a:ea typeface="+mn-ea"/>
                <a:cs typeface="Arial" panose="020B0604020202020204" pitchFamily="34" charset="0"/>
              </a:rPr>
              <a:t>CSF &amp; MCV Learning: Almost all the brands have a better brand level CSF in Tesco channel</a:t>
            </a:r>
          </a:p>
        </p:txBody>
      </p:sp>
      <p:sp>
        <p:nvSpPr>
          <p:cNvPr id="24" name="Rounded Rectangle 54">
            <a:extLst>
              <a:ext uri="{FF2B5EF4-FFF2-40B4-BE49-F238E27FC236}">
                <a16:creationId xmlns:a16="http://schemas.microsoft.com/office/drawing/2014/main" id="{E3194732-4CD3-111B-92AE-6CDA6ED5ED1A}"/>
              </a:ext>
            </a:extLst>
          </p:cNvPr>
          <p:cNvSpPr/>
          <p:nvPr/>
        </p:nvSpPr>
        <p:spPr>
          <a:xfrm>
            <a:off x="199176" y="2352504"/>
            <a:ext cx="1342547" cy="308723"/>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B5F99"/>
                </a:solidFill>
                <a:effectLst/>
                <a:uLnTx/>
                <a:uFillTx/>
                <a:latin typeface="Rockwell"/>
                <a:ea typeface="Calibri" panose="020F0502020204030204" pitchFamily="34" charset="0"/>
                <a:cs typeface="Calibri" panose="020F0502020204030204" pitchFamily="34" charset="0"/>
              </a:rPr>
              <a:t>MCV</a:t>
            </a:r>
          </a:p>
        </p:txBody>
      </p:sp>
      <p:sp>
        <p:nvSpPr>
          <p:cNvPr id="25" name="Rounded Rectangle 54">
            <a:extLst>
              <a:ext uri="{FF2B5EF4-FFF2-40B4-BE49-F238E27FC236}">
                <a16:creationId xmlns:a16="http://schemas.microsoft.com/office/drawing/2014/main" id="{26E3D0F4-85A8-6933-732E-5F8E50F969F9}"/>
              </a:ext>
            </a:extLst>
          </p:cNvPr>
          <p:cNvSpPr/>
          <p:nvPr/>
        </p:nvSpPr>
        <p:spPr>
          <a:xfrm>
            <a:off x="87002" y="3218291"/>
            <a:ext cx="1113438" cy="308723"/>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B5F99"/>
                </a:solidFill>
                <a:effectLst/>
                <a:uLnTx/>
                <a:uFillTx/>
                <a:latin typeface="Rockwell"/>
                <a:ea typeface="Calibri" panose="020F0502020204030204" pitchFamily="34" charset="0"/>
                <a:cs typeface="Calibri" panose="020F0502020204030204" pitchFamily="34" charset="0"/>
              </a:rPr>
              <a:t>Price</a:t>
            </a:r>
            <a:br>
              <a:rPr kumimoji="0" lang="en-US" sz="1400" b="1" i="0" u="none" strike="noStrike" kern="1200" cap="none" spc="0" normalizeH="0" baseline="0" noProof="0">
                <a:ln>
                  <a:noFill/>
                </a:ln>
                <a:solidFill>
                  <a:srgbClr val="0B5F99"/>
                </a:solidFill>
                <a:effectLst/>
                <a:uLnTx/>
                <a:uFillTx/>
                <a:latin typeface="Rockwell"/>
                <a:ea typeface="Calibri" panose="020F0502020204030204" pitchFamily="34" charset="0"/>
                <a:cs typeface="Calibri" panose="020F0502020204030204" pitchFamily="34" charset="0"/>
              </a:rPr>
            </a:br>
            <a:r>
              <a:rPr kumimoji="0" lang="en-US" sz="900" b="1" i="0" u="none" strike="noStrike" kern="1200" cap="none" spc="0" normalizeH="0" baseline="0" noProof="0">
                <a:ln>
                  <a:noFill/>
                </a:ln>
                <a:solidFill>
                  <a:srgbClr val="0B5F99"/>
                </a:solidFill>
                <a:effectLst/>
                <a:uLnTx/>
                <a:uFillTx/>
                <a:latin typeface="Rockwell"/>
                <a:ea typeface="Calibri" panose="020F0502020204030204" pitchFamily="34" charset="0"/>
                <a:cs typeface="Calibri" panose="020F0502020204030204" pitchFamily="34" charset="0"/>
              </a:rPr>
              <a:t>(GBP per Unit)</a:t>
            </a:r>
            <a:endParaRPr kumimoji="0" lang="en-US" sz="1400" b="1" i="0" u="none" strike="noStrike" kern="1200" cap="none" spc="0" normalizeH="0" baseline="0" noProof="0">
              <a:ln>
                <a:noFill/>
              </a:ln>
              <a:solidFill>
                <a:srgbClr val="0B5F99"/>
              </a:solidFill>
              <a:effectLst/>
              <a:uLnTx/>
              <a:uFillTx/>
              <a:latin typeface="Rockwell"/>
              <a:ea typeface="Calibri" panose="020F0502020204030204" pitchFamily="34" charset="0"/>
              <a:cs typeface="Calibri" panose="020F0502020204030204" pitchFamily="34" charset="0"/>
            </a:endParaRPr>
          </a:p>
        </p:txBody>
      </p:sp>
      <p:sp>
        <p:nvSpPr>
          <p:cNvPr id="30" name="Rounded Rectangle 54">
            <a:extLst>
              <a:ext uri="{FF2B5EF4-FFF2-40B4-BE49-F238E27FC236}">
                <a16:creationId xmlns:a16="http://schemas.microsoft.com/office/drawing/2014/main" id="{49AD1823-D40F-8481-645F-83725E41E0F6}"/>
              </a:ext>
            </a:extLst>
          </p:cNvPr>
          <p:cNvSpPr/>
          <p:nvPr/>
        </p:nvSpPr>
        <p:spPr>
          <a:xfrm>
            <a:off x="199176" y="2741798"/>
            <a:ext cx="1342547" cy="308723"/>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B5F99"/>
                </a:solidFill>
                <a:effectLst/>
                <a:uLnTx/>
                <a:uFillTx/>
                <a:latin typeface="Rockwell"/>
                <a:ea typeface="Calibri" panose="020F0502020204030204" pitchFamily="34" charset="0"/>
                <a:cs typeface="Calibri" panose="020F0502020204030204" pitchFamily="34" charset="0"/>
              </a:rPr>
              <a:t>CSF</a:t>
            </a:r>
          </a:p>
        </p:txBody>
      </p:sp>
      <p:sp>
        <p:nvSpPr>
          <p:cNvPr id="32" name="Rounded Rectangle 54">
            <a:extLst>
              <a:ext uri="{FF2B5EF4-FFF2-40B4-BE49-F238E27FC236}">
                <a16:creationId xmlns:a16="http://schemas.microsoft.com/office/drawing/2014/main" id="{6C091E66-8C34-8913-4F8C-58163FBA5BD9}"/>
              </a:ext>
            </a:extLst>
          </p:cNvPr>
          <p:cNvSpPr/>
          <p:nvPr/>
        </p:nvSpPr>
        <p:spPr>
          <a:xfrm>
            <a:off x="87002" y="4519242"/>
            <a:ext cx="1342547" cy="36862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ctr"/>
          <a:lstStyle/>
          <a:p>
            <a:pPr marL="0" marR="0" lvl="0" indent="0" defTabSz="914377"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B5F99"/>
                </a:solidFill>
                <a:effectLst/>
                <a:uLnTx/>
                <a:uFillTx/>
                <a:latin typeface="Rockwell"/>
                <a:ea typeface="+mn-ea"/>
                <a:cs typeface="Calibri"/>
              </a:rPr>
              <a:t>MSP</a:t>
            </a:r>
          </a:p>
        </p:txBody>
      </p:sp>
      <p:sp>
        <p:nvSpPr>
          <p:cNvPr id="45" name="Rounded Rectangle 54">
            <a:extLst>
              <a:ext uri="{FF2B5EF4-FFF2-40B4-BE49-F238E27FC236}">
                <a16:creationId xmlns:a16="http://schemas.microsoft.com/office/drawing/2014/main" id="{58160D52-968E-D95A-CFD9-A9F99D58F072}"/>
              </a:ext>
            </a:extLst>
          </p:cNvPr>
          <p:cNvSpPr/>
          <p:nvPr/>
        </p:nvSpPr>
        <p:spPr>
          <a:xfrm>
            <a:off x="87002" y="4243189"/>
            <a:ext cx="1113438" cy="36693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ctr"/>
          <a:lstStyle/>
          <a:p>
            <a:pPr marL="0" marR="0" lvl="0" indent="0" defTabSz="914377"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B5F99"/>
                </a:solidFill>
                <a:effectLst/>
                <a:uLnTx/>
                <a:uFillTx/>
                <a:latin typeface="Rockwell"/>
                <a:ea typeface="+mn-ea"/>
                <a:cs typeface="Calibri"/>
              </a:rPr>
              <a:t>Current</a:t>
            </a:r>
            <a:r>
              <a:rPr lang="en-US" sz="1050" b="1">
                <a:solidFill>
                  <a:srgbClr val="0B5F99"/>
                </a:solidFill>
                <a:latin typeface="Rockwell"/>
                <a:cs typeface="Calibri"/>
              </a:rPr>
              <a:t> </a:t>
            </a:r>
            <a:r>
              <a:rPr kumimoji="0" lang="en-US" sz="1050" b="1" i="0" u="none" strike="noStrike" kern="1200" cap="none" spc="0" normalizeH="0" baseline="0" noProof="0">
                <a:ln>
                  <a:noFill/>
                </a:ln>
                <a:solidFill>
                  <a:srgbClr val="0B5F99"/>
                </a:solidFill>
                <a:effectLst/>
                <a:uLnTx/>
                <a:uFillTx/>
                <a:latin typeface="Rockwell"/>
                <a:ea typeface="+mn-ea"/>
                <a:cs typeface="Calibri"/>
              </a:rPr>
              <a:t>MS</a:t>
            </a:r>
          </a:p>
        </p:txBody>
      </p:sp>
      <p:grpSp>
        <p:nvGrpSpPr>
          <p:cNvPr id="63" name="Group 62">
            <a:extLst>
              <a:ext uri="{FF2B5EF4-FFF2-40B4-BE49-F238E27FC236}">
                <a16:creationId xmlns:a16="http://schemas.microsoft.com/office/drawing/2014/main" id="{3D074EC6-E559-90A1-F4A9-49441880A372}"/>
              </a:ext>
            </a:extLst>
          </p:cNvPr>
          <p:cNvGrpSpPr/>
          <p:nvPr/>
        </p:nvGrpSpPr>
        <p:grpSpPr>
          <a:xfrm>
            <a:off x="142240" y="540627"/>
            <a:ext cx="10566400" cy="45719"/>
            <a:chOff x="142240" y="653388"/>
            <a:chExt cx="10566400" cy="45719"/>
          </a:xfrm>
        </p:grpSpPr>
        <p:cxnSp>
          <p:nvCxnSpPr>
            <p:cNvPr id="64" name="Straight Connector 63">
              <a:extLst>
                <a:ext uri="{FF2B5EF4-FFF2-40B4-BE49-F238E27FC236}">
                  <a16:creationId xmlns:a16="http://schemas.microsoft.com/office/drawing/2014/main" id="{E3C999D6-1AC9-FA62-A2D1-4A976896C546}"/>
                </a:ext>
              </a:extLst>
            </p:cNvPr>
            <p:cNvCxnSpPr>
              <a:cxnSpLocks/>
            </p:cNvCxnSpPr>
            <p:nvPr/>
          </p:nvCxnSpPr>
          <p:spPr>
            <a:xfrm>
              <a:off x="822960" y="673708"/>
              <a:ext cx="988568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5" name="Rectangle 64">
              <a:extLst>
                <a:ext uri="{FF2B5EF4-FFF2-40B4-BE49-F238E27FC236}">
                  <a16:creationId xmlns:a16="http://schemas.microsoft.com/office/drawing/2014/main" id="{131824CF-E7C6-7F99-FDEF-4E0E84444EF2}"/>
                </a:ext>
              </a:extLst>
            </p:cNvPr>
            <p:cNvSpPr/>
            <p:nvPr/>
          </p:nvSpPr>
          <p:spPr>
            <a:xfrm>
              <a:off x="142240" y="653388"/>
              <a:ext cx="1158240" cy="45719"/>
            </a:xfrm>
            <a:prstGeom prst="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aphicFrame>
        <p:nvGraphicFramePr>
          <p:cNvPr id="16" name="Table 15">
            <a:extLst>
              <a:ext uri="{FF2B5EF4-FFF2-40B4-BE49-F238E27FC236}">
                <a16:creationId xmlns:a16="http://schemas.microsoft.com/office/drawing/2014/main" id="{3428B493-3364-0167-2FA5-1A22720FA3D6}"/>
              </a:ext>
            </a:extLst>
          </p:cNvPr>
          <p:cNvGraphicFramePr>
            <a:graphicFrameLocks noGrp="1"/>
          </p:cNvGraphicFramePr>
          <p:nvPr>
            <p:extLst>
              <p:ext uri="{D42A27DB-BD31-4B8C-83A1-F6EECF244321}">
                <p14:modId xmlns:p14="http://schemas.microsoft.com/office/powerpoint/2010/main" val="1152846900"/>
              </p:ext>
            </p:extLst>
          </p:nvPr>
        </p:nvGraphicFramePr>
        <p:xfrm>
          <a:off x="1200440" y="4229496"/>
          <a:ext cx="10652255" cy="619570"/>
        </p:xfrm>
        <a:graphic>
          <a:graphicData uri="http://schemas.openxmlformats.org/drawingml/2006/table">
            <a:tbl>
              <a:tblPr/>
              <a:tblGrid>
                <a:gridCol w="655792">
                  <a:extLst>
                    <a:ext uri="{9D8B030D-6E8A-4147-A177-3AD203B41FA5}">
                      <a16:colId xmlns:a16="http://schemas.microsoft.com/office/drawing/2014/main" val="1870827240"/>
                    </a:ext>
                  </a:extLst>
                </a:gridCol>
                <a:gridCol w="685800">
                  <a:extLst>
                    <a:ext uri="{9D8B030D-6E8A-4147-A177-3AD203B41FA5}">
                      <a16:colId xmlns:a16="http://schemas.microsoft.com/office/drawing/2014/main" val="2832625282"/>
                    </a:ext>
                  </a:extLst>
                </a:gridCol>
                <a:gridCol w="667512">
                  <a:extLst>
                    <a:ext uri="{9D8B030D-6E8A-4147-A177-3AD203B41FA5}">
                      <a16:colId xmlns:a16="http://schemas.microsoft.com/office/drawing/2014/main" val="2039115859"/>
                    </a:ext>
                  </a:extLst>
                </a:gridCol>
                <a:gridCol w="658368">
                  <a:extLst>
                    <a:ext uri="{9D8B030D-6E8A-4147-A177-3AD203B41FA5}">
                      <a16:colId xmlns:a16="http://schemas.microsoft.com/office/drawing/2014/main" val="4240280589"/>
                    </a:ext>
                  </a:extLst>
                </a:gridCol>
                <a:gridCol w="667512">
                  <a:extLst>
                    <a:ext uri="{9D8B030D-6E8A-4147-A177-3AD203B41FA5}">
                      <a16:colId xmlns:a16="http://schemas.microsoft.com/office/drawing/2014/main" val="741509301"/>
                    </a:ext>
                  </a:extLst>
                </a:gridCol>
                <a:gridCol w="694944">
                  <a:extLst>
                    <a:ext uri="{9D8B030D-6E8A-4147-A177-3AD203B41FA5}">
                      <a16:colId xmlns:a16="http://schemas.microsoft.com/office/drawing/2014/main" val="1959698494"/>
                    </a:ext>
                  </a:extLst>
                </a:gridCol>
                <a:gridCol w="640080">
                  <a:extLst>
                    <a:ext uri="{9D8B030D-6E8A-4147-A177-3AD203B41FA5}">
                      <a16:colId xmlns:a16="http://schemas.microsoft.com/office/drawing/2014/main" val="1679294952"/>
                    </a:ext>
                  </a:extLst>
                </a:gridCol>
                <a:gridCol w="1298448">
                  <a:extLst>
                    <a:ext uri="{9D8B030D-6E8A-4147-A177-3AD203B41FA5}">
                      <a16:colId xmlns:a16="http://schemas.microsoft.com/office/drawing/2014/main" val="1955955305"/>
                    </a:ext>
                  </a:extLst>
                </a:gridCol>
                <a:gridCol w="694944">
                  <a:extLst>
                    <a:ext uri="{9D8B030D-6E8A-4147-A177-3AD203B41FA5}">
                      <a16:colId xmlns:a16="http://schemas.microsoft.com/office/drawing/2014/main" val="2896481545"/>
                    </a:ext>
                  </a:extLst>
                </a:gridCol>
                <a:gridCol w="667512">
                  <a:extLst>
                    <a:ext uri="{9D8B030D-6E8A-4147-A177-3AD203B41FA5}">
                      <a16:colId xmlns:a16="http://schemas.microsoft.com/office/drawing/2014/main" val="1971566030"/>
                    </a:ext>
                  </a:extLst>
                </a:gridCol>
                <a:gridCol w="667512">
                  <a:extLst>
                    <a:ext uri="{9D8B030D-6E8A-4147-A177-3AD203B41FA5}">
                      <a16:colId xmlns:a16="http://schemas.microsoft.com/office/drawing/2014/main" val="1835463633"/>
                    </a:ext>
                  </a:extLst>
                </a:gridCol>
                <a:gridCol w="658368">
                  <a:extLst>
                    <a:ext uri="{9D8B030D-6E8A-4147-A177-3AD203B41FA5}">
                      <a16:colId xmlns:a16="http://schemas.microsoft.com/office/drawing/2014/main" val="3412059494"/>
                    </a:ext>
                  </a:extLst>
                </a:gridCol>
                <a:gridCol w="667512">
                  <a:extLst>
                    <a:ext uri="{9D8B030D-6E8A-4147-A177-3AD203B41FA5}">
                      <a16:colId xmlns:a16="http://schemas.microsoft.com/office/drawing/2014/main" val="21984512"/>
                    </a:ext>
                  </a:extLst>
                </a:gridCol>
                <a:gridCol w="667512">
                  <a:extLst>
                    <a:ext uri="{9D8B030D-6E8A-4147-A177-3AD203B41FA5}">
                      <a16:colId xmlns:a16="http://schemas.microsoft.com/office/drawing/2014/main" val="3358476481"/>
                    </a:ext>
                  </a:extLst>
                </a:gridCol>
                <a:gridCol w="660439">
                  <a:extLst>
                    <a:ext uri="{9D8B030D-6E8A-4147-A177-3AD203B41FA5}">
                      <a16:colId xmlns:a16="http://schemas.microsoft.com/office/drawing/2014/main" val="3646185949"/>
                    </a:ext>
                  </a:extLst>
                </a:gridCol>
              </a:tblGrid>
              <a:tr h="303463">
                <a:tc>
                  <a:txBody>
                    <a:bodyPr/>
                    <a:lstStyle/>
                    <a:p>
                      <a:pPr algn="ctr" fontAlgn="b"/>
                      <a:r>
                        <a:rPr lang="en-US" sz="1100" b="0" i="0" u="none" strike="noStrike">
                          <a:solidFill>
                            <a:srgbClr val="000000"/>
                          </a:solidFill>
                          <a:effectLst/>
                          <a:latin typeface="Calibri" panose="020F0502020204030204" pitchFamily="34" charset="0"/>
                        </a:rPr>
                        <a:t>32.7%</a:t>
                      </a:r>
                    </a:p>
                  </a:txBody>
                  <a:tcPr marL="7620" marR="7620" marT="762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6FD"/>
                    </a:solidFill>
                  </a:tcPr>
                </a:tc>
                <a:tc>
                  <a:txBody>
                    <a:bodyPr/>
                    <a:lstStyle/>
                    <a:p>
                      <a:pPr algn="ctr" fontAlgn="b"/>
                      <a:r>
                        <a:rPr lang="en-US" sz="1100" b="0" i="0" u="none" strike="noStrike">
                          <a:solidFill>
                            <a:srgbClr val="000000"/>
                          </a:solidFill>
                          <a:effectLst/>
                          <a:latin typeface="Calibri" panose="020F0502020204030204" pitchFamily="34" charset="0"/>
                        </a:rPr>
                        <a:t>9.6%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6FD"/>
                    </a:solidFill>
                  </a:tcPr>
                </a:tc>
                <a:tc>
                  <a:txBody>
                    <a:bodyPr/>
                    <a:lstStyle/>
                    <a:p>
                      <a:pPr algn="ctr" fontAlgn="b"/>
                      <a:r>
                        <a:rPr lang="en-US" sz="1100" b="0" i="0" u="none" strike="noStrike">
                          <a:solidFill>
                            <a:srgbClr val="000000"/>
                          </a:solidFill>
                          <a:effectLst/>
                          <a:latin typeface="Calibri" panose="020F0502020204030204" pitchFamily="34" charset="0"/>
                        </a:rPr>
                        <a:t>6.6%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6FD"/>
                    </a:solidFill>
                  </a:tcPr>
                </a:tc>
                <a:tc>
                  <a:txBody>
                    <a:bodyPr/>
                    <a:lstStyle/>
                    <a:p>
                      <a:pPr algn="ctr" fontAlgn="b"/>
                      <a:r>
                        <a:rPr lang="en-US" sz="1100" b="0" i="0" u="none" strike="noStrike">
                          <a:solidFill>
                            <a:srgbClr val="000000"/>
                          </a:solidFill>
                          <a:effectLst/>
                          <a:latin typeface="Calibri" panose="020F0502020204030204" pitchFamily="34" charset="0"/>
                        </a:rPr>
                        <a:t>18.0%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6FD"/>
                    </a:solidFill>
                  </a:tcPr>
                </a:tc>
                <a:tc>
                  <a:txBody>
                    <a:bodyPr/>
                    <a:lstStyle/>
                    <a:p>
                      <a:pPr algn="ctr" fontAlgn="b"/>
                      <a:r>
                        <a:rPr lang="en-US" sz="1100" b="0" i="0" u="none" strike="noStrike">
                          <a:solidFill>
                            <a:srgbClr val="000000"/>
                          </a:solidFill>
                          <a:effectLst/>
                          <a:latin typeface="Calibri" panose="020F0502020204030204" pitchFamily="34" charset="0"/>
                        </a:rPr>
                        <a:t>8.2%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6FD"/>
                    </a:solidFill>
                  </a:tcPr>
                </a:tc>
                <a:tc>
                  <a:txBody>
                    <a:bodyPr/>
                    <a:lstStyle/>
                    <a:p>
                      <a:pPr algn="ctr" fontAlgn="b"/>
                      <a:r>
                        <a:rPr lang="en-US" sz="1100" b="0" i="0" u="none" strike="noStrike">
                          <a:solidFill>
                            <a:srgbClr val="000000"/>
                          </a:solidFill>
                          <a:effectLst/>
                          <a:latin typeface="Calibri" panose="020F0502020204030204" pitchFamily="34" charset="0"/>
                        </a:rPr>
                        <a:t>6.9%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6FD"/>
                    </a:solidFill>
                  </a:tcPr>
                </a:tc>
                <a:tc>
                  <a:txBody>
                    <a:bodyPr/>
                    <a:lstStyle/>
                    <a:p>
                      <a:pPr algn="ctr" fontAlgn="b"/>
                      <a:r>
                        <a:rPr lang="en-US" sz="1100" b="0" i="0" u="none" strike="noStrike">
                          <a:solidFill>
                            <a:srgbClr val="000000"/>
                          </a:solidFill>
                          <a:effectLst/>
                          <a:latin typeface="Calibri" panose="020F0502020204030204" pitchFamily="34" charset="0"/>
                        </a:rPr>
                        <a:t>18.0%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6FD"/>
                    </a:solidFill>
                  </a:tcPr>
                </a:tc>
                <a:tc rowSpan="2">
                  <a:txBody>
                    <a:bodyPr/>
                    <a:lstStyle/>
                    <a:p>
                      <a:pPr algn="ctr" fontAlgn="b"/>
                      <a:endParaRPr lang="en-IN" sz="1100" b="0" i="0" u="none" strike="noStrike">
                        <a:solidFill>
                          <a:srgbClr val="000000"/>
                        </a:solidFill>
                        <a:effectLst/>
                        <a:latin typeface="Aptos Narrow" panose="020B000402020202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panose="020F0502020204030204" pitchFamily="34" charset="0"/>
                        </a:rPr>
                        <a:t>34.5%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6FD"/>
                    </a:solidFill>
                  </a:tcPr>
                </a:tc>
                <a:tc>
                  <a:txBody>
                    <a:bodyPr/>
                    <a:lstStyle/>
                    <a:p>
                      <a:pPr algn="ctr" fontAlgn="b"/>
                      <a:r>
                        <a:rPr lang="en-US" sz="1100" b="0" i="0" u="none" strike="noStrike">
                          <a:solidFill>
                            <a:srgbClr val="000000"/>
                          </a:solidFill>
                          <a:effectLst/>
                          <a:latin typeface="Calibri" panose="020F0502020204030204" pitchFamily="34" charset="0"/>
                        </a:rPr>
                        <a:t>10.9%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6FD"/>
                    </a:solidFill>
                  </a:tcPr>
                </a:tc>
                <a:tc>
                  <a:txBody>
                    <a:bodyPr/>
                    <a:lstStyle/>
                    <a:p>
                      <a:pPr algn="ctr" fontAlgn="b"/>
                      <a:r>
                        <a:rPr lang="en-US" sz="1100" b="0" i="0" u="none" strike="noStrike">
                          <a:solidFill>
                            <a:srgbClr val="000000"/>
                          </a:solidFill>
                          <a:effectLst/>
                          <a:latin typeface="Calibri" panose="020F0502020204030204" pitchFamily="34" charset="0"/>
                        </a:rPr>
                        <a:t>6.8%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6FD"/>
                    </a:solidFill>
                  </a:tcPr>
                </a:tc>
                <a:tc>
                  <a:txBody>
                    <a:bodyPr/>
                    <a:lstStyle/>
                    <a:p>
                      <a:pPr algn="ctr" fontAlgn="b"/>
                      <a:r>
                        <a:rPr lang="en-US" sz="1100" b="0" i="0" u="none" strike="noStrike">
                          <a:solidFill>
                            <a:srgbClr val="000000"/>
                          </a:solidFill>
                          <a:effectLst/>
                          <a:latin typeface="Calibri" panose="020F0502020204030204" pitchFamily="34" charset="0"/>
                        </a:rPr>
                        <a:t>13.3%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6FD"/>
                    </a:solidFill>
                  </a:tcPr>
                </a:tc>
                <a:tc>
                  <a:txBody>
                    <a:bodyPr/>
                    <a:lstStyle/>
                    <a:p>
                      <a:pPr algn="ctr" fontAlgn="b"/>
                      <a:r>
                        <a:rPr lang="en-US" sz="1100" b="0" i="0" u="none" strike="noStrike">
                          <a:solidFill>
                            <a:srgbClr val="000000"/>
                          </a:solidFill>
                          <a:effectLst/>
                          <a:latin typeface="Calibri" panose="020F0502020204030204" pitchFamily="34" charset="0"/>
                        </a:rPr>
                        <a:t>9.4%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6FD"/>
                    </a:solidFill>
                  </a:tcPr>
                </a:tc>
                <a:tc>
                  <a:txBody>
                    <a:bodyPr/>
                    <a:lstStyle/>
                    <a:p>
                      <a:pPr algn="ctr" fontAlgn="b"/>
                      <a:r>
                        <a:rPr lang="en-US" sz="1100" b="0" i="0" u="none" strike="noStrike">
                          <a:solidFill>
                            <a:srgbClr val="000000"/>
                          </a:solidFill>
                          <a:effectLst/>
                          <a:latin typeface="Calibri" panose="020F0502020204030204" pitchFamily="34" charset="0"/>
                        </a:rPr>
                        <a:t>8.9%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6FD"/>
                    </a:solidFill>
                  </a:tcPr>
                </a:tc>
                <a:tc>
                  <a:txBody>
                    <a:bodyPr/>
                    <a:lstStyle/>
                    <a:p>
                      <a:pPr algn="ctr" fontAlgn="b"/>
                      <a:r>
                        <a:rPr lang="en-US" sz="1100" b="0" i="0" u="none" strike="noStrike">
                          <a:solidFill>
                            <a:srgbClr val="000000"/>
                          </a:solidFill>
                          <a:effectLst/>
                          <a:latin typeface="Calibri" panose="020F0502020204030204" pitchFamily="34" charset="0"/>
                        </a:rPr>
                        <a:t>16.2%</a:t>
                      </a:r>
                    </a:p>
                  </a:txBody>
                  <a:tcPr marL="7620" marR="7620" marT="762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6FD"/>
                    </a:solidFill>
                  </a:tcPr>
                </a:tc>
                <a:extLst>
                  <a:ext uri="{0D108BD9-81ED-4DB2-BD59-A6C34878D82A}">
                    <a16:rowId xmlns:a16="http://schemas.microsoft.com/office/drawing/2014/main" val="1814121042"/>
                  </a:ext>
                </a:extLst>
              </a:tr>
              <a:tr h="316107">
                <a:tc>
                  <a:txBody>
                    <a:bodyPr/>
                    <a:lstStyle/>
                    <a:p>
                      <a:pPr algn="ctr" fontAlgn="b"/>
                      <a:r>
                        <a:rPr lang="en-US" sz="1100" b="0" i="0" u="none" strike="noStrike">
                          <a:solidFill>
                            <a:srgbClr val="000000"/>
                          </a:solidFill>
                          <a:effectLst/>
                          <a:latin typeface="Calibri" panose="020F0502020204030204" pitchFamily="34" charset="0"/>
                        </a:rPr>
                        <a:t>0.2%</a:t>
                      </a:r>
                    </a:p>
                  </a:txBody>
                  <a:tcPr marL="7620" marR="7620" marT="762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F2D0"/>
                    </a:solidFill>
                  </a:tcPr>
                </a:tc>
                <a:tc>
                  <a:txBody>
                    <a:bodyPr/>
                    <a:lstStyle/>
                    <a:p>
                      <a:pPr algn="ctr" fontAlgn="b"/>
                      <a:r>
                        <a:rPr lang="en-US" sz="1100" b="0" i="0" u="none" strike="noStrike">
                          <a:solidFill>
                            <a:srgbClr val="000000"/>
                          </a:solidFill>
                          <a:effectLst/>
                          <a:latin typeface="Calibri" panose="020F0502020204030204" pitchFamily="34" charset="0"/>
                        </a:rPr>
                        <a:t>-0.2%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DCD"/>
                    </a:solidFill>
                  </a:tcPr>
                </a:tc>
                <a:tc>
                  <a:txBody>
                    <a:bodyPr/>
                    <a:lstStyle/>
                    <a:p>
                      <a:pPr algn="ctr" fontAlgn="b"/>
                      <a:r>
                        <a:rPr lang="en-US" sz="1100" b="0" i="0" u="none" strike="noStrike">
                          <a:solidFill>
                            <a:srgbClr val="000000"/>
                          </a:solidFill>
                          <a:effectLst/>
                          <a:latin typeface="Calibri" panose="020F0502020204030204" pitchFamily="34" charset="0"/>
                        </a:rPr>
                        <a:t>-0.3%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DCD"/>
                    </a:solidFill>
                  </a:tcPr>
                </a:tc>
                <a:tc>
                  <a:txBody>
                    <a:bodyPr/>
                    <a:lstStyle/>
                    <a:p>
                      <a:pPr algn="ctr" fontAlgn="b"/>
                      <a:r>
                        <a:rPr lang="en-US" sz="1100" b="0" i="0" u="none" strike="noStrike">
                          <a:solidFill>
                            <a:srgbClr val="000000"/>
                          </a:solidFill>
                          <a:effectLst/>
                          <a:latin typeface="Calibri" panose="020F0502020204030204" pitchFamily="34" charset="0"/>
                        </a:rPr>
                        <a:t>-0.2%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DCD"/>
                    </a:solidFill>
                  </a:tcPr>
                </a:tc>
                <a:tc>
                  <a:txBody>
                    <a:bodyPr/>
                    <a:lstStyle/>
                    <a:p>
                      <a:pPr algn="ctr" fontAlgn="b"/>
                      <a:r>
                        <a:rPr lang="en-US" sz="1100" b="0" i="0" u="none" strike="noStrike">
                          <a:solidFill>
                            <a:srgbClr val="000000"/>
                          </a:solidFill>
                          <a:effectLst/>
                          <a:latin typeface="Calibri" panose="020F0502020204030204" pitchFamily="34" charset="0"/>
                        </a:rPr>
                        <a:t>-0.2%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DCD"/>
                    </a:solidFill>
                  </a:tcPr>
                </a:tc>
                <a:tc>
                  <a:txBody>
                    <a:bodyPr/>
                    <a:lstStyle/>
                    <a:p>
                      <a:pPr algn="ctr" fontAlgn="b"/>
                      <a:r>
                        <a:rPr lang="en-US" sz="1100" b="0" i="0" u="none" strike="noStrike">
                          <a:solidFill>
                            <a:srgbClr val="000000"/>
                          </a:solidFill>
                          <a:effectLst/>
                          <a:latin typeface="Calibri" panose="020F0502020204030204" pitchFamily="34" charset="0"/>
                        </a:rPr>
                        <a:t>0.1%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F2D0"/>
                    </a:solidFill>
                  </a:tcPr>
                </a:tc>
                <a:tc>
                  <a:txBody>
                    <a:bodyPr/>
                    <a:lstStyle/>
                    <a:p>
                      <a:pPr algn="ctr" fontAlgn="b"/>
                      <a:r>
                        <a:rPr lang="en-US" sz="1100" b="0" i="0" u="none" strike="noStrike">
                          <a:solidFill>
                            <a:srgbClr val="000000"/>
                          </a:solidFill>
                          <a:effectLst/>
                          <a:latin typeface="Calibri" panose="020F0502020204030204" pitchFamily="34" charset="0"/>
                        </a:rPr>
                        <a:t>0.6%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F2D0"/>
                    </a:solidFill>
                  </a:tcPr>
                </a:tc>
                <a:tc vMerge="1">
                  <a:txBody>
                    <a:bodyPr/>
                    <a:lstStyle/>
                    <a:p>
                      <a:pPr algn="ctr" fontAlgn="b"/>
                      <a:endParaRPr lang="en-IN" sz="1100" b="0" i="0" u="none" strike="noStrike">
                        <a:solidFill>
                          <a:srgbClr val="000000"/>
                        </a:solidFill>
                        <a:effectLst/>
                        <a:latin typeface="Aptos Narrow" panose="020B000402020202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panose="020F0502020204030204" pitchFamily="34" charset="0"/>
                        </a:rPr>
                        <a:t>0.1%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F2D0"/>
                    </a:solidFill>
                  </a:tcPr>
                </a:tc>
                <a:tc>
                  <a:txBody>
                    <a:bodyPr/>
                    <a:lstStyle/>
                    <a:p>
                      <a:pPr algn="ctr" fontAlgn="b"/>
                      <a:r>
                        <a:rPr lang="en-US" sz="1100" b="0" i="0" u="none" strike="noStrike">
                          <a:solidFill>
                            <a:srgbClr val="000000"/>
                          </a:solidFill>
                          <a:effectLst/>
                          <a:latin typeface="Calibri" panose="020F0502020204030204" pitchFamily="34" charset="0"/>
                        </a:rPr>
                        <a:t>0.5%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-0.6%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DCD"/>
                    </a:solidFill>
                  </a:tcPr>
                </a:tc>
                <a:tc>
                  <a:txBody>
                    <a:bodyPr/>
                    <a:lstStyle/>
                    <a:p>
                      <a:pPr algn="ctr" fontAlgn="b"/>
                      <a:r>
                        <a:rPr lang="en-US" sz="1100" b="0" i="0" u="none" strike="noStrike">
                          <a:solidFill>
                            <a:srgbClr val="000000"/>
                          </a:solidFill>
                          <a:effectLst/>
                          <a:latin typeface="Calibri" panose="020F0502020204030204" pitchFamily="34" charset="0"/>
                        </a:rPr>
                        <a:t>-0.0%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DCD"/>
                    </a:solidFill>
                  </a:tcPr>
                </a:tc>
                <a:tc>
                  <a:txBody>
                    <a:bodyPr/>
                    <a:lstStyle/>
                    <a:p>
                      <a:pPr algn="ctr" fontAlgn="b"/>
                      <a:r>
                        <a:rPr lang="en-US" sz="1100" b="0" i="0" u="none" strike="noStrike">
                          <a:solidFill>
                            <a:srgbClr val="000000"/>
                          </a:solidFill>
                          <a:effectLst/>
                          <a:latin typeface="Calibri" panose="020F0502020204030204" pitchFamily="34" charset="0"/>
                        </a:rPr>
                        <a:t>-0.2%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DCD"/>
                    </a:solidFill>
                  </a:tcPr>
                </a:tc>
                <a:tc>
                  <a:txBody>
                    <a:bodyPr/>
                    <a:lstStyle/>
                    <a:p>
                      <a:pPr algn="ctr" fontAlgn="b"/>
                      <a:r>
                        <a:rPr lang="en-US" sz="1100" b="0" i="0" u="none" strike="noStrike">
                          <a:solidFill>
                            <a:srgbClr val="000000"/>
                          </a:solidFill>
                          <a:effectLst/>
                          <a:latin typeface="Calibri" panose="020F0502020204030204" pitchFamily="34" charset="0"/>
                        </a:rPr>
                        <a:t>-0.1%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DCD"/>
                    </a:solidFill>
                  </a:tcPr>
                </a:tc>
                <a:tc>
                  <a:txBody>
                    <a:bodyPr/>
                    <a:lstStyle/>
                    <a:p>
                      <a:pPr algn="ctr" fontAlgn="b"/>
                      <a:r>
                        <a:rPr lang="en-US" sz="1100" b="0" i="0" u="none" strike="noStrike">
                          <a:solidFill>
                            <a:srgbClr val="000000"/>
                          </a:solidFill>
                          <a:effectLst/>
                          <a:latin typeface="Calibri" panose="020F0502020204030204" pitchFamily="34" charset="0"/>
                        </a:rPr>
                        <a:t>0.3%</a:t>
                      </a:r>
                    </a:p>
                  </a:txBody>
                  <a:tcPr marL="7620" marR="7620" marT="762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57112563"/>
                  </a:ext>
                </a:extLst>
              </a:tr>
            </a:tbl>
          </a:graphicData>
        </a:graphic>
      </p:graphicFrame>
      <p:sp>
        <p:nvSpPr>
          <p:cNvPr id="27" name="Rectangle 26">
            <a:extLst>
              <a:ext uri="{FF2B5EF4-FFF2-40B4-BE49-F238E27FC236}">
                <a16:creationId xmlns:a16="http://schemas.microsoft.com/office/drawing/2014/main" id="{670E3FCB-EC12-8605-F4DD-FC00316BE128}"/>
              </a:ext>
            </a:extLst>
          </p:cNvPr>
          <p:cNvSpPr/>
          <p:nvPr/>
        </p:nvSpPr>
        <p:spPr>
          <a:xfrm>
            <a:off x="326570" y="5054360"/>
            <a:ext cx="11517497" cy="1199383"/>
          </a:xfrm>
          <a:prstGeom prst="rect">
            <a:avLst/>
          </a:prstGeom>
          <a:solidFill>
            <a:schemeClr val="tx2">
              <a:lumMod val="10000"/>
              <a:lumOff val="90000"/>
            </a:schemeClr>
          </a:solidFill>
          <a:ln w="6350">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1300">
              <a:solidFill>
                <a:prstClr val="black"/>
              </a:solidFill>
              <a:latin typeface="Aptos" panose="02110004020202020204"/>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1300">
              <a:solidFill>
                <a:prstClr val="black"/>
              </a:solidFill>
              <a:latin typeface="Aptos" panose="02110004020202020204"/>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1300">
              <a:solidFill>
                <a:prstClr val="black"/>
              </a:solidFill>
              <a:latin typeface="Aptos" panose="02110004020202020204"/>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1300">
              <a:solidFill>
                <a:prstClr val="black"/>
              </a:solidFill>
              <a:latin typeface="Aptos" panose="02110004020202020204"/>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1300">
              <a:solidFill>
                <a:prstClr val="black"/>
              </a:solidFill>
              <a:latin typeface="Aptos" panose="02110004020202020204"/>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300">
                <a:solidFill>
                  <a:prstClr val="black"/>
                </a:solidFill>
                <a:latin typeface="Aptos" panose="02110004020202020204"/>
              </a:rPr>
              <a:t>The CSF of Supermarkets channel is 3.1 with a MCV of 14.9 and that of Tesco channel is 3.6 with a MCV of 17.1</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300">
                <a:solidFill>
                  <a:prstClr val="black"/>
                </a:solidFill>
                <a:latin typeface="Aptos" panose="02110004020202020204"/>
              </a:rPr>
              <a:t>In supermarkets, HP has to be differentiated in price than Heinz to improve MCV which is being reflected in Tesco</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300">
                <a:solidFill>
                  <a:prstClr val="black"/>
                </a:solidFill>
                <a:latin typeface="Aptos" panose="02110004020202020204"/>
              </a:rPr>
              <a:t>Heinz has a stable market share potential in both the channels with a stable CSF</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300">
                <a:solidFill>
                  <a:prstClr val="black"/>
                </a:solidFill>
                <a:latin typeface="Aptos" panose="02110004020202020204"/>
              </a:rPr>
              <a:t>Bulls Eye need to improve it’s MCV by effective marketing efforts because it has a poor CSF even after correcting its prices over the previous year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300">
                <a:solidFill>
                  <a:prstClr val="black"/>
                </a:solidFill>
                <a:latin typeface="Aptos" panose="02110004020202020204"/>
              </a:rPr>
              <a:t>Sweet Baby Rays has the highest MCV in both the channels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1300">
              <a:solidFill>
                <a:prstClr val="black"/>
              </a:solidFill>
              <a:latin typeface="Aptos" panose="02110004020202020204"/>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1300">
              <a:solidFill>
                <a:prstClr val="black"/>
              </a:solidFill>
              <a:latin typeface="Aptos" panose="02110004020202020204"/>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1300">
              <a:solidFill>
                <a:prstClr val="black"/>
              </a:solidFill>
              <a:latin typeface="Aptos" panose="02110004020202020204"/>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1300">
              <a:solidFill>
                <a:prstClr val="black"/>
              </a:solidFill>
              <a:latin typeface="Aptos" panose="02110004020202020204"/>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1300">
              <a:solidFill>
                <a:prstClr val="black"/>
              </a:solidFill>
              <a:latin typeface="Aptos" panose="02110004020202020204"/>
            </a:endParaRPr>
          </a:p>
        </p:txBody>
      </p:sp>
      <p:sp>
        <p:nvSpPr>
          <p:cNvPr id="44" name="TextBox 43">
            <a:extLst>
              <a:ext uri="{FF2B5EF4-FFF2-40B4-BE49-F238E27FC236}">
                <a16:creationId xmlns:a16="http://schemas.microsoft.com/office/drawing/2014/main" id="{CD63773A-FCD8-F081-86EC-FC0995D41284}"/>
              </a:ext>
            </a:extLst>
          </p:cNvPr>
          <p:cNvSpPr txBox="1"/>
          <p:nvPr/>
        </p:nvSpPr>
        <p:spPr>
          <a:xfrm>
            <a:off x="326570" y="6381049"/>
            <a:ext cx="7949681" cy="261610"/>
          </a:xfrm>
          <a:prstGeom prst="rect">
            <a:avLst/>
          </a:prstGeom>
          <a:noFill/>
        </p:spPr>
        <p:txBody>
          <a:bodyPr wrap="square" rtlCol="0">
            <a:spAutoFit/>
          </a:bodyPr>
          <a:lstStyle/>
          <a:p>
            <a:r>
              <a:rPr lang="en-US" sz="1100" i="1"/>
              <a:t>*All Price and MCVs are in GBP per unit</a:t>
            </a:r>
          </a:p>
        </p:txBody>
      </p:sp>
      <p:sp>
        <p:nvSpPr>
          <p:cNvPr id="2" name="Sev01">
            <a:extLst>
              <a:ext uri="{FF2B5EF4-FFF2-40B4-BE49-F238E27FC236}">
                <a16:creationId xmlns:a16="http://schemas.microsoft.com/office/drawing/2014/main" id="{477DD039-9A8C-0C98-4D75-D40B0F0DDCD9}"/>
              </a:ext>
            </a:extLst>
          </p:cNvPr>
          <p:cNvSpPr/>
          <p:nvPr/>
        </p:nvSpPr>
        <p:spPr>
          <a:xfrm>
            <a:off x="1749633" y="641767"/>
            <a:ext cx="3554896" cy="55558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39" hangingPunct="0"/>
            <a:r>
              <a:rPr lang="en-US" b="1" u="sng" kern="0">
                <a:solidFill>
                  <a:srgbClr val="000000"/>
                </a:solidFill>
                <a:sym typeface="Helvetica Neue"/>
              </a:rPr>
              <a:t>Supermarkets</a:t>
            </a:r>
            <a:endParaRPr lang="en-US" sz="1400" b="1" u="sng" kern="0">
              <a:solidFill>
                <a:srgbClr val="000000"/>
              </a:solidFill>
              <a:latin typeface="+mj-lt"/>
              <a:sym typeface="Helvetica Neue"/>
            </a:endParaRPr>
          </a:p>
        </p:txBody>
      </p:sp>
      <p:sp>
        <p:nvSpPr>
          <p:cNvPr id="4" name="Sev01">
            <a:extLst>
              <a:ext uri="{FF2B5EF4-FFF2-40B4-BE49-F238E27FC236}">
                <a16:creationId xmlns:a16="http://schemas.microsoft.com/office/drawing/2014/main" id="{04DF4388-E5C2-8201-407A-FB086D6B3E7A}"/>
              </a:ext>
            </a:extLst>
          </p:cNvPr>
          <p:cNvSpPr/>
          <p:nvPr/>
        </p:nvSpPr>
        <p:spPr>
          <a:xfrm>
            <a:off x="7866326" y="649981"/>
            <a:ext cx="3554896" cy="55558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39" hangingPunct="0"/>
            <a:r>
              <a:rPr lang="en-US" b="1" u="sng" kern="0">
                <a:solidFill>
                  <a:srgbClr val="000000"/>
                </a:solidFill>
                <a:latin typeface="+mj-lt"/>
                <a:sym typeface="Helvetica Neue"/>
              </a:rPr>
              <a:t>Tesco</a:t>
            </a:r>
            <a:endParaRPr lang="en-US" sz="1400" b="1" u="sng" kern="0">
              <a:solidFill>
                <a:srgbClr val="000000"/>
              </a:solidFill>
              <a:latin typeface="+mj-lt"/>
              <a:sym typeface="Helvetica Neue"/>
            </a:endParaRPr>
          </a:p>
        </p:txBody>
      </p:sp>
    </p:spTree>
    <p:extLst>
      <p:ext uri="{BB962C8B-B14F-4D97-AF65-F5344CB8AC3E}">
        <p14:creationId xmlns:p14="http://schemas.microsoft.com/office/powerpoint/2010/main" val="25301766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8F153-3B16-1BD4-26D5-AD297023D4F3}"/>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DF0F506C-CA60-DB1C-968F-98867847DB0A}"/>
              </a:ext>
            </a:extLst>
          </p:cNvPr>
          <p:cNvSpPr/>
          <p:nvPr/>
        </p:nvSpPr>
        <p:spPr>
          <a:xfrm>
            <a:off x="4041752" y="849241"/>
            <a:ext cx="3877283" cy="5788771"/>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6BFD878A-61CC-5DD6-6A4F-9292F7F3A7C1}"/>
              </a:ext>
            </a:extLst>
          </p:cNvPr>
          <p:cNvSpPr/>
          <p:nvPr/>
        </p:nvSpPr>
        <p:spPr>
          <a:xfrm>
            <a:off x="142240" y="830154"/>
            <a:ext cx="3800495" cy="5826946"/>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6" name="think-cell data - do not delete" hidden="1">
            <a:extLst>
              <a:ext uri="{FF2B5EF4-FFF2-40B4-BE49-F238E27FC236}">
                <a16:creationId xmlns:a16="http://schemas.microsoft.com/office/drawing/2014/main" id="{CC1AC1BC-D496-F4C2-2D6F-8F3E634F789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CC1AC1BC-D496-F4C2-2D6F-8F3E634F789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109" name="Group 108">
            <a:extLst>
              <a:ext uri="{FF2B5EF4-FFF2-40B4-BE49-F238E27FC236}">
                <a16:creationId xmlns:a16="http://schemas.microsoft.com/office/drawing/2014/main" id="{EE9601D6-0451-9BCD-DF28-B267AF611E83}"/>
              </a:ext>
            </a:extLst>
          </p:cNvPr>
          <p:cNvGrpSpPr/>
          <p:nvPr/>
        </p:nvGrpSpPr>
        <p:grpSpPr>
          <a:xfrm>
            <a:off x="142240" y="653388"/>
            <a:ext cx="10566400" cy="45719"/>
            <a:chOff x="142240" y="653388"/>
            <a:chExt cx="10566400" cy="45719"/>
          </a:xfrm>
        </p:grpSpPr>
        <p:cxnSp>
          <p:nvCxnSpPr>
            <p:cNvPr id="110" name="Straight Connector 109">
              <a:extLst>
                <a:ext uri="{FF2B5EF4-FFF2-40B4-BE49-F238E27FC236}">
                  <a16:creationId xmlns:a16="http://schemas.microsoft.com/office/drawing/2014/main" id="{760060B3-FCA5-604E-5E2B-10239F4DD4AC}"/>
                </a:ext>
              </a:extLst>
            </p:cNvPr>
            <p:cNvCxnSpPr>
              <a:cxnSpLocks/>
            </p:cNvCxnSpPr>
            <p:nvPr/>
          </p:nvCxnSpPr>
          <p:spPr>
            <a:xfrm>
              <a:off x="822960" y="673708"/>
              <a:ext cx="988568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2" name="Rectangle 111">
              <a:extLst>
                <a:ext uri="{FF2B5EF4-FFF2-40B4-BE49-F238E27FC236}">
                  <a16:creationId xmlns:a16="http://schemas.microsoft.com/office/drawing/2014/main" id="{B2EEDE77-0FDC-D2CA-56BE-D06D51F4550E}"/>
                </a:ext>
              </a:extLst>
            </p:cNvPr>
            <p:cNvSpPr/>
            <p:nvPr/>
          </p:nvSpPr>
          <p:spPr>
            <a:xfrm>
              <a:off x="142240" y="653388"/>
              <a:ext cx="1158240" cy="45719"/>
            </a:xfrm>
            <a:prstGeom prst="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 name="Title 3">
            <a:extLst>
              <a:ext uri="{FF2B5EF4-FFF2-40B4-BE49-F238E27FC236}">
                <a16:creationId xmlns:a16="http://schemas.microsoft.com/office/drawing/2014/main" id="{C0CACBF4-6816-B6D8-506F-B50F804AEF2F}"/>
              </a:ext>
            </a:extLst>
          </p:cNvPr>
          <p:cNvSpPr txBox="1">
            <a:spLocks/>
          </p:cNvSpPr>
          <p:nvPr/>
        </p:nvSpPr>
        <p:spPr>
          <a:xfrm>
            <a:off x="408859" y="107634"/>
            <a:ext cx="11681542" cy="611002"/>
          </a:xfrm>
          <a:prstGeom prst="rect">
            <a:avLst/>
          </a:prstGeom>
        </p:spPr>
        <p:txBody>
          <a:bodyPr vert="horz" lIns="121920" tIns="60960" rIns="121920" bIns="6096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a:lnSpc>
                <a:spcPct val="80000"/>
              </a:lnSpc>
              <a:spcBef>
                <a:spcPts val="0"/>
              </a:spcBef>
              <a:defRPr/>
            </a:pPr>
            <a:r>
              <a:rPr lang="en-US" sz="2400" b="1" spc="-64">
                <a:solidFill>
                  <a:srgbClr val="4472C4">
                    <a:lumMod val="50000"/>
                  </a:srgbClr>
                </a:solidFill>
                <a:latin typeface="Rockwell"/>
                <a:ea typeface="+mn-ea"/>
                <a:cs typeface="Arial" panose="020B0604020202020204" pitchFamily="34" charset="0"/>
              </a:rPr>
              <a:t>Channel level- RPI Curves for Supermarket </a:t>
            </a:r>
          </a:p>
        </p:txBody>
      </p:sp>
      <p:sp>
        <p:nvSpPr>
          <p:cNvPr id="30" name="TextBox 29">
            <a:extLst>
              <a:ext uri="{FF2B5EF4-FFF2-40B4-BE49-F238E27FC236}">
                <a16:creationId xmlns:a16="http://schemas.microsoft.com/office/drawing/2014/main" id="{DFEAAD52-656B-BEF4-231D-EF60DB97FBE7}"/>
              </a:ext>
            </a:extLst>
          </p:cNvPr>
          <p:cNvSpPr txBox="1"/>
          <p:nvPr/>
        </p:nvSpPr>
        <p:spPr>
          <a:xfrm>
            <a:off x="275078" y="792015"/>
            <a:ext cx="3591816" cy="307777"/>
          </a:xfrm>
          <a:prstGeom prst="rect">
            <a:avLst/>
          </a:prstGeom>
          <a:noFill/>
        </p:spPr>
        <p:txBody>
          <a:bodyPr wrap="square" rtlCol="0">
            <a:spAutoFit/>
          </a:bodyPr>
          <a:lstStyle/>
          <a:p>
            <a:pPr algn="ctr"/>
            <a:r>
              <a:rPr lang="en-GB" sz="1400" b="1" spc="-64">
                <a:solidFill>
                  <a:srgbClr val="4472C4">
                    <a:lumMod val="50000"/>
                  </a:srgbClr>
                </a:solidFill>
                <a:latin typeface="Rockwell"/>
                <a:cs typeface="Arial" panose="020B0604020202020204" pitchFamily="34" charset="0"/>
              </a:rPr>
              <a:t>Heinz</a:t>
            </a:r>
          </a:p>
        </p:txBody>
      </p:sp>
      <p:sp>
        <p:nvSpPr>
          <p:cNvPr id="31" name="TextBox 30">
            <a:extLst>
              <a:ext uri="{FF2B5EF4-FFF2-40B4-BE49-F238E27FC236}">
                <a16:creationId xmlns:a16="http://schemas.microsoft.com/office/drawing/2014/main" id="{2AEA64DC-23C2-7E5F-5760-5778F5E715B9}"/>
              </a:ext>
            </a:extLst>
          </p:cNvPr>
          <p:cNvSpPr txBox="1"/>
          <p:nvPr/>
        </p:nvSpPr>
        <p:spPr>
          <a:xfrm>
            <a:off x="4801539" y="827752"/>
            <a:ext cx="2397691" cy="307777"/>
          </a:xfrm>
          <a:prstGeom prst="rect">
            <a:avLst/>
          </a:prstGeom>
          <a:noFill/>
        </p:spPr>
        <p:txBody>
          <a:bodyPr wrap="square" rtlCol="0">
            <a:spAutoFit/>
          </a:bodyPr>
          <a:lstStyle/>
          <a:p>
            <a:pPr algn="ctr"/>
            <a:r>
              <a:rPr lang="en-GB" sz="1400" b="1" spc="-64">
                <a:solidFill>
                  <a:srgbClr val="4472C4">
                    <a:lumMod val="50000"/>
                  </a:srgbClr>
                </a:solidFill>
                <a:latin typeface="Rockwell"/>
                <a:cs typeface="Arial" panose="020B0604020202020204" pitchFamily="34" charset="0"/>
              </a:rPr>
              <a:t>HP</a:t>
            </a:r>
          </a:p>
        </p:txBody>
      </p:sp>
      <p:grpSp>
        <p:nvGrpSpPr>
          <p:cNvPr id="39" name="Group 38">
            <a:extLst>
              <a:ext uri="{FF2B5EF4-FFF2-40B4-BE49-F238E27FC236}">
                <a16:creationId xmlns:a16="http://schemas.microsoft.com/office/drawing/2014/main" id="{5C33EABE-2C47-B33C-4FA2-6B06761F02EF}"/>
              </a:ext>
            </a:extLst>
          </p:cNvPr>
          <p:cNvGrpSpPr/>
          <p:nvPr/>
        </p:nvGrpSpPr>
        <p:grpSpPr>
          <a:xfrm>
            <a:off x="5621923" y="6634472"/>
            <a:ext cx="1319225" cy="246221"/>
            <a:chOff x="9729406" y="4277340"/>
            <a:chExt cx="1319225" cy="246221"/>
          </a:xfrm>
        </p:grpSpPr>
        <p:sp>
          <p:nvSpPr>
            <p:cNvPr id="40" name="TextBox 39">
              <a:extLst>
                <a:ext uri="{FF2B5EF4-FFF2-40B4-BE49-F238E27FC236}">
                  <a16:creationId xmlns:a16="http://schemas.microsoft.com/office/drawing/2014/main" id="{DEC5DEF2-CBF9-9E94-7E92-941F1B97D1FA}"/>
                </a:ext>
              </a:extLst>
            </p:cNvPr>
            <p:cNvSpPr txBox="1"/>
            <p:nvPr/>
          </p:nvSpPr>
          <p:spPr>
            <a:xfrm>
              <a:off x="10100477" y="4277340"/>
              <a:ext cx="948154" cy="246221"/>
            </a:xfrm>
            <a:prstGeom prst="rect">
              <a:avLst/>
            </a:prstGeom>
            <a:noFill/>
          </p:spPr>
          <p:txBody>
            <a:bodyPr wrap="square" rtlCol="0">
              <a:spAutoFit/>
            </a:bodyPr>
            <a:lstStyle/>
            <a:p>
              <a:r>
                <a:rPr lang="en-GB" sz="1000"/>
                <a:t> Inflection </a:t>
              </a:r>
            </a:p>
          </p:txBody>
        </p:sp>
        <p:cxnSp>
          <p:nvCxnSpPr>
            <p:cNvPr id="41" name="Straight Connector 40">
              <a:extLst>
                <a:ext uri="{FF2B5EF4-FFF2-40B4-BE49-F238E27FC236}">
                  <a16:creationId xmlns:a16="http://schemas.microsoft.com/office/drawing/2014/main" id="{EDA5B0B4-C499-654A-A030-FEB82ABEC096}"/>
                </a:ext>
              </a:extLst>
            </p:cNvPr>
            <p:cNvCxnSpPr>
              <a:cxnSpLocks/>
            </p:cNvCxnSpPr>
            <p:nvPr/>
          </p:nvCxnSpPr>
          <p:spPr>
            <a:xfrm>
              <a:off x="9729406" y="4398081"/>
              <a:ext cx="378462" cy="0"/>
            </a:xfrm>
            <a:prstGeom prst="line">
              <a:avLst/>
            </a:prstGeom>
            <a:ln w="28575">
              <a:solidFill>
                <a:srgbClr val="00B050"/>
              </a:solidFill>
              <a:prstDash val="sysDash"/>
            </a:ln>
          </p:spPr>
          <p:style>
            <a:lnRef idx="2">
              <a:schemeClr val="accent1"/>
            </a:lnRef>
            <a:fillRef idx="0">
              <a:schemeClr val="accent1"/>
            </a:fillRef>
            <a:effectRef idx="1">
              <a:schemeClr val="accent1"/>
            </a:effectRef>
            <a:fontRef idx="minor">
              <a:schemeClr val="tx1"/>
            </a:fontRef>
          </p:style>
        </p:cxnSp>
      </p:grpSp>
      <p:grpSp>
        <p:nvGrpSpPr>
          <p:cNvPr id="42" name="Group 41">
            <a:extLst>
              <a:ext uri="{FF2B5EF4-FFF2-40B4-BE49-F238E27FC236}">
                <a16:creationId xmlns:a16="http://schemas.microsoft.com/office/drawing/2014/main" id="{0E96841B-ABBB-B140-55D4-2AA37D3E38E4}"/>
              </a:ext>
            </a:extLst>
          </p:cNvPr>
          <p:cNvGrpSpPr/>
          <p:nvPr/>
        </p:nvGrpSpPr>
        <p:grpSpPr>
          <a:xfrm>
            <a:off x="4776775" y="6646097"/>
            <a:ext cx="1319225" cy="246221"/>
            <a:chOff x="9729406" y="4069187"/>
            <a:chExt cx="1319225" cy="246221"/>
          </a:xfrm>
        </p:grpSpPr>
        <p:sp>
          <p:nvSpPr>
            <p:cNvPr id="43" name="TextBox 42">
              <a:extLst>
                <a:ext uri="{FF2B5EF4-FFF2-40B4-BE49-F238E27FC236}">
                  <a16:creationId xmlns:a16="http://schemas.microsoft.com/office/drawing/2014/main" id="{AEE9BC05-C32A-6F71-018C-C30A160DC44C}"/>
                </a:ext>
              </a:extLst>
            </p:cNvPr>
            <p:cNvSpPr txBox="1"/>
            <p:nvPr/>
          </p:nvSpPr>
          <p:spPr>
            <a:xfrm>
              <a:off x="10100477" y="4069187"/>
              <a:ext cx="948154" cy="246221"/>
            </a:xfrm>
            <a:prstGeom prst="rect">
              <a:avLst/>
            </a:prstGeom>
            <a:noFill/>
          </p:spPr>
          <p:txBody>
            <a:bodyPr wrap="square" rtlCol="0">
              <a:spAutoFit/>
            </a:bodyPr>
            <a:lstStyle/>
            <a:p>
              <a:r>
                <a:rPr lang="en-GB" sz="1000"/>
                <a:t> L12M</a:t>
              </a:r>
            </a:p>
          </p:txBody>
        </p:sp>
        <p:cxnSp>
          <p:nvCxnSpPr>
            <p:cNvPr id="44" name="Straight Connector 43">
              <a:extLst>
                <a:ext uri="{FF2B5EF4-FFF2-40B4-BE49-F238E27FC236}">
                  <a16:creationId xmlns:a16="http://schemas.microsoft.com/office/drawing/2014/main" id="{9FC3613F-80F4-1715-A5B1-DF92D08B1FC5}"/>
                </a:ext>
              </a:extLst>
            </p:cNvPr>
            <p:cNvCxnSpPr>
              <a:cxnSpLocks/>
            </p:cNvCxnSpPr>
            <p:nvPr/>
          </p:nvCxnSpPr>
          <p:spPr>
            <a:xfrm>
              <a:off x="9729406" y="4181560"/>
              <a:ext cx="378462" cy="0"/>
            </a:xfrm>
            <a:prstGeom prst="line">
              <a:avLst/>
            </a:prstGeom>
            <a:ln w="28575">
              <a:solidFill>
                <a:srgbClr val="C00000"/>
              </a:solidFill>
              <a:prstDash val="sysDash"/>
            </a:ln>
          </p:spPr>
          <p:style>
            <a:lnRef idx="2">
              <a:schemeClr val="accent1"/>
            </a:lnRef>
            <a:fillRef idx="0">
              <a:schemeClr val="accent1"/>
            </a:fillRef>
            <a:effectRef idx="1">
              <a:schemeClr val="accent1"/>
            </a:effectRef>
            <a:fontRef idx="minor">
              <a:schemeClr val="tx1"/>
            </a:fontRef>
          </p:style>
        </p:cxnSp>
      </p:grpSp>
      <p:sp>
        <p:nvSpPr>
          <p:cNvPr id="3" name="Rectangle 2">
            <a:extLst>
              <a:ext uri="{FF2B5EF4-FFF2-40B4-BE49-F238E27FC236}">
                <a16:creationId xmlns:a16="http://schemas.microsoft.com/office/drawing/2014/main" id="{AE31211F-C365-5EB5-49CD-9352256A45C2}"/>
              </a:ext>
            </a:extLst>
          </p:cNvPr>
          <p:cNvSpPr/>
          <p:nvPr/>
        </p:nvSpPr>
        <p:spPr>
          <a:xfrm>
            <a:off x="7994876" y="830154"/>
            <a:ext cx="3922046" cy="5788771"/>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highlight>
                <a:srgbClr val="D9F2D0"/>
              </a:highlight>
            </a:endParaRPr>
          </a:p>
        </p:txBody>
      </p:sp>
      <p:sp>
        <p:nvSpPr>
          <p:cNvPr id="4" name="TextBox 3">
            <a:extLst>
              <a:ext uri="{FF2B5EF4-FFF2-40B4-BE49-F238E27FC236}">
                <a16:creationId xmlns:a16="http://schemas.microsoft.com/office/drawing/2014/main" id="{F923A717-8EA3-CDFA-78E8-FA0CAD198948}"/>
              </a:ext>
            </a:extLst>
          </p:cNvPr>
          <p:cNvSpPr txBox="1"/>
          <p:nvPr/>
        </p:nvSpPr>
        <p:spPr>
          <a:xfrm>
            <a:off x="8737688" y="849241"/>
            <a:ext cx="2397691" cy="307777"/>
          </a:xfrm>
          <a:prstGeom prst="rect">
            <a:avLst/>
          </a:prstGeom>
          <a:noFill/>
        </p:spPr>
        <p:txBody>
          <a:bodyPr wrap="square" rtlCol="0">
            <a:spAutoFit/>
          </a:bodyPr>
          <a:lstStyle/>
          <a:p>
            <a:pPr algn="ctr"/>
            <a:r>
              <a:rPr lang="en-GB" sz="1400" b="1" spc="-64">
                <a:solidFill>
                  <a:srgbClr val="4472C4">
                    <a:lumMod val="50000"/>
                  </a:srgbClr>
                </a:solidFill>
                <a:latin typeface="Rockwell"/>
                <a:cs typeface="Arial" panose="020B0604020202020204" pitchFamily="34" charset="0"/>
              </a:rPr>
              <a:t>Bull’s Eye</a:t>
            </a:r>
          </a:p>
        </p:txBody>
      </p:sp>
      <p:pic>
        <p:nvPicPr>
          <p:cNvPr id="10" name="Picture 9">
            <a:extLst>
              <a:ext uri="{FF2B5EF4-FFF2-40B4-BE49-F238E27FC236}">
                <a16:creationId xmlns:a16="http://schemas.microsoft.com/office/drawing/2014/main" id="{F888E6C9-161D-6C0E-4EBC-483420F2A019}"/>
              </a:ext>
            </a:extLst>
          </p:cNvPr>
          <p:cNvPicPr>
            <a:picLocks noChangeAspect="1"/>
          </p:cNvPicPr>
          <p:nvPr/>
        </p:nvPicPr>
        <p:blipFill>
          <a:blip r:embed="rId6"/>
          <a:stretch>
            <a:fillRect/>
          </a:stretch>
        </p:blipFill>
        <p:spPr>
          <a:xfrm>
            <a:off x="176059" y="1132654"/>
            <a:ext cx="3732855" cy="2548079"/>
          </a:xfrm>
          <a:prstGeom prst="rect">
            <a:avLst/>
          </a:prstGeom>
        </p:spPr>
      </p:pic>
      <p:pic>
        <p:nvPicPr>
          <p:cNvPr id="12" name="Picture 11">
            <a:extLst>
              <a:ext uri="{FF2B5EF4-FFF2-40B4-BE49-F238E27FC236}">
                <a16:creationId xmlns:a16="http://schemas.microsoft.com/office/drawing/2014/main" id="{3D624934-1002-0D46-6A37-D3D98FCDEEF7}"/>
              </a:ext>
            </a:extLst>
          </p:cNvPr>
          <p:cNvPicPr>
            <a:picLocks noChangeAspect="1"/>
          </p:cNvPicPr>
          <p:nvPr/>
        </p:nvPicPr>
        <p:blipFill>
          <a:blip r:embed="rId7"/>
          <a:stretch>
            <a:fillRect/>
          </a:stretch>
        </p:blipFill>
        <p:spPr>
          <a:xfrm>
            <a:off x="176059" y="3811780"/>
            <a:ext cx="3732855" cy="2583862"/>
          </a:xfrm>
          <a:prstGeom prst="rect">
            <a:avLst/>
          </a:prstGeom>
        </p:spPr>
      </p:pic>
      <p:pic>
        <p:nvPicPr>
          <p:cNvPr id="16" name="Picture 15">
            <a:extLst>
              <a:ext uri="{FF2B5EF4-FFF2-40B4-BE49-F238E27FC236}">
                <a16:creationId xmlns:a16="http://schemas.microsoft.com/office/drawing/2014/main" id="{21340591-4589-7BA0-37D6-ABB5792A123C}"/>
              </a:ext>
            </a:extLst>
          </p:cNvPr>
          <p:cNvPicPr>
            <a:picLocks noChangeAspect="1"/>
          </p:cNvPicPr>
          <p:nvPr/>
        </p:nvPicPr>
        <p:blipFill>
          <a:blip r:embed="rId8"/>
          <a:stretch>
            <a:fillRect/>
          </a:stretch>
        </p:blipFill>
        <p:spPr>
          <a:xfrm>
            <a:off x="4107492" y="1132653"/>
            <a:ext cx="3748773" cy="2548079"/>
          </a:xfrm>
          <a:prstGeom prst="rect">
            <a:avLst/>
          </a:prstGeom>
        </p:spPr>
      </p:pic>
      <p:pic>
        <p:nvPicPr>
          <p:cNvPr id="20" name="Picture 19">
            <a:extLst>
              <a:ext uri="{FF2B5EF4-FFF2-40B4-BE49-F238E27FC236}">
                <a16:creationId xmlns:a16="http://schemas.microsoft.com/office/drawing/2014/main" id="{74F19965-C8B1-B97A-8419-AEEE7645D902}"/>
              </a:ext>
            </a:extLst>
          </p:cNvPr>
          <p:cNvPicPr>
            <a:picLocks noChangeAspect="1"/>
          </p:cNvPicPr>
          <p:nvPr/>
        </p:nvPicPr>
        <p:blipFill>
          <a:blip r:embed="rId9"/>
          <a:stretch>
            <a:fillRect/>
          </a:stretch>
        </p:blipFill>
        <p:spPr>
          <a:xfrm>
            <a:off x="4107492" y="3811337"/>
            <a:ext cx="3748772" cy="2581753"/>
          </a:xfrm>
          <a:prstGeom prst="rect">
            <a:avLst/>
          </a:prstGeom>
        </p:spPr>
      </p:pic>
      <p:pic>
        <p:nvPicPr>
          <p:cNvPr id="23" name="Picture 22">
            <a:extLst>
              <a:ext uri="{FF2B5EF4-FFF2-40B4-BE49-F238E27FC236}">
                <a16:creationId xmlns:a16="http://schemas.microsoft.com/office/drawing/2014/main" id="{5F097D3C-BF8B-781B-DDF6-413843153FD2}"/>
              </a:ext>
            </a:extLst>
          </p:cNvPr>
          <p:cNvPicPr>
            <a:picLocks noChangeAspect="1"/>
          </p:cNvPicPr>
          <p:nvPr/>
        </p:nvPicPr>
        <p:blipFill>
          <a:blip r:embed="rId10"/>
          <a:stretch>
            <a:fillRect/>
          </a:stretch>
        </p:blipFill>
        <p:spPr>
          <a:xfrm>
            <a:off x="8045080" y="1132653"/>
            <a:ext cx="3786346" cy="2548079"/>
          </a:xfrm>
          <a:prstGeom prst="rect">
            <a:avLst/>
          </a:prstGeom>
        </p:spPr>
      </p:pic>
      <p:pic>
        <p:nvPicPr>
          <p:cNvPr id="25" name="Picture 24">
            <a:extLst>
              <a:ext uri="{FF2B5EF4-FFF2-40B4-BE49-F238E27FC236}">
                <a16:creationId xmlns:a16="http://schemas.microsoft.com/office/drawing/2014/main" id="{41679EDE-5731-334D-B0C5-A2145502FA26}"/>
              </a:ext>
            </a:extLst>
          </p:cNvPr>
          <p:cNvPicPr>
            <a:picLocks noChangeAspect="1"/>
          </p:cNvPicPr>
          <p:nvPr/>
        </p:nvPicPr>
        <p:blipFill>
          <a:blip r:embed="rId11"/>
          <a:stretch>
            <a:fillRect/>
          </a:stretch>
        </p:blipFill>
        <p:spPr>
          <a:xfrm>
            <a:off x="8045080" y="3811337"/>
            <a:ext cx="3786346" cy="2581753"/>
          </a:xfrm>
          <a:prstGeom prst="rect">
            <a:avLst/>
          </a:prstGeom>
        </p:spPr>
      </p:pic>
      <p:cxnSp>
        <p:nvCxnSpPr>
          <p:cNvPr id="26" name="Straight Connector 25">
            <a:extLst>
              <a:ext uri="{FF2B5EF4-FFF2-40B4-BE49-F238E27FC236}">
                <a16:creationId xmlns:a16="http://schemas.microsoft.com/office/drawing/2014/main" id="{BD76273F-2589-0F63-8303-9A27223AF390}"/>
              </a:ext>
            </a:extLst>
          </p:cNvPr>
          <p:cNvCxnSpPr>
            <a:cxnSpLocks/>
          </p:cNvCxnSpPr>
          <p:nvPr/>
        </p:nvCxnSpPr>
        <p:spPr>
          <a:xfrm>
            <a:off x="2078371" y="1530441"/>
            <a:ext cx="0" cy="1979645"/>
          </a:xfrm>
          <a:prstGeom prst="line">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0AA6DCED-D6F5-4A7E-2701-469418F58004}"/>
              </a:ext>
            </a:extLst>
          </p:cNvPr>
          <p:cNvCxnSpPr>
            <a:cxnSpLocks/>
          </p:cNvCxnSpPr>
          <p:nvPr/>
        </p:nvCxnSpPr>
        <p:spPr>
          <a:xfrm>
            <a:off x="2041678" y="1544836"/>
            <a:ext cx="0" cy="1950854"/>
          </a:xfrm>
          <a:prstGeom prst="line">
            <a:avLst/>
          </a:prstGeom>
          <a:ln>
            <a:solidFill>
              <a:srgbClr val="FF0000"/>
            </a:solidFill>
            <a:prstDash val="dash"/>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8C45E413-7C74-C2D7-CB41-93FD9AFE987D}"/>
              </a:ext>
            </a:extLst>
          </p:cNvPr>
          <p:cNvSpPr txBox="1"/>
          <p:nvPr/>
        </p:nvSpPr>
        <p:spPr>
          <a:xfrm>
            <a:off x="1376911" y="2882007"/>
            <a:ext cx="877772" cy="461665"/>
          </a:xfrm>
          <a:prstGeom prst="rect">
            <a:avLst/>
          </a:prstGeom>
          <a:noFill/>
        </p:spPr>
        <p:txBody>
          <a:bodyPr wrap="square" rtlCol="0">
            <a:spAutoFit/>
          </a:bodyPr>
          <a:lstStyle/>
          <a:p>
            <a:r>
              <a:rPr lang="en-IN" sz="800">
                <a:solidFill>
                  <a:srgbClr val="FF0000"/>
                </a:solidFill>
              </a:rPr>
              <a:t>Price: 5.57</a:t>
            </a:r>
          </a:p>
          <a:p>
            <a:r>
              <a:rPr lang="en-IN" sz="800">
                <a:solidFill>
                  <a:srgbClr val="FF0000"/>
                </a:solidFill>
              </a:rPr>
              <a:t>RPI PL : 227</a:t>
            </a:r>
          </a:p>
          <a:p>
            <a:r>
              <a:rPr lang="en-IN" sz="800">
                <a:solidFill>
                  <a:srgbClr val="FF0000"/>
                </a:solidFill>
              </a:rPr>
              <a:t>RPI Cat: 116</a:t>
            </a:r>
          </a:p>
        </p:txBody>
      </p:sp>
      <p:sp>
        <p:nvSpPr>
          <p:cNvPr id="29" name="TextBox 28">
            <a:extLst>
              <a:ext uri="{FF2B5EF4-FFF2-40B4-BE49-F238E27FC236}">
                <a16:creationId xmlns:a16="http://schemas.microsoft.com/office/drawing/2014/main" id="{D040D382-27D2-5445-4214-F3A8227CF4C8}"/>
              </a:ext>
            </a:extLst>
          </p:cNvPr>
          <p:cNvSpPr txBox="1"/>
          <p:nvPr/>
        </p:nvSpPr>
        <p:spPr>
          <a:xfrm>
            <a:off x="2078371" y="2883112"/>
            <a:ext cx="877772" cy="461665"/>
          </a:xfrm>
          <a:prstGeom prst="rect">
            <a:avLst/>
          </a:prstGeom>
          <a:noFill/>
        </p:spPr>
        <p:txBody>
          <a:bodyPr wrap="square" rtlCol="0">
            <a:spAutoFit/>
          </a:bodyPr>
          <a:lstStyle/>
          <a:p>
            <a:r>
              <a:rPr lang="en-IN" sz="800">
                <a:solidFill>
                  <a:srgbClr val="00B050"/>
                </a:solidFill>
              </a:rPr>
              <a:t>Price: 5.62</a:t>
            </a:r>
          </a:p>
          <a:p>
            <a:r>
              <a:rPr lang="en-IN" sz="800">
                <a:solidFill>
                  <a:srgbClr val="00B050"/>
                </a:solidFill>
              </a:rPr>
              <a:t>RPI PL Std: 229</a:t>
            </a:r>
          </a:p>
          <a:p>
            <a:r>
              <a:rPr lang="en-IN" sz="800">
                <a:solidFill>
                  <a:srgbClr val="00B050"/>
                </a:solidFill>
              </a:rPr>
              <a:t>RPI Cat: 117</a:t>
            </a:r>
          </a:p>
        </p:txBody>
      </p:sp>
      <p:cxnSp>
        <p:nvCxnSpPr>
          <p:cNvPr id="35" name="Straight Connector 34">
            <a:extLst>
              <a:ext uri="{FF2B5EF4-FFF2-40B4-BE49-F238E27FC236}">
                <a16:creationId xmlns:a16="http://schemas.microsoft.com/office/drawing/2014/main" id="{40E32EC8-F331-E6C8-21B1-4431DB223184}"/>
              </a:ext>
            </a:extLst>
          </p:cNvPr>
          <p:cNvCxnSpPr>
            <a:cxnSpLocks/>
          </p:cNvCxnSpPr>
          <p:nvPr/>
        </p:nvCxnSpPr>
        <p:spPr>
          <a:xfrm>
            <a:off x="2041678" y="4126786"/>
            <a:ext cx="0" cy="1950854"/>
          </a:xfrm>
          <a:prstGeom prst="line">
            <a:avLst/>
          </a:prstGeom>
          <a:ln>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27172EFF-2936-3557-69F1-F6AC55DDEFB4}"/>
              </a:ext>
            </a:extLst>
          </p:cNvPr>
          <p:cNvCxnSpPr>
            <a:cxnSpLocks/>
          </p:cNvCxnSpPr>
          <p:nvPr/>
        </p:nvCxnSpPr>
        <p:spPr>
          <a:xfrm>
            <a:off x="2079856" y="4126786"/>
            <a:ext cx="0" cy="1950854"/>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1" name="Straight Connector 50">
            <a:extLst>
              <a:ext uri="{FF2B5EF4-FFF2-40B4-BE49-F238E27FC236}">
                <a16:creationId xmlns:a16="http://schemas.microsoft.com/office/drawing/2014/main" id="{D350C853-D480-618B-0D94-2FC3FE885626}"/>
              </a:ext>
            </a:extLst>
          </p:cNvPr>
          <p:cNvCxnSpPr>
            <a:cxnSpLocks/>
          </p:cNvCxnSpPr>
          <p:nvPr/>
        </p:nvCxnSpPr>
        <p:spPr>
          <a:xfrm>
            <a:off x="6011701" y="1500089"/>
            <a:ext cx="0" cy="1950854"/>
          </a:xfrm>
          <a:prstGeom prst="line">
            <a:avLst/>
          </a:prstGeom>
          <a:ln>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D1068656-0C91-DD58-4DE7-1CCB03E36263}"/>
              </a:ext>
            </a:extLst>
          </p:cNvPr>
          <p:cNvCxnSpPr>
            <a:cxnSpLocks/>
          </p:cNvCxnSpPr>
          <p:nvPr/>
        </p:nvCxnSpPr>
        <p:spPr>
          <a:xfrm>
            <a:off x="5947790" y="1500089"/>
            <a:ext cx="0" cy="1950854"/>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3" name="Straight Connector 52">
            <a:extLst>
              <a:ext uri="{FF2B5EF4-FFF2-40B4-BE49-F238E27FC236}">
                <a16:creationId xmlns:a16="http://schemas.microsoft.com/office/drawing/2014/main" id="{0A15F60E-CF53-48A0-74B3-9A00C8ABFF4B}"/>
              </a:ext>
            </a:extLst>
          </p:cNvPr>
          <p:cNvCxnSpPr>
            <a:cxnSpLocks/>
          </p:cNvCxnSpPr>
          <p:nvPr/>
        </p:nvCxnSpPr>
        <p:spPr>
          <a:xfrm>
            <a:off x="5964919" y="4126786"/>
            <a:ext cx="0" cy="1950854"/>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5" name="Straight Connector 54">
            <a:extLst>
              <a:ext uri="{FF2B5EF4-FFF2-40B4-BE49-F238E27FC236}">
                <a16:creationId xmlns:a16="http://schemas.microsoft.com/office/drawing/2014/main" id="{EE964AA1-EA6A-2A68-A7B9-EF8E1C404C51}"/>
              </a:ext>
            </a:extLst>
          </p:cNvPr>
          <p:cNvCxnSpPr>
            <a:cxnSpLocks/>
          </p:cNvCxnSpPr>
          <p:nvPr/>
        </p:nvCxnSpPr>
        <p:spPr>
          <a:xfrm>
            <a:off x="6048324" y="4126786"/>
            <a:ext cx="0" cy="1950854"/>
          </a:xfrm>
          <a:prstGeom prst="line">
            <a:avLst/>
          </a:prstGeom>
          <a:ln>
            <a:solidFill>
              <a:srgbClr val="FF0000"/>
            </a:solidFill>
            <a:prstDash val="dash"/>
          </a:ln>
        </p:spPr>
        <p:style>
          <a:lnRef idx="2">
            <a:schemeClr val="accent1"/>
          </a:lnRef>
          <a:fillRef idx="0">
            <a:schemeClr val="accent1"/>
          </a:fillRef>
          <a:effectRef idx="1">
            <a:schemeClr val="accent1"/>
          </a:effectRef>
          <a:fontRef idx="minor">
            <a:schemeClr val="tx1"/>
          </a:fontRef>
        </p:style>
      </p:cxnSp>
      <p:sp>
        <p:nvSpPr>
          <p:cNvPr id="56" name="TextBox 55">
            <a:extLst>
              <a:ext uri="{FF2B5EF4-FFF2-40B4-BE49-F238E27FC236}">
                <a16:creationId xmlns:a16="http://schemas.microsoft.com/office/drawing/2014/main" id="{54872ED7-97EC-1100-5991-0278E25D77F7}"/>
              </a:ext>
            </a:extLst>
          </p:cNvPr>
          <p:cNvSpPr txBox="1"/>
          <p:nvPr/>
        </p:nvSpPr>
        <p:spPr>
          <a:xfrm>
            <a:off x="5143587" y="2825369"/>
            <a:ext cx="877772" cy="461665"/>
          </a:xfrm>
          <a:prstGeom prst="rect">
            <a:avLst/>
          </a:prstGeom>
          <a:noFill/>
        </p:spPr>
        <p:txBody>
          <a:bodyPr wrap="square" rtlCol="0">
            <a:spAutoFit/>
          </a:bodyPr>
          <a:lstStyle/>
          <a:p>
            <a:r>
              <a:rPr lang="en-IN" sz="800">
                <a:solidFill>
                  <a:srgbClr val="00B050"/>
                </a:solidFill>
              </a:rPr>
              <a:t>Price: 5.53</a:t>
            </a:r>
          </a:p>
          <a:p>
            <a:r>
              <a:rPr lang="en-IN" sz="800">
                <a:solidFill>
                  <a:srgbClr val="00B050"/>
                </a:solidFill>
              </a:rPr>
              <a:t>RPI PL Std: 225</a:t>
            </a:r>
          </a:p>
          <a:p>
            <a:r>
              <a:rPr lang="en-IN" sz="800">
                <a:solidFill>
                  <a:srgbClr val="00B050"/>
                </a:solidFill>
              </a:rPr>
              <a:t>RPI Cat: 115</a:t>
            </a:r>
          </a:p>
        </p:txBody>
      </p:sp>
      <p:sp>
        <p:nvSpPr>
          <p:cNvPr id="57" name="TextBox 56">
            <a:extLst>
              <a:ext uri="{FF2B5EF4-FFF2-40B4-BE49-F238E27FC236}">
                <a16:creationId xmlns:a16="http://schemas.microsoft.com/office/drawing/2014/main" id="{94B0B1C3-9A5F-8BBD-F63D-36379ED73C76}"/>
              </a:ext>
            </a:extLst>
          </p:cNvPr>
          <p:cNvSpPr txBox="1"/>
          <p:nvPr/>
        </p:nvSpPr>
        <p:spPr>
          <a:xfrm>
            <a:off x="6003153" y="2818675"/>
            <a:ext cx="877772" cy="461665"/>
          </a:xfrm>
          <a:prstGeom prst="rect">
            <a:avLst/>
          </a:prstGeom>
          <a:noFill/>
        </p:spPr>
        <p:txBody>
          <a:bodyPr wrap="square" rtlCol="0">
            <a:spAutoFit/>
          </a:bodyPr>
          <a:lstStyle/>
          <a:p>
            <a:r>
              <a:rPr lang="en-IN" sz="800">
                <a:solidFill>
                  <a:srgbClr val="FF0000"/>
                </a:solidFill>
              </a:rPr>
              <a:t>Price: 5.69</a:t>
            </a:r>
          </a:p>
          <a:p>
            <a:r>
              <a:rPr lang="en-IN" sz="800">
                <a:solidFill>
                  <a:srgbClr val="FF0000"/>
                </a:solidFill>
              </a:rPr>
              <a:t>RPI PL : 232</a:t>
            </a:r>
          </a:p>
          <a:p>
            <a:r>
              <a:rPr lang="en-IN" sz="800">
                <a:solidFill>
                  <a:srgbClr val="FF0000"/>
                </a:solidFill>
              </a:rPr>
              <a:t>RPI Cat: 119</a:t>
            </a:r>
          </a:p>
        </p:txBody>
      </p:sp>
      <p:cxnSp>
        <p:nvCxnSpPr>
          <p:cNvPr id="58" name="Straight Connector 57">
            <a:extLst>
              <a:ext uri="{FF2B5EF4-FFF2-40B4-BE49-F238E27FC236}">
                <a16:creationId xmlns:a16="http://schemas.microsoft.com/office/drawing/2014/main" id="{DF2F201C-B5F1-82E5-61F1-87B311D027EA}"/>
              </a:ext>
            </a:extLst>
          </p:cNvPr>
          <p:cNvCxnSpPr>
            <a:cxnSpLocks/>
          </p:cNvCxnSpPr>
          <p:nvPr/>
        </p:nvCxnSpPr>
        <p:spPr>
          <a:xfrm>
            <a:off x="9767623" y="1500089"/>
            <a:ext cx="0" cy="1950854"/>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0" name="Straight Connector 59">
            <a:extLst>
              <a:ext uri="{FF2B5EF4-FFF2-40B4-BE49-F238E27FC236}">
                <a16:creationId xmlns:a16="http://schemas.microsoft.com/office/drawing/2014/main" id="{75DB47AA-DF30-C0E9-60D2-E9006168F065}"/>
              </a:ext>
            </a:extLst>
          </p:cNvPr>
          <p:cNvCxnSpPr>
            <a:cxnSpLocks/>
          </p:cNvCxnSpPr>
          <p:nvPr/>
        </p:nvCxnSpPr>
        <p:spPr>
          <a:xfrm>
            <a:off x="9843575" y="1508212"/>
            <a:ext cx="0" cy="1950854"/>
          </a:xfrm>
          <a:prstGeom prst="line">
            <a:avLst/>
          </a:prstGeom>
          <a:ln>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15C715FB-CBF3-0342-97E6-571438FB4FD9}"/>
              </a:ext>
            </a:extLst>
          </p:cNvPr>
          <p:cNvCxnSpPr>
            <a:cxnSpLocks/>
          </p:cNvCxnSpPr>
          <p:nvPr/>
        </p:nvCxnSpPr>
        <p:spPr>
          <a:xfrm>
            <a:off x="9893773" y="4158006"/>
            <a:ext cx="0" cy="1950854"/>
          </a:xfrm>
          <a:prstGeom prst="line">
            <a:avLst/>
          </a:prstGeom>
          <a:ln>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D53CBF0E-A768-6D6D-1C14-63AD4023836A}"/>
              </a:ext>
            </a:extLst>
          </p:cNvPr>
          <p:cNvCxnSpPr>
            <a:cxnSpLocks/>
          </p:cNvCxnSpPr>
          <p:nvPr/>
        </p:nvCxnSpPr>
        <p:spPr>
          <a:xfrm>
            <a:off x="9806951" y="4160709"/>
            <a:ext cx="0" cy="1950854"/>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3" name="TextBox 62">
            <a:extLst>
              <a:ext uri="{FF2B5EF4-FFF2-40B4-BE49-F238E27FC236}">
                <a16:creationId xmlns:a16="http://schemas.microsoft.com/office/drawing/2014/main" id="{C424C21D-B4D8-402F-4DBB-8CBCCCDE4C2F}"/>
              </a:ext>
            </a:extLst>
          </p:cNvPr>
          <p:cNvSpPr txBox="1"/>
          <p:nvPr/>
        </p:nvSpPr>
        <p:spPr>
          <a:xfrm>
            <a:off x="9796508" y="2882007"/>
            <a:ext cx="877772" cy="461665"/>
          </a:xfrm>
          <a:prstGeom prst="rect">
            <a:avLst/>
          </a:prstGeom>
          <a:noFill/>
        </p:spPr>
        <p:txBody>
          <a:bodyPr wrap="square" rtlCol="0">
            <a:spAutoFit/>
          </a:bodyPr>
          <a:lstStyle/>
          <a:p>
            <a:r>
              <a:rPr lang="en-IN" sz="800">
                <a:solidFill>
                  <a:srgbClr val="FF0000"/>
                </a:solidFill>
              </a:rPr>
              <a:t>Price: 6.87</a:t>
            </a:r>
          </a:p>
          <a:p>
            <a:r>
              <a:rPr lang="en-IN" sz="800">
                <a:solidFill>
                  <a:srgbClr val="FF0000"/>
                </a:solidFill>
              </a:rPr>
              <a:t>RPI PL : 280</a:t>
            </a:r>
          </a:p>
          <a:p>
            <a:r>
              <a:rPr lang="en-IN" sz="800">
                <a:solidFill>
                  <a:srgbClr val="FF0000"/>
                </a:solidFill>
              </a:rPr>
              <a:t>RPI Cat: 144</a:t>
            </a:r>
          </a:p>
        </p:txBody>
      </p:sp>
      <p:sp>
        <p:nvSpPr>
          <p:cNvPr id="64" name="TextBox 63">
            <a:extLst>
              <a:ext uri="{FF2B5EF4-FFF2-40B4-BE49-F238E27FC236}">
                <a16:creationId xmlns:a16="http://schemas.microsoft.com/office/drawing/2014/main" id="{D34D6C10-2E41-08E4-4BCD-5747BFEF448E}"/>
              </a:ext>
            </a:extLst>
          </p:cNvPr>
          <p:cNvSpPr txBox="1"/>
          <p:nvPr/>
        </p:nvSpPr>
        <p:spPr>
          <a:xfrm>
            <a:off x="8965803" y="2920381"/>
            <a:ext cx="877772" cy="461665"/>
          </a:xfrm>
          <a:prstGeom prst="rect">
            <a:avLst/>
          </a:prstGeom>
          <a:noFill/>
        </p:spPr>
        <p:txBody>
          <a:bodyPr wrap="square" rtlCol="0">
            <a:spAutoFit/>
          </a:bodyPr>
          <a:lstStyle/>
          <a:p>
            <a:r>
              <a:rPr lang="en-IN" sz="800">
                <a:solidFill>
                  <a:srgbClr val="00B050"/>
                </a:solidFill>
              </a:rPr>
              <a:t>Price: 6.61</a:t>
            </a:r>
          </a:p>
          <a:p>
            <a:r>
              <a:rPr lang="en-IN" sz="800">
                <a:solidFill>
                  <a:srgbClr val="00B050"/>
                </a:solidFill>
              </a:rPr>
              <a:t>RPI PL Std: 270</a:t>
            </a:r>
          </a:p>
          <a:p>
            <a:r>
              <a:rPr lang="en-IN" sz="800">
                <a:solidFill>
                  <a:srgbClr val="00B050"/>
                </a:solidFill>
              </a:rPr>
              <a:t>RPI Cat: 137</a:t>
            </a:r>
          </a:p>
        </p:txBody>
      </p:sp>
    </p:spTree>
    <p:extLst>
      <p:ext uri="{BB962C8B-B14F-4D97-AF65-F5344CB8AC3E}">
        <p14:creationId xmlns:p14="http://schemas.microsoft.com/office/powerpoint/2010/main" val="949900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82CAC-360E-66E3-47E8-3516E75B0E09}"/>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02DEDB60-3CCF-822A-5096-191FBA285730}"/>
              </a:ext>
            </a:extLst>
          </p:cNvPr>
          <p:cNvSpPr/>
          <p:nvPr/>
        </p:nvSpPr>
        <p:spPr>
          <a:xfrm>
            <a:off x="4041752" y="849241"/>
            <a:ext cx="3877283" cy="5788771"/>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D0266FA2-016E-5F86-E900-8987E697BE5F}"/>
              </a:ext>
            </a:extLst>
          </p:cNvPr>
          <p:cNvSpPr/>
          <p:nvPr/>
        </p:nvSpPr>
        <p:spPr>
          <a:xfrm>
            <a:off x="142240" y="830154"/>
            <a:ext cx="3800495" cy="5826946"/>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6" name="think-cell data - do not delete" hidden="1">
            <a:extLst>
              <a:ext uri="{FF2B5EF4-FFF2-40B4-BE49-F238E27FC236}">
                <a16:creationId xmlns:a16="http://schemas.microsoft.com/office/drawing/2014/main" id="{998FA1AF-7616-C97F-4A50-0AC6687A172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998FA1AF-7616-C97F-4A50-0AC6687A172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109" name="Group 108">
            <a:extLst>
              <a:ext uri="{FF2B5EF4-FFF2-40B4-BE49-F238E27FC236}">
                <a16:creationId xmlns:a16="http://schemas.microsoft.com/office/drawing/2014/main" id="{A9986669-7F8E-A050-2CDE-EE93568C67D6}"/>
              </a:ext>
            </a:extLst>
          </p:cNvPr>
          <p:cNvGrpSpPr/>
          <p:nvPr/>
        </p:nvGrpSpPr>
        <p:grpSpPr>
          <a:xfrm>
            <a:off x="142240" y="653388"/>
            <a:ext cx="10566400" cy="45719"/>
            <a:chOff x="142240" y="653388"/>
            <a:chExt cx="10566400" cy="45719"/>
          </a:xfrm>
        </p:grpSpPr>
        <p:cxnSp>
          <p:nvCxnSpPr>
            <p:cNvPr id="110" name="Straight Connector 109">
              <a:extLst>
                <a:ext uri="{FF2B5EF4-FFF2-40B4-BE49-F238E27FC236}">
                  <a16:creationId xmlns:a16="http://schemas.microsoft.com/office/drawing/2014/main" id="{B03EAD5F-6A44-DF29-8FEA-CBB49A32EE08}"/>
                </a:ext>
              </a:extLst>
            </p:cNvPr>
            <p:cNvCxnSpPr>
              <a:cxnSpLocks/>
            </p:cNvCxnSpPr>
            <p:nvPr/>
          </p:nvCxnSpPr>
          <p:spPr>
            <a:xfrm>
              <a:off x="822960" y="673708"/>
              <a:ext cx="988568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2" name="Rectangle 111">
              <a:extLst>
                <a:ext uri="{FF2B5EF4-FFF2-40B4-BE49-F238E27FC236}">
                  <a16:creationId xmlns:a16="http://schemas.microsoft.com/office/drawing/2014/main" id="{8052978C-A8E0-31FA-2EAE-EEFC7E36B8FB}"/>
                </a:ext>
              </a:extLst>
            </p:cNvPr>
            <p:cNvSpPr/>
            <p:nvPr/>
          </p:nvSpPr>
          <p:spPr>
            <a:xfrm>
              <a:off x="142240" y="653388"/>
              <a:ext cx="1158240" cy="45719"/>
            </a:xfrm>
            <a:prstGeom prst="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 name="Title 3">
            <a:extLst>
              <a:ext uri="{FF2B5EF4-FFF2-40B4-BE49-F238E27FC236}">
                <a16:creationId xmlns:a16="http://schemas.microsoft.com/office/drawing/2014/main" id="{7D89C7FA-8E7C-445F-2133-3070A30C3B18}"/>
              </a:ext>
            </a:extLst>
          </p:cNvPr>
          <p:cNvSpPr txBox="1">
            <a:spLocks/>
          </p:cNvSpPr>
          <p:nvPr/>
        </p:nvSpPr>
        <p:spPr>
          <a:xfrm>
            <a:off x="408859" y="107634"/>
            <a:ext cx="11681542" cy="611002"/>
          </a:xfrm>
          <a:prstGeom prst="rect">
            <a:avLst/>
          </a:prstGeom>
        </p:spPr>
        <p:txBody>
          <a:bodyPr vert="horz" lIns="121920" tIns="60960" rIns="121920" bIns="6096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a:lnSpc>
                <a:spcPct val="80000"/>
              </a:lnSpc>
              <a:spcBef>
                <a:spcPts val="0"/>
              </a:spcBef>
              <a:defRPr/>
            </a:pPr>
            <a:r>
              <a:rPr lang="en-US" sz="2400" b="1" spc="-64">
                <a:solidFill>
                  <a:srgbClr val="4472C4">
                    <a:lumMod val="50000"/>
                  </a:srgbClr>
                </a:solidFill>
                <a:latin typeface="Rockwell"/>
                <a:ea typeface="+mn-ea"/>
                <a:cs typeface="Arial" panose="020B0604020202020204" pitchFamily="34" charset="0"/>
              </a:rPr>
              <a:t>Channel level- RPI Curves for Tesco </a:t>
            </a:r>
          </a:p>
        </p:txBody>
      </p:sp>
      <p:sp>
        <p:nvSpPr>
          <p:cNvPr id="30" name="TextBox 29">
            <a:extLst>
              <a:ext uri="{FF2B5EF4-FFF2-40B4-BE49-F238E27FC236}">
                <a16:creationId xmlns:a16="http://schemas.microsoft.com/office/drawing/2014/main" id="{F9D77761-D56C-260B-7426-D109BC1AB5AE}"/>
              </a:ext>
            </a:extLst>
          </p:cNvPr>
          <p:cNvSpPr txBox="1"/>
          <p:nvPr/>
        </p:nvSpPr>
        <p:spPr>
          <a:xfrm>
            <a:off x="275078" y="792015"/>
            <a:ext cx="3591816" cy="307777"/>
          </a:xfrm>
          <a:prstGeom prst="rect">
            <a:avLst/>
          </a:prstGeom>
          <a:noFill/>
        </p:spPr>
        <p:txBody>
          <a:bodyPr wrap="square" rtlCol="0">
            <a:spAutoFit/>
          </a:bodyPr>
          <a:lstStyle/>
          <a:p>
            <a:pPr algn="ctr"/>
            <a:r>
              <a:rPr lang="en-GB" sz="1400" b="1" spc="-64">
                <a:solidFill>
                  <a:srgbClr val="4472C4">
                    <a:lumMod val="50000"/>
                  </a:srgbClr>
                </a:solidFill>
                <a:latin typeface="Rockwell"/>
                <a:cs typeface="Arial" panose="020B0604020202020204" pitchFamily="34" charset="0"/>
              </a:rPr>
              <a:t>Heinz</a:t>
            </a:r>
          </a:p>
        </p:txBody>
      </p:sp>
      <p:sp>
        <p:nvSpPr>
          <p:cNvPr id="31" name="TextBox 30">
            <a:extLst>
              <a:ext uri="{FF2B5EF4-FFF2-40B4-BE49-F238E27FC236}">
                <a16:creationId xmlns:a16="http://schemas.microsoft.com/office/drawing/2014/main" id="{05275B6C-5048-2040-F204-E916381252AA}"/>
              </a:ext>
            </a:extLst>
          </p:cNvPr>
          <p:cNvSpPr txBox="1"/>
          <p:nvPr/>
        </p:nvSpPr>
        <p:spPr>
          <a:xfrm>
            <a:off x="4801539" y="827752"/>
            <a:ext cx="2397691" cy="307777"/>
          </a:xfrm>
          <a:prstGeom prst="rect">
            <a:avLst/>
          </a:prstGeom>
          <a:noFill/>
        </p:spPr>
        <p:txBody>
          <a:bodyPr wrap="square" rtlCol="0">
            <a:spAutoFit/>
          </a:bodyPr>
          <a:lstStyle/>
          <a:p>
            <a:pPr algn="ctr"/>
            <a:r>
              <a:rPr lang="en-GB" sz="1400" b="1" spc="-64">
                <a:solidFill>
                  <a:srgbClr val="4472C4">
                    <a:lumMod val="50000"/>
                  </a:srgbClr>
                </a:solidFill>
                <a:latin typeface="Rockwell"/>
                <a:cs typeface="Arial" panose="020B0604020202020204" pitchFamily="34" charset="0"/>
              </a:rPr>
              <a:t>HP</a:t>
            </a:r>
          </a:p>
        </p:txBody>
      </p:sp>
      <p:grpSp>
        <p:nvGrpSpPr>
          <p:cNvPr id="39" name="Group 38">
            <a:extLst>
              <a:ext uri="{FF2B5EF4-FFF2-40B4-BE49-F238E27FC236}">
                <a16:creationId xmlns:a16="http://schemas.microsoft.com/office/drawing/2014/main" id="{8B25F2BC-E875-CA74-7363-1AA69E3E4F1A}"/>
              </a:ext>
            </a:extLst>
          </p:cNvPr>
          <p:cNvGrpSpPr/>
          <p:nvPr/>
        </p:nvGrpSpPr>
        <p:grpSpPr>
          <a:xfrm>
            <a:off x="5621923" y="6634472"/>
            <a:ext cx="1319225" cy="246221"/>
            <a:chOff x="9729406" y="4277340"/>
            <a:chExt cx="1319225" cy="246221"/>
          </a:xfrm>
        </p:grpSpPr>
        <p:sp>
          <p:nvSpPr>
            <p:cNvPr id="40" name="TextBox 39">
              <a:extLst>
                <a:ext uri="{FF2B5EF4-FFF2-40B4-BE49-F238E27FC236}">
                  <a16:creationId xmlns:a16="http://schemas.microsoft.com/office/drawing/2014/main" id="{E3C12D90-9D59-62A8-4EAF-38BD1DD53576}"/>
                </a:ext>
              </a:extLst>
            </p:cNvPr>
            <p:cNvSpPr txBox="1"/>
            <p:nvPr/>
          </p:nvSpPr>
          <p:spPr>
            <a:xfrm>
              <a:off x="10100477" y="4277340"/>
              <a:ext cx="948154" cy="246221"/>
            </a:xfrm>
            <a:prstGeom prst="rect">
              <a:avLst/>
            </a:prstGeom>
            <a:noFill/>
          </p:spPr>
          <p:txBody>
            <a:bodyPr wrap="square" rtlCol="0">
              <a:spAutoFit/>
            </a:bodyPr>
            <a:lstStyle/>
            <a:p>
              <a:r>
                <a:rPr lang="en-GB" sz="1000"/>
                <a:t> Inflection </a:t>
              </a:r>
            </a:p>
          </p:txBody>
        </p:sp>
        <p:cxnSp>
          <p:nvCxnSpPr>
            <p:cNvPr id="41" name="Straight Connector 40">
              <a:extLst>
                <a:ext uri="{FF2B5EF4-FFF2-40B4-BE49-F238E27FC236}">
                  <a16:creationId xmlns:a16="http://schemas.microsoft.com/office/drawing/2014/main" id="{878167BA-5350-EB7C-36F1-F10D1BE622FF}"/>
                </a:ext>
              </a:extLst>
            </p:cNvPr>
            <p:cNvCxnSpPr>
              <a:cxnSpLocks/>
            </p:cNvCxnSpPr>
            <p:nvPr/>
          </p:nvCxnSpPr>
          <p:spPr>
            <a:xfrm>
              <a:off x="9729406" y="4398081"/>
              <a:ext cx="378462" cy="0"/>
            </a:xfrm>
            <a:prstGeom prst="line">
              <a:avLst/>
            </a:prstGeom>
            <a:ln w="28575">
              <a:solidFill>
                <a:srgbClr val="00B050"/>
              </a:solidFill>
              <a:prstDash val="sysDash"/>
            </a:ln>
          </p:spPr>
          <p:style>
            <a:lnRef idx="2">
              <a:schemeClr val="accent1"/>
            </a:lnRef>
            <a:fillRef idx="0">
              <a:schemeClr val="accent1"/>
            </a:fillRef>
            <a:effectRef idx="1">
              <a:schemeClr val="accent1"/>
            </a:effectRef>
            <a:fontRef idx="minor">
              <a:schemeClr val="tx1"/>
            </a:fontRef>
          </p:style>
        </p:cxnSp>
      </p:grpSp>
      <p:grpSp>
        <p:nvGrpSpPr>
          <p:cNvPr id="42" name="Group 41">
            <a:extLst>
              <a:ext uri="{FF2B5EF4-FFF2-40B4-BE49-F238E27FC236}">
                <a16:creationId xmlns:a16="http://schemas.microsoft.com/office/drawing/2014/main" id="{AEE59812-A0AA-14E5-281A-94F344CD01FB}"/>
              </a:ext>
            </a:extLst>
          </p:cNvPr>
          <p:cNvGrpSpPr/>
          <p:nvPr/>
        </p:nvGrpSpPr>
        <p:grpSpPr>
          <a:xfrm>
            <a:off x="4776775" y="6646097"/>
            <a:ext cx="1319225" cy="246221"/>
            <a:chOff x="9729406" y="4069187"/>
            <a:chExt cx="1319225" cy="246221"/>
          </a:xfrm>
        </p:grpSpPr>
        <p:sp>
          <p:nvSpPr>
            <p:cNvPr id="43" name="TextBox 42">
              <a:extLst>
                <a:ext uri="{FF2B5EF4-FFF2-40B4-BE49-F238E27FC236}">
                  <a16:creationId xmlns:a16="http://schemas.microsoft.com/office/drawing/2014/main" id="{733D2304-FC9B-4B12-E2EB-8B49B7C7C7D9}"/>
                </a:ext>
              </a:extLst>
            </p:cNvPr>
            <p:cNvSpPr txBox="1"/>
            <p:nvPr/>
          </p:nvSpPr>
          <p:spPr>
            <a:xfrm>
              <a:off x="10100477" y="4069187"/>
              <a:ext cx="948154" cy="246221"/>
            </a:xfrm>
            <a:prstGeom prst="rect">
              <a:avLst/>
            </a:prstGeom>
            <a:noFill/>
          </p:spPr>
          <p:txBody>
            <a:bodyPr wrap="square" rtlCol="0">
              <a:spAutoFit/>
            </a:bodyPr>
            <a:lstStyle/>
            <a:p>
              <a:r>
                <a:rPr lang="en-GB" sz="1000"/>
                <a:t> L12M</a:t>
              </a:r>
            </a:p>
          </p:txBody>
        </p:sp>
        <p:cxnSp>
          <p:nvCxnSpPr>
            <p:cNvPr id="44" name="Straight Connector 43">
              <a:extLst>
                <a:ext uri="{FF2B5EF4-FFF2-40B4-BE49-F238E27FC236}">
                  <a16:creationId xmlns:a16="http://schemas.microsoft.com/office/drawing/2014/main" id="{E408692D-8BF0-390D-F7B4-34BE3E988DD0}"/>
                </a:ext>
              </a:extLst>
            </p:cNvPr>
            <p:cNvCxnSpPr>
              <a:cxnSpLocks/>
            </p:cNvCxnSpPr>
            <p:nvPr/>
          </p:nvCxnSpPr>
          <p:spPr>
            <a:xfrm>
              <a:off x="9729406" y="4181560"/>
              <a:ext cx="378462" cy="0"/>
            </a:xfrm>
            <a:prstGeom prst="line">
              <a:avLst/>
            </a:prstGeom>
            <a:ln w="28575">
              <a:solidFill>
                <a:srgbClr val="C00000"/>
              </a:solidFill>
              <a:prstDash val="sysDash"/>
            </a:ln>
          </p:spPr>
          <p:style>
            <a:lnRef idx="2">
              <a:schemeClr val="accent1"/>
            </a:lnRef>
            <a:fillRef idx="0">
              <a:schemeClr val="accent1"/>
            </a:fillRef>
            <a:effectRef idx="1">
              <a:schemeClr val="accent1"/>
            </a:effectRef>
            <a:fontRef idx="minor">
              <a:schemeClr val="tx1"/>
            </a:fontRef>
          </p:style>
        </p:cxnSp>
      </p:grpSp>
      <p:sp>
        <p:nvSpPr>
          <p:cNvPr id="3" name="Rectangle 2">
            <a:extLst>
              <a:ext uri="{FF2B5EF4-FFF2-40B4-BE49-F238E27FC236}">
                <a16:creationId xmlns:a16="http://schemas.microsoft.com/office/drawing/2014/main" id="{EF1A8BF6-EB2F-D371-EE11-CEE392E92367}"/>
              </a:ext>
            </a:extLst>
          </p:cNvPr>
          <p:cNvSpPr/>
          <p:nvPr/>
        </p:nvSpPr>
        <p:spPr>
          <a:xfrm>
            <a:off x="7994876" y="830154"/>
            <a:ext cx="3922046" cy="5788771"/>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highlight>
                <a:srgbClr val="D9F2D0"/>
              </a:highlight>
            </a:endParaRPr>
          </a:p>
        </p:txBody>
      </p:sp>
      <p:sp>
        <p:nvSpPr>
          <p:cNvPr id="4" name="TextBox 3">
            <a:extLst>
              <a:ext uri="{FF2B5EF4-FFF2-40B4-BE49-F238E27FC236}">
                <a16:creationId xmlns:a16="http://schemas.microsoft.com/office/drawing/2014/main" id="{1F201685-111E-C297-A252-B1FE30D4D14F}"/>
              </a:ext>
            </a:extLst>
          </p:cNvPr>
          <p:cNvSpPr txBox="1"/>
          <p:nvPr/>
        </p:nvSpPr>
        <p:spPr>
          <a:xfrm>
            <a:off x="8737688" y="849241"/>
            <a:ext cx="2397691" cy="307777"/>
          </a:xfrm>
          <a:prstGeom prst="rect">
            <a:avLst/>
          </a:prstGeom>
          <a:noFill/>
        </p:spPr>
        <p:txBody>
          <a:bodyPr wrap="square" rtlCol="0">
            <a:spAutoFit/>
          </a:bodyPr>
          <a:lstStyle/>
          <a:p>
            <a:pPr algn="ctr"/>
            <a:r>
              <a:rPr lang="en-GB" sz="1400" b="1" spc="-64">
                <a:solidFill>
                  <a:srgbClr val="4472C4">
                    <a:lumMod val="50000"/>
                  </a:srgbClr>
                </a:solidFill>
                <a:latin typeface="Rockwell"/>
                <a:cs typeface="Arial" panose="020B0604020202020204" pitchFamily="34" charset="0"/>
              </a:rPr>
              <a:t>Bull’s Eye</a:t>
            </a:r>
          </a:p>
        </p:txBody>
      </p:sp>
      <p:pic>
        <p:nvPicPr>
          <p:cNvPr id="7" name="Picture 6">
            <a:extLst>
              <a:ext uri="{FF2B5EF4-FFF2-40B4-BE49-F238E27FC236}">
                <a16:creationId xmlns:a16="http://schemas.microsoft.com/office/drawing/2014/main" id="{76A572BA-6EA3-BA7A-0E20-2B6A6CE811F2}"/>
              </a:ext>
            </a:extLst>
          </p:cNvPr>
          <p:cNvPicPr>
            <a:picLocks noChangeAspect="1"/>
          </p:cNvPicPr>
          <p:nvPr/>
        </p:nvPicPr>
        <p:blipFill>
          <a:blip r:embed="rId6"/>
          <a:stretch>
            <a:fillRect/>
          </a:stretch>
        </p:blipFill>
        <p:spPr>
          <a:xfrm>
            <a:off x="178487" y="1122449"/>
            <a:ext cx="3736513" cy="2558284"/>
          </a:xfrm>
          <a:prstGeom prst="rect">
            <a:avLst/>
          </a:prstGeom>
        </p:spPr>
      </p:pic>
      <p:pic>
        <p:nvPicPr>
          <p:cNvPr id="9" name="Picture 8">
            <a:extLst>
              <a:ext uri="{FF2B5EF4-FFF2-40B4-BE49-F238E27FC236}">
                <a16:creationId xmlns:a16="http://schemas.microsoft.com/office/drawing/2014/main" id="{F46FF42D-196F-9762-FE1B-F9808FA2B1E5}"/>
              </a:ext>
            </a:extLst>
          </p:cNvPr>
          <p:cNvPicPr>
            <a:picLocks noChangeAspect="1"/>
          </p:cNvPicPr>
          <p:nvPr/>
        </p:nvPicPr>
        <p:blipFill>
          <a:blip r:embed="rId7"/>
          <a:stretch>
            <a:fillRect/>
          </a:stretch>
        </p:blipFill>
        <p:spPr>
          <a:xfrm>
            <a:off x="188003" y="3811337"/>
            <a:ext cx="3717165" cy="2558284"/>
          </a:xfrm>
          <a:prstGeom prst="rect">
            <a:avLst/>
          </a:prstGeom>
        </p:spPr>
      </p:pic>
      <p:pic>
        <p:nvPicPr>
          <p:cNvPr id="13" name="Picture 12">
            <a:extLst>
              <a:ext uri="{FF2B5EF4-FFF2-40B4-BE49-F238E27FC236}">
                <a16:creationId xmlns:a16="http://schemas.microsoft.com/office/drawing/2014/main" id="{F8B576EF-3B8A-BEC9-5E39-3459BCE70B4B}"/>
              </a:ext>
            </a:extLst>
          </p:cNvPr>
          <p:cNvPicPr>
            <a:picLocks noChangeAspect="1"/>
          </p:cNvPicPr>
          <p:nvPr/>
        </p:nvPicPr>
        <p:blipFill>
          <a:blip r:embed="rId8"/>
          <a:stretch>
            <a:fillRect/>
          </a:stretch>
        </p:blipFill>
        <p:spPr>
          <a:xfrm>
            <a:off x="4107491" y="1099792"/>
            <a:ext cx="3748771" cy="2612613"/>
          </a:xfrm>
          <a:prstGeom prst="rect">
            <a:avLst/>
          </a:prstGeom>
        </p:spPr>
      </p:pic>
      <p:pic>
        <p:nvPicPr>
          <p:cNvPr id="18" name="Picture 17">
            <a:extLst>
              <a:ext uri="{FF2B5EF4-FFF2-40B4-BE49-F238E27FC236}">
                <a16:creationId xmlns:a16="http://schemas.microsoft.com/office/drawing/2014/main" id="{99262F6D-D8AC-C436-3020-7C00B2CF1F47}"/>
              </a:ext>
            </a:extLst>
          </p:cNvPr>
          <p:cNvPicPr>
            <a:picLocks noChangeAspect="1"/>
          </p:cNvPicPr>
          <p:nvPr/>
        </p:nvPicPr>
        <p:blipFill>
          <a:blip r:embed="rId9"/>
          <a:stretch>
            <a:fillRect/>
          </a:stretch>
        </p:blipFill>
        <p:spPr>
          <a:xfrm>
            <a:off x="4100137" y="3811338"/>
            <a:ext cx="3756126" cy="2586818"/>
          </a:xfrm>
          <a:prstGeom prst="rect">
            <a:avLst/>
          </a:prstGeom>
        </p:spPr>
      </p:pic>
      <p:pic>
        <p:nvPicPr>
          <p:cNvPr id="21" name="Picture 20">
            <a:extLst>
              <a:ext uri="{FF2B5EF4-FFF2-40B4-BE49-F238E27FC236}">
                <a16:creationId xmlns:a16="http://schemas.microsoft.com/office/drawing/2014/main" id="{E208336D-85C4-42C9-0C4A-C8A3C1963F24}"/>
              </a:ext>
            </a:extLst>
          </p:cNvPr>
          <p:cNvPicPr>
            <a:picLocks noChangeAspect="1"/>
          </p:cNvPicPr>
          <p:nvPr/>
        </p:nvPicPr>
        <p:blipFill>
          <a:blip r:embed="rId10"/>
          <a:stretch>
            <a:fillRect/>
          </a:stretch>
        </p:blipFill>
        <p:spPr>
          <a:xfrm>
            <a:off x="8045080" y="1099792"/>
            <a:ext cx="3785749" cy="2580941"/>
          </a:xfrm>
          <a:prstGeom prst="rect">
            <a:avLst/>
          </a:prstGeom>
        </p:spPr>
      </p:pic>
      <p:pic>
        <p:nvPicPr>
          <p:cNvPr id="24" name="Picture 23">
            <a:extLst>
              <a:ext uri="{FF2B5EF4-FFF2-40B4-BE49-F238E27FC236}">
                <a16:creationId xmlns:a16="http://schemas.microsoft.com/office/drawing/2014/main" id="{1AC05446-030F-3D8E-59F2-4A8C93751CA5}"/>
              </a:ext>
            </a:extLst>
          </p:cNvPr>
          <p:cNvPicPr>
            <a:picLocks noChangeAspect="1"/>
          </p:cNvPicPr>
          <p:nvPr/>
        </p:nvPicPr>
        <p:blipFill>
          <a:blip r:embed="rId11"/>
          <a:stretch>
            <a:fillRect/>
          </a:stretch>
        </p:blipFill>
        <p:spPr>
          <a:xfrm>
            <a:off x="8045081" y="3811337"/>
            <a:ext cx="3785748" cy="2622187"/>
          </a:xfrm>
          <a:prstGeom prst="rect">
            <a:avLst/>
          </a:prstGeom>
        </p:spPr>
      </p:pic>
      <p:cxnSp>
        <p:nvCxnSpPr>
          <p:cNvPr id="26" name="Straight Connector 25">
            <a:extLst>
              <a:ext uri="{FF2B5EF4-FFF2-40B4-BE49-F238E27FC236}">
                <a16:creationId xmlns:a16="http://schemas.microsoft.com/office/drawing/2014/main" id="{7890C502-0339-1858-F523-FC735DD99123}"/>
              </a:ext>
            </a:extLst>
          </p:cNvPr>
          <p:cNvCxnSpPr>
            <a:cxnSpLocks/>
          </p:cNvCxnSpPr>
          <p:nvPr/>
        </p:nvCxnSpPr>
        <p:spPr>
          <a:xfrm>
            <a:off x="2081006" y="1544836"/>
            <a:ext cx="0" cy="1950854"/>
          </a:xfrm>
          <a:prstGeom prst="line">
            <a:avLst/>
          </a:prstGeom>
          <a:ln>
            <a:solidFill>
              <a:srgbClr val="FF0000"/>
            </a:solidFill>
            <a:prstDash val="dash"/>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9C0417D3-3B53-8190-293A-82EF4D8F1F50}"/>
              </a:ext>
            </a:extLst>
          </p:cNvPr>
          <p:cNvSpPr txBox="1"/>
          <p:nvPr/>
        </p:nvSpPr>
        <p:spPr>
          <a:xfrm>
            <a:off x="1416239" y="2882007"/>
            <a:ext cx="877772" cy="461665"/>
          </a:xfrm>
          <a:prstGeom prst="rect">
            <a:avLst/>
          </a:prstGeom>
          <a:noFill/>
        </p:spPr>
        <p:txBody>
          <a:bodyPr wrap="square" rtlCol="0">
            <a:spAutoFit/>
          </a:bodyPr>
          <a:lstStyle/>
          <a:p>
            <a:r>
              <a:rPr lang="en-IN" sz="800">
                <a:solidFill>
                  <a:srgbClr val="FF0000"/>
                </a:solidFill>
              </a:rPr>
              <a:t>Price: 5.75</a:t>
            </a:r>
          </a:p>
          <a:p>
            <a:r>
              <a:rPr lang="en-IN" sz="800">
                <a:solidFill>
                  <a:srgbClr val="FF0000"/>
                </a:solidFill>
              </a:rPr>
              <a:t>RPI PL : 282</a:t>
            </a:r>
          </a:p>
          <a:p>
            <a:r>
              <a:rPr lang="en-IN" sz="800">
                <a:solidFill>
                  <a:srgbClr val="FF0000"/>
                </a:solidFill>
              </a:rPr>
              <a:t>RPI Cat: 120</a:t>
            </a:r>
          </a:p>
        </p:txBody>
      </p:sp>
      <p:sp>
        <p:nvSpPr>
          <p:cNvPr id="28" name="TextBox 27">
            <a:extLst>
              <a:ext uri="{FF2B5EF4-FFF2-40B4-BE49-F238E27FC236}">
                <a16:creationId xmlns:a16="http://schemas.microsoft.com/office/drawing/2014/main" id="{8479D541-C253-AF67-3FF0-38C8B6000F2B}"/>
              </a:ext>
            </a:extLst>
          </p:cNvPr>
          <p:cNvSpPr txBox="1"/>
          <p:nvPr/>
        </p:nvSpPr>
        <p:spPr>
          <a:xfrm>
            <a:off x="2117699" y="2883112"/>
            <a:ext cx="877772" cy="461665"/>
          </a:xfrm>
          <a:prstGeom prst="rect">
            <a:avLst/>
          </a:prstGeom>
          <a:noFill/>
        </p:spPr>
        <p:txBody>
          <a:bodyPr wrap="square" rtlCol="0">
            <a:spAutoFit/>
          </a:bodyPr>
          <a:lstStyle/>
          <a:p>
            <a:r>
              <a:rPr lang="en-IN" sz="800">
                <a:solidFill>
                  <a:srgbClr val="00B050"/>
                </a:solidFill>
              </a:rPr>
              <a:t>Price: 5.77</a:t>
            </a:r>
          </a:p>
          <a:p>
            <a:r>
              <a:rPr lang="en-IN" sz="800">
                <a:solidFill>
                  <a:srgbClr val="00B050"/>
                </a:solidFill>
              </a:rPr>
              <a:t>RPI PL Std: 283</a:t>
            </a:r>
          </a:p>
          <a:p>
            <a:r>
              <a:rPr lang="en-IN" sz="800">
                <a:solidFill>
                  <a:srgbClr val="00B050"/>
                </a:solidFill>
              </a:rPr>
              <a:t>RPI Cat: 120</a:t>
            </a:r>
          </a:p>
        </p:txBody>
      </p:sp>
      <p:cxnSp>
        <p:nvCxnSpPr>
          <p:cNvPr id="29" name="Straight Connector 28">
            <a:extLst>
              <a:ext uri="{FF2B5EF4-FFF2-40B4-BE49-F238E27FC236}">
                <a16:creationId xmlns:a16="http://schemas.microsoft.com/office/drawing/2014/main" id="{0071FE7A-FA34-1A14-3968-DF4717F1913B}"/>
              </a:ext>
            </a:extLst>
          </p:cNvPr>
          <p:cNvCxnSpPr>
            <a:cxnSpLocks/>
          </p:cNvCxnSpPr>
          <p:nvPr/>
        </p:nvCxnSpPr>
        <p:spPr>
          <a:xfrm>
            <a:off x="2117699" y="1544836"/>
            <a:ext cx="0" cy="1950854"/>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3" name="Straight Connector 32">
            <a:extLst>
              <a:ext uri="{FF2B5EF4-FFF2-40B4-BE49-F238E27FC236}">
                <a16:creationId xmlns:a16="http://schemas.microsoft.com/office/drawing/2014/main" id="{26B67580-F0D4-AE08-9883-70F02F035C23}"/>
              </a:ext>
            </a:extLst>
          </p:cNvPr>
          <p:cNvCxnSpPr>
            <a:cxnSpLocks/>
          </p:cNvCxnSpPr>
          <p:nvPr/>
        </p:nvCxnSpPr>
        <p:spPr>
          <a:xfrm>
            <a:off x="2146043" y="4155300"/>
            <a:ext cx="0" cy="1950854"/>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5" name="Straight Connector 64">
            <a:extLst>
              <a:ext uri="{FF2B5EF4-FFF2-40B4-BE49-F238E27FC236}">
                <a16:creationId xmlns:a16="http://schemas.microsoft.com/office/drawing/2014/main" id="{A8A24A8C-D8F1-FDEA-D0C3-8130054C5634}"/>
              </a:ext>
            </a:extLst>
          </p:cNvPr>
          <p:cNvCxnSpPr>
            <a:cxnSpLocks/>
          </p:cNvCxnSpPr>
          <p:nvPr/>
        </p:nvCxnSpPr>
        <p:spPr>
          <a:xfrm>
            <a:off x="2117699" y="4155300"/>
            <a:ext cx="0" cy="1950854"/>
          </a:xfrm>
          <a:prstGeom prst="line">
            <a:avLst/>
          </a:prstGeom>
          <a:ln>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C8F4EDA1-29BD-C677-9E90-89297AA9486F}"/>
              </a:ext>
            </a:extLst>
          </p:cNvPr>
          <p:cNvCxnSpPr>
            <a:cxnSpLocks/>
          </p:cNvCxnSpPr>
          <p:nvPr/>
        </p:nvCxnSpPr>
        <p:spPr>
          <a:xfrm>
            <a:off x="9843575" y="1508212"/>
            <a:ext cx="0" cy="1950854"/>
          </a:xfrm>
          <a:prstGeom prst="line">
            <a:avLst/>
          </a:prstGeom>
          <a:ln>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AC2E2B56-117B-2730-EA62-7DE40A9F6705}"/>
              </a:ext>
            </a:extLst>
          </p:cNvPr>
          <p:cNvCxnSpPr>
            <a:cxnSpLocks/>
          </p:cNvCxnSpPr>
          <p:nvPr/>
        </p:nvCxnSpPr>
        <p:spPr>
          <a:xfrm>
            <a:off x="9757791" y="4160709"/>
            <a:ext cx="0" cy="1950854"/>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6" name="Straight Connector 35">
            <a:extLst>
              <a:ext uri="{FF2B5EF4-FFF2-40B4-BE49-F238E27FC236}">
                <a16:creationId xmlns:a16="http://schemas.microsoft.com/office/drawing/2014/main" id="{0085F21E-A4B9-C6F3-C33A-6D651DF746DB}"/>
              </a:ext>
            </a:extLst>
          </p:cNvPr>
          <p:cNvCxnSpPr>
            <a:cxnSpLocks/>
          </p:cNvCxnSpPr>
          <p:nvPr/>
        </p:nvCxnSpPr>
        <p:spPr>
          <a:xfrm>
            <a:off x="9703712" y="1525172"/>
            <a:ext cx="0" cy="1950854"/>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7" name="Straight Connector 36">
            <a:extLst>
              <a:ext uri="{FF2B5EF4-FFF2-40B4-BE49-F238E27FC236}">
                <a16:creationId xmlns:a16="http://schemas.microsoft.com/office/drawing/2014/main" id="{0C7930F8-C8F7-C21D-AE92-B0F0CAE90BCA}"/>
              </a:ext>
            </a:extLst>
          </p:cNvPr>
          <p:cNvCxnSpPr>
            <a:cxnSpLocks/>
          </p:cNvCxnSpPr>
          <p:nvPr/>
        </p:nvCxnSpPr>
        <p:spPr>
          <a:xfrm>
            <a:off x="9902567" y="4155300"/>
            <a:ext cx="0" cy="1950854"/>
          </a:xfrm>
          <a:prstGeom prst="line">
            <a:avLst/>
          </a:prstGeom>
          <a:ln>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74EAB593-E6CD-FDF6-FE59-48B55E421326}"/>
              </a:ext>
            </a:extLst>
          </p:cNvPr>
          <p:cNvCxnSpPr>
            <a:cxnSpLocks/>
          </p:cNvCxnSpPr>
          <p:nvPr/>
        </p:nvCxnSpPr>
        <p:spPr>
          <a:xfrm>
            <a:off x="5915588" y="1525172"/>
            <a:ext cx="0" cy="1950854"/>
          </a:xfrm>
          <a:prstGeom prst="line">
            <a:avLst/>
          </a:prstGeom>
          <a:ln>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79F72BA7-F22F-D190-F662-6AC62F5FBC50}"/>
              </a:ext>
            </a:extLst>
          </p:cNvPr>
          <p:cNvCxnSpPr>
            <a:cxnSpLocks/>
          </p:cNvCxnSpPr>
          <p:nvPr/>
        </p:nvCxnSpPr>
        <p:spPr>
          <a:xfrm>
            <a:off x="5925420" y="4155300"/>
            <a:ext cx="0" cy="1950854"/>
          </a:xfrm>
          <a:prstGeom prst="line">
            <a:avLst/>
          </a:prstGeom>
          <a:ln>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B8CC91BC-20A8-3952-A535-0038DA467F28}"/>
              </a:ext>
            </a:extLst>
          </p:cNvPr>
          <p:cNvCxnSpPr>
            <a:cxnSpLocks/>
          </p:cNvCxnSpPr>
          <p:nvPr/>
        </p:nvCxnSpPr>
        <p:spPr>
          <a:xfrm>
            <a:off x="6066009" y="1535004"/>
            <a:ext cx="0" cy="1950854"/>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7" name="Straight Connector 46">
            <a:extLst>
              <a:ext uri="{FF2B5EF4-FFF2-40B4-BE49-F238E27FC236}">
                <a16:creationId xmlns:a16="http://schemas.microsoft.com/office/drawing/2014/main" id="{B971E822-7CDF-16D4-AAF9-D782670A21CE}"/>
              </a:ext>
            </a:extLst>
          </p:cNvPr>
          <p:cNvCxnSpPr>
            <a:cxnSpLocks/>
          </p:cNvCxnSpPr>
          <p:nvPr/>
        </p:nvCxnSpPr>
        <p:spPr>
          <a:xfrm>
            <a:off x="6089863" y="4154380"/>
            <a:ext cx="0" cy="1950854"/>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8" name="TextBox 47">
            <a:extLst>
              <a:ext uri="{FF2B5EF4-FFF2-40B4-BE49-F238E27FC236}">
                <a16:creationId xmlns:a16="http://schemas.microsoft.com/office/drawing/2014/main" id="{B8AF2BA9-02C7-6438-1C8B-9BFAE670A9B0}"/>
              </a:ext>
            </a:extLst>
          </p:cNvPr>
          <p:cNvSpPr txBox="1"/>
          <p:nvPr/>
        </p:nvSpPr>
        <p:spPr>
          <a:xfrm>
            <a:off x="8906812" y="2939822"/>
            <a:ext cx="877772" cy="461665"/>
          </a:xfrm>
          <a:prstGeom prst="rect">
            <a:avLst/>
          </a:prstGeom>
          <a:noFill/>
        </p:spPr>
        <p:txBody>
          <a:bodyPr wrap="square" rtlCol="0">
            <a:spAutoFit/>
          </a:bodyPr>
          <a:lstStyle/>
          <a:p>
            <a:r>
              <a:rPr lang="en-IN" sz="800">
                <a:solidFill>
                  <a:srgbClr val="00B050"/>
                </a:solidFill>
              </a:rPr>
              <a:t>Price: 6.34</a:t>
            </a:r>
          </a:p>
          <a:p>
            <a:r>
              <a:rPr lang="en-IN" sz="800">
                <a:solidFill>
                  <a:srgbClr val="00B050"/>
                </a:solidFill>
              </a:rPr>
              <a:t>RPI PL Std: 311</a:t>
            </a:r>
          </a:p>
          <a:p>
            <a:r>
              <a:rPr lang="en-IN" sz="800">
                <a:solidFill>
                  <a:srgbClr val="00B050"/>
                </a:solidFill>
              </a:rPr>
              <a:t>RPI Cat: 132</a:t>
            </a:r>
          </a:p>
        </p:txBody>
      </p:sp>
      <p:sp>
        <p:nvSpPr>
          <p:cNvPr id="49" name="TextBox 48">
            <a:extLst>
              <a:ext uri="{FF2B5EF4-FFF2-40B4-BE49-F238E27FC236}">
                <a16:creationId xmlns:a16="http://schemas.microsoft.com/office/drawing/2014/main" id="{760641C9-EEE7-D34B-B888-B00F7C435E3E}"/>
              </a:ext>
            </a:extLst>
          </p:cNvPr>
          <p:cNvSpPr txBox="1"/>
          <p:nvPr/>
        </p:nvSpPr>
        <p:spPr>
          <a:xfrm>
            <a:off x="5218742" y="2961311"/>
            <a:ext cx="877772" cy="461665"/>
          </a:xfrm>
          <a:prstGeom prst="rect">
            <a:avLst/>
          </a:prstGeom>
          <a:noFill/>
        </p:spPr>
        <p:txBody>
          <a:bodyPr wrap="square" rtlCol="0">
            <a:spAutoFit/>
          </a:bodyPr>
          <a:lstStyle/>
          <a:p>
            <a:r>
              <a:rPr lang="en-IN" sz="800">
                <a:solidFill>
                  <a:srgbClr val="FF0000"/>
                </a:solidFill>
              </a:rPr>
              <a:t>Price: 5.47</a:t>
            </a:r>
          </a:p>
          <a:p>
            <a:r>
              <a:rPr lang="en-IN" sz="800">
                <a:solidFill>
                  <a:srgbClr val="FF0000"/>
                </a:solidFill>
              </a:rPr>
              <a:t>RPI PL : 268</a:t>
            </a:r>
          </a:p>
          <a:p>
            <a:r>
              <a:rPr lang="en-IN" sz="800">
                <a:solidFill>
                  <a:srgbClr val="FF0000"/>
                </a:solidFill>
              </a:rPr>
              <a:t>RPI Cat: 114</a:t>
            </a:r>
          </a:p>
        </p:txBody>
      </p:sp>
      <p:sp>
        <p:nvSpPr>
          <p:cNvPr id="50" name="TextBox 49">
            <a:extLst>
              <a:ext uri="{FF2B5EF4-FFF2-40B4-BE49-F238E27FC236}">
                <a16:creationId xmlns:a16="http://schemas.microsoft.com/office/drawing/2014/main" id="{FE41E07D-F930-44B8-8EF6-D0F4077BF27E}"/>
              </a:ext>
            </a:extLst>
          </p:cNvPr>
          <p:cNvSpPr txBox="1"/>
          <p:nvPr/>
        </p:nvSpPr>
        <p:spPr>
          <a:xfrm>
            <a:off x="9902567" y="2939822"/>
            <a:ext cx="877772" cy="461665"/>
          </a:xfrm>
          <a:prstGeom prst="rect">
            <a:avLst/>
          </a:prstGeom>
          <a:noFill/>
        </p:spPr>
        <p:txBody>
          <a:bodyPr wrap="square" rtlCol="0">
            <a:spAutoFit/>
          </a:bodyPr>
          <a:lstStyle/>
          <a:p>
            <a:r>
              <a:rPr lang="en-IN" sz="800">
                <a:solidFill>
                  <a:srgbClr val="FF0000"/>
                </a:solidFill>
              </a:rPr>
              <a:t>Price: 6.89</a:t>
            </a:r>
          </a:p>
          <a:p>
            <a:r>
              <a:rPr lang="en-IN" sz="800">
                <a:solidFill>
                  <a:srgbClr val="FF0000"/>
                </a:solidFill>
              </a:rPr>
              <a:t>RPI PL : 338</a:t>
            </a:r>
          </a:p>
          <a:p>
            <a:r>
              <a:rPr lang="en-IN" sz="800">
                <a:solidFill>
                  <a:srgbClr val="FF0000"/>
                </a:solidFill>
              </a:rPr>
              <a:t>RPI Cat: 144</a:t>
            </a:r>
          </a:p>
        </p:txBody>
      </p:sp>
      <p:sp>
        <p:nvSpPr>
          <p:cNvPr id="51" name="TextBox 50">
            <a:extLst>
              <a:ext uri="{FF2B5EF4-FFF2-40B4-BE49-F238E27FC236}">
                <a16:creationId xmlns:a16="http://schemas.microsoft.com/office/drawing/2014/main" id="{DB8CE5A7-2C2F-72B7-1CE2-EF39B0774247}"/>
              </a:ext>
            </a:extLst>
          </p:cNvPr>
          <p:cNvSpPr txBox="1"/>
          <p:nvPr/>
        </p:nvSpPr>
        <p:spPr>
          <a:xfrm>
            <a:off x="6111890" y="2961310"/>
            <a:ext cx="877772" cy="461665"/>
          </a:xfrm>
          <a:prstGeom prst="rect">
            <a:avLst/>
          </a:prstGeom>
          <a:noFill/>
        </p:spPr>
        <p:txBody>
          <a:bodyPr wrap="square" rtlCol="0">
            <a:spAutoFit/>
          </a:bodyPr>
          <a:lstStyle/>
          <a:p>
            <a:r>
              <a:rPr lang="en-IN" sz="800">
                <a:solidFill>
                  <a:srgbClr val="00B050"/>
                </a:solidFill>
              </a:rPr>
              <a:t>Price: 5.87</a:t>
            </a:r>
          </a:p>
          <a:p>
            <a:r>
              <a:rPr lang="en-IN" sz="800">
                <a:solidFill>
                  <a:srgbClr val="00B050"/>
                </a:solidFill>
              </a:rPr>
              <a:t>RPI PL Std: 288</a:t>
            </a:r>
          </a:p>
          <a:p>
            <a:r>
              <a:rPr lang="en-IN" sz="800">
                <a:solidFill>
                  <a:srgbClr val="00B050"/>
                </a:solidFill>
              </a:rPr>
              <a:t>RPI Cat: 122</a:t>
            </a:r>
          </a:p>
        </p:txBody>
      </p:sp>
    </p:spTree>
    <p:extLst>
      <p:ext uri="{BB962C8B-B14F-4D97-AF65-F5344CB8AC3E}">
        <p14:creationId xmlns:p14="http://schemas.microsoft.com/office/powerpoint/2010/main" val="30866565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45037-D323-3747-AD3F-6E84B99C3870}"/>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19C7BAFA-DE82-21E2-090E-974823A6DA8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19C7BAFA-DE82-21E2-090E-974823A6DA8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1" name="Rounded Rectangle 54">
            <a:extLst>
              <a:ext uri="{FF2B5EF4-FFF2-40B4-BE49-F238E27FC236}">
                <a16:creationId xmlns:a16="http://schemas.microsoft.com/office/drawing/2014/main" id="{FA320804-458F-ED6A-36BF-88C8CC24DFC3}"/>
              </a:ext>
            </a:extLst>
          </p:cNvPr>
          <p:cNvSpPr/>
          <p:nvPr/>
        </p:nvSpPr>
        <p:spPr>
          <a:xfrm>
            <a:off x="48404" y="1474192"/>
            <a:ext cx="1746250" cy="42545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B5F99"/>
                </a:solidFill>
                <a:effectLst/>
                <a:uLnTx/>
                <a:uFillTx/>
                <a:latin typeface="Rockwell"/>
                <a:ea typeface="Calibri" panose="020F0502020204030204" pitchFamily="34" charset="0"/>
                <a:cs typeface="Calibri" panose="020F0502020204030204" pitchFamily="34" charset="0"/>
              </a:rPr>
              <a:t>MCV</a:t>
            </a:r>
          </a:p>
        </p:txBody>
      </p:sp>
      <p:sp>
        <p:nvSpPr>
          <p:cNvPr id="62" name="Rounded Rectangle 54">
            <a:extLst>
              <a:ext uri="{FF2B5EF4-FFF2-40B4-BE49-F238E27FC236}">
                <a16:creationId xmlns:a16="http://schemas.microsoft.com/office/drawing/2014/main" id="{DA8F2293-5685-ED21-F101-7BBD20DE636B}"/>
              </a:ext>
            </a:extLst>
          </p:cNvPr>
          <p:cNvSpPr/>
          <p:nvPr/>
        </p:nvSpPr>
        <p:spPr>
          <a:xfrm>
            <a:off x="48404" y="2489275"/>
            <a:ext cx="869236" cy="42545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B5F99"/>
                </a:solidFill>
                <a:effectLst/>
                <a:uLnTx/>
                <a:uFillTx/>
                <a:latin typeface="Rockwell"/>
                <a:ea typeface="Calibri" panose="020F0502020204030204" pitchFamily="34" charset="0"/>
                <a:cs typeface="Calibri" panose="020F0502020204030204" pitchFamily="34" charset="0"/>
              </a:rPr>
              <a:t>Price</a:t>
            </a:r>
            <a:br>
              <a:rPr kumimoji="0" lang="en-US" sz="1200" b="1" i="0" u="none" strike="noStrike" kern="1200" cap="none" spc="0" normalizeH="0" baseline="0" noProof="0">
                <a:ln>
                  <a:noFill/>
                </a:ln>
                <a:solidFill>
                  <a:srgbClr val="0B5F99"/>
                </a:solidFill>
                <a:effectLst/>
                <a:uLnTx/>
                <a:uFillTx/>
                <a:latin typeface="Rockwell"/>
                <a:ea typeface="Calibri" panose="020F0502020204030204" pitchFamily="34" charset="0"/>
                <a:cs typeface="Calibri" panose="020F0502020204030204" pitchFamily="34" charset="0"/>
              </a:rPr>
            </a:br>
            <a:r>
              <a:rPr kumimoji="0" lang="en-US" sz="700" b="1" i="0" u="none" strike="noStrike" kern="1200" cap="none" spc="0" normalizeH="0" baseline="0" noProof="0">
                <a:ln>
                  <a:noFill/>
                </a:ln>
                <a:solidFill>
                  <a:srgbClr val="0B5F99"/>
                </a:solidFill>
                <a:effectLst/>
                <a:uLnTx/>
                <a:uFillTx/>
                <a:latin typeface="Rockwell"/>
                <a:ea typeface="Calibri" panose="020F0502020204030204" pitchFamily="34" charset="0"/>
                <a:cs typeface="Calibri" panose="020F0502020204030204" pitchFamily="34" charset="0"/>
              </a:rPr>
              <a:t>(Moving 52 </a:t>
            </a:r>
            <a:r>
              <a:rPr kumimoji="0" lang="en-US" sz="700" b="1" i="0" u="none" strike="noStrike" kern="1200" cap="none" spc="0" normalizeH="0" baseline="0" noProof="0" err="1">
                <a:ln>
                  <a:noFill/>
                </a:ln>
                <a:solidFill>
                  <a:srgbClr val="0B5F99"/>
                </a:solidFill>
                <a:effectLst/>
                <a:uLnTx/>
                <a:uFillTx/>
                <a:latin typeface="Rockwell"/>
                <a:ea typeface="Calibri" panose="020F0502020204030204" pitchFamily="34" charset="0"/>
                <a:cs typeface="Calibri" panose="020F0502020204030204" pitchFamily="34" charset="0"/>
              </a:rPr>
              <a:t>Wks</a:t>
            </a:r>
            <a:r>
              <a:rPr kumimoji="0" lang="en-US" sz="700" b="1" i="0" u="none" strike="noStrike" kern="1200" cap="none" spc="0" normalizeH="0" baseline="0" noProof="0">
                <a:ln>
                  <a:noFill/>
                </a:ln>
                <a:solidFill>
                  <a:srgbClr val="0B5F99"/>
                </a:solidFill>
                <a:effectLst/>
                <a:uLnTx/>
                <a:uFillTx/>
                <a:latin typeface="Rockwell"/>
                <a:ea typeface="Calibri" panose="020F0502020204030204" pitchFamily="34" charset="0"/>
                <a:cs typeface="Calibri" panose="020F0502020204030204" pitchFamily="34" charset="0"/>
              </a:rPr>
              <a:t>)</a:t>
            </a:r>
            <a:r>
              <a:rPr kumimoji="0" lang="en-US" sz="1200" b="1" i="0" u="none" strike="noStrike" kern="1200" cap="none" spc="0" normalizeH="0" baseline="0" noProof="0">
                <a:ln>
                  <a:noFill/>
                </a:ln>
                <a:solidFill>
                  <a:srgbClr val="0B5F99"/>
                </a:solidFill>
                <a:effectLst/>
                <a:uLnTx/>
                <a:uFillTx/>
                <a:latin typeface="Rockwell"/>
                <a:ea typeface="Calibri" panose="020F0502020204030204" pitchFamily="34" charset="0"/>
                <a:cs typeface="Calibri" panose="020F0502020204030204" pitchFamily="34" charset="0"/>
              </a:rPr>
              <a:t> </a:t>
            </a:r>
          </a:p>
        </p:txBody>
      </p:sp>
      <p:sp>
        <p:nvSpPr>
          <p:cNvPr id="76" name="Rounded Rectangle 54">
            <a:extLst>
              <a:ext uri="{FF2B5EF4-FFF2-40B4-BE49-F238E27FC236}">
                <a16:creationId xmlns:a16="http://schemas.microsoft.com/office/drawing/2014/main" id="{458890BD-AC1A-5842-21B7-BD5BA938ACF4}"/>
              </a:ext>
            </a:extLst>
          </p:cNvPr>
          <p:cNvSpPr/>
          <p:nvPr/>
        </p:nvSpPr>
        <p:spPr>
          <a:xfrm>
            <a:off x="36212" y="1951448"/>
            <a:ext cx="1746250" cy="42545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B5F99"/>
                </a:solidFill>
                <a:effectLst/>
                <a:uLnTx/>
                <a:uFillTx/>
                <a:latin typeface="Rockwell"/>
                <a:ea typeface="Calibri" panose="020F0502020204030204" pitchFamily="34" charset="0"/>
                <a:cs typeface="Calibri" panose="020F0502020204030204" pitchFamily="34" charset="0"/>
              </a:rPr>
              <a:t>CSF</a:t>
            </a:r>
          </a:p>
        </p:txBody>
      </p:sp>
      <p:grpSp>
        <p:nvGrpSpPr>
          <p:cNvPr id="84" name="Group 83">
            <a:extLst>
              <a:ext uri="{FF2B5EF4-FFF2-40B4-BE49-F238E27FC236}">
                <a16:creationId xmlns:a16="http://schemas.microsoft.com/office/drawing/2014/main" id="{76D57BBB-63A6-A8B7-2199-BC1CBD42742B}"/>
              </a:ext>
            </a:extLst>
          </p:cNvPr>
          <p:cNvGrpSpPr/>
          <p:nvPr/>
        </p:nvGrpSpPr>
        <p:grpSpPr>
          <a:xfrm>
            <a:off x="7648134" y="5797137"/>
            <a:ext cx="8095495" cy="1122425"/>
            <a:chOff x="8650725" y="152197"/>
            <a:chExt cx="8095495" cy="1076905"/>
          </a:xfrm>
        </p:grpSpPr>
        <p:graphicFrame>
          <p:nvGraphicFramePr>
            <p:cNvPr id="86" name="Chart 85">
              <a:extLst>
                <a:ext uri="{FF2B5EF4-FFF2-40B4-BE49-F238E27FC236}">
                  <a16:creationId xmlns:a16="http://schemas.microsoft.com/office/drawing/2014/main" id="{D31A65BA-E1E8-3531-FB58-6B3CCCA43F87}"/>
                </a:ext>
              </a:extLst>
            </p:cNvPr>
            <p:cNvGraphicFramePr/>
            <p:nvPr>
              <p:extLst>
                <p:ext uri="{D42A27DB-BD31-4B8C-83A1-F6EECF244321}">
                  <p14:modId xmlns:p14="http://schemas.microsoft.com/office/powerpoint/2010/main" val="3210825945"/>
                </p:ext>
              </p:extLst>
            </p:nvPr>
          </p:nvGraphicFramePr>
          <p:xfrm>
            <a:off x="8998195" y="152197"/>
            <a:ext cx="1228966" cy="1076905"/>
          </p:xfrm>
          <a:graphic>
            <a:graphicData uri="http://schemas.openxmlformats.org/drawingml/2006/chart">
              <c:chart xmlns:c="http://schemas.openxmlformats.org/drawingml/2006/chart" xmlns:r="http://schemas.openxmlformats.org/officeDocument/2006/relationships" r:id="rId6"/>
            </a:graphicData>
          </a:graphic>
        </p:graphicFrame>
        <p:sp>
          <p:nvSpPr>
            <p:cNvPr id="87" name="Rectangle 86">
              <a:extLst>
                <a:ext uri="{FF2B5EF4-FFF2-40B4-BE49-F238E27FC236}">
                  <a16:creationId xmlns:a16="http://schemas.microsoft.com/office/drawing/2014/main" id="{5F1032E3-C516-BA04-AA66-815C2203FC0C}"/>
                </a:ext>
              </a:extLst>
            </p:cNvPr>
            <p:cNvSpPr/>
            <p:nvPr/>
          </p:nvSpPr>
          <p:spPr>
            <a:xfrm>
              <a:off x="8650725" y="690650"/>
              <a:ext cx="6597420" cy="421528"/>
            </a:xfrm>
            <a:prstGeom prst="rect">
              <a:avLst/>
            </a:prstGeom>
            <a:noFill/>
            <a:ln w="6350">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l" defTabSz="914400" rtl="0" eaLnBrk="1" fontAlgn="auto" latinLnBrk="0" hangingPunct="1">
                <a:lnSpc>
                  <a:spcPct val="100000"/>
                </a:lnSpc>
                <a:spcBef>
                  <a:spcPts val="0"/>
                </a:spcBef>
                <a:spcAft>
                  <a:spcPts val="0"/>
                </a:spcAft>
                <a:buClrTx/>
                <a:buSzTx/>
                <a:tabLst/>
                <a:defRPr/>
              </a:pPr>
              <a:endParaRPr kumimoji="0" lang="en-IN" sz="900" b="1" i="1"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88" name="Rectangle 87">
              <a:extLst>
                <a:ext uri="{FF2B5EF4-FFF2-40B4-BE49-F238E27FC236}">
                  <a16:creationId xmlns:a16="http://schemas.microsoft.com/office/drawing/2014/main" id="{6E6796A8-DBF6-2B62-9D5D-E23900C804F4}"/>
                </a:ext>
              </a:extLst>
            </p:cNvPr>
            <p:cNvSpPr/>
            <p:nvPr/>
          </p:nvSpPr>
          <p:spPr>
            <a:xfrm>
              <a:off x="10148800" y="725178"/>
              <a:ext cx="6597420" cy="421528"/>
            </a:xfrm>
            <a:prstGeom prst="rect">
              <a:avLst/>
            </a:prstGeom>
            <a:noFill/>
            <a:ln w="6350">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l" defTabSz="914400" rtl="0" eaLnBrk="1" fontAlgn="auto" latinLnBrk="0" hangingPunct="1">
                <a:lnSpc>
                  <a:spcPct val="100000"/>
                </a:lnSpc>
                <a:spcBef>
                  <a:spcPts val="0"/>
                </a:spcBef>
                <a:spcAft>
                  <a:spcPts val="0"/>
                </a:spcAft>
                <a:buClrTx/>
                <a:buSzTx/>
                <a:tabLst/>
                <a:defRPr/>
              </a:pPr>
              <a:r>
                <a:rPr kumimoji="0" lang="en-US" sz="900" b="1" i="1" u="none" strike="noStrike" kern="1200" cap="none" spc="0" normalizeH="0" baseline="0" noProof="0">
                  <a:ln>
                    <a:noFill/>
                  </a:ln>
                  <a:solidFill>
                    <a:prstClr val="black"/>
                  </a:solidFill>
                  <a:effectLst/>
                  <a:uLnTx/>
                  <a:uFillTx/>
                  <a:latin typeface="Aptos" panose="02110004020202020204"/>
                  <a:ea typeface="+mn-ea"/>
                  <a:cs typeface="+mn-cs"/>
                </a:rPr>
                <a:t>CSF1- Till </a:t>
              </a:r>
              <a:r>
                <a:rPr lang="en-US" sz="900" b="1" i="1">
                  <a:solidFill>
                    <a:prstClr val="black"/>
                  </a:solidFill>
                  <a:latin typeface="Aptos" panose="02110004020202020204"/>
                </a:rPr>
                <a:t>Mar</a:t>
              </a:r>
              <a:r>
                <a:rPr kumimoji="0" lang="en-US" sz="900" b="1" i="1" u="none" strike="noStrike" kern="1200" cap="none" spc="0" normalizeH="0" baseline="0" noProof="0">
                  <a:ln>
                    <a:noFill/>
                  </a:ln>
                  <a:solidFill>
                    <a:prstClr val="black"/>
                  </a:solidFill>
                  <a:effectLst/>
                  <a:uLnTx/>
                  <a:uFillTx/>
                  <a:latin typeface="Aptos" panose="02110004020202020204"/>
                  <a:ea typeface="+mn-ea"/>
                  <a:cs typeface="+mn-cs"/>
                </a:rPr>
                <a:t> 23’; CSF2 – Till </a:t>
              </a:r>
              <a:r>
                <a:rPr lang="en-US" sz="900" b="1" i="1">
                  <a:solidFill>
                    <a:prstClr val="black"/>
                  </a:solidFill>
                  <a:latin typeface="Aptos" panose="02110004020202020204"/>
                </a:rPr>
                <a:t>Mar</a:t>
              </a:r>
              <a:r>
                <a:rPr kumimoji="0" lang="en-US" sz="900" b="1" i="1" u="none" strike="noStrike" kern="1200" cap="none" spc="0" normalizeH="0" baseline="0" noProof="0">
                  <a:ln>
                    <a:noFill/>
                  </a:ln>
                  <a:solidFill>
                    <a:prstClr val="black"/>
                  </a:solidFill>
                  <a:effectLst/>
                  <a:uLnTx/>
                  <a:uFillTx/>
                  <a:latin typeface="Aptos" panose="02110004020202020204"/>
                  <a:ea typeface="+mn-ea"/>
                  <a:cs typeface="+mn-cs"/>
                </a:rPr>
                <a:t> 24’; CSF3 – Till </a:t>
              </a:r>
              <a:r>
                <a:rPr lang="en-US" sz="900" b="1" i="1">
                  <a:solidFill>
                    <a:prstClr val="black"/>
                  </a:solidFill>
                  <a:latin typeface="Aptos" panose="02110004020202020204"/>
                </a:rPr>
                <a:t> Mar</a:t>
              </a:r>
              <a:r>
                <a:rPr kumimoji="0" lang="en-US" sz="900" b="1" i="1" u="none" strike="noStrike" kern="1200" cap="none" spc="0" normalizeH="0" baseline="0" noProof="0">
                  <a:ln>
                    <a:noFill/>
                  </a:ln>
                  <a:solidFill>
                    <a:prstClr val="black"/>
                  </a:solidFill>
                  <a:effectLst/>
                  <a:uLnTx/>
                  <a:uFillTx/>
                  <a:latin typeface="Aptos" panose="02110004020202020204"/>
                  <a:ea typeface="+mn-ea"/>
                  <a:cs typeface="+mn-cs"/>
                </a:rPr>
                <a:t> 25’</a:t>
              </a:r>
              <a:endParaRPr kumimoji="0" lang="en-IN" sz="900" b="1" i="1"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19" name="Rectangle 18">
            <a:extLst>
              <a:ext uri="{FF2B5EF4-FFF2-40B4-BE49-F238E27FC236}">
                <a16:creationId xmlns:a16="http://schemas.microsoft.com/office/drawing/2014/main" id="{A8C09E3E-1731-A468-551B-903B10AB8A23}"/>
              </a:ext>
            </a:extLst>
          </p:cNvPr>
          <p:cNvSpPr/>
          <p:nvPr/>
        </p:nvSpPr>
        <p:spPr>
          <a:xfrm>
            <a:off x="822961" y="3653984"/>
            <a:ext cx="11010002" cy="2579826"/>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20" name="Chart 19">
            <a:extLst>
              <a:ext uri="{FF2B5EF4-FFF2-40B4-BE49-F238E27FC236}">
                <a16:creationId xmlns:a16="http://schemas.microsoft.com/office/drawing/2014/main" id="{B8C84530-C479-54CC-52FE-14DB7E10A3AF}"/>
              </a:ext>
            </a:extLst>
          </p:cNvPr>
          <p:cNvGraphicFramePr/>
          <p:nvPr>
            <p:extLst>
              <p:ext uri="{D42A27DB-BD31-4B8C-83A1-F6EECF244321}">
                <p14:modId xmlns:p14="http://schemas.microsoft.com/office/powerpoint/2010/main" val="3888606896"/>
              </p:ext>
            </p:extLst>
          </p:nvPr>
        </p:nvGraphicFramePr>
        <p:xfrm>
          <a:off x="1525195" y="1322694"/>
          <a:ext cx="9354650" cy="1542198"/>
        </p:xfrm>
        <a:graphic>
          <a:graphicData uri="http://schemas.openxmlformats.org/drawingml/2006/chart">
            <c:chart xmlns:c="http://schemas.openxmlformats.org/drawingml/2006/chart" xmlns:r="http://schemas.openxmlformats.org/officeDocument/2006/relationships" r:id="rId7"/>
          </a:graphicData>
        </a:graphic>
      </p:graphicFrame>
      <p:sp>
        <p:nvSpPr>
          <p:cNvPr id="23" name="Rectangle 22">
            <a:extLst>
              <a:ext uri="{FF2B5EF4-FFF2-40B4-BE49-F238E27FC236}">
                <a16:creationId xmlns:a16="http://schemas.microsoft.com/office/drawing/2014/main" id="{9EFE29DE-C3CE-3936-EBDF-71C37EFCC71E}"/>
              </a:ext>
            </a:extLst>
          </p:cNvPr>
          <p:cNvSpPr/>
          <p:nvPr/>
        </p:nvSpPr>
        <p:spPr>
          <a:xfrm>
            <a:off x="822960" y="977131"/>
            <a:ext cx="10973806" cy="236127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F6378F25-1002-BA38-3628-AB41D9042515}"/>
              </a:ext>
            </a:extLst>
          </p:cNvPr>
          <p:cNvSpPr/>
          <p:nvPr/>
        </p:nvSpPr>
        <p:spPr>
          <a:xfrm>
            <a:off x="215405" y="707885"/>
            <a:ext cx="2047028" cy="351113"/>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Century Gothic" panose="020B0502020202020204" pitchFamily="34" charset="0"/>
              </a:rPr>
              <a:t>SUPERMARKET CHANNEL</a:t>
            </a:r>
            <a:endParaRPr lang="en-IN" sz="1200" b="1">
              <a:latin typeface="Century Gothic" panose="020B0502020202020204" pitchFamily="34" charset="0"/>
            </a:endParaRPr>
          </a:p>
        </p:txBody>
      </p:sp>
      <p:sp>
        <p:nvSpPr>
          <p:cNvPr id="12" name="Title 3">
            <a:extLst>
              <a:ext uri="{FF2B5EF4-FFF2-40B4-BE49-F238E27FC236}">
                <a16:creationId xmlns:a16="http://schemas.microsoft.com/office/drawing/2014/main" id="{72E57957-92A4-169A-A34B-F94F1FD55FB3}"/>
              </a:ext>
            </a:extLst>
          </p:cNvPr>
          <p:cNvSpPr txBox="1">
            <a:spLocks/>
          </p:cNvSpPr>
          <p:nvPr/>
        </p:nvSpPr>
        <p:spPr>
          <a:xfrm>
            <a:off x="56702" y="8494"/>
            <a:ext cx="12124823" cy="611002"/>
          </a:xfrm>
          <a:prstGeom prst="rect">
            <a:avLst/>
          </a:prstGeom>
        </p:spPr>
        <p:txBody>
          <a:bodyPr vert="horz" lIns="121920" tIns="60960" rIns="121920" bIns="6096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a:lnSpc>
                <a:spcPct val="80000"/>
              </a:lnSpc>
              <a:spcBef>
                <a:spcPts val="0"/>
              </a:spcBef>
              <a:defRPr/>
            </a:pPr>
            <a:r>
              <a:rPr lang="en-GB" sz="1380" b="1" spc="-64">
                <a:solidFill>
                  <a:srgbClr val="4472C4">
                    <a:lumMod val="50000"/>
                  </a:srgbClr>
                </a:solidFill>
                <a:latin typeface="Rockwell"/>
                <a:ea typeface="+mn-ea"/>
                <a:cs typeface="Arial" panose="020B0604020202020204" pitchFamily="34" charset="0"/>
              </a:rPr>
              <a:t>CSF and MCV trends : No brand has an increasing MCV trend in Supermarkets channel indicating price sensitive consumers</a:t>
            </a:r>
          </a:p>
        </p:txBody>
      </p:sp>
      <p:grpSp>
        <p:nvGrpSpPr>
          <p:cNvPr id="14" name="Group 13">
            <a:extLst>
              <a:ext uri="{FF2B5EF4-FFF2-40B4-BE49-F238E27FC236}">
                <a16:creationId xmlns:a16="http://schemas.microsoft.com/office/drawing/2014/main" id="{8C2BDFAB-47A6-FB78-6E02-69A6B2E9FD36}"/>
              </a:ext>
            </a:extLst>
          </p:cNvPr>
          <p:cNvGrpSpPr/>
          <p:nvPr/>
        </p:nvGrpSpPr>
        <p:grpSpPr>
          <a:xfrm>
            <a:off x="142240" y="479330"/>
            <a:ext cx="10566400" cy="45719"/>
            <a:chOff x="142240" y="653388"/>
            <a:chExt cx="10566400" cy="45719"/>
          </a:xfrm>
        </p:grpSpPr>
        <p:cxnSp>
          <p:nvCxnSpPr>
            <p:cNvPr id="17" name="Straight Connector 16">
              <a:extLst>
                <a:ext uri="{FF2B5EF4-FFF2-40B4-BE49-F238E27FC236}">
                  <a16:creationId xmlns:a16="http://schemas.microsoft.com/office/drawing/2014/main" id="{2E2A7E36-24DD-4D98-C2F3-DDE544C7A3A7}"/>
                </a:ext>
              </a:extLst>
            </p:cNvPr>
            <p:cNvCxnSpPr>
              <a:cxnSpLocks/>
            </p:cNvCxnSpPr>
            <p:nvPr/>
          </p:nvCxnSpPr>
          <p:spPr>
            <a:xfrm>
              <a:off x="822960" y="673708"/>
              <a:ext cx="988568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371A3493-115E-F205-3ADD-2F4DD2546603}"/>
                </a:ext>
              </a:extLst>
            </p:cNvPr>
            <p:cNvSpPr/>
            <p:nvPr/>
          </p:nvSpPr>
          <p:spPr>
            <a:xfrm>
              <a:off x="142240" y="653388"/>
              <a:ext cx="1158240" cy="45719"/>
            </a:xfrm>
            <a:prstGeom prst="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052" name="Picture 4" descr="The Kraft Heinz Company">
            <a:extLst>
              <a:ext uri="{FF2B5EF4-FFF2-40B4-BE49-F238E27FC236}">
                <a16:creationId xmlns:a16="http://schemas.microsoft.com/office/drawing/2014/main" id="{76D42F25-6147-86D9-3870-D2E9768358A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82462" y="2914725"/>
            <a:ext cx="769610" cy="32159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HP Spicy BBQ Woodsmoke Sauce, Hot Pet Bottle, 470 g : Amazon.in: Grocery &amp;  Gourmet Foods">
            <a:extLst>
              <a:ext uri="{FF2B5EF4-FFF2-40B4-BE49-F238E27FC236}">
                <a16:creationId xmlns:a16="http://schemas.microsoft.com/office/drawing/2014/main" id="{5BE19745-449E-010D-3B86-594598921FE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14850" y="2930427"/>
            <a:ext cx="993448" cy="342442"/>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Bull's-Eye – BBQ Sauce | Kraft Heinz">
            <a:extLst>
              <a:ext uri="{FF2B5EF4-FFF2-40B4-BE49-F238E27FC236}">
                <a16:creationId xmlns:a16="http://schemas.microsoft.com/office/drawing/2014/main" id="{02DB9F77-28E8-0587-F411-3B358ED47A7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71077" y="2870276"/>
            <a:ext cx="783222" cy="42545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3FA65ED-81B4-E272-74DE-53F5CA684A27}"/>
              </a:ext>
            </a:extLst>
          </p:cNvPr>
          <p:cNvSpPr txBox="1"/>
          <p:nvPr/>
        </p:nvSpPr>
        <p:spPr>
          <a:xfrm>
            <a:off x="5717078" y="2948564"/>
            <a:ext cx="1123612" cy="253916"/>
          </a:xfrm>
          <a:prstGeom prst="rect">
            <a:avLst/>
          </a:prstGeom>
          <a:noFill/>
        </p:spPr>
        <p:txBody>
          <a:bodyPr wrap="square" rtlCol="0">
            <a:spAutoFit/>
          </a:bodyPr>
          <a:lstStyle/>
          <a:p>
            <a:r>
              <a:rPr lang="en-US" sz="1050" b="1">
                <a:solidFill>
                  <a:srgbClr val="FF0000"/>
                </a:solidFill>
              </a:rPr>
              <a:t>PRIVATE LABEL</a:t>
            </a:r>
          </a:p>
        </p:txBody>
      </p:sp>
      <p:pic>
        <p:nvPicPr>
          <p:cNvPr id="2060" name="Picture 12" descr="Home · Levi Roots Official Website">
            <a:extLst>
              <a:ext uri="{FF2B5EF4-FFF2-40B4-BE49-F238E27FC236}">
                <a16:creationId xmlns:a16="http://schemas.microsoft.com/office/drawing/2014/main" id="{9AD0BC26-0A42-FE0E-F342-C26D25156BD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275744" y="2888644"/>
            <a:ext cx="703388" cy="388714"/>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Sweet Baby Ray's">
            <a:extLst>
              <a:ext uri="{FF2B5EF4-FFF2-40B4-BE49-F238E27FC236}">
                <a16:creationId xmlns:a16="http://schemas.microsoft.com/office/drawing/2014/main" id="{ECCEFA76-42BC-ACC1-8088-39B6A60A717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586687" y="2864892"/>
            <a:ext cx="667059" cy="45353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0473C09-D017-6680-815D-DEB60120D684}"/>
              </a:ext>
            </a:extLst>
          </p:cNvPr>
          <p:cNvSpPr txBox="1"/>
          <p:nvPr/>
        </p:nvSpPr>
        <p:spPr>
          <a:xfrm>
            <a:off x="9669279" y="2946538"/>
            <a:ext cx="1480518" cy="253916"/>
          </a:xfrm>
          <a:prstGeom prst="rect">
            <a:avLst/>
          </a:prstGeom>
          <a:noFill/>
        </p:spPr>
        <p:txBody>
          <a:bodyPr wrap="square" rtlCol="0">
            <a:spAutoFit/>
          </a:bodyPr>
          <a:lstStyle/>
          <a:p>
            <a:r>
              <a:rPr lang="en-US" sz="1050" b="1">
                <a:solidFill>
                  <a:srgbClr val="FF0000"/>
                </a:solidFill>
              </a:rPr>
              <a:t>REST OF CATEGORY</a:t>
            </a:r>
          </a:p>
        </p:txBody>
      </p:sp>
      <p:cxnSp>
        <p:nvCxnSpPr>
          <p:cNvPr id="8" name="Straight Arrow Connector 7">
            <a:extLst>
              <a:ext uri="{FF2B5EF4-FFF2-40B4-BE49-F238E27FC236}">
                <a16:creationId xmlns:a16="http://schemas.microsoft.com/office/drawing/2014/main" id="{02E9B944-EED4-6483-8799-E9BC0DB066E4}"/>
              </a:ext>
            </a:extLst>
          </p:cNvPr>
          <p:cNvCxnSpPr>
            <a:cxnSpLocks/>
          </p:cNvCxnSpPr>
          <p:nvPr/>
        </p:nvCxnSpPr>
        <p:spPr>
          <a:xfrm>
            <a:off x="1706562" y="1625943"/>
            <a:ext cx="921409" cy="9779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22D5FD5B-63B7-AB85-B43D-76694D4ED964}"/>
              </a:ext>
            </a:extLst>
          </p:cNvPr>
          <p:cNvCxnSpPr>
            <a:cxnSpLocks/>
          </p:cNvCxnSpPr>
          <p:nvPr/>
        </p:nvCxnSpPr>
        <p:spPr>
          <a:xfrm>
            <a:off x="5765800" y="2087844"/>
            <a:ext cx="921409" cy="9779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9CBA86FF-11A6-8560-E348-C002EEE992DD}"/>
              </a:ext>
            </a:extLst>
          </p:cNvPr>
          <p:cNvSpPr txBox="1"/>
          <p:nvPr/>
        </p:nvSpPr>
        <p:spPr>
          <a:xfrm rot="476556">
            <a:off x="752071" y="1374801"/>
            <a:ext cx="3002088" cy="246221"/>
          </a:xfrm>
          <a:prstGeom prst="rect">
            <a:avLst/>
          </a:prstGeom>
          <a:noFill/>
        </p:spPr>
        <p:txBody>
          <a:bodyPr wrap="square" rtlCol="0">
            <a:spAutoFit/>
          </a:bodyPr>
          <a:lstStyle/>
          <a:p>
            <a:pPr algn="ctr"/>
            <a:r>
              <a:rPr lang="en-US" sz="1000" b="1"/>
              <a:t>Declining  MCV&amp;  CSF</a:t>
            </a:r>
            <a:endParaRPr lang="en-IN" sz="1000" b="1"/>
          </a:p>
        </p:txBody>
      </p:sp>
      <p:sp>
        <p:nvSpPr>
          <p:cNvPr id="16" name="TextBox 15">
            <a:extLst>
              <a:ext uri="{FF2B5EF4-FFF2-40B4-BE49-F238E27FC236}">
                <a16:creationId xmlns:a16="http://schemas.microsoft.com/office/drawing/2014/main" id="{7F5F1597-CA97-EB1F-7A47-3122C18DD5FA}"/>
              </a:ext>
            </a:extLst>
          </p:cNvPr>
          <p:cNvSpPr txBox="1"/>
          <p:nvPr/>
        </p:nvSpPr>
        <p:spPr>
          <a:xfrm rot="476556">
            <a:off x="4701476" y="1866745"/>
            <a:ext cx="3002088" cy="246221"/>
          </a:xfrm>
          <a:prstGeom prst="rect">
            <a:avLst/>
          </a:prstGeom>
          <a:noFill/>
        </p:spPr>
        <p:txBody>
          <a:bodyPr wrap="square" rtlCol="0">
            <a:spAutoFit/>
          </a:bodyPr>
          <a:lstStyle/>
          <a:p>
            <a:pPr algn="ctr"/>
            <a:r>
              <a:rPr lang="en-US" sz="1000" b="1"/>
              <a:t>Declining  MCV</a:t>
            </a:r>
            <a:endParaRPr lang="en-IN" sz="1000" b="1"/>
          </a:p>
        </p:txBody>
      </p:sp>
      <p:sp>
        <p:nvSpPr>
          <p:cNvPr id="24" name="TextBox 23">
            <a:extLst>
              <a:ext uri="{FF2B5EF4-FFF2-40B4-BE49-F238E27FC236}">
                <a16:creationId xmlns:a16="http://schemas.microsoft.com/office/drawing/2014/main" id="{FA6316ED-FE1C-3F5E-D3B2-0A855D6580F7}"/>
              </a:ext>
            </a:extLst>
          </p:cNvPr>
          <p:cNvSpPr txBox="1"/>
          <p:nvPr/>
        </p:nvSpPr>
        <p:spPr>
          <a:xfrm>
            <a:off x="982839" y="4050277"/>
            <a:ext cx="10887429" cy="2092881"/>
          </a:xfrm>
          <a:prstGeom prst="rect">
            <a:avLst/>
          </a:prstGeom>
          <a:noFill/>
        </p:spPr>
        <p:txBody>
          <a:bodyPr wrap="square" rtlCol="0">
            <a:spAutoFit/>
          </a:bodyPr>
          <a:lstStyle/>
          <a:p>
            <a:pPr marL="285750" indent="-285750">
              <a:buFont typeface="Arial" panose="020B0604020202020204" pitchFamily="34" charset="0"/>
              <a:buChar char="•"/>
            </a:pPr>
            <a:r>
              <a:rPr lang="en-US" sz="1600">
                <a:latin typeface="Rockwell" panose="02060603020205020403" pitchFamily="18" charset="0"/>
              </a:rPr>
              <a:t>Heinz and Private Label continue to be on a downward MCV trend even after price reductions</a:t>
            </a:r>
          </a:p>
          <a:p>
            <a:pPr marL="285750" indent="-285750">
              <a:buFont typeface="Arial" panose="020B0604020202020204" pitchFamily="34" charset="0"/>
              <a:buChar char="•"/>
            </a:pPr>
            <a:r>
              <a:rPr lang="en-US" sz="1600">
                <a:latin typeface="Rockwell" panose="02060603020205020403" pitchFamily="18" charset="0"/>
              </a:rPr>
              <a:t>HP and Bull’s Eye seem to have found a stable MCV in the last two years but their CSF is still below par leaving them little scope to exercise pricing power</a:t>
            </a:r>
          </a:p>
          <a:p>
            <a:pPr marL="285750" indent="-285750">
              <a:buFont typeface="Arial" panose="020B0604020202020204" pitchFamily="34" charset="0"/>
              <a:buChar char="•"/>
            </a:pPr>
            <a:r>
              <a:rPr lang="en-US" sz="1600">
                <a:latin typeface="Rockwell" panose="02060603020205020403" pitchFamily="18" charset="0"/>
              </a:rPr>
              <a:t>Levi Roots and Sweet Baby Rays offer distinct USP but their MCV also fell when they increased prices indicating a price sensitive category</a:t>
            </a:r>
          </a:p>
          <a:p>
            <a:pPr marL="285750" indent="-285750">
              <a:buFont typeface="Arial" panose="020B0604020202020204" pitchFamily="34" charset="0"/>
              <a:buChar char="•"/>
            </a:pPr>
            <a:r>
              <a:rPr lang="en-US" sz="1600">
                <a:latin typeface="Rockwell" panose="02060603020205020403" pitchFamily="18" charset="0"/>
              </a:rPr>
              <a:t>Only ROC maintained a stable MCV because of maintaining stable prices</a:t>
            </a:r>
          </a:p>
          <a:p>
            <a:endParaRPr lang="en-US" sz="1600">
              <a:latin typeface="Rockwell" panose="02060603020205020403" pitchFamily="18" charset="0"/>
            </a:endParaRPr>
          </a:p>
          <a:p>
            <a:pPr marL="285750" indent="-285750">
              <a:buFont typeface="Arial" panose="020B0604020202020204" pitchFamily="34" charset="0"/>
              <a:buChar char="•"/>
            </a:pPr>
            <a:endParaRPr lang="en-US"/>
          </a:p>
        </p:txBody>
      </p:sp>
      <p:cxnSp>
        <p:nvCxnSpPr>
          <p:cNvPr id="25" name="Straight Arrow Connector 24">
            <a:extLst>
              <a:ext uri="{FF2B5EF4-FFF2-40B4-BE49-F238E27FC236}">
                <a16:creationId xmlns:a16="http://schemas.microsoft.com/office/drawing/2014/main" id="{E1139E22-317B-F51D-0334-316CE00337CA}"/>
              </a:ext>
            </a:extLst>
          </p:cNvPr>
          <p:cNvCxnSpPr>
            <a:cxnSpLocks/>
          </p:cNvCxnSpPr>
          <p:nvPr/>
        </p:nvCxnSpPr>
        <p:spPr>
          <a:xfrm>
            <a:off x="9724053" y="1582974"/>
            <a:ext cx="1155792" cy="0"/>
          </a:xfrm>
          <a:prstGeom prst="straightConnector1">
            <a:avLst/>
          </a:prstGeom>
          <a:ln>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EF582FCA-FF96-C6AC-B69C-D62640E37FCB}"/>
              </a:ext>
            </a:extLst>
          </p:cNvPr>
          <p:cNvSpPr txBox="1"/>
          <p:nvPr/>
        </p:nvSpPr>
        <p:spPr>
          <a:xfrm>
            <a:off x="8868180" y="1331369"/>
            <a:ext cx="3002088" cy="246221"/>
          </a:xfrm>
          <a:prstGeom prst="rect">
            <a:avLst/>
          </a:prstGeom>
          <a:noFill/>
        </p:spPr>
        <p:txBody>
          <a:bodyPr wrap="square" rtlCol="0">
            <a:spAutoFit/>
          </a:bodyPr>
          <a:lstStyle/>
          <a:p>
            <a:pPr algn="ctr"/>
            <a:r>
              <a:rPr lang="en-US" sz="1000" b="1"/>
              <a:t>Stable MCV</a:t>
            </a:r>
            <a:endParaRPr lang="en-IN" sz="1000" b="1"/>
          </a:p>
        </p:txBody>
      </p:sp>
    </p:spTree>
    <p:extLst>
      <p:ext uri="{BB962C8B-B14F-4D97-AF65-F5344CB8AC3E}">
        <p14:creationId xmlns:p14="http://schemas.microsoft.com/office/powerpoint/2010/main" val="403909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9E6FB-50A8-A41A-936F-7A54349C9823}"/>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349B8A98-15BA-B6EF-2B99-4DC47D25F57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think-cell data - do not delete" hidden="1">
                        <a:extLst>
                          <a:ext uri="{FF2B5EF4-FFF2-40B4-BE49-F238E27FC236}">
                            <a16:creationId xmlns:a16="http://schemas.microsoft.com/office/drawing/2014/main" id="{349B8A98-15BA-B6EF-2B99-4DC47D25F57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400F2C0-1B86-F7B4-0A0A-74500D0FFE9B}"/>
              </a:ext>
            </a:extLst>
          </p:cNvPr>
          <p:cNvSpPr>
            <a:spLocks noGrp="1"/>
          </p:cNvSpPr>
          <p:nvPr>
            <p:ph type="title"/>
          </p:nvPr>
        </p:nvSpPr>
        <p:spPr>
          <a:xfrm>
            <a:off x="838200" y="2766218"/>
            <a:ext cx="10515600" cy="1325563"/>
          </a:xfrm>
        </p:spPr>
        <p:txBody>
          <a:bodyPr vert="horz"/>
          <a:lstStyle/>
          <a:p>
            <a:pPr algn="ctr"/>
            <a:r>
              <a:rPr lang="en-US" sz="4400" b="1" spc="-64">
                <a:solidFill>
                  <a:srgbClr val="4472C4">
                    <a:lumMod val="50000"/>
                  </a:srgbClr>
                </a:solidFill>
                <a:latin typeface="Rockwell"/>
                <a:ea typeface="+mn-ea"/>
                <a:cs typeface="Arial" panose="020B0604020202020204" pitchFamily="34" charset="0"/>
              </a:rPr>
              <a:t>UK – </a:t>
            </a:r>
            <a:r>
              <a:rPr lang="en-US" b="1" spc="-64">
                <a:solidFill>
                  <a:srgbClr val="4472C4">
                    <a:lumMod val="50000"/>
                  </a:srgbClr>
                </a:solidFill>
                <a:latin typeface="Rockwell"/>
                <a:ea typeface="+mn-ea"/>
                <a:cs typeface="Arial" panose="020B0604020202020204" pitchFamily="34" charset="0"/>
              </a:rPr>
              <a:t>Salad Cream</a:t>
            </a:r>
            <a:endParaRPr lang="en-GB"/>
          </a:p>
        </p:txBody>
      </p:sp>
    </p:spTree>
    <p:extLst>
      <p:ext uri="{BB962C8B-B14F-4D97-AF65-F5344CB8AC3E}">
        <p14:creationId xmlns:p14="http://schemas.microsoft.com/office/powerpoint/2010/main" val="23576519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AFB99-CA32-1EE3-6983-4BFACCEEDBC4}"/>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D0284739-78EE-8160-3D2A-A1E6AE756D3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6" progId="TCLayout.ActiveDocument.1">
                  <p:embed/>
                </p:oleObj>
              </mc:Choice>
              <mc:Fallback>
                <p:oleObj name="think-cell Slide" r:id="rId5" imgW="395" imgH="396" progId="TCLayout.ActiveDocument.1">
                  <p:embed/>
                  <p:pic>
                    <p:nvPicPr>
                      <p:cNvPr id="4" name="think-cell data - do not delete" hidden="1">
                        <a:extLst>
                          <a:ext uri="{FF2B5EF4-FFF2-40B4-BE49-F238E27FC236}">
                            <a16:creationId xmlns:a16="http://schemas.microsoft.com/office/drawing/2014/main" id="{D0284739-78EE-8160-3D2A-A1E6AE756D3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Sev01">
            <a:extLst>
              <a:ext uri="{FF2B5EF4-FFF2-40B4-BE49-F238E27FC236}">
                <a16:creationId xmlns:a16="http://schemas.microsoft.com/office/drawing/2014/main" id="{D42CE2E4-8111-1495-EF71-D71AB85731DC}"/>
              </a:ext>
            </a:extLst>
          </p:cNvPr>
          <p:cNvSpPr/>
          <p:nvPr/>
        </p:nvSpPr>
        <p:spPr>
          <a:xfrm>
            <a:off x="1769052" y="1297728"/>
            <a:ext cx="3554896" cy="55558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39" hangingPunct="0"/>
            <a:r>
              <a:rPr lang="en-US" b="1" u="sng" kern="0">
                <a:solidFill>
                  <a:srgbClr val="000000"/>
                </a:solidFill>
                <a:latin typeface="+mj-lt"/>
                <a:sym typeface="Helvetica Neue"/>
              </a:rPr>
              <a:t>Supermarkets</a:t>
            </a:r>
            <a:endParaRPr lang="en-US" sz="1400" b="1" u="sng" kern="0">
              <a:solidFill>
                <a:srgbClr val="000000"/>
              </a:solidFill>
              <a:latin typeface="+mj-lt"/>
              <a:sym typeface="Helvetica Neue"/>
            </a:endParaRPr>
          </a:p>
          <a:p>
            <a:pPr algn="ctr" defTabSz="1219139" hangingPunct="0"/>
            <a:r>
              <a:rPr lang="en-US" sz="1200" b="1" kern="0">
                <a:solidFill>
                  <a:srgbClr val="000000"/>
                </a:solidFill>
                <a:latin typeface="+mj-lt"/>
                <a:sym typeface="Helvetica Neue"/>
              </a:rPr>
              <a:t>Change in: </a:t>
            </a:r>
          </a:p>
          <a:p>
            <a:pPr algn="ctr" defTabSz="1219139" hangingPunct="0"/>
            <a:r>
              <a:rPr lang="en-US" sz="1200" b="1" kern="0">
                <a:solidFill>
                  <a:srgbClr val="000000"/>
                </a:solidFill>
                <a:latin typeface="+mj-lt"/>
                <a:sym typeface="Helvetica Neue"/>
              </a:rPr>
              <a:t>Value = </a:t>
            </a:r>
            <a:r>
              <a:rPr lang="en-US" sz="1200" b="1" kern="0">
                <a:solidFill>
                  <a:srgbClr val="FF0000"/>
                </a:solidFill>
                <a:latin typeface="+mj-lt"/>
                <a:sym typeface="Helvetica Neue"/>
              </a:rPr>
              <a:t>-6.1</a:t>
            </a:r>
            <a:r>
              <a:rPr lang="en-US" sz="1200" b="1" kern="0">
                <a:solidFill>
                  <a:srgbClr val="000000"/>
                </a:solidFill>
                <a:latin typeface="+mj-lt"/>
                <a:sym typeface="Helvetica Neue"/>
              </a:rPr>
              <a:t>%  Vol. = </a:t>
            </a:r>
            <a:r>
              <a:rPr lang="en-US" sz="1200" b="1" kern="0">
                <a:solidFill>
                  <a:srgbClr val="FF0000"/>
                </a:solidFill>
                <a:latin typeface="+mj-lt"/>
                <a:sym typeface="Helvetica Neue"/>
              </a:rPr>
              <a:t>-7.0</a:t>
            </a:r>
            <a:r>
              <a:rPr lang="en-US" sz="1200" b="1" kern="0">
                <a:solidFill>
                  <a:schemeClr val="tx1"/>
                </a:solidFill>
                <a:latin typeface="+mj-lt"/>
                <a:sym typeface="Helvetica Neue"/>
              </a:rPr>
              <a:t>%</a:t>
            </a:r>
            <a:r>
              <a:rPr lang="en-US" sz="1200" b="1" kern="0">
                <a:solidFill>
                  <a:srgbClr val="FF0000"/>
                </a:solidFill>
                <a:latin typeface="+mj-lt"/>
                <a:sym typeface="Helvetica Neue"/>
              </a:rPr>
              <a:t> </a:t>
            </a:r>
            <a:r>
              <a:rPr lang="en-US" sz="1200" b="1" kern="0">
                <a:solidFill>
                  <a:srgbClr val="000000"/>
                </a:solidFill>
                <a:latin typeface="+mj-lt"/>
                <a:sym typeface="Helvetica Neue"/>
              </a:rPr>
              <a:t> Price = </a:t>
            </a:r>
            <a:r>
              <a:rPr lang="en-US" sz="1200" b="1" kern="0">
                <a:solidFill>
                  <a:schemeClr val="tx1"/>
                </a:solidFill>
                <a:latin typeface="+mj-lt"/>
                <a:sym typeface="Helvetica Neue"/>
              </a:rPr>
              <a:t>1.0% </a:t>
            </a:r>
          </a:p>
        </p:txBody>
      </p:sp>
      <p:graphicFrame>
        <p:nvGraphicFramePr>
          <p:cNvPr id="9" name="Table 8">
            <a:extLst>
              <a:ext uri="{FF2B5EF4-FFF2-40B4-BE49-F238E27FC236}">
                <a16:creationId xmlns:a16="http://schemas.microsoft.com/office/drawing/2014/main" id="{8CD5C30B-6C56-F919-FC02-E41B8A6D98F5}"/>
              </a:ext>
            </a:extLst>
          </p:cNvPr>
          <p:cNvGraphicFramePr>
            <a:graphicFrameLocks noGrp="1"/>
          </p:cNvGraphicFramePr>
          <p:nvPr>
            <p:extLst>
              <p:ext uri="{D42A27DB-BD31-4B8C-83A1-F6EECF244321}">
                <p14:modId xmlns:p14="http://schemas.microsoft.com/office/powerpoint/2010/main" val="1915532163"/>
              </p:ext>
            </p:extLst>
          </p:nvPr>
        </p:nvGraphicFramePr>
        <p:xfrm>
          <a:off x="1071720" y="2001108"/>
          <a:ext cx="4694080" cy="1466767"/>
        </p:xfrm>
        <a:graphic>
          <a:graphicData uri="http://schemas.openxmlformats.org/drawingml/2006/table">
            <a:tbl>
              <a:tblPr/>
              <a:tblGrid>
                <a:gridCol w="1131217">
                  <a:extLst>
                    <a:ext uri="{9D8B030D-6E8A-4147-A177-3AD203B41FA5}">
                      <a16:colId xmlns:a16="http://schemas.microsoft.com/office/drawing/2014/main" val="3832534343"/>
                    </a:ext>
                  </a:extLst>
                </a:gridCol>
                <a:gridCol w="481183">
                  <a:extLst>
                    <a:ext uri="{9D8B030D-6E8A-4147-A177-3AD203B41FA5}">
                      <a16:colId xmlns:a16="http://schemas.microsoft.com/office/drawing/2014/main" val="791496339"/>
                    </a:ext>
                  </a:extLst>
                </a:gridCol>
                <a:gridCol w="1100600">
                  <a:extLst>
                    <a:ext uri="{9D8B030D-6E8A-4147-A177-3AD203B41FA5}">
                      <a16:colId xmlns:a16="http://schemas.microsoft.com/office/drawing/2014/main" val="1857494171"/>
                    </a:ext>
                  </a:extLst>
                </a:gridCol>
                <a:gridCol w="990540">
                  <a:extLst>
                    <a:ext uri="{9D8B030D-6E8A-4147-A177-3AD203B41FA5}">
                      <a16:colId xmlns:a16="http://schemas.microsoft.com/office/drawing/2014/main" val="3610767515"/>
                    </a:ext>
                  </a:extLst>
                </a:gridCol>
                <a:gridCol w="990540">
                  <a:extLst>
                    <a:ext uri="{9D8B030D-6E8A-4147-A177-3AD203B41FA5}">
                      <a16:colId xmlns:a16="http://schemas.microsoft.com/office/drawing/2014/main" val="1054921765"/>
                    </a:ext>
                  </a:extLst>
                </a:gridCol>
              </a:tblGrid>
              <a:tr h="421581">
                <a:tc>
                  <a:txBody>
                    <a:bodyPr/>
                    <a:lstStyle/>
                    <a:p>
                      <a:pPr algn="l" fontAlgn="b"/>
                      <a:endParaRPr lang="en-IN" sz="1200" b="1" i="0" u="none" strike="noStrike">
                        <a:solidFill>
                          <a:srgbClr val="000000"/>
                        </a:solidFill>
                        <a:effectLst/>
                        <a:latin typeface="Arial" panose="020B0604020202020204" pitchFamily="34" charset="0"/>
                        <a:cs typeface="Arial" panose="020B0604020202020204" pitchFamily="34" charset="0"/>
                      </a:endParaRPr>
                    </a:p>
                  </a:txBody>
                  <a:tcPr marL="8284" marR="8284" marT="8284"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N" sz="12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MS%</a:t>
                      </a:r>
                    </a:p>
                  </a:txBody>
                  <a:tcPr marL="8284" marR="8284" marT="8284"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N" sz="12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Change*</a:t>
                      </a:r>
                    </a:p>
                  </a:txBody>
                  <a:tcPr marL="8284" marR="8284" marT="8284"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N" sz="12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Avg Price</a:t>
                      </a:r>
                    </a:p>
                  </a:txBody>
                  <a:tcPr marL="8284" marR="8284" marT="8284"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N" sz="12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Change</a:t>
                      </a:r>
                    </a:p>
                  </a:txBody>
                  <a:tcPr marL="8284" marR="8284" marT="8284"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81129718"/>
                  </a:ext>
                </a:extLst>
              </a:tr>
              <a:tr h="321322">
                <a:tc>
                  <a:txBody>
                    <a:bodyPr/>
                    <a:lstStyle/>
                    <a:p>
                      <a:pPr algn="ctr" fontAlgn="b"/>
                      <a:r>
                        <a:rPr lang="en-US" sz="1100" b="1" i="0" u="none" strike="noStrike">
                          <a:solidFill>
                            <a:srgbClr val="000000"/>
                          </a:solidFill>
                          <a:effectLst/>
                          <a:latin typeface="Calibri" panose="020F0502020204030204" pitchFamily="34" charset="0"/>
                        </a:rPr>
                        <a:t>HEINZ</a:t>
                      </a: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1" i="0" u="none" strike="noStrike">
                          <a:solidFill>
                            <a:schemeClr val="accent3">
                              <a:lumMod val="60000"/>
                              <a:lumOff val="40000"/>
                            </a:schemeClr>
                          </a:solidFill>
                          <a:effectLst/>
                          <a:latin typeface="Calibri" panose="020F0502020204030204" pitchFamily="34" charset="0"/>
                        </a:rPr>
                        <a:t>78.1%</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000000"/>
                          </a:solidFill>
                          <a:effectLst/>
                          <a:latin typeface="Calibri" panose="020F0502020204030204" pitchFamily="34" charset="0"/>
                        </a:rPr>
                        <a:t>0.2%</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000000"/>
                          </a:solidFill>
                          <a:effectLst/>
                          <a:latin typeface="Calibri" panose="020F0502020204030204" pitchFamily="34" charset="0"/>
                        </a:rPr>
                        <a:t>6.03</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FF0000"/>
                          </a:solidFill>
                          <a:effectLst/>
                          <a:latin typeface="Calibri" panose="020F0502020204030204" pitchFamily="34" charset="0"/>
                        </a:rPr>
                        <a:t>-2.6%</a:t>
                      </a:r>
                    </a:p>
                  </a:txBody>
                  <a:tcPr marL="7620" marR="7620" marT="762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610470122"/>
                  </a:ext>
                </a:extLst>
              </a:tr>
              <a:tr h="372443">
                <a:tc>
                  <a:txBody>
                    <a:bodyPr/>
                    <a:lstStyle/>
                    <a:p>
                      <a:pPr algn="ctr" fontAlgn="b"/>
                      <a:r>
                        <a:rPr lang="en-US" sz="1100" b="1" i="0" u="none" strike="noStrike">
                          <a:solidFill>
                            <a:srgbClr val="000000"/>
                          </a:solidFill>
                          <a:effectLst/>
                          <a:latin typeface="Calibri" panose="020F0502020204030204" pitchFamily="34" charset="0"/>
                        </a:rPr>
                        <a:t>PRIVATE LABEL</a:t>
                      </a: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000000"/>
                          </a:solidFill>
                          <a:effectLst/>
                          <a:latin typeface="Calibri" panose="020F0502020204030204" pitchFamily="34" charset="0"/>
                        </a:rPr>
                        <a:t>21.7%</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1" i="0" u="none" strike="noStrike">
                          <a:solidFill>
                            <a:schemeClr val="accent3">
                              <a:lumMod val="60000"/>
                              <a:lumOff val="40000"/>
                            </a:schemeClr>
                          </a:solidFill>
                          <a:effectLst/>
                          <a:latin typeface="Calibri" panose="020F0502020204030204" pitchFamily="34" charset="0"/>
                        </a:rPr>
                        <a:t>2.2%</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000000"/>
                          </a:solidFill>
                          <a:effectLst/>
                          <a:latin typeface="Calibri" panose="020F0502020204030204" pitchFamily="34" charset="0"/>
                        </a:rPr>
                        <a:t>2.78</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1" i="0" u="none" strike="noStrike">
                          <a:solidFill>
                            <a:schemeClr val="accent3">
                              <a:lumMod val="60000"/>
                              <a:lumOff val="40000"/>
                            </a:schemeClr>
                          </a:solidFill>
                          <a:effectLst/>
                          <a:latin typeface="Calibri" panose="020F0502020204030204" pitchFamily="34" charset="0"/>
                        </a:rPr>
                        <a:t>10.2%</a:t>
                      </a:r>
                    </a:p>
                  </a:txBody>
                  <a:tcPr marL="7620" marR="7620" marT="762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767797743"/>
                  </a:ext>
                </a:extLst>
              </a:tr>
              <a:tr h="351421">
                <a:tc>
                  <a:txBody>
                    <a:bodyPr/>
                    <a:lstStyle/>
                    <a:p>
                      <a:pPr algn="ctr" fontAlgn="b"/>
                      <a:r>
                        <a:rPr lang="en-US" sz="1100" b="1" i="0" u="none" strike="noStrike">
                          <a:solidFill>
                            <a:srgbClr val="000000"/>
                          </a:solidFill>
                          <a:effectLst/>
                          <a:latin typeface="Calibri" panose="020F0502020204030204" pitchFamily="34" charset="0"/>
                        </a:rPr>
                        <a:t>Rest of category</a:t>
                      </a: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000000"/>
                          </a:solidFill>
                          <a:effectLst/>
                          <a:latin typeface="Calibri" panose="020F0502020204030204" pitchFamily="34" charset="0"/>
                        </a:rPr>
                        <a:t>0.1%</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FF0000"/>
                          </a:solidFill>
                          <a:effectLst/>
                          <a:latin typeface="Calibri" panose="020F0502020204030204" pitchFamily="34" charset="0"/>
                        </a:rPr>
                        <a:t>-2.3%</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000000"/>
                          </a:solidFill>
                          <a:effectLst/>
                          <a:latin typeface="Calibri" panose="020F0502020204030204" pitchFamily="34" charset="0"/>
                        </a:rPr>
                        <a:t>2.69</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FF0000"/>
                          </a:solidFill>
                          <a:effectLst/>
                          <a:latin typeface="Calibri" panose="020F0502020204030204" pitchFamily="34" charset="0"/>
                        </a:rPr>
                        <a:t>-27.5%</a:t>
                      </a:r>
                    </a:p>
                  </a:txBody>
                  <a:tcPr marL="7620" marR="7620" marT="762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488963442"/>
                  </a:ext>
                </a:extLst>
              </a:tr>
            </a:tbl>
          </a:graphicData>
        </a:graphic>
      </p:graphicFrame>
      <p:sp>
        <p:nvSpPr>
          <p:cNvPr id="11" name="Title 3">
            <a:extLst>
              <a:ext uri="{FF2B5EF4-FFF2-40B4-BE49-F238E27FC236}">
                <a16:creationId xmlns:a16="http://schemas.microsoft.com/office/drawing/2014/main" id="{18A6DE26-393B-9ABE-2F15-7A83F579C1AA}"/>
              </a:ext>
            </a:extLst>
          </p:cNvPr>
          <p:cNvSpPr txBox="1">
            <a:spLocks/>
          </p:cNvSpPr>
          <p:nvPr/>
        </p:nvSpPr>
        <p:spPr>
          <a:xfrm>
            <a:off x="408859" y="107634"/>
            <a:ext cx="11681542" cy="611002"/>
          </a:xfrm>
          <a:prstGeom prst="rect">
            <a:avLst/>
          </a:prstGeom>
        </p:spPr>
        <p:txBody>
          <a:bodyPr vert="horz" lIns="121920" tIns="60960" rIns="121920" bIns="6096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a:lnSpc>
                <a:spcPct val="80000"/>
              </a:lnSpc>
              <a:spcBef>
                <a:spcPts val="0"/>
              </a:spcBef>
              <a:defRPr/>
            </a:pPr>
            <a:r>
              <a:rPr lang="en-US" sz="2400" b="1" spc="-64">
                <a:solidFill>
                  <a:srgbClr val="4472C4">
                    <a:lumMod val="50000"/>
                  </a:srgbClr>
                </a:solidFill>
                <a:latin typeface="Rockwell"/>
                <a:ea typeface="+mn-ea"/>
                <a:cs typeface="Arial" panose="020B0604020202020204" pitchFamily="34" charset="0"/>
              </a:rPr>
              <a:t>UK – Salad Cream – Market Context - (P52W vs L52W)…..</a:t>
            </a:r>
          </a:p>
        </p:txBody>
      </p:sp>
      <p:grpSp>
        <p:nvGrpSpPr>
          <p:cNvPr id="12" name="Group 11">
            <a:extLst>
              <a:ext uri="{FF2B5EF4-FFF2-40B4-BE49-F238E27FC236}">
                <a16:creationId xmlns:a16="http://schemas.microsoft.com/office/drawing/2014/main" id="{5607B8EE-DF51-1762-F7A1-D1159E473AF9}"/>
              </a:ext>
            </a:extLst>
          </p:cNvPr>
          <p:cNvGrpSpPr/>
          <p:nvPr/>
        </p:nvGrpSpPr>
        <p:grpSpPr>
          <a:xfrm>
            <a:off x="142240" y="653388"/>
            <a:ext cx="10566400" cy="45719"/>
            <a:chOff x="142240" y="653388"/>
            <a:chExt cx="10566400" cy="45719"/>
          </a:xfrm>
        </p:grpSpPr>
        <p:cxnSp>
          <p:nvCxnSpPr>
            <p:cNvPr id="13" name="Straight Connector 12">
              <a:extLst>
                <a:ext uri="{FF2B5EF4-FFF2-40B4-BE49-F238E27FC236}">
                  <a16:creationId xmlns:a16="http://schemas.microsoft.com/office/drawing/2014/main" id="{93835062-84BC-BD9A-69B9-9850F29AB3A5}"/>
                </a:ext>
              </a:extLst>
            </p:cNvPr>
            <p:cNvCxnSpPr>
              <a:cxnSpLocks/>
            </p:cNvCxnSpPr>
            <p:nvPr/>
          </p:nvCxnSpPr>
          <p:spPr>
            <a:xfrm>
              <a:off x="822960" y="673708"/>
              <a:ext cx="988568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9227B211-1864-12E0-6E00-F7259D6ED6B0}"/>
                </a:ext>
              </a:extLst>
            </p:cNvPr>
            <p:cNvSpPr/>
            <p:nvPr/>
          </p:nvSpPr>
          <p:spPr>
            <a:xfrm>
              <a:off x="142240" y="653388"/>
              <a:ext cx="1158240" cy="45719"/>
            </a:xfrm>
            <a:prstGeom prst="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5" name="TextBox 14">
            <a:extLst>
              <a:ext uri="{FF2B5EF4-FFF2-40B4-BE49-F238E27FC236}">
                <a16:creationId xmlns:a16="http://schemas.microsoft.com/office/drawing/2014/main" id="{AFF34B43-E2F4-87CE-74A6-455DBCA7557A}"/>
              </a:ext>
            </a:extLst>
          </p:cNvPr>
          <p:cNvSpPr txBox="1"/>
          <p:nvPr/>
        </p:nvSpPr>
        <p:spPr>
          <a:xfrm>
            <a:off x="-2256696" y="6858000"/>
            <a:ext cx="6346272" cy="461665"/>
          </a:xfrm>
          <a:prstGeom prst="rect">
            <a:avLst/>
          </a:prstGeom>
          <a:noFill/>
        </p:spPr>
        <p:txBody>
          <a:bodyPr wrap="square" rtlCol="0">
            <a:spAutoFit/>
          </a:bodyPr>
          <a:lstStyle/>
          <a:p>
            <a:r>
              <a:rPr lang="en-GB" sz="1200" i="1"/>
              <a:t>* Price is in Euro/kg; Share is in Value terms</a:t>
            </a:r>
          </a:p>
          <a:p>
            <a:endParaRPr lang="en-GB" sz="1200" i="1"/>
          </a:p>
        </p:txBody>
      </p:sp>
      <p:sp>
        <p:nvSpPr>
          <p:cNvPr id="3" name="Sev01">
            <a:extLst>
              <a:ext uri="{FF2B5EF4-FFF2-40B4-BE49-F238E27FC236}">
                <a16:creationId xmlns:a16="http://schemas.microsoft.com/office/drawing/2014/main" id="{67B60A7E-6F12-778C-9E06-1929FB371DFF}"/>
              </a:ext>
            </a:extLst>
          </p:cNvPr>
          <p:cNvSpPr/>
          <p:nvPr/>
        </p:nvSpPr>
        <p:spPr>
          <a:xfrm>
            <a:off x="5610726" y="912990"/>
            <a:ext cx="5097914" cy="4542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39" hangingPunct="0"/>
            <a:endParaRPr lang="en-US" sz="1200" b="1" kern="0">
              <a:solidFill>
                <a:srgbClr val="FF0000"/>
              </a:solidFill>
              <a:latin typeface="+mj-lt"/>
              <a:sym typeface="Helvetica Neue"/>
            </a:endParaRPr>
          </a:p>
        </p:txBody>
      </p:sp>
      <p:sp>
        <p:nvSpPr>
          <p:cNvPr id="6" name="Sev01">
            <a:extLst>
              <a:ext uri="{FF2B5EF4-FFF2-40B4-BE49-F238E27FC236}">
                <a16:creationId xmlns:a16="http://schemas.microsoft.com/office/drawing/2014/main" id="{5A9202CD-E66D-FF4D-9854-002B5DE4BAC7}"/>
              </a:ext>
            </a:extLst>
          </p:cNvPr>
          <p:cNvSpPr/>
          <p:nvPr/>
        </p:nvSpPr>
        <p:spPr>
          <a:xfrm>
            <a:off x="9355887" y="858329"/>
            <a:ext cx="2988146" cy="55558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39" hangingPunct="0"/>
            <a:endParaRPr lang="en-US" sz="1200" b="1" kern="0">
              <a:solidFill>
                <a:srgbClr val="FF0000"/>
              </a:solidFill>
              <a:latin typeface="+mj-lt"/>
              <a:sym typeface="Helvetica Neue"/>
            </a:endParaRPr>
          </a:p>
        </p:txBody>
      </p:sp>
      <p:sp>
        <p:nvSpPr>
          <p:cNvPr id="10" name="Text Placeholder 2">
            <a:extLst>
              <a:ext uri="{FF2B5EF4-FFF2-40B4-BE49-F238E27FC236}">
                <a16:creationId xmlns:a16="http://schemas.microsoft.com/office/drawing/2014/main" id="{D0BE2761-048C-DB39-4783-994371F71390}"/>
              </a:ext>
            </a:extLst>
          </p:cNvPr>
          <p:cNvSpPr>
            <a:spLocks noGrp="1"/>
          </p:cNvSpPr>
          <p:nvPr>
            <p:custDataLst>
              <p:tags r:id="rId2"/>
            </p:custDataLst>
          </p:nvPr>
        </p:nvSpPr>
        <p:spPr bwMode="auto">
          <a:xfrm>
            <a:off x="1405579" y="1575519"/>
            <a:ext cx="53340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endParaRPr lang="en-GB" sz="1200" b="1"/>
          </a:p>
        </p:txBody>
      </p:sp>
      <p:sp>
        <p:nvSpPr>
          <p:cNvPr id="23" name="Text Placeholder 2">
            <a:extLst>
              <a:ext uri="{FF2B5EF4-FFF2-40B4-BE49-F238E27FC236}">
                <a16:creationId xmlns:a16="http://schemas.microsoft.com/office/drawing/2014/main" id="{9F560F35-611A-543F-84CD-4640116250A7}"/>
              </a:ext>
            </a:extLst>
          </p:cNvPr>
          <p:cNvSpPr>
            <a:spLocks noGrp="1"/>
          </p:cNvSpPr>
          <p:nvPr>
            <p:custDataLst>
              <p:tags r:id="rId3"/>
            </p:custDataLst>
          </p:nvPr>
        </p:nvSpPr>
        <p:spPr bwMode="auto">
          <a:xfrm>
            <a:off x="7730750" y="1592357"/>
            <a:ext cx="53340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endParaRPr lang="en-GB" sz="1200" b="1"/>
          </a:p>
        </p:txBody>
      </p:sp>
      <p:sp>
        <p:nvSpPr>
          <p:cNvPr id="19" name="Sev01">
            <a:extLst>
              <a:ext uri="{FF2B5EF4-FFF2-40B4-BE49-F238E27FC236}">
                <a16:creationId xmlns:a16="http://schemas.microsoft.com/office/drawing/2014/main" id="{887BD58A-3C9A-A0C2-F113-20C5D2055382}"/>
              </a:ext>
            </a:extLst>
          </p:cNvPr>
          <p:cNvSpPr/>
          <p:nvPr/>
        </p:nvSpPr>
        <p:spPr>
          <a:xfrm>
            <a:off x="7419401" y="1297728"/>
            <a:ext cx="3554896" cy="55558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39" hangingPunct="0"/>
            <a:r>
              <a:rPr lang="en-US" b="1" u="sng" kern="0">
                <a:solidFill>
                  <a:srgbClr val="000000"/>
                </a:solidFill>
                <a:latin typeface="+mj-lt"/>
                <a:sym typeface="Helvetica Neue"/>
              </a:rPr>
              <a:t>Tesco</a:t>
            </a:r>
            <a:endParaRPr lang="en-US" sz="1400" b="1" u="sng" kern="0">
              <a:solidFill>
                <a:srgbClr val="000000"/>
              </a:solidFill>
              <a:latin typeface="+mj-lt"/>
              <a:sym typeface="Helvetica Neue"/>
            </a:endParaRPr>
          </a:p>
          <a:p>
            <a:pPr algn="ctr" defTabSz="1219139" hangingPunct="0"/>
            <a:r>
              <a:rPr lang="en-US" sz="1200" b="1" kern="0">
                <a:solidFill>
                  <a:srgbClr val="000000"/>
                </a:solidFill>
                <a:latin typeface="+mj-lt"/>
                <a:sym typeface="Helvetica Neue"/>
              </a:rPr>
              <a:t>Change in: </a:t>
            </a:r>
          </a:p>
          <a:p>
            <a:pPr algn="ctr" defTabSz="1219139" hangingPunct="0"/>
            <a:r>
              <a:rPr lang="en-US" sz="1200" b="1" kern="0">
                <a:solidFill>
                  <a:srgbClr val="000000"/>
                </a:solidFill>
                <a:latin typeface="+mj-lt"/>
                <a:sym typeface="Helvetica Neue"/>
              </a:rPr>
              <a:t>Value = </a:t>
            </a:r>
            <a:r>
              <a:rPr lang="en-US" sz="1200" b="1" kern="0">
                <a:solidFill>
                  <a:srgbClr val="FF0000"/>
                </a:solidFill>
                <a:latin typeface="+mj-lt"/>
                <a:sym typeface="Helvetica Neue"/>
              </a:rPr>
              <a:t>-5.9</a:t>
            </a:r>
            <a:r>
              <a:rPr lang="en-US" sz="1200" b="1" kern="0">
                <a:solidFill>
                  <a:srgbClr val="000000"/>
                </a:solidFill>
                <a:latin typeface="+mj-lt"/>
                <a:sym typeface="Helvetica Neue"/>
              </a:rPr>
              <a:t>%   Vol. = </a:t>
            </a:r>
            <a:r>
              <a:rPr lang="en-US" sz="1200" b="1" kern="0">
                <a:solidFill>
                  <a:srgbClr val="FF0000"/>
                </a:solidFill>
                <a:latin typeface="+mj-lt"/>
                <a:sym typeface="Helvetica Neue"/>
              </a:rPr>
              <a:t>-7.4% </a:t>
            </a:r>
            <a:r>
              <a:rPr lang="en-US" sz="1200" b="1" kern="0">
                <a:solidFill>
                  <a:srgbClr val="000000"/>
                </a:solidFill>
                <a:latin typeface="+mj-lt"/>
                <a:sym typeface="Helvetica Neue"/>
              </a:rPr>
              <a:t>  Price = </a:t>
            </a:r>
            <a:r>
              <a:rPr lang="en-US" sz="1200" b="1" kern="0">
                <a:solidFill>
                  <a:schemeClr val="tx1"/>
                </a:solidFill>
                <a:latin typeface="+mj-lt"/>
                <a:sym typeface="Helvetica Neue"/>
              </a:rPr>
              <a:t>1.6% </a:t>
            </a:r>
          </a:p>
        </p:txBody>
      </p:sp>
      <p:graphicFrame>
        <p:nvGraphicFramePr>
          <p:cNvPr id="20" name="Table 19">
            <a:extLst>
              <a:ext uri="{FF2B5EF4-FFF2-40B4-BE49-F238E27FC236}">
                <a16:creationId xmlns:a16="http://schemas.microsoft.com/office/drawing/2014/main" id="{982B13E9-6391-D0DB-2280-9F49C815A143}"/>
              </a:ext>
            </a:extLst>
          </p:cNvPr>
          <p:cNvGraphicFramePr>
            <a:graphicFrameLocks noGrp="1"/>
          </p:cNvGraphicFramePr>
          <p:nvPr>
            <p:extLst>
              <p:ext uri="{D42A27DB-BD31-4B8C-83A1-F6EECF244321}">
                <p14:modId xmlns:p14="http://schemas.microsoft.com/office/powerpoint/2010/main" val="4209735724"/>
              </p:ext>
            </p:extLst>
          </p:nvPr>
        </p:nvGraphicFramePr>
        <p:xfrm>
          <a:off x="6722069" y="2001108"/>
          <a:ext cx="4694080" cy="1466767"/>
        </p:xfrm>
        <a:graphic>
          <a:graphicData uri="http://schemas.openxmlformats.org/drawingml/2006/table">
            <a:tbl>
              <a:tblPr/>
              <a:tblGrid>
                <a:gridCol w="1086907">
                  <a:extLst>
                    <a:ext uri="{9D8B030D-6E8A-4147-A177-3AD203B41FA5}">
                      <a16:colId xmlns:a16="http://schemas.microsoft.com/office/drawing/2014/main" val="3832534343"/>
                    </a:ext>
                  </a:extLst>
                </a:gridCol>
                <a:gridCol w="525493">
                  <a:extLst>
                    <a:ext uri="{9D8B030D-6E8A-4147-A177-3AD203B41FA5}">
                      <a16:colId xmlns:a16="http://schemas.microsoft.com/office/drawing/2014/main" val="791496339"/>
                    </a:ext>
                  </a:extLst>
                </a:gridCol>
                <a:gridCol w="1100600">
                  <a:extLst>
                    <a:ext uri="{9D8B030D-6E8A-4147-A177-3AD203B41FA5}">
                      <a16:colId xmlns:a16="http://schemas.microsoft.com/office/drawing/2014/main" val="1857494171"/>
                    </a:ext>
                  </a:extLst>
                </a:gridCol>
                <a:gridCol w="990540">
                  <a:extLst>
                    <a:ext uri="{9D8B030D-6E8A-4147-A177-3AD203B41FA5}">
                      <a16:colId xmlns:a16="http://schemas.microsoft.com/office/drawing/2014/main" val="3610767515"/>
                    </a:ext>
                  </a:extLst>
                </a:gridCol>
                <a:gridCol w="990540">
                  <a:extLst>
                    <a:ext uri="{9D8B030D-6E8A-4147-A177-3AD203B41FA5}">
                      <a16:colId xmlns:a16="http://schemas.microsoft.com/office/drawing/2014/main" val="1054921765"/>
                    </a:ext>
                  </a:extLst>
                </a:gridCol>
              </a:tblGrid>
              <a:tr h="421581">
                <a:tc>
                  <a:txBody>
                    <a:bodyPr/>
                    <a:lstStyle/>
                    <a:p>
                      <a:pPr algn="l" fontAlgn="b"/>
                      <a:endParaRPr lang="en-IN" sz="1200" b="1" i="0" u="none" strike="noStrike">
                        <a:solidFill>
                          <a:srgbClr val="000000"/>
                        </a:solidFill>
                        <a:effectLst/>
                        <a:latin typeface="Arial" panose="020B0604020202020204" pitchFamily="34" charset="0"/>
                        <a:cs typeface="Arial" panose="020B0604020202020204" pitchFamily="34" charset="0"/>
                      </a:endParaRPr>
                    </a:p>
                  </a:txBody>
                  <a:tcPr marL="8284" marR="8284" marT="8284"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N" sz="12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MS%</a:t>
                      </a:r>
                    </a:p>
                  </a:txBody>
                  <a:tcPr marL="8284" marR="8284" marT="8284"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N" sz="12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Change*</a:t>
                      </a:r>
                    </a:p>
                  </a:txBody>
                  <a:tcPr marL="8284" marR="8284" marT="8284"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N" sz="12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Avg Price</a:t>
                      </a:r>
                    </a:p>
                  </a:txBody>
                  <a:tcPr marL="8284" marR="8284" marT="8284"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N" sz="12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Change</a:t>
                      </a:r>
                    </a:p>
                  </a:txBody>
                  <a:tcPr marL="8284" marR="8284" marT="8284"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81129718"/>
                  </a:ext>
                </a:extLst>
              </a:tr>
              <a:tr h="321322">
                <a:tc>
                  <a:txBody>
                    <a:bodyPr/>
                    <a:lstStyle/>
                    <a:p>
                      <a:pPr algn="ctr" fontAlgn="b"/>
                      <a:r>
                        <a:rPr lang="en-US" sz="1100" b="1" i="0" u="none" strike="noStrike">
                          <a:solidFill>
                            <a:srgbClr val="000000"/>
                          </a:solidFill>
                          <a:effectLst/>
                          <a:latin typeface="Calibri" panose="020F0502020204030204" pitchFamily="34" charset="0"/>
                        </a:rPr>
                        <a:t>HEINZ</a:t>
                      </a: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1" i="0" u="none" strike="noStrike">
                          <a:solidFill>
                            <a:schemeClr val="accent3">
                              <a:lumMod val="60000"/>
                              <a:lumOff val="40000"/>
                            </a:schemeClr>
                          </a:solidFill>
                          <a:effectLst/>
                          <a:latin typeface="Calibri" panose="020F0502020204030204" pitchFamily="34" charset="0"/>
                        </a:rPr>
                        <a:t>79.1%</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000000"/>
                          </a:solidFill>
                          <a:effectLst/>
                          <a:latin typeface="Calibri" panose="020F0502020204030204" pitchFamily="34" charset="0"/>
                        </a:rPr>
                        <a:t>0.1%</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000000"/>
                          </a:solidFill>
                          <a:effectLst/>
                          <a:latin typeface="Calibri" panose="020F0502020204030204" pitchFamily="34" charset="0"/>
                        </a:rPr>
                        <a:t>6.12</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FF0000"/>
                          </a:solidFill>
                          <a:effectLst/>
                          <a:latin typeface="Calibri" panose="020F0502020204030204" pitchFamily="34" charset="0"/>
                        </a:rPr>
                        <a:t>-2.7%</a:t>
                      </a:r>
                    </a:p>
                  </a:txBody>
                  <a:tcPr marL="7620" marR="7620" marT="762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610470122"/>
                  </a:ext>
                </a:extLst>
              </a:tr>
              <a:tr h="372443">
                <a:tc>
                  <a:txBody>
                    <a:bodyPr/>
                    <a:lstStyle/>
                    <a:p>
                      <a:pPr algn="ctr" fontAlgn="b"/>
                      <a:r>
                        <a:rPr lang="en-US" sz="1100" b="1" i="0" u="none" strike="noStrike">
                          <a:solidFill>
                            <a:srgbClr val="000000"/>
                          </a:solidFill>
                          <a:effectLst/>
                          <a:latin typeface="Calibri" panose="020F0502020204030204" pitchFamily="34" charset="0"/>
                        </a:rPr>
                        <a:t>PRIVATE LABEL</a:t>
                      </a: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000000"/>
                          </a:solidFill>
                          <a:effectLst/>
                          <a:latin typeface="Calibri" panose="020F0502020204030204" pitchFamily="34" charset="0"/>
                        </a:rPr>
                        <a:t>20.6%</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1" i="0" u="none" strike="noStrike">
                          <a:solidFill>
                            <a:schemeClr val="accent3">
                              <a:lumMod val="60000"/>
                              <a:lumOff val="40000"/>
                            </a:schemeClr>
                          </a:solidFill>
                          <a:effectLst/>
                          <a:latin typeface="Calibri" panose="020F0502020204030204" pitchFamily="34" charset="0"/>
                        </a:rPr>
                        <a:t>1.0%</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000000"/>
                          </a:solidFill>
                          <a:effectLst/>
                          <a:latin typeface="Calibri" panose="020F0502020204030204" pitchFamily="34" charset="0"/>
                        </a:rPr>
                        <a:t>2.39</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1" i="0" u="none" strike="noStrike">
                          <a:solidFill>
                            <a:schemeClr val="accent3">
                              <a:lumMod val="60000"/>
                              <a:lumOff val="40000"/>
                            </a:schemeClr>
                          </a:solidFill>
                          <a:effectLst/>
                          <a:latin typeface="Calibri" panose="020F0502020204030204" pitchFamily="34" charset="0"/>
                        </a:rPr>
                        <a:t>11.2%</a:t>
                      </a:r>
                    </a:p>
                  </a:txBody>
                  <a:tcPr marL="7620" marR="7620" marT="762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767797743"/>
                  </a:ext>
                </a:extLst>
              </a:tr>
              <a:tr h="351421">
                <a:tc>
                  <a:txBody>
                    <a:bodyPr/>
                    <a:lstStyle/>
                    <a:p>
                      <a:pPr algn="ctr" fontAlgn="b"/>
                      <a:r>
                        <a:rPr lang="en-US" sz="1100" b="1" i="0" u="none" strike="noStrike">
                          <a:solidFill>
                            <a:srgbClr val="000000"/>
                          </a:solidFill>
                          <a:effectLst/>
                          <a:latin typeface="Calibri" panose="020F0502020204030204" pitchFamily="34" charset="0"/>
                        </a:rPr>
                        <a:t>Rest of category</a:t>
                      </a: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000000"/>
                          </a:solidFill>
                          <a:effectLst/>
                          <a:latin typeface="Calibri" panose="020F0502020204030204" pitchFamily="34" charset="0"/>
                        </a:rPr>
                        <a:t>0.3%</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FF0000"/>
                          </a:solidFill>
                          <a:effectLst/>
                          <a:latin typeface="Calibri" panose="020F0502020204030204" pitchFamily="34" charset="0"/>
                        </a:rPr>
                        <a:t>-1.1%</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000000"/>
                          </a:solidFill>
                          <a:effectLst/>
                          <a:latin typeface="Calibri" panose="020F0502020204030204" pitchFamily="34" charset="0"/>
                        </a:rPr>
                        <a:t>3.61</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100" b="0" i="0" u="none" strike="noStrike">
                          <a:solidFill>
                            <a:srgbClr val="FF0000"/>
                          </a:solidFill>
                          <a:effectLst/>
                          <a:latin typeface="Calibri" panose="020F0502020204030204" pitchFamily="34" charset="0"/>
                        </a:rPr>
                        <a:t>-25.3%</a:t>
                      </a:r>
                    </a:p>
                  </a:txBody>
                  <a:tcPr marL="7620" marR="7620" marT="762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488963442"/>
                  </a:ext>
                </a:extLst>
              </a:tr>
            </a:tbl>
          </a:graphicData>
        </a:graphic>
      </p:graphicFrame>
      <p:sp>
        <p:nvSpPr>
          <p:cNvPr id="2" name="Rectangle 1">
            <a:extLst>
              <a:ext uri="{FF2B5EF4-FFF2-40B4-BE49-F238E27FC236}">
                <a16:creationId xmlns:a16="http://schemas.microsoft.com/office/drawing/2014/main" id="{F71DD562-90C2-214E-4F6D-30891584A4F2}"/>
              </a:ext>
            </a:extLst>
          </p:cNvPr>
          <p:cNvSpPr/>
          <p:nvPr/>
        </p:nvSpPr>
        <p:spPr>
          <a:xfrm>
            <a:off x="882904" y="4089231"/>
            <a:ext cx="10627106" cy="1466767"/>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a:solidFill>
                  <a:schemeClr val="tx1"/>
                </a:solidFill>
              </a:rPr>
              <a:t>In both the channels,</a:t>
            </a:r>
          </a:p>
          <a:p>
            <a:endParaRPr lang="en-IN" sz="1200">
              <a:solidFill>
                <a:schemeClr val="tx1"/>
              </a:solidFill>
            </a:endParaRPr>
          </a:p>
          <a:p>
            <a:pPr marL="285750" indent="-285750">
              <a:buFont typeface="Arial" panose="020B0604020202020204" pitchFamily="34" charset="0"/>
              <a:buChar char="•"/>
            </a:pPr>
            <a:r>
              <a:rPr lang="en-IN" sz="1200">
                <a:solidFill>
                  <a:schemeClr val="tx1"/>
                </a:solidFill>
              </a:rPr>
              <a:t>Till 2024, category was growing in value and volume terms despite price increases</a:t>
            </a:r>
          </a:p>
          <a:p>
            <a:pPr marL="285750" indent="-285750">
              <a:buFont typeface="Arial" panose="020B0604020202020204" pitchFamily="34" charset="0"/>
              <a:buChar char="•"/>
            </a:pPr>
            <a:r>
              <a:rPr lang="en-IN" sz="1200">
                <a:solidFill>
                  <a:schemeClr val="tx1"/>
                </a:solidFill>
              </a:rPr>
              <a:t>Post that the category corrected itself, there is both value &amp; volume growth as prices stabilized</a:t>
            </a:r>
          </a:p>
          <a:p>
            <a:pPr marL="285750" indent="-285750">
              <a:buFont typeface="Arial" panose="020B0604020202020204" pitchFamily="34" charset="0"/>
              <a:buChar char="•"/>
            </a:pPr>
            <a:r>
              <a:rPr lang="en-IN" sz="1200">
                <a:solidFill>
                  <a:schemeClr val="tx1"/>
                </a:solidFill>
              </a:rPr>
              <a:t>Heinz has maintained its share with slight decreases in avg. price whereas PL is gaining even with increases in avg. price</a:t>
            </a:r>
          </a:p>
          <a:p>
            <a:pPr marL="285750" indent="-285750">
              <a:buFont typeface="Arial" panose="020B0604020202020204" pitchFamily="34" charset="0"/>
              <a:buChar char="•"/>
            </a:pPr>
            <a:endParaRPr lang="en-IN" sz="1050">
              <a:solidFill>
                <a:schemeClr val="tx1"/>
              </a:solidFill>
            </a:endParaRPr>
          </a:p>
        </p:txBody>
      </p:sp>
    </p:spTree>
    <p:extLst>
      <p:ext uri="{BB962C8B-B14F-4D97-AF65-F5344CB8AC3E}">
        <p14:creationId xmlns:p14="http://schemas.microsoft.com/office/powerpoint/2010/main" val="20799789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5CBEE-9323-677A-1C30-D7E8CC1F7370}"/>
            </a:ext>
          </a:extLst>
        </p:cNvPr>
        <p:cNvGrpSpPr/>
        <p:nvPr/>
      </p:nvGrpSpPr>
      <p:grpSpPr>
        <a:xfrm>
          <a:off x="0" y="0"/>
          <a:ext cx="0" cy="0"/>
          <a:chOff x="0" y="0"/>
          <a:chExt cx="0" cy="0"/>
        </a:xfrm>
      </p:grpSpPr>
      <p:graphicFrame>
        <p:nvGraphicFramePr>
          <p:cNvPr id="34" name="Chart 33">
            <a:extLst>
              <a:ext uri="{FF2B5EF4-FFF2-40B4-BE49-F238E27FC236}">
                <a16:creationId xmlns:a16="http://schemas.microsoft.com/office/drawing/2014/main" id="{E2677FD4-9685-B701-99AB-190BD5752D2B}"/>
              </a:ext>
            </a:extLst>
          </p:cNvPr>
          <p:cNvGraphicFramePr/>
          <p:nvPr>
            <p:extLst>
              <p:ext uri="{D42A27DB-BD31-4B8C-83A1-F6EECF244321}">
                <p14:modId xmlns:p14="http://schemas.microsoft.com/office/powerpoint/2010/main" val="2662467844"/>
              </p:ext>
            </p:extLst>
          </p:nvPr>
        </p:nvGraphicFramePr>
        <p:xfrm>
          <a:off x="1089914" y="540627"/>
          <a:ext cx="10754153" cy="447821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think-cell data - do not delete" hidden="1">
            <a:extLst>
              <a:ext uri="{FF2B5EF4-FFF2-40B4-BE49-F238E27FC236}">
                <a16:creationId xmlns:a16="http://schemas.microsoft.com/office/drawing/2014/main" id="{D71C6F2F-F057-0206-EDD0-A934DC8EB1D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think-cell data - do not delete" hidden="1">
                        <a:extLst>
                          <a:ext uri="{FF2B5EF4-FFF2-40B4-BE49-F238E27FC236}">
                            <a16:creationId xmlns:a16="http://schemas.microsoft.com/office/drawing/2014/main" id="{D71C6F2F-F057-0206-EDD0-A934DC8EB1DB}"/>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le 3">
            <a:extLst>
              <a:ext uri="{FF2B5EF4-FFF2-40B4-BE49-F238E27FC236}">
                <a16:creationId xmlns:a16="http://schemas.microsoft.com/office/drawing/2014/main" id="{B202D70F-1C3E-A7A5-EE39-F2B62D2E7835}"/>
              </a:ext>
            </a:extLst>
          </p:cNvPr>
          <p:cNvSpPr txBox="1">
            <a:spLocks/>
          </p:cNvSpPr>
          <p:nvPr/>
        </p:nvSpPr>
        <p:spPr>
          <a:xfrm>
            <a:off x="147996" y="18659"/>
            <a:ext cx="12044003" cy="611002"/>
          </a:xfrm>
          <a:prstGeom prst="rect">
            <a:avLst/>
          </a:prstGeom>
        </p:spPr>
        <p:txBody>
          <a:bodyPr vert="horz" lIns="121920" tIns="60960" rIns="121920" bIns="6096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a:lnSpc>
                <a:spcPct val="80000"/>
              </a:lnSpc>
              <a:spcBef>
                <a:spcPts val="0"/>
              </a:spcBef>
              <a:defRPr/>
            </a:pPr>
            <a:r>
              <a:rPr lang="en-GB" sz="2100" b="1" spc="-64">
                <a:solidFill>
                  <a:srgbClr val="4472C4">
                    <a:lumMod val="50000"/>
                  </a:srgbClr>
                </a:solidFill>
                <a:latin typeface="Rockwell"/>
                <a:ea typeface="+mn-ea"/>
                <a:cs typeface="Arial" panose="020B0604020202020204" pitchFamily="34" charset="0"/>
              </a:rPr>
              <a:t>CSF &amp; MCV Learning: Both the </a:t>
            </a:r>
            <a:r>
              <a:rPr lang="en-GB" sz="2100" b="1" spc="-64">
                <a:solidFill>
                  <a:srgbClr val="4472C4">
                    <a:lumMod val="50000"/>
                  </a:srgbClr>
                </a:solidFill>
                <a:latin typeface="Rockwell"/>
                <a:cs typeface="Arial" panose="020B0604020202020204" pitchFamily="34" charset="0"/>
              </a:rPr>
              <a:t>brands have a better brand level CSF in Tesco channel</a:t>
            </a:r>
            <a:endParaRPr lang="en-GB" sz="2100" b="1" spc="-64">
              <a:solidFill>
                <a:srgbClr val="4472C4">
                  <a:lumMod val="50000"/>
                </a:srgbClr>
              </a:solidFill>
              <a:latin typeface="Rockwell"/>
              <a:ea typeface="+mn-ea"/>
              <a:cs typeface="Arial" panose="020B0604020202020204" pitchFamily="34" charset="0"/>
            </a:endParaRPr>
          </a:p>
        </p:txBody>
      </p:sp>
      <p:sp>
        <p:nvSpPr>
          <p:cNvPr id="24" name="Rounded Rectangle 54">
            <a:extLst>
              <a:ext uri="{FF2B5EF4-FFF2-40B4-BE49-F238E27FC236}">
                <a16:creationId xmlns:a16="http://schemas.microsoft.com/office/drawing/2014/main" id="{E3194732-4CD3-111B-92AE-6CDA6ED5ED1A}"/>
              </a:ext>
            </a:extLst>
          </p:cNvPr>
          <p:cNvSpPr/>
          <p:nvPr/>
        </p:nvSpPr>
        <p:spPr>
          <a:xfrm>
            <a:off x="199176" y="2352504"/>
            <a:ext cx="1342547" cy="308723"/>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B5F99"/>
                </a:solidFill>
                <a:effectLst/>
                <a:uLnTx/>
                <a:uFillTx/>
                <a:latin typeface="Rockwell"/>
                <a:ea typeface="Calibri" panose="020F0502020204030204" pitchFamily="34" charset="0"/>
                <a:cs typeface="Calibri" panose="020F0502020204030204" pitchFamily="34" charset="0"/>
              </a:rPr>
              <a:t>MCV</a:t>
            </a:r>
          </a:p>
        </p:txBody>
      </p:sp>
      <p:sp>
        <p:nvSpPr>
          <p:cNvPr id="25" name="Rounded Rectangle 54">
            <a:extLst>
              <a:ext uri="{FF2B5EF4-FFF2-40B4-BE49-F238E27FC236}">
                <a16:creationId xmlns:a16="http://schemas.microsoft.com/office/drawing/2014/main" id="{26E3D0F4-85A8-6933-732E-5F8E50F969F9}"/>
              </a:ext>
            </a:extLst>
          </p:cNvPr>
          <p:cNvSpPr/>
          <p:nvPr/>
        </p:nvSpPr>
        <p:spPr>
          <a:xfrm>
            <a:off x="142240" y="3218291"/>
            <a:ext cx="1058200" cy="308723"/>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B5F99"/>
                </a:solidFill>
                <a:effectLst/>
                <a:uLnTx/>
                <a:uFillTx/>
                <a:latin typeface="Rockwell"/>
                <a:ea typeface="Calibri" panose="020F0502020204030204" pitchFamily="34" charset="0"/>
                <a:cs typeface="Calibri" panose="020F0502020204030204" pitchFamily="34" charset="0"/>
              </a:rPr>
              <a:t>Price</a:t>
            </a:r>
            <a:br>
              <a:rPr kumimoji="0" lang="en-US" sz="1400" b="1" i="0" u="none" strike="noStrike" kern="1200" cap="none" spc="0" normalizeH="0" baseline="0" noProof="0">
                <a:ln>
                  <a:noFill/>
                </a:ln>
                <a:solidFill>
                  <a:srgbClr val="0B5F99"/>
                </a:solidFill>
                <a:effectLst/>
                <a:uLnTx/>
                <a:uFillTx/>
                <a:latin typeface="Rockwell"/>
                <a:ea typeface="Calibri" panose="020F0502020204030204" pitchFamily="34" charset="0"/>
                <a:cs typeface="Calibri" panose="020F0502020204030204" pitchFamily="34" charset="0"/>
              </a:rPr>
            </a:br>
            <a:r>
              <a:rPr kumimoji="0" lang="en-US" sz="900" b="1" i="0" u="none" strike="noStrike" kern="1200" cap="none" spc="0" normalizeH="0" baseline="0" noProof="0">
                <a:ln>
                  <a:noFill/>
                </a:ln>
                <a:solidFill>
                  <a:srgbClr val="0B5F99"/>
                </a:solidFill>
                <a:effectLst/>
                <a:uLnTx/>
                <a:uFillTx/>
                <a:latin typeface="Rockwell"/>
                <a:ea typeface="Calibri" panose="020F0502020204030204" pitchFamily="34" charset="0"/>
                <a:cs typeface="Calibri" panose="020F0502020204030204" pitchFamily="34" charset="0"/>
              </a:rPr>
              <a:t>(GBP per Unit)</a:t>
            </a:r>
            <a:endParaRPr kumimoji="0" lang="en-US" sz="1400" b="1" i="0" u="none" strike="noStrike" kern="1200" cap="none" spc="0" normalizeH="0" baseline="0" noProof="0">
              <a:ln>
                <a:noFill/>
              </a:ln>
              <a:solidFill>
                <a:srgbClr val="0B5F99"/>
              </a:solidFill>
              <a:effectLst/>
              <a:uLnTx/>
              <a:uFillTx/>
              <a:latin typeface="Rockwell"/>
              <a:ea typeface="Calibri" panose="020F0502020204030204" pitchFamily="34" charset="0"/>
              <a:cs typeface="Calibri" panose="020F0502020204030204" pitchFamily="34" charset="0"/>
            </a:endParaRPr>
          </a:p>
        </p:txBody>
      </p:sp>
      <p:sp>
        <p:nvSpPr>
          <p:cNvPr id="30" name="Rounded Rectangle 54">
            <a:extLst>
              <a:ext uri="{FF2B5EF4-FFF2-40B4-BE49-F238E27FC236}">
                <a16:creationId xmlns:a16="http://schemas.microsoft.com/office/drawing/2014/main" id="{49AD1823-D40F-8481-645F-83725E41E0F6}"/>
              </a:ext>
            </a:extLst>
          </p:cNvPr>
          <p:cNvSpPr/>
          <p:nvPr/>
        </p:nvSpPr>
        <p:spPr>
          <a:xfrm>
            <a:off x="199176" y="2741798"/>
            <a:ext cx="1342547" cy="308723"/>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B5F99"/>
                </a:solidFill>
                <a:effectLst/>
                <a:uLnTx/>
                <a:uFillTx/>
                <a:latin typeface="Rockwell"/>
                <a:ea typeface="Calibri" panose="020F0502020204030204" pitchFamily="34" charset="0"/>
                <a:cs typeface="Calibri" panose="020F0502020204030204" pitchFamily="34" charset="0"/>
              </a:rPr>
              <a:t>CSF</a:t>
            </a:r>
          </a:p>
        </p:txBody>
      </p:sp>
      <p:sp>
        <p:nvSpPr>
          <p:cNvPr id="32" name="Rounded Rectangle 54">
            <a:extLst>
              <a:ext uri="{FF2B5EF4-FFF2-40B4-BE49-F238E27FC236}">
                <a16:creationId xmlns:a16="http://schemas.microsoft.com/office/drawing/2014/main" id="{6C091E66-8C34-8913-4F8C-58163FBA5BD9}"/>
              </a:ext>
            </a:extLst>
          </p:cNvPr>
          <p:cNvSpPr/>
          <p:nvPr/>
        </p:nvSpPr>
        <p:spPr>
          <a:xfrm>
            <a:off x="87002" y="4519242"/>
            <a:ext cx="1342547" cy="36862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ctr"/>
          <a:lstStyle/>
          <a:p>
            <a:pPr marL="0" marR="0" lvl="0" indent="0" defTabSz="914377"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B5F99"/>
                </a:solidFill>
                <a:effectLst/>
                <a:uLnTx/>
                <a:uFillTx/>
                <a:latin typeface="Rockwell"/>
                <a:ea typeface="+mn-ea"/>
                <a:cs typeface="Calibri"/>
              </a:rPr>
              <a:t>MSP</a:t>
            </a:r>
          </a:p>
        </p:txBody>
      </p:sp>
      <p:sp>
        <p:nvSpPr>
          <p:cNvPr id="45" name="Rounded Rectangle 54">
            <a:extLst>
              <a:ext uri="{FF2B5EF4-FFF2-40B4-BE49-F238E27FC236}">
                <a16:creationId xmlns:a16="http://schemas.microsoft.com/office/drawing/2014/main" id="{58160D52-968E-D95A-CFD9-A9F99D58F072}"/>
              </a:ext>
            </a:extLst>
          </p:cNvPr>
          <p:cNvSpPr/>
          <p:nvPr/>
        </p:nvSpPr>
        <p:spPr>
          <a:xfrm>
            <a:off x="87002" y="4243189"/>
            <a:ext cx="1113438" cy="36693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ctr"/>
          <a:lstStyle/>
          <a:p>
            <a:pPr marL="0" marR="0" lvl="0" indent="0" defTabSz="914377"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B5F99"/>
                </a:solidFill>
                <a:effectLst/>
                <a:uLnTx/>
                <a:uFillTx/>
                <a:latin typeface="Rockwell"/>
                <a:ea typeface="+mn-ea"/>
                <a:cs typeface="Calibri"/>
              </a:rPr>
              <a:t>Current</a:t>
            </a:r>
            <a:r>
              <a:rPr lang="en-US" sz="1050" b="1">
                <a:solidFill>
                  <a:srgbClr val="0B5F99"/>
                </a:solidFill>
                <a:latin typeface="Rockwell"/>
                <a:cs typeface="Calibri"/>
              </a:rPr>
              <a:t> </a:t>
            </a:r>
            <a:r>
              <a:rPr kumimoji="0" lang="en-US" sz="1050" b="1" i="0" u="none" strike="noStrike" kern="1200" cap="none" spc="0" normalizeH="0" baseline="0" noProof="0">
                <a:ln>
                  <a:noFill/>
                </a:ln>
                <a:solidFill>
                  <a:srgbClr val="0B5F99"/>
                </a:solidFill>
                <a:effectLst/>
                <a:uLnTx/>
                <a:uFillTx/>
                <a:latin typeface="Rockwell"/>
                <a:ea typeface="+mn-ea"/>
                <a:cs typeface="Calibri"/>
              </a:rPr>
              <a:t>MS</a:t>
            </a:r>
          </a:p>
        </p:txBody>
      </p:sp>
      <p:grpSp>
        <p:nvGrpSpPr>
          <p:cNvPr id="63" name="Group 62">
            <a:extLst>
              <a:ext uri="{FF2B5EF4-FFF2-40B4-BE49-F238E27FC236}">
                <a16:creationId xmlns:a16="http://schemas.microsoft.com/office/drawing/2014/main" id="{3D074EC6-E559-90A1-F4A9-49441880A372}"/>
              </a:ext>
            </a:extLst>
          </p:cNvPr>
          <p:cNvGrpSpPr/>
          <p:nvPr/>
        </p:nvGrpSpPr>
        <p:grpSpPr>
          <a:xfrm>
            <a:off x="142240" y="540627"/>
            <a:ext cx="10566400" cy="45719"/>
            <a:chOff x="142240" y="653388"/>
            <a:chExt cx="10566400" cy="45719"/>
          </a:xfrm>
        </p:grpSpPr>
        <p:cxnSp>
          <p:nvCxnSpPr>
            <p:cNvPr id="64" name="Straight Connector 63">
              <a:extLst>
                <a:ext uri="{FF2B5EF4-FFF2-40B4-BE49-F238E27FC236}">
                  <a16:creationId xmlns:a16="http://schemas.microsoft.com/office/drawing/2014/main" id="{E3C999D6-1AC9-FA62-A2D1-4A976896C546}"/>
                </a:ext>
              </a:extLst>
            </p:cNvPr>
            <p:cNvCxnSpPr>
              <a:cxnSpLocks/>
            </p:cNvCxnSpPr>
            <p:nvPr/>
          </p:nvCxnSpPr>
          <p:spPr>
            <a:xfrm>
              <a:off x="822960" y="673708"/>
              <a:ext cx="988568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5" name="Rectangle 64">
              <a:extLst>
                <a:ext uri="{FF2B5EF4-FFF2-40B4-BE49-F238E27FC236}">
                  <a16:creationId xmlns:a16="http://schemas.microsoft.com/office/drawing/2014/main" id="{131824CF-E7C6-7F99-FDEF-4E0E84444EF2}"/>
                </a:ext>
              </a:extLst>
            </p:cNvPr>
            <p:cNvSpPr/>
            <p:nvPr/>
          </p:nvSpPr>
          <p:spPr>
            <a:xfrm>
              <a:off x="142240" y="653388"/>
              <a:ext cx="1158240" cy="45719"/>
            </a:xfrm>
            <a:prstGeom prst="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aphicFrame>
        <p:nvGraphicFramePr>
          <p:cNvPr id="16" name="Table 15">
            <a:extLst>
              <a:ext uri="{FF2B5EF4-FFF2-40B4-BE49-F238E27FC236}">
                <a16:creationId xmlns:a16="http://schemas.microsoft.com/office/drawing/2014/main" id="{3428B493-3364-0167-2FA5-1A22720FA3D6}"/>
              </a:ext>
            </a:extLst>
          </p:cNvPr>
          <p:cNvGraphicFramePr>
            <a:graphicFrameLocks noGrp="1"/>
          </p:cNvGraphicFramePr>
          <p:nvPr>
            <p:extLst>
              <p:ext uri="{D42A27DB-BD31-4B8C-83A1-F6EECF244321}">
                <p14:modId xmlns:p14="http://schemas.microsoft.com/office/powerpoint/2010/main" val="608198942"/>
              </p:ext>
            </p:extLst>
          </p:nvPr>
        </p:nvGraphicFramePr>
        <p:xfrm>
          <a:off x="1200440" y="4229496"/>
          <a:ext cx="10538170" cy="619570"/>
        </p:xfrm>
        <a:graphic>
          <a:graphicData uri="http://schemas.openxmlformats.org/drawingml/2006/table">
            <a:tbl>
              <a:tblPr/>
              <a:tblGrid>
                <a:gridCol w="2107634">
                  <a:extLst>
                    <a:ext uri="{9D8B030D-6E8A-4147-A177-3AD203B41FA5}">
                      <a16:colId xmlns:a16="http://schemas.microsoft.com/office/drawing/2014/main" val="1870827240"/>
                    </a:ext>
                  </a:extLst>
                </a:gridCol>
                <a:gridCol w="2107634">
                  <a:extLst>
                    <a:ext uri="{9D8B030D-6E8A-4147-A177-3AD203B41FA5}">
                      <a16:colId xmlns:a16="http://schemas.microsoft.com/office/drawing/2014/main" val="2832625282"/>
                    </a:ext>
                  </a:extLst>
                </a:gridCol>
                <a:gridCol w="2074983">
                  <a:extLst>
                    <a:ext uri="{9D8B030D-6E8A-4147-A177-3AD203B41FA5}">
                      <a16:colId xmlns:a16="http://schemas.microsoft.com/office/drawing/2014/main" val="2039115859"/>
                    </a:ext>
                  </a:extLst>
                </a:gridCol>
                <a:gridCol w="2140285">
                  <a:extLst>
                    <a:ext uri="{9D8B030D-6E8A-4147-A177-3AD203B41FA5}">
                      <a16:colId xmlns:a16="http://schemas.microsoft.com/office/drawing/2014/main" val="4240280589"/>
                    </a:ext>
                  </a:extLst>
                </a:gridCol>
                <a:gridCol w="2107634">
                  <a:extLst>
                    <a:ext uri="{9D8B030D-6E8A-4147-A177-3AD203B41FA5}">
                      <a16:colId xmlns:a16="http://schemas.microsoft.com/office/drawing/2014/main" val="2472759178"/>
                    </a:ext>
                  </a:extLst>
                </a:gridCol>
              </a:tblGrid>
              <a:tr h="303463">
                <a:tc>
                  <a:txBody>
                    <a:bodyPr/>
                    <a:lstStyle/>
                    <a:p>
                      <a:pPr algn="ctr" fontAlgn="b"/>
                      <a:r>
                        <a:rPr lang="en-US" sz="1100" b="0" i="0" u="none" strike="noStrike">
                          <a:solidFill>
                            <a:srgbClr val="000000"/>
                          </a:solidFill>
                          <a:effectLst/>
                          <a:latin typeface="Calibri" panose="020F0502020204030204" pitchFamily="34" charset="0"/>
                        </a:rPr>
                        <a:t>78.1%</a:t>
                      </a:r>
                    </a:p>
                  </a:txBody>
                  <a:tcPr marL="7620" marR="7620" marT="762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6FD"/>
                    </a:solidFill>
                  </a:tcPr>
                </a:tc>
                <a:tc>
                  <a:txBody>
                    <a:bodyPr/>
                    <a:lstStyle/>
                    <a:p>
                      <a:pPr algn="ctr" fontAlgn="b"/>
                      <a:r>
                        <a:rPr lang="en-US" sz="1100" b="0" i="0" u="none" strike="noStrike">
                          <a:solidFill>
                            <a:srgbClr val="000000"/>
                          </a:solidFill>
                          <a:effectLst/>
                          <a:latin typeface="Calibri" panose="020F0502020204030204" pitchFamily="34" charset="0"/>
                        </a:rPr>
                        <a:t>21.7%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6FD"/>
                    </a:solidFill>
                  </a:tcPr>
                </a:tc>
                <a:tc>
                  <a:txBody>
                    <a:bodyPr/>
                    <a:lstStyle/>
                    <a:p>
                      <a:pPr algn="ctr" fontAlgn="b"/>
                      <a:endParaRPr lang="en-IN" sz="1100" b="0" i="0" u="none" strike="noStrike">
                        <a:solidFill>
                          <a:srgbClr val="000000"/>
                        </a:solidFill>
                        <a:effectLst/>
                        <a:latin typeface="Aptos Narrow" panose="020B000402020202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IN" sz="1100" b="0" i="0" u="none" strike="noStrike">
                          <a:solidFill>
                            <a:srgbClr val="000000"/>
                          </a:solidFill>
                          <a:effectLst/>
                          <a:latin typeface="Aptos Narrow" panose="020B0004020202020204" pitchFamily="34" charset="0"/>
                        </a:rPr>
                        <a:t>79.1%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6FD"/>
                    </a:solidFill>
                  </a:tcPr>
                </a:tc>
                <a:tc>
                  <a:txBody>
                    <a:bodyPr/>
                    <a:lstStyle/>
                    <a:p>
                      <a:pPr marL="0" algn="ctr" defTabSz="914400" rtl="0" eaLnBrk="1" fontAlgn="b" latinLnBrk="0" hangingPunct="1"/>
                      <a:r>
                        <a:rPr lang="en-IN" sz="1100" b="0" i="0" u="none" strike="noStrike" kern="1200">
                          <a:solidFill>
                            <a:srgbClr val="000000"/>
                          </a:solidFill>
                          <a:effectLst/>
                          <a:latin typeface="Aptos Narrow" panose="020B0004020202020204" pitchFamily="34" charset="0"/>
                          <a:ea typeface="+mn-ea"/>
                          <a:cs typeface="+mn-cs"/>
                        </a:rPr>
                        <a:t>20.6%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3F6FD"/>
                    </a:solidFill>
                  </a:tcPr>
                </a:tc>
                <a:extLst>
                  <a:ext uri="{0D108BD9-81ED-4DB2-BD59-A6C34878D82A}">
                    <a16:rowId xmlns:a16="http://schemas.microsoft.com/office/drawing/2014/main" val="1814121042"/>
                  </a:ext>
                </a:extLst>
              </a:tr>
              <a:tr h="316107">
                <a:tc>
                  <a:txBody>
                    <a:bodyPr/>
                    <a:lstStyle/>
                    <a:p>
                      <a:pPr algn="ctr" fontAlgn="ctr"/>
                      <a:r>
                        <a:rPr lang="en-US" sz="1100" b="0" i="0" u="none" strike="noStrike">
                          <a:solidFill>
                            <a:srgbClr val="000000"/>
                          </a:solidFill>
                          <a:effectLst/>
                          <a:latin typeface="Calibri" panose="020F0502020204030204" pitchFamily="34" charset="0"/>
                        </a:rPr>
                        <a:t>0.7%</a:t>
                      </a:r>
                    </a:p>
                  </a:txBody>
                  <a:tcPr marL="7620" marR="7620" marT="762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DCD"/>
                    </a:solidFill>
                  </a:tcPr>
                </a:tc>
                <a:tc>
                  <a:txBody>
                    <a:bodyPr/>
                    <a:lstStyle/>
                    <a:p>
                      <a:pPr algn="ctr" fontAlgn="b"/>
                      <a:r>
                        <a:rPr lang="en-IN" sz="1100" b="0" i="0" u="none" strike="noStrike">
                          <a:solidFill>
                            <a:srgbClr val="000000"/>
                          </a:solidFill>
                          <a:effectLst/>
                          <a:latin typeface="Aptos Narrow" panose="020B0004020202020204" pitchFamily="34" charset="0"/>
                        </a:rPr>
                        <a:t>0.7%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b"/>
                      <a:endParaRPr lang="en-IN" sz="1100" b="0" i="0" u="none" strike="noStrike">
                        <a:solidFill>
                          <a:srgbClr val="000000"/>
                        </a:solidFill>
                        <a:effectLst/>
                        <a:latin typeface="Aptos Narrow" panose="020B000402020202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IN" sz="1100" b="0" i="0" u="none" strike="noStrike">
                          <a:solidFill>
                            <a:srgbClr val="000000"/>
                          </a:solidFill>
                          <a:effectLst/>
                          <a:latin typeface="Aptos Narrow" panose="020B0004020202020204" pitchFamily="34" charset="0"/>
                        </a:rPr>
                        <a:t>1.1%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DCD"/>
                    </a:solidFill>
                  </a:tcPr>
                </a:tc>
                <a:tc>
                  <a:txBody>
                    <a:bodyPr/>
                    <a:lstStyle/>
                    <a:p>
                      <a:pPr marL="0" algn="ctr" defTabSz="914400" rtl="0" eaLnBrk="1" fontAlgn="b" latinLnBrk="0" hangingPunct="1"/>
                      <a:r>
                        <a:rPr lang="en-IN" sz="1100" b="0" i="0" u="none" strike="noStrike" kern="1200">
                          <a:solidFill>
                            <a:srgbClr val="000000"/>
                          </a:solidFill>
                          <a:effectLst/>
                          <a:latin typeface="Aptos Narrow" panose="020B0004020202020204" pitchFamily="34" charset="0"/>
                          <a:ea typeface="+mn-ea"/>
                          <a:cs typeface="+mn-cs"/>
                        </a:rPr>
                        <a:t>1.1%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F2D0"/>
                    </a:solidFill>
                  </a:tcPr>
                </a:tc>
                <a:extLst>
                  <a:ext uri="{0D108BD9-81ED-4DB2-BD59-A6C34878D82A}">
                    <a16:rowId xmlns:a16="http://schemas.microsoft.com/office/drawing/2014/main" val="457112563"/>
                  </a:ext>
                </a:extLst>
              </a:tr>
            </a:tbl>
          </a:graphicData>
        </a:graphic>
      </p:graphicFrame>
      <p:sp>
        <p:nvSpPr>
          <p:cNvPr id="27" name="Rectangle 26">
            <a:extLst>
              <a:ext uri="{FF2B5EF4-FFF2-40B4-BE49-F238E27FC236}">
                <a16:creationId xmlns:a16="http://schemas.microsoft.com/office/drawing/2014/main" id="{670E3FCB-EC12-8605-F4DD-FC00316BE128}"/>
              </a:ext>
            </a:extLst>
          </p:cNvPr>
          <p:cNvSpPr/>
          <p:nvPr/>
        </p:nvSpPr>
        <p:spPr>
          <a:xfrm>
            <a:off x="326570" y="5018845"/>
            <a:ext cx="11517497" cy="1199383"/>
          </a:xfrm>
          <a:prstGeom prst="rect">
            <a:avLst/>
          </a:prstGeom>
          <a:solidFill>
            <a:schemeClr val="tx2">
              <a:lumMod val="10000"/>
              <a:lumOff val="90000"/>
            </a:schemeClr>
          </a:solidFill>
          <a:ln w="6350">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300">
                <a:solidFill>
                  <a:prstClr val="black"/>
                </a:solidFill>
                <a:latin typeface="Aptos" panose="02110004020202020204"/>
              </a:rPr>
              <a:t>Both the channels have a channel level CSF of 3.6 with Tesco having a marginally better MCV of 17.2 as compared to the MCV of 17.0 of Supermarket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300">
                <a:solidFill>
                  <a:prstClr val="black"/>
                </a:solidFill>
                <a:latin typeface="Aptos" panose="02110004020202020204"/>
              </a:rPr>
              <a:t>Private Label enjoys a better CSF than Hienz given its pricing headroom in an almost duopoly category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300">
                <a:solidFill>
                  <a:prstClr val="black"/>
                </a:solidFill>
                <a:latin typeface="Aptos" panose="02110004020202020204"/>
              </a:rPr>
              <a:t> Heinz has a more negative MSP in Tesco although it has a better MCV and CSF in that channel</a:t>
            </a:r>
          </a:p>
        </p:txBody>
      </p:sp>
      <p:sp>
        <p:nvSpPr>
          <p:cNvPr id="44" name="TextBox 43">
            <a:extLst>
              <a:ext uri="{FF2B5EF4-FFF2-40B4-BE49-F238E27FC236}">
                <a16:creationId xmlns:a16="http://schemas.microsoft.com/office/drawing/2014/main" id="{CD63773A-FCD8-F081-86EC-FC0995D41284}"/>
              </a:ext>
            </a:extLst>
          </p:cNvPr>
          <p:cNvSpPr txBox="1"/>
          <p:nvPr/>
        </p:nvSpPr>
        <p:spPr>
          <a:xfrm>
            <a:off x="326570" y="6381049"/>
            <a:ext cx="7949681" cy="430887"/>
          </a:xfrm>
          <a:prstGeom prst="rect">
            <a:avLst/>
          </a:prstGeom>
          <a:noFill/>
        </p:spPr>
        <p:txBody>
          <a:bodyPr wrap="square" rtlCol="0">
            <a:spAutoFit/>
          </a:bodyPr>
          <a:lstStyle/>
          <a:p>
            <a:r>
              <a:rPr lang="en-US" sz="1100" i="1"/>
              <a:t>*All Price and MCVs are in GBP per unit</a:t>
            </a:r>
          </a:p>
          <a:p>
            <a:r>
              <a:rPr lang="en-US" sz="1100" i="1"/>
              <a:t>The Bars are sorted in increasing order of CSFs for each channel</a:t>
            </a:r>
            <a:endParaRPr lang="en-IN" sz="1100" i="1"/>
          </a:p>
        </p:txBody>
      </p:sp>
      <p:sp>
        <p:nvSpPr>
          <p:cNvPr id="2" name="Sev01">
            <a:extLst>
              <a:ext uri="{FF2B5EF4-FFF2-40B4-BE49-F238E27FC236}">
                <a16:creationId xmlns:a16="http://schemas.microsoft.com/office/drawing/2014/main" id="{F157BCF5-09A5-8EDE-6D7E-310333B93E1E}"/>
              </a:ext>
            </a:extLst>
          </p:cNvPr>
          <p:cNvSpPr/>
          <p:nvPr/>
        </p:nvSpPr>
        <p:spPr>
          <a:xfrm>
            <a:off x="1541723" y="723769"/>
            <a:ext cx="3554896" cy="55558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39" hangingPunct="0"/>
            <a:r>
              <a:rPr lang="en-US" b="1" u="sng" kern="0">
                <a:solidFill>
                  <a:srgbClr val="000000"/>
                </a:solidFill>
                <a:latin typeface="+mj-lt"/>
                <a:sym typeface="Helvetica Neue"/>
              </a:rPr>
              <a:t>Supermarkets</a:t>
            </a:r>
            <a:endParaRPr lang="en-US" sz="1400" b="1" u="sng" kern="0">
              <a:solidFill>
                <a:srgbClr val="000000"/>
              </a:solidFill>
              <a:latin typeface="+mj-lt"/>
              <a:sym typeface="Helvetica Neue"/>
            </a:endParaRPr>
          </a:p>
        </p:txBody>
      </p:sp>
      <p:sp>
        <p:nvSpPr>
          <p:cNvPr id="4" name="Sev01">
            <a:extLst>
              <a:ext uri="{FF2B5EF4-FFF2-40B4-BE49-F238E27FC236}">
                <a16:creationId xmlns:a16="http://schemas.microsoft.com/office/drawing/2014/main" id="{86A02CDD-0524-075B-15BF-EE04B014B55D}"/>
              </a:ext>
            </a:extLst>
          </p:cNvPr>
          <p:cNvSpPr/>
          <p:nvPr/>
        </p:nvSpPr>
        <p:spPr>
          <a:xfrm>
            <a:off x="7937905" y="723768"/>
            <a:ext cx="3554896" cy="55558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39" hangingPunct="0"/>
            <a:r>
              <a:rPr lang="en-US" b="1" u="sng" kern="0">
                <a:solidFill>
                  <a:srgbClr val="000000"/>
                </a:solidFill>
                <a:latin typeface="+mj-lt"/>
                <a:sym typeface="Helvetica Neue"/>
              </a:rPr>
              <a:t>Tesco</a:t>
            </a:r>
            <a:endParaRPr lang="en-US" sz="1400" b="1" u="sng" kern="0">
              <a:solidFill>
                <a:srgbClr val="000000"/>
              </a:solidFill>
              <a:latin typeface="+mj-lt"/>
              <a:sym typeface="Helvetica Neue"/>
            </a:endParaRPr>
          </a:p>
        </p:txBody>
      </p:sp>
    </p:spTree>
    <p:extLst>
      <p:ext uri="{BB962C8B-B14F-4D97-AF65-F5344CB8AC3E}">
        <p14:creationId xmlns:p14="http://schemas.microsoft.com/office/powerpoint/2010/main" val="17952366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5C4C7-83CB-2FB0-36A1-B163BD2B9A66}"/>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20169D9D-2ADC-DA50-51A2-63AEF19C9866}"/>
              </a:ext>
            </a:extLst>
          </p:cNvPr>
          <p:cNvSpPr/>
          <p:nvPr/>
        </p:nvSpPr>
        <p:spPr>
          <a:xfrm>
            <a:off x="4618620" y="819150"/>
            <a:ext cx="4285851" cy="5826947"/>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AB47E9D4-EE63-DF9F-297E-2903B9377C3D}"/>
              </a:ext>
            </a:extLst>
          </p:cNvPr>
          <p:cNvSpPr/>
          <p:nvPr/>
        </p:nvSpPr>
        <p:spPr>
          <a:xfrm>
            <a:off x="142240" y="830153"/>
            <a:ext cx="4285851" cy="5826947"/>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6" name="think-cell data - do not delete" hidden="1">
            <a:extLst>
              <a:ext uri="{FF2B5EF4-FFF2-40B4-BE49-F238E27FC236}">
                <a16:creationId xmlns:a16="http://schemas.microsoft.com/office/drawing/2014/main" id="{3D5E726A-0B22-8F04-26AD-868D2585FD4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3D5E726A-0B22-8F04-26AD-868D2585FD4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109" name="Group 108">
            <a:extLst>
              <a:ext uri="{FF2B5EF4-FFF2-40B4-BE49-F238E27FC236}">
                <a16:creationId xmlns:a16="http://schemas.microsoft.com/office/drawing/2014/main" id="{56C4860B-EA94-4AFF-E55C-3C69D23864CA}"/>
              </a:ext>
            </a:extLst>
          </p:cNvPr>
          <p:cNvGrpSpPr/>
          <p:nvPr/>
        </p:nvGrpSpPr>
        <p:grpSpPr>
          <a:xfrm>
            <a:off x="142240" y="653388"/>
            <a:ext cx="10566400" cy="45719"/>
            <a:chOff x="142240" y="653388"/>
            <a:chExt cx="10566400" cy="45719"/>
          </a:xfrm>
        </p:grpSpPr>
        <p:cxnSp>
          <p:nvCxnSpPr>
            <p:cNvPr id="110" name="Straight Connector 109">
              <a:extLst>
                <a:ext uri="{FF2B5EF4-FFF2-40B4-BE49-F238E27FC236}">
                  <a16:creationId xmlns:a16="http://schemas.microsoft.com/office/drawing/2014/main" id="{17119B45-196C-DA14-C11F-EF433D210039}"/>
                </a:ext>
              </a:extLst>
            </p:cNvPr>
            <p:cNvCxnSpPr>
              <a:cxnSpLocks/>
            </p:cNvCxnSpPr>
            <p:nvPr/>
          </p:nvCxnSpPr>
          <p:spPr>
            <a:xfrm>
              <a:off x="822960" y="673708"/>
              <a:ext cx="988568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2" name="Rectangle 111">
              <a:extLst>
                <a:ext uri="{FF2B5EF4-FFF2-40B4-BE49-F238E27FC236}">
                  <a16:creationId xmlns:a16="http://schemas.microsoft.com/office/drawing/2014/main" id="{1FF336B8-0A3F-5F18-22EA-1F0C656D533C}"/>
                </a:ext>
              </a:extLst>
            </p:cNvPr>
            <p:cNvSpPr/>
            <p:nvPr/>
          </p:nvSpPr>
          <p:spPr>
            <a:xfrm>
              <a:off x="142240" y="653388"/>
              <a:ext cx="1158240" cy="45719"/>
            </a:xfrm>
            <a:prstGeom prst="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 name="Title 3">
            <a:extLst>
              <a:ext uri="{FF2B5EF4-FFF2-40B4-BE49-F238E27FC236}">
                <a16:creationId xmlns:a16="http://schemas.microsoft.com/office/drawing/2014/main" id="{2EFD2BF9-2863-6EE7-8FE8-8B6FFF06C090}"/>
              </a:ext>
            </a:extLst>
          </p:cNvPr>
          <p:cNvSpPr txBox="1">
            <a:spLocks/>
          </p:cNvSpPr>
          <p:nvPr/>
        </p:nvSpPr>
        <p:spPr>
          <a:xfrm>
            <a:off x="408859" y="107634"/>
            <a:ext cx="11681542" cy="611002"/>
          </a:xfrm>
          <a:prstGeom prst="rect">
            <a:avLst/>
          </a:prstGeom>
        </p:spPr>
        <p:txBody>
          <a:bodyPr vert="horz" lIns="121920" tIns="60960" rIns="121920" bIns="6096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a:lnSpc>
                <a:spcPct val="80000"/>
              </a:lnSpc>
              <a:spcBef>
                <a:spcPts val="0"/>
              </a:spcBef>
              <a:defRPr/>
            </a:pPr>
            <a:r>
              <a:rPr lang="en-US" sz="2400" b="1" spc="-64">
                <a:solidFill>
                  <a:srgbClr val="4472C4">
                    <a:lumMod val="50000"/>
                  </a:srgbClr>
                </a:solidFill>
                <a:latin typeface="Rockwell"/>
                <a:ea typeface="+mn-ea"/>
                <a:cs typeface="Arial" panose="020B0604020202020204" pitchFamily="34" charset="0"/>
              </a:rPr>
              <a:t>Channel level- RPI Curves </a:t>
            </a:r>
          </a:p>
        </p:txBody>
      </p:sp>
      <p:sp>
        <p:nvSpPr>
          <p:cNvPr id="30" name="TextBox 29">
            <a:extLst>
              <a:ext uri="{FF2B5EF4-FFF2-40B4-BE49-F238E27FC236}">
                <a16:creationId xmlns:a16="http://schemas.microsoft.com/office/drawing/2014/main" id="{4E9EE26D-71CC-72C4-C976-0EAD94334193}"/>
              </a:ext>
            </a:extLst>
          </p:cNvPr>
          <p:cNvSpPr txBox="1"/>
          <p:nvPr/>
        </p:nvSpPr>
        <p:spPr>
          <a:xfrm>
            <a:off x="534843" y="819150"/>
            <a:ext cx="3591816" cy="307777"/>
          </a:xfrm>
          <a:prstGeom prst="rect">
            <a:avLst/>
          </a:prstGeom>
          <a:noFill/>
        </p:spPr>
        <p:txBody>
          <a:bodyPr wrap="square" rtlCol="0">
            <a:spAutoFit/>
          </a:bodyPr>
          <a:lstStyle/>
          <a:p>
            <a:pPr algn="ctr"/>
            <a:r>
              <a:rPr lang="en-GB" sz="1400" b="1" spc="-64">
                <a:solidFill>
                  <a:srgbClr val="4472C4">
                    <a:lumMod val="50000"/>
                  </a:srgbClr>
                </a:solidFill>
                <a:latin typeface="Rockwell"/>
                <a:cs typeface="Arial" panose="020B0604020202020204" pitchFamily="34" charset="0"/>
              </a:rPr>
              <a:t>Supermarkets</a:t>
            </a:r>
          </a:p>
        </p:txBody>
      </p:sp>
      <p:sp>
        <p:nvSpPr>
          <p:cNvPr id="31" name="TextBox 30">
            <a:extLst>
              <a:ext uri="{FF2B5EF4-FFF2-40B4-BE49-F238E27FC236}">
                <a16:creationId xmlns:a16="http://schemas.microsoft.com/office/drawing/2014/main" id="{EF26366F-4FC2-6428-D86A-E8CC2C4F2B5C}"/>
              </a:ext>
            </a:extLst>
          </p:cNvPr>
          <p:cNvSpPr txBox="1"/>
          <p:nvPr/>
        </p:nvSpPr>
        <p:spPr>
          <a:xfrm>
            <a:off x="5562699" y="808808"/>
            <a:ext cx="2397691" cy="307777"/>
          </a:xfrm>
          <a:prstGeom prst="rect">
            <a:avLst/>
          </a:prstGeom>
          <a:noFill/>
        </p:spPr>
        <p:txBody>
          <a:bodyPr wrap="square" rtlCol="0">
            <a:spAutoFit/>
          </a:bodyPr>
          <a:lstStyle/>
          <a:p>
            <a:pPr algn="ctr"/>
            <a:r>
              <a:rPr lang="en-GB" sz="1400" b="1" spc="-64">
                <a:solidFill>
                  <a:srgbClr val="4472C4">
                    <a:lumMod val="50000"/>
                  </a:srgbClr>
                </a:solidFill>
                <a:latin typeface="Rockwell"/>
                <a:cs typeface="Arial" panose="020B0604020202020204" pitchFamily="34" charset="0"/>
              </a:rPr>
              <a:t>Tesco</a:t>
            </a:r>
          </a:p>
        </p:txBody>
      </p:sp>
      <p:grpSp>
        <p:nvGrpSpPr>
          <p:cNvPr id="39" name="Group 38">
            <a:extLst>
              <a:ext uri="{FF2B5EF4-FFF2-40B4-BE49-F238E27FC236}">
                <a16:creationId xmlns:a16="http://schemas.microsoft.com/office/drawing/2014/main" id="{434B7DD3-79B8-05B8-C582-40642409ADB1}"/>
              </a:ext>
            </a:extLst>
          </p:cNvPr>
          <p:cNvGrpSpPr/>
          <p:nvPr/>
        </p:nvGrpSpPr>
        <p:grpSpPr>
          <a:xfrm>
            <a:off x="9297454" y="6611779"/>
            <a:ext cx="1319225" cy="246221"/>
            <a:chOff x="9729406" y="4277340"/>
            <a:chExt cx="1319225" cy="246221"/>
          </a:xfrm>
        </p:grpSpPr>
        <p:sp>
          <p:nvSpPr>
            <p:cNvPr id="40" name="TextBox 39">
              <a:extLst>
                <a:ext uri="{FF2B5EF4-FFF2-40B4-BE49-F238E27FC236}">
                  <a16:creationId xmlns:a16="http://schemas.microsoft.com/office/drawing/2014/main" id="{524AAD26-8674-897A-4E97-8DFFDE491186}"/>
                </a:ext>
              </a:extLst>
            </p:cNvPr>
            <p:cNvSpPr txBox="1"/>
            <p:nvPr/>
          </p:nvSpPr>
          <p:spPr>
            <a:xfrm>
              <a:off x="10100477" y="4277340"/>
              <a:ext cx="948154" cy="246221"/>
            </a:xfrm>
            <a:prstGeom prst="rect">
              <a:avLst/>
            </a:prstGeom>
            <a:noFill/>
          </p:spPr>
          <p:txBody>
            <a:bodyPr wrap="square" rtlCol="0">
              <a:spAutoFit/>
            </a:bodyPr>
            <a:lstStyle/>
            <a:p>
              <a:r>
                <a:rPr lang="en-GB" sz="1000"/>
                <a:t> Inflection </a:t>
              </a:r>
            </a:p>
          </p:txBody>
        </p:sp>
        <p:cxnSp>
          <p:nvCxnSpPr>
            <p:cNvPr id="41" name="Straight Connector 40">
              <a:extLst>
                <a:ext uri="{FF2B5EF4-FFF2-40B4-BE49-F238E27FC236}">
                  <a16:creationId xmlns:a16="http://schemas.microsoft.com/office/drawing/2014/main" id="{95749F99-3E66-B3C0-CFBB-BF023C4F811E}"/>
                </a:ext>
              </a:extLst>
            </p:cNvPr>
            <p:cNvCxnSpPr>
              <a:cxnSpLocks/>
            </p:cNvCxnSpPr>
            <p:nvPr/>
          </p:nvCxnSpPr>
          <p:spPr>
            <a:xfrm>
              <a:off x="9729406" y="4398081"/>
              <a:ext cx="378462" cy="0"/>
            </a:xfrm>
            <a:prstGeom prst="line">
              <a:avLst/>
            </a:prstGeom>
            <a:ln w="28575">
              <a:solidFill>
                <a:srgbClr val="00B050"/>
              </a:solidFill>
              <a:prstDash val="sysDash"/>
            </a:ln>
          </p:spPr>
          <p:style>
            <a:lnRef idx="2">
              <a:schemeClr val="accent1"/>
            </a:lnRef>
            <a:fillRef idx="0">
              <a:schemeClr val="accent1"/>
            </a:fillRef>
            <a:effectRef idx="1">
              <a:schemeClr val="accent1"/>
            </a:effectRef>
            <a:fontRef idx="minor">
              <a:schemeClr val="tx1"/>
            </a:fontRef>
          </p:style>
        </p:cxnSp>
      </p:grpSp>
      <p:grpSp>
        <p:nvGrpSpPr>
          <p:cNvPr id="42" name="Group 41">
            <a:extLst>
              <a:ext uri="{FF2B5EF4-FFF2-40B4-BE49-F238E27FC236}">
                <a16:creationId xmlns:a16="http://schemas.microsoft.com/office/drawing/2014/main" id="{E75A7CBC-B159-61C3-177B-54DB4EF762D9}"/>
              </a:ext>
            </a:extLst>
          </p:cNvPr>
          <p:cNvGrpSpPr/>
          <p:nvPr/>
        </p:nvGrpSpPr>
        <p:grpSpPr>
          <a:xfrm>
            <a:off x="8266771" y="6611779"/>
            <a:ext cx="1319225" cy="246221"/>
            <a:chOff x="9729406" y="4069187"/>
            <a:chExt cx="1319225" cy="246221"/>
          </a:xfrm>
        </p:grpSpPr>
        <p:sp>
          <p:nvSpPr>
            <p:cNvPr id="43" name="TextBox 42">
              <a:extLst>
                <a:ext uri="{FF2B5EF4-FFF2-40B4-BE49-F238E27FC236}">
                  <a16:creationId xmlns:a16="http://schemas.microsoft.com/office/drawing/2014/main" id="{0F9A3D1D-15BC-35F8-55CC-49CCB2D38D4E}"/>
                </a:ext>
              </a:extLst>
            </p:cNvPr>
            <p:cNvSpPr txBox="1"/>
            <p:nvPr/>
          </p:nvSpPr>
          <p:spPr>
            <a:xfrm>
              <a:off x="10100477" y="4069187"/>
              <a:ext cx="948154" cy="246221"/>
            </a:xfrm>
            <a:prstGeom prst="rect">
              <a:avLst/>
            </a:prstGeom>
            <a:noFill/>
          </p:spPr>
          <p:txBody>
            <a:bodyPr wrap="square" rtlCol="0">
              <a:spAutoFit/>
            </a:bodyPr>
            <a:lstStyle/>
            <a:p>
              <a:r>
                <a:rPr lang="en-GB" sz="1000"/>
                <a:t> L12M</a:t>
              </a:r>
            </a:p>
          </p:txBody>
        </p:sp>
        <p:cxnSp>
          <p:nvCxnSpPr>
            <p:cNvPr id="44" name="Straight Connector 43">
              <a:extLst>
                <a:ext uri="{FF2B5EF4-FFF2-40B4-BE49-F238E27FC236}">
                  <a16:creationId xmlns:a16="http://schemas.microsoft.com/office/drawing/2014/main" id="{FB44A877-8348-DACC-38B8-029CA6C74731}"/>
                </a:ext>
              </a:extLst>
            </p:cNvPr>
            <p:cNvCxnSpPr>
              <a:cxnSpLocks/>
            </p:cNvCxnSpPr>
            <p:nvPr/>
          </p:nvCxnSpPr>
          <p:spPr>
            <a:xfrm>
              <a:off x="9729406" y="4181560"/>
              <a:ext cx="378462" cy="0"/>
            </a:xfrm>
            <a:prstGeom prst="line">
              <a:avLst/>
            </a:prstGeom>
            <a:ln w="28575">
              <a:solidFill>
                <a:srgbClr val="C00000"/>
              </a:solidFill>
              <a:prstDash val="sysDash"/>
            </a:ln>
          </p:spPr>
          <p:style>
            <a:lnRef idx="2">
              <a:schemeClr val="accent1"/>
            </a:lnRef>
            <a:fillRef idx="0">
              <a:schemeClr val="accent1"/>
            </a:fillRef>
            <a:effectRef idx="1">
              <a:schemeClr val="accent1"/>
            </a:effectRef>
            <a:fontRef idx="minor">
              <a:schemeClr val="tx1"/>
            </a:fontRef>
          </p:style>
        </p:cxnSp>
      </p:grpSp>
      <p:pic>
        <p:nvPicPr>
          <p:cNvPr id="5" name="Picture 4">
            <a:extLst>
              <a:ext uri="{FF2B5EF4-FFF2-40B4-BE49-F238E27FC236}">
                <a16:creationId xmlns:a16="http://schemas.microsoft.com/office/drawing/2014/main" id="{A980BFCC-F5DD-5407-C7BD-5D1F5EB6F573}"/>
              </a:ext>
            </a:extLst>
          </p:cNvPr>
          <p:cNvPicPr>
            <a:picLocks noChangeAspect="1"/>
          </p:cNvPicPr>
          <p:nvPr/>
        </p:nvPicPr>
        <p:blipFill>
          <a:blip r:embed="rId6"/>
          <a:stretch>
            <a:fillRect/>
          </a:stretch>
        </p:blipFill>
        <p:spPr>
          <a:xfrm>
            <a:off x="447959" y="1133893"/>
            <a:ext cx="3826477" cy="2520370"/>
          </a:xfrm>
          <a:prstGeom prst="rect">
            <a:avLst/>
          </a:prstGeom>
        </p:spPr>
      </p:pic>
      <p:cxnSp>
        <p:nvCxnSpPr>
          <p:cNvPr id="7" name="Straight Connector 6">
            <a:extLst>
              <a:ext uri="{FF2B5EF4-FFF2-40B4-BE49-F238E27FC236}">
                <a16:creationId xmlns:a16="http://schemas.microsoft.com/office/drawing/2014/main" id="{647F4031-43A6-E5EE-8AD2-82021BA1F6EB}"/>
              </a:ext>
            </a:extLst>
          </p:cNvPr>
          <p:cNvCxnSpPr>
            <a:cxnSpLocks/>
          </p:cNvCxnSpPr>
          <p:nvPr/>
        </p:nvCxnSpPr>
        <p:spPr>
          <a:xfrm>
            <a:off x="1971105" y="1548157"/>
            <a:ext cx="0" cy="1979645"/>
          </a:xfrm>
          <a:prstGeom prst="line">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B732A95-CB03-D1CE-03ED-40B30EB81F67}"/>
              </a:ext>
            </a:extLst>
          </p:cNvPr>
          <p:cNvCxnSpPr>
            <a:cxnSpLocks/>
          </p:cNvCxnSpPr>
          <p:nvPr/>
        </p:nvCxnSpPr>
        <p:spPr>
          <a:xfrm>
            <a:off x="2146132" y="1548157"/>
            <a:ext cx="0" cy="1950854"/>
          </a:xfrm>
          <a:prstGeom prst="line">
            <a:avLst/>
          </a:prstGeom>
          <a:ln>
            <a:solidFill>
              <a:srgbClr val="FF0000"/>
            </a:solidFill>
            <a:prstDash val="dash"/>
          </a:ln>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a16="http://schemas.microsoft.com/office/drawing/2014/main" id="{B1884688-D2E7-7DAB-2E78-7A267DDD74CE}"/>
              </a:ext>
            </a:extLst>
          </p:cNvPr>
          <p:cNvPicPr>
            <a:picLocks noChangeAspect="1"/>
          </p:cNvPicPr>
          <p:nvPr/>
        </p:nvPicPr>
        <p:blipFill>
          <a:blip r:embed="rId7"/>
          <a:stretch>
            <a:fillRect/>
          </a:stretch>
        </p:blipFill>
        <p:spPr>
          <a:xfrm>
            <a:off x="408859" y="3802356"/>
            <a:ext cx="3865578" cy="2675297"/>
          </a:xfrm>
          <a:prstGeom prst="rect">
            <a:avLst/>
          </a:prstGeom>
        </p:spPr>
      </p:pic>
      <p:cxnSp>
        <p:nvCxnSpPr>
          <p:cNvPr id="19" name="Straight Connector 18">
            <a:extLst>
              <a:ext uri="{FF2B5EF4-FFF2-40B4-BE49-F238E27FC236}">
                <a16:creationId xmlns:a16="http://schemas.microsoft.com/office/drawing/2014/main" id="{B41FCC0B-BB77-FE56-AF65-B4F21920AB76}"/>
              </a:ext>
            </a:extLst>
          </p:cNvPr>
          <p:cNvCxnSpPr>
            <a:cxnSpLocks/>
          </p:cNvCxnSpPr>
          <p:nvPr/>
        </p:nvCxnSpPr>
        <p:spPr>
          <a:xfrm>
            <a:off x="2158664" y="4164577"/>
            <a:ext cx="0" cy="1950854"/>
          </a:xfrm>
          <a:prstGeom prst="line">
            <a:avLst/>
          </a:prstGeom>
          <a:ln>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367A07D3-ABD2-BD33-6ECF-21B63D079D47}"/>
              </a:ext>
            </a:extLst>
          </p:cNvPr>
          <p:cNvCxnSpPr>
            <a:cxnSpLocks/>
          </p:cNvCxnSpPr>
          <p:nvPr/>
        </p:nvCxnSpPr>
        <p:spPr>
          <a:xfrm>
            <a:off x="1971105" y="4150181"/>
            <a:ext cx="0" cy="1979645"/>
          </a:xfrm>
          <a:prstGeom prst="line">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cxnSp>
      <p:pic>
        <p:nvPicPr>
          <p:cNvPr id="32" name="Picture 31">
            <a:extLst>
              <a:ext uri="{FF2B5EF4-FFF2-40B4-BE49-F238E27FC236}">
                <a16:creationId xmlns:a16="http://schemas.microsoft.com/office/drawing/2014/main" id="{251CA972-0357-6770-4102-17415A5214A3}"/>
              </a:ext>
            </a:extLst>
          </p:cNvPr>
          <p:cNvPicPr>
            <a:picLocks noChangeAspect="1"/>
          </p:cNvPicPr>
          <p:nvPr/>
        </p:nvPicPr>
        <p:blipFill>
          <a:blip r:embed="rId8"/>
          <a:stretch>
            <a:fillRect/>
          </a:stretch>
        </p:blipFill>
        <p:spPr>
          <a:xfrm>
            <a:off x="4899752" y="1136820"/>
            <a:ext cx="3738090" cy="2528387"/>
          </a:xfrm>
          <a:prstGeom prst="rect">
            <a:avLst/>
          </a:prstGeom>
        </p:spPr>
      </p:pic>
      <p:cxnSp>
        <p:nvCxnSpPr>
          <p:cNvPr id="33" name="Straight Connector 32">
            <a:extLst>
              <a:ext uri="{FF2B5EF4-FFF2-40B4-BE49-F238E27FC236}">
                <a16:creationId xmlns:a16="http://schemas.microsoft.com/office/drawing/2014/main" id="{9C31E60F-89C3-A06B-2839-A2CDFCD7CB20}"/>
              </a:ext>
            </a:extLst>
          </p:cNvPr>
          <p:cNvCxnSpPr>
            <a:cxnSpLocks/>
          </p:cNvCxnSpPr>
          <p:nvPr/>
        </p:nvCxnSpPr>
        <p:spPr>
          <a:xfrm>
            <a:off x="6549201" y="1454081"/>
            <a:ext cx="0" cy="1979645"/>
          </a:xfrm>
          <a:prstGeom prst="line">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75B71C0A-BD2B-AEBF-CC39-8476F7DCDB16}"/>
              </a:ext>
            </a:extLst>
          </p:cNvPr>
          <p:cNvCxnSpPr>
            <a:cxnSpLocks/>
          </p:cNvCxnSpPr>
          <p:nvPr/>
        </p:nvCxnSpPr>
        <p:spPr>
          <a:xfrm>
            <a:off x="6897964" y="1418651"/>
            <a:ext cx="0" cy="1950854"/>
          </a:xfrm>
          <a:prstGeom prst="line">
            <a:avLst/>
          </a:prstGeom>
          <a:ln>
            <a:solidFill>
              <a:srgbClr val="FF0000"/>
            </a:solidFill>
            <a:prstDash val="dash"/>
          </a:ln>
        </p:spPr>
        <p:style>
          <a:lnRef idx="2">
            <a:schemeClr val="accent1"/>
          </a:lnRef>
          <a:fillRef idx="0">
            <a:schemeClr val="accent1"/>
          </a:fillRef>
          <a:effectRef idx="1">
            <a:schemeClr val="accent1"/>
          </a:effectRef>
          <a:fontRef idx="minor">
            <a:schemeClr val="tx1"/>
          </a:fontRef>
        </p:style>
      </p:cxnSp>
      <p:pic>
        <p:nvPicPr>
          <p:cNvPr id="36" name="Picture 35">
            <a:extLst>
              <a:ext uri="{FF2B5EF4-FFF2-40B4-BE49-F238E27FC236}">
                <a16:creationId xmlns:a16="http://schemas.microsoft.com/office/drawing/2014/main" id="{47D51570-CD55-CB00-1A6C-8CEA128A0D7C}"/>
              </a:ext>
            </a:extLst>
          </p:cNvPr>
          <p:cNvPicPr>
            <a:picLocks noChangeAspect="1"/>
          </p:cNvPicPr>
          <p:nvPr/>
        </p:nvPicPr>
        <p:blipFill>
          <a:blip r:embed="rId9"/>
          <a:stretch>
            <a:fillRect/>
          </a:stretch>
        </p:blipFill>
        <p:spPr>
          <a:xfrm>
            <a:off x="4907143" y="3802356"/>
            <a:ext cx="3738090" cy="2550440"/>
          </a:xfrm>
          <a:prstGeom prst="rect">
            <a:avLst/>
          </a:prstGeom>
        </p:spPr>
      </p:pic>
      <p:cxnSp>
        <p:nvCxnSpPr>
          <p:cNvPr id="45" name="Straight Connector 44">
            <a:extLst>
              <a:ext uri="{FF2B5EF4-FFF2-40B4-BE49-F238E27FC236}">
                <a16:creationId xmlns:a16="http://schemas.microsoft.com/office/drawing/2014/main" id="{D72EA5BE-7F2A-CF14-BF41-175C9A4C8BE6}"/>
              </a:ext>
            </a:extLst>
          </p:cNvPr>
          <p:cNvCxnSpPr>
            <a:cxnSpLocks/>
          </p:cNvCxnSpPr>
          <p:nvPr/>
        </p:nvCxnSpPr>
        <p:spPr>
          <a:xfrm>
            <a:off x="6916252" y="4178972"/>
            <a:ext cx="0" cy="1950854"/>
          </a:xfrm>
          <a:prstGeom prst="line">
            <a:avLst/>
          </a:prstGeom>
          <a:ln>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DA2134F4-640A-FD14-0A46-93AAB9B28846}"/>
              </a:ext>
            </a:extLst>
          </p:cNvPr>
          <p:cNvCxnSpPr>
            <a:cxnSpLocks/>
          </p:cNvCxnSpPr>
          <p:nvPr/>
        </p:nvCxnSpPr>
        <p:spPr>
          <a:xfrm>
            <a:off x="6566538" y="4111937"/>
            <a:ext cx="0" cy="1979645"/>
          </a:xfrm>
          <a:prstGeom prst="line">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1B71826E-B192-EF4F-6B6B-B00C0E00F10B}"/>
              </a:ext>
            </a:extLst>
          </p:cNvPr>
          <p:cNvSpPr txBox="1"/>
          <p:nvPr/>
        </p:nvSpPr>
        <p:spPr>
          <a:xfrm>
            <a:off x="2127670" y="2916976"/>
            <a:ext cx="877772" cy="461665"/>
          </a:xfrm>
          <a:prstGeom prst="rect">
            <a:avLst/>
          </a:prstGeom>
          <a:noFill/>
        </p:spPr>
        <p:txBody>
          <a:bodyPr wrap="square" rtlCol="0">
            <a:spAutoFit/>
          </a:bodyPr>
          <a:lstStyle/>
          <a:p>
            <a:r>
              <a:rPr lang="en-IN" sz="800">
                <a:solidFill>
                  <a:srgbClr val="FF0000"/>
                </a:solidFill>
              </a:rPr>
              <a:t>Price: 6.02</a:t>
            </a:r>
          </a:p>
          <a:p>
            <a:r>
              <a:rPr lang="en-IN" sz="800">
                <a:solidFill>
                  <a:srgbClr val="FF0000"/>
                </a:solidFill>
              </a:rPr>
              <a:t>RPI PL : 217</a:t>
            </a:r>
          </a:p>
          <a:p>
            <a:r>
              <a:rPr lang="en-IN" sz="800">
                <a:solidFill>
                  <a:srgbClr val="FF0000"/>
                </a:solidFill>
              </a:rPr>
              <a:t>RPI Cat: 126</a:t>
            </a:r>
          </a:p>
        </p:txBody>
      </p:sp>
      <p:sp>
        <p:nvSpPr>
          <p:cNvPr id="37" name="TextBox 36">
            <a:extLst>
              <a:ext uri="{FF2B5EF4-FFF2-40B4-BE49-F238E27FC236}">
                <a16:creationId xmlns:a16="http://schemas.microsoft.com/office/drawing/2014/main" id="{EF1E0596-8C3D-DE97-0662-7B39F09D987D}"/>
              </a:ext>
            </a:extLst>
          </p:cNvPr>
          <p:cNvSpPr txBox="1"/>
          <p:nvPr/>
        </p:nvSpPr>
        <p:spPr>
          <a:xfrm>
            <a:off x="1193214" y="2926128"/>
            <a:ext cx="877772" cy="461665"/>
          </a:xfrm>
          <a:prstGeom prst="rect">
            <a:avLst/>
          </a:prstGeom>
          <a:noFill/>
        </p:spPr>
        <p:txBody>
          <a:bodyPr wrap="square" rtlCol="0">
            <a:spAutoFit/>
          </a:bodyPr>
          <a:lstStyle/>
          <a:p>
            <a:r>
              <a:rPr lang="en-IN" sz="800">
                <a:solidFill>
                  <a:srgbClr val="00B050"/>
                </a:solidFill>
              </a:rPr>
              <a:t>Price: 5.56</a:t>
            </a:r>
          </a:p>
          <a:p>
            <a:r>
              <a:rPr lang="en-IN" sz="800">
                <a:solidFill>
                  <a:srgbClr val="00B050"/>
                </a:solidFill>
              </a:rPr>
              <a:t>RPI PL Std: 200</a:t>
            </a:r>
          </a:p>
          <a:p>
            <a:r>
              <a:rPr lang="en-IN" sz="800">
                <a:solidFill>
                  <a:srgbClr val="00B050"/>
                </a:solidFill>
              </a:rPr>
              <a:t>RPI Cat: 116</a:t>
            </a:r>
          </a:p>
        </p:txBody>
      </p:sp>
      <p:sp>
        <p:nvSpPr>
          <p:cNvPr id="47" name="TextBox 46">
            <a:extLst>
              <a:ext uri="{FF2B5EF4-FFF2-40B4-BE49-F238E27FC236}">
                <a16:creationId xmlns:a16="http://schemas.microsoft.com/office/drawing/2014/main" id="{3BA63745-AE62-F6C9-5143-7BB633494A27}"/>
              </a:ext>
            </a:extLst>
          </p:cNvPr>
          <p:cNvSpPr txBox="1"/>
          <p:nvPr/>
        </p:nvSpPr>
        <p:spPr>
          <a:xfrm>
            <a:off x="6916252" y="2840776"/>
            <a:ext cx="877772" cy="461665"/>
          </a:xfrm>
          <a:prstGeom prst="rect">
            <a:avLst/>
          </a:prstGeom>
          <a:noFill/>
        </p:spPr>
        <p:txBody>
          <a:bodyPr wrap="square" rtlCol="0">
            <a:spAutoFit/>
          </a:bodyPr>
          <a:lstStyle/>
          <a:p>
            <a:r>
              <a:rPr lang="en-IN" sz="800">
                <a:solidFill>
                  <a:srgbClr val="FF0000"/>
                </a:solidFill>
              </a:rPr>
              <a:t>Price: 5.95</a:t>
            </a:r>
          </a:p>
          <a:p>
            <a:r>
              <a:rPr lang="en-IN" sz="800">
                <a:solidFill>
                  <a:srgbClr val="FF0000"/>
                </a:solidFill>
              </a:rPr>
              <a:t>RPI PL : 224</a:t>
            </a:r>
          </a:p>
          <a:p>
            <a:r>
              <a:rPr lang="en-IN" sz="800">
                <a:solidFill>
                  <a:srgbClr val="FF0000"/>
                </a:solidFill>
              </a:rPr>
              <a:t>RPI Cat: 126</a:t>
            </a:r>
          </a:p>
        </p:txBody>
      </p:sp>
      <p:sp>
        <p:nvSpPr>
          <p:cNvPr id="48" name="TextBox 47">
            <a:extLst>
              <a:ext uri="{FF2B5EF4-FFF2-40B4-BE49-F238E27FC236}">
                <a16:creationId xmlns:a16="http://schemas.microsoft.com/office/drawing/2014/main" id="{A3857FF8-69B3-C5E9-5F3D-8A866189EFC9}"/>
              </a:ext>
            </a:extLst>
          </p:cNvPr>
          <p:cNvSpPr txBox="1"/>
          <p:nvPr/>
        </p:nvSpPr>
        <p:spPr>
          <a:xfrm>
            <a:off x="5719767" y="1895468"/>
            <a:ext cx="877772" cy="461665"/>
          </a:xfrm>
          <a:prstGeom prst="rect">
            <a:avLst/>
          </a:prstGeom>
          <a:noFill/>
        </p:spPr>
        <p:txBody>
          <a:bodyPr wrap="square" rtlCol="0">
            <a:spAutoFit/>
          </a:bodyPr>
          <a:lstStyle/>
          <a:p>
            <a:r>
              <a:rPr lang="en-IN" sz="800">
                <a:solidFill>
                  <a:srgbClr val="00B050"/>
                </a:solidFill>
              </a:rPr>
              <a:t>Price: 5.06</a:t>
            </a:r>
          </a:p>
          <a:p>
            <a:r>
              <a:rPr lang="en-IN" sz="800">
                <a:solidFill>
                  <a:srgbClr val="00B050"/>
                </a:solidFill>
              </a:rPr>
              <a:t>RPI PL Std: 191</a:t>
            </a:r>
          </a:p>
          <a:p>
            <a:r>
              <a:rPr lang="en-IN" sz="800">
                <a:solidFill>
                  <a:srgbClr val="00B050"/>
                </a:solidFill>
              </a:rPr>
              <a:t>RPI Cat: 107</a:t>
            </a:r>
          </a:p>
        </p:txBody>
      </p:sp>
    </p:spTree>
    <p:extLst>
      <p:ext uri="{BB962C8B-B14F-4D97-AF65-F5344CB8AC3E}">
        <p14:creationId xmlns:p14="http://schemas.microsoft.com/office/powerpoint/2010/main" val="13696857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9BDC1-B32D-FAA3-440A-52B9CDC30985}"/>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0E94E7E4-8C5D-6851-DA50-239F9486DD7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0E94E7E4-8C5D-6851-DA50-239F9486DD7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1" name="Rounded Rectangle 54">
            <a:extLst>
              <a:ext uri="{FF2B5EF4-FFF2-40B4-BE49-F238E27FC236}">
                <a16:creationId xmlns:a16="http://schemas.microsoft.com/office/drawing/2014/main" id="{7D44224A-1EA9-6537-F030-00D9B192C08B}"/>
              </a:ext>
            </a:extLst>
          </p:cNvPr>
          <p:cNvSpPr/>
          <p:nvPr/>
        </p:nvSpPr>
        <p:spPr>
          <a:xfrm>
            <a:off x="48404" y="1474192"/>
            <a:ext cx="1746250" cy="42545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B5F99"/>
                </a:solidFill>
                <a:effectLst/>
                <a:uLnTx/>
                <a:uFillTx/>
                <a:latin typeface="Rockwell"/>
                <a:ea typeface="Calibri" panose="020F0502020204030204" pitchFamily="34" charset="0"/>
                <a:cs typeface="Calibri" panose="020F0502020204030204" pitchFamily="34" charset="0"/>
              </a:rPr>
              <a:t>MCV</a:t>
            </a:r>
          </a:p>
        </p:txBody>
      </p:sp>
      <p:sp>
        <p:nvSpPr>
          <p:cNvPr id="62" name="Rounded Rectangle 54">
            <a:extLst>
              <a:ext uri="{FF2B5EF4-FFF2-40B4-BE49-F238E27FC236}">
                <a16:creationId xmlns:a16="http://schemas.microsoft.com/office/drawing/2014/main" id="{91A3478D-BB66-3E5D-EBD2-3CCEA1862D28}"/>
              </a:ext>
            </a:extLst>
          </p:cNvPr>
          <p:cNvSpPr/>
          <p:nvPr/>
        </p:nvSpPr>
        <p:spPr>
          <a:xfrm>
            <a:off x="48404" y="2489275"/>
            <a:ext cx="869236" cy="42545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B5F99"/>
                </a:solidFill>
                <a:effectLst/>
                <a:uLnTx/>
                <a:uFillTx/>
                <a:latin typeface="Rockwell"/>
                <a:ea typeface="Calibri" panose="020F0502020204030204" pitchFamily="34" charset="0"/>
                <a:cs typeface="Calibri" panose="020F0502020204030204" pitchFamily="34" charset="0"/>
              </a:rPr>
              <a:t>Price</a:t>
            </a:r>
            <a:br>
              <a:rPr kumimoji="0" lang="en-US" sz="1200" b="1" i="0" u="none" strike="noStrike" kern="1200" cap="none" spc="0" normalizeH="0" baseline="0" noProof="0">
                <a:ln>
                  <a:noFill/>
                </a:ln>
                <a:solidFill>
                  <a:srgbClr val="0B5F99"/>
                </a:solidFill>
                <a:effectLst/>
                <a:uLnTx/>
                <a:uFillTx/>
                <a:latin typeface="Rockwell"/>
                <a:ea typeface="Calibri" panose="020F0502020204030204" pitchFamily="34" charset="0"/>
                <a:cs typeface="Calibri" panose="020F0502020204030204" pitchFamily="34" charset="0"/>
              </a:rPr>
            </a:br>
            <a:r>
              <a:rPr kumimoji="0" lang="en-US" sz="700" b="1" i="0" u="none" strike="noStrike" kern="1200" cap="none" spc="0" normalizeH="0" baseline="0" noProof="0">
                <a:ln>
                  <a:noFill/>
                </a:ln>
                <a:solidFill>
                  <a:srgbClr val="0B5F99"/>
                </a:solidFill>
                <a:effectLst/>
                <a:uLnTx/>
                <a:uFillTx/>
                <a:latin typeface="Rockwell"/>
                <a:ea typeface="Calibri" panose="020F0502020204030204" pitchFamily="34" charset="0"/>
                <a:cs typeface="Calibri" panose="020F0502020204030204" pitchFamily="34" charset="0"/>
              </a:rPr>
              <a:t>(Moving 52 </a:t>
            </a:r>
            <a:r>
              <a:rPr kumimoji="0" lang="en-US" sz="700" b="1" i="0" u="none" strike="noStrike" kern="1200" cap="none" spc="0" normalizeH="0" baseline="0" noProof="0" err="1">
                <a:ln>
                  <a:noFill/>
                </a:ln>
                <a:solidFill>
                  <a:srgbClr val="0B5F99"/>
                </a:solidFill>
                <a:effectLst/>
                <a:uLnTx/>
                <a:uFillTx/>
                <a:latin typeface="Rockwell"/>
                <a:ea typeface="Calibri" panose="020F0502020204030204" pitchFamily="34" charset="0"/>
                <a:cs typeface="Calibri" panose="020F0502020204030204" pitchFamily="34" charset="0"/>
              </a:rPr>
              <a:t>Wks</a:t>
            </a:r>
            <a:r>
              <a:rPr kumimoji="0" lang="en-US" sz="700" b="1" i="0" u="none" strike="noStrike" kern="1200" cap="none" spc="0" normalizeH="0" baseline="0" noProof="0">
                <a:ln>
                  <a:noFill/>
                </a:ln>
                <a:solidFill>
                  <a:srgbClr val="0B5F99"/>
                </a:solidFill>
                <a:effectLst/>
                <a:uLnTx/>
                <a:uFillTx/>
                <a:latin typeface="Rockwell"/>
                <a:ea typeface="Calibri" panose="020F0502020204030204" pitchFamily="34" charset="0"/>
                <a:cs typeface="Calibri" panose="020F0502020204030204" pitchFamily="34" charset="0"/>
              </a:rPr>
              <a:t>)</a:t>
            </a:r>
            <a:r>
              <a:rPr kumimoji="0" lang="en-US" sz="1200" b="1" i="0" u="none" strike="noStrike" kern="1200" cap="none" spc="0" normalizeH="0" baseline="0" noProof="0">
                <a:ln>
                  <a:noFill/>
                </a:ln>
                <a:solidFill>
                  <a:srgbClr val="0B5F99"/>
                </a:solidFill>
                <a:effectLst/>
                <a:uLnTx/>
                <a:uFillTx/>
                <a:latin typeface="Rockwell"/>
                <a:ea typeface="Calibri" panose="020F0502020204030204" pitchFamily="34" charset="0"/>
                <a:cs typeface="Calibri" panose="020F0502020204030204" pitchFamily="34" charset="0"/>
              </a:rPr>
              <a:t> </a:t>
            </a:r>
          </a:p>
        </p:txBody>
      </p:sp>
      <p:sp>
        <p:nvSpPr>
          <p:cNvPr id="76" name="Rounded Rectangle 54">
            <a:extLst>
              <a:ext uri="{FF2B5EF4-FFF2-40B4-BE49-F238E27FC236}">
                <a16:creationId xmlns:a16="http://schemas.microsoft.com/office/drawing/2014/main" id="{94710B2E-532B-EC4D-B8A5-5B884740AC2D}"/>
              </a:ext>
            </a:extLst>
          </p:cNvPr>
          <p:cNvSpPr/>
          <p:nvPr/>
        </p:nvSpPr>
        <p:spPr>
          <a:xfrm>
            <a:off x="36212" y="1951448"/>
            <a:ext cx="1746250" cy="42545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B5F99"/>
                </a:solidFill>
                <a:effectLst/>
                <a:uLnTx/>
                <a:uFillTx/>
                <a:latin typeface="Rockwell"/>
                <a:ea typeface="Calibri" panose="020F0502020204030204" pitchFamily="34" charset="0"/>
                <a:cs typeface="Calibri" panose="020F0502020204030204" pitchFamily="34" charset="0"/>
              </a:rPr>
              <a:t>CSF</a:t>
            </a:r>
          </a:p>
        </p:txBody>
      </p:sp>
      <p:grpSp>
        <p:nvGrpSpPr>
          <p:cNvPr id="84" name="Group 83">
            <a:extLst>
              <a:ext uri="{FF2B5EF4-FFF2-40B4-BE49-F238E27FC236}">
                <a16:creationId xmlns:a16="http://schemas.microsoft.com/office/drawing/2014/main" id="{BF9312D8-A69F-BBF9-7B28-16DCD55DD39B}"/>
              </a:ext>
            </a:extLst>
          </p:cNvPr>
          <p:cNvGrpSpPr/>
          <p:nvPr/>
        </p:nvGrpSpPr>
        <p:grpSpPr>
          <a:xfrm>
            <a:off x="8017750" y="5727471"/>
            <a:ext cx="7718533" cy="1122425"/>
            <a:chOff x="4629423" y="5779752"/>
            <a:chExt cx="7718533" cy="1076905"/>
          </a:xfrm>
        </p:grpSpPr>
        <p:graphicFrame>
          <p:nvGraphicFramePr>
            <p:cNvPr id="86" name="Chart 85">
              <a:extLst>
                <a:ext uri="{FF2B5EF4-FFF2-40B4-BE49-F238E27FC236}">
                  <a16:creationId xmlns:a16="http://schemas.microsoft.com/office/drawing/2014/main" id="{A4653CF2-E305-BD31-574A-05A8E5EC8BC5}"/>
                </a:ext>
              </a:extLst>
            </p:cNvPr>
            <p:cNvGraphicFramePr/>
            <p:nvPr>
              <p:extLst>
                <p:ext uri="{D42A27DB-BD31-4B8C-83A1-F6EECF244321}">
                  <p14:modId xmlns:p14="http://schemas.microsoft.com/office/powerpoint/2010/main" val="1115896986"/>
                </p:ext>
              </p:extLst>
            </p:nvPr>
          </p:nvGraphicFramePr>
          <p:xfrm>
            <a:off x="4629423" y="5779752"/>
            <a:ext cx="1228966" cy="1076905"/>
          </p:xfrm>
          <a:graphic>
            <a:graphicData uri="http://schemas.openxmlformats.org/drawingml/2006/chart">
              <c:chart xmlns:c="http://schemas.openxmlformats.org/drawingml/2006/chart" xmlns:r="http://schemas.openxmlformats.org/officeDocument/2006/relationships" r:id="rId6"/>
            </a:graphicData>
          </a:graphic>
        </p:graphicFrame>
        <p:sp>
          <p:nvSpPr>
            <p:cNvPr id="88" name="Rectangle 87">
              <a:extLst>
                <a:ext uri="{FF2B5EF4-FFF2-40B4-BE49-F238E27FC236}">
                  <a16:creationId xmlns:a16="http://schemas.microsoft.com/office/drawing/2014/main" id="{40E41910-0B25-F6EE-FCDA-E27FD3D57642}"/>
                </a:ext>
              </a:extLst>
            </p:cNvPr>
            <p:cNvSpPr/>
            <p:nvPr/>
          </p:nvSpPr>
          <p:spPr>
            <a:xfrm>
              <a:off x="5750536" y="6370852"/>
              <a:ext cx="6597420" cy="421528"/>
            </a:xfrm>
            <a:prstGeom prst="rect">
              <a:avLst/>
            </a:prstGeom>
            <a:noFill/>
            <a:ln w="6350">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l" defTabSz="914400" rtl="0" eaLnBrk="1" fontAlgn="auto" latinLnBrk="0" hangingPunct="1">
                <a:lnSpc>
                  <a:spcPct val="100000"/>
                </a:lnSpc>
                <a:spcBef>
                  <a:spcPts val="0"/>
                </a:spcBef>
                <a:spcAft>
                  <a:spcPts val="0"/>
                </a:spcAft>
                <a:buClrTx/>
                <a:buSzTx/>
                <a:tabLst/>
                <a:defRPr/>
              </a:pPr>
              <a:r>
                <a:rPr kumimoji="0" lang="en-US" sz="900" b="1" i="1" u="none" strike="noStrike" kern="1200" cap="none" spc="0" normalizeH="0" baseline="0" noProof="0">
                  <a:ln>
                    <a:noFill/>
                  </a:ln>
                  <a:solidFill>
                    <a:prstClr val="black"/>
                  </a:solidFill>
                  <a:effectLst/>
                  <a:uLnTx/>
                  <a:uFillTx/>
                  <a:latin typeface="Aptos" panose="02110004020202020204"/>
                  <a:ea typeface="+mn-ea"/>
                  <a:cs typeface="+mn-cs"/>
                </a:rPr>
                <a:t>CSF1- Till </a:t>
              </a:r>
              <a:r>
                <a:rPr lang="en-US" sz="900" b="1" i="1">
                  <a:solidFill>
                    <a:prstClr val="black"/>
                  </a:solidFill>
                  <a:latin typeface="Aptos" panose="02110004020202020204"/>
                </a:rPr>
                <a:t>Mar</a:t>
              </a:r>
              <a:r>
                <a:rPr kumimoji="0" lang="en-US" sz="900" b="1" i="1" u="none" strike="noStrike" kern="1200" cap="none" spc="0" normalizeH="0" baseline="0" noProof="0">
                  <a:ln>
                    <a:noFill/>
                  </a:ln>
                  <a:solidFill>
                    <a:prstClr val="black"/>
                  </a:solidFill>
                  <a:effectLst/>
                  <a:uLnTx/>
                  <a:uFillTx/>
                  <a:latin typeface="Aptos" panose="02110004020202020204"/>
                  <a:ea typeface="+mn-ea"/>
                  <a:cs typeface="+mn-cs"/>
                </a:rPr>
                <a:t> 23’; CSF2 – Till </a:t>
              </a:r>
              <a:r>
                <a:rPr lang="en-US" sz="900" b="1" i="1">
                  <a:solidFill>
                    <a:prstClr val="black"/>
                  </a:solidFill>
                  <a:latin typeface="Aptos" panose="02110004020202020204"/>
                </a:rPr>
                <a:t>Mar</a:t>
              </a:r>
              <a:r>
                <a:rPr kumimoji="0" lang="en-US" sz="900" b="1" i="1" u="none" strike="noStrike" kern="1200" cap="none" spc="0" normalizeH="0" baseline="0" noProof="0">
                  <a:ln>
                    <a:noFill/>
                  </a:ln>
                  <a:solidFill>
                    <a:prstClr val="black"/>
                  </a:solidFill>
                  <a:effectLst/>
                  <a:uLnTx/>
                  <a:uFillTx/>
                  <a:latin typeface="Aptos" panose="02110004020202020204"/>
                  <a:ea typeface="+mn-ea"/>
                  <a:cs typeface="+mn-cs"/>
                </a:rPr>
                <a:t> 24’; CSF3 – Till </a:t>
              </a:r>
              <a:r>
                <a:rPr lang="en-US" sz="900" b="1" i="1">
                  <a:solidFill>
                    <a:prstClr val="black"/>
                  </a:solidFill>
                  <a:latin typeface="Aptos" panose="02110004020202020204"/>
                </a:rPr>
                <a:t> Mar</a:t>
              </a:r>
              <a:r>
                <a:rPr kumimoji="0" lang="en-US" sz="900" b="1" i="1" u="none" strike="noStrike" kern="1200" cap="none" spc="0" normalizeH="0" baseline="0" noProof="0">
                  <a:ln>
                    <a:noFill/>
                  </a:ln>
                  <a:solidFill>
                    <a:prstClr val="black"/>
                  </a:solidFill>
                  <a:effectLst/>
                  <a:uLnTx/>
                  <a:uFillTx/>
                  <a:latin typeface="Aptos" panose="02110004020202020204"/>
                  <a:ea typeface="+mn-ea"/>
                  <a:cs typeface="+mn-cs"/>
                </a:rPr>
                <a:t> 25’</a:t>
              </a:r>
              <a:endParaRPr kumimoji="0" lang="en-IN" sz="900" b="1" i="1"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19" name="Rectangle 18">
            <a:extLst>
              <a:ext uri="{FF2B5EF4-FFF2-40B4-BE49-F238E27FC236}">
                <a16:creationId xmlns:a16="http://schemas.microsoft.com/office/drawing/2014/main" id="{DC72F893-F5E8-51AA-3762-CEA785A65D2A}"/>
              </a:ext>
            </a:extLst>
          </p:cNvPr>
          <p:cNvSpPr/>
          <p:nvPr/>
        </p:nvSpPr>
        <p:spPr>
          <a:xfrm>
            <a:off x="822961" y="4246096"/>
            <a:ext cx="11010002" cy="1987714"/>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20" name="Chart 19">
            <a:extLst>
              <a:ext uri="{FF2B5EF4-FFF2-40B4-BE49-F238E27FC236}">
                <a16:creationId xmlns:a16="http://schemas.microsoft.com/office/drawing/2014/main" id="{C027C832-5B77-FB21-4BD1-7EEFC1DF32AC}"/>
              </a:ext>
            </a:extLst>
          </p:cNvPr>
          <p:cNvGraphicFramePr/>
          <p:nvPr>
            <p:extLst>
              <p:ext uri="{D42A27DB-BD31-4B8C-83A1-F6EECF244321}">
                <p14:modId xmlns:p14="http://schemas.microsoft.com/office/powerpoint/2010/main" val="3861352560"/>
              </p:ext>
            </p:extLst>
          </p:nvPr>
        </p:nvGraphicFramePr>
        <p:xfrm>
          <a:off x="1525195" y="1602844"/>
          <a:ext cx="9354650" cy="1542198"/>
        </p:xfrm>
        <a:graphic>
          <a:graphicData uri="http://schemas.openxmlformats.org/drawingml/2006/chart">
            <c:chart xmlns:c="http://schemas.openxmlformats.org/drawingml/2006/chart" xmlns:r="http://schemas.openxmlformats.org/officeDocument/2006/relationships" r:id="rId7"/>
          </a:graphicData>
        </a:graphic>
      </p:graphicFrame>
      <p:sp>
        <p:nvSpPr>
          <p:cNvPr id="23" name="Rectangle 22">
            <a:extLst>
              <a:ext uri="{FF2B5EF4-FFF2-40B4-BE49-F238E27FC236}">
                <a16:creationId xmlns:a16="http://schemas.microsoft.com/office/drawing/2014/main" id="{FB7BA710-8065-87C1-7F9C-5C27B765B33D}"/>
              </a:ext>
            </a:extLst>
          </p:cNvPr>
          <p:cNvSpPr/>
          <p:nvPr/>
        </p:nvSpPr>
        <p:spPr>
          <a:xfrm>
            <a:off x="822960" y="977131"/>
            <a:ext cx="10973806" cy="2966145"/>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4FFD80A4-426C-526B-2B06-56B2D5BBBA1B}"/>
              </a:ext>
            </a:extLst>
          </p:cNvPr>
          <p:cNvSpPr/>
          <p:nvPr/>
        </p:nvSpPr>
        <p:spPr>
          <a:xfrm>
            <a:off x="215405" y="707885"/>
            <a:ext cx="2047028" cy="351113"/>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Century Gothic" panose="020B0502020202020204" pitchFamily="34" charset="0"/>
              </a:rPr>
              <a:t>SUPERMARKET CHANNEL</a:t>
            </a:r>
            <a:endParaRPr lang="en-IN" sz="1200" b="1">
              <a:latin typeface="Century Gothic" panose="020B0502020202020204" pitchFamily="34" charset="0"/>
            </a:endParaRPr>
          </a:p>
        </p:txBody>
      </p:sp>
      <p:sp>
        <p:nvSpPr>
          <p:cNvPr id="12" name="Title 3">
            <a:extLst>
              <a:ext uri="{FF2B5EF4-FFF2-40B4-BE49-F238E27FC236}">
                <a16:creationId xmlns:a16="http://schemas.microsoft.com/office/drawing/2014/main" id="{444CF62B-FE31-57EA-4626-6E9C56F4269E}"/>
              </a:ext>
            </a:extLst>
          </p:cNvPr>
          <p:cNvSpPr txBox="1">
            <a:spLocks/>
          </p:cNvSpPr>
          <p:nvPr/>
        </p:nvSpPr>
        <p:spPr>
          <a:xfrm>
            <a:off x="56702" y="8494"/>
            <a:ext cx="12124823" cy="611002"/>
          </a:xfrm>
          <a:prstGeom prst="rect">
            <a:avLst/>
          </a:prstGeom>
        </p:spPr>
        <p:txBody>
          <a:bodyPr vert="horz" lIns="121920" tIns="60960" rIns="121920" bIns="6096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a:lnSpc>
                <a:spcPct val="80000"/>
              </a:lnSpc>
              <a:spcBef>
                <a:spcPts val="0"/>
              </a:spcBef>
              <a:defRPr/>
            </a:pPr>
            <a:r>
              <a:rPr lang="en-GB" sz="1380" b="1" spc="-64">
                <a:solidFill>
                  <a:srgbClr val="4472C4">
                    <a:lumMod val="50000"/>
                  </a:srgbClr>
                </a:solidFill>
                <a:latin typeface="Rockwell"/>
                <a:ea typeface="+mn-ea"/>
                <a:cs typeface="Arial" panose="020B0604020202020204" pitchFamily="34" charset="0"/>
              </a:rPr>
              <a:t>CSF and MCV trends  : Both the brands have increasing MCV patterns showing category specific consumers</a:t>
            </a:r>
          </a:p>
        </p:txBody>
      </p:sp>
      <p:grpSp>
        <p:nvGrpSpPr>
          <p:cNvPr id="14" name="Group 13">
            <a:extLst>
              <a:ext uri="{FF2B5EF4-FFF2-40B4-BE49-F238E27FC236}">
                <a16:creationId xmlns:a16="http://schemas.microsoft.com/office/drawing/2014/main" id="{C11763EE-7015-E841-22C6-D04EBF7E92F1}"/>
              </a:ext>
            </a:extLst>
          </p:cNvPr>
          <p:cNvGrpSpPr/>
          <p:nvPr/>
        </p:nvGrpSpPr>
        <p:grpSpPr>
          <a:xfrm>
            <a:off x="142240" y="479330"/>
            <a:ext cx="10566400" cy="45719"/>
            <a:chOff x="142240" y="653388"/>
            <a:chExt cx="10566400" cy="45719"/>
          </a:xfrm>
        </p:grpSpPr>
        <p:cxnSp>
          <p:nvCxnSpPr>
            <p:cNvPr id="17" name="Straight Connector 16">
              <a:extLst>
                <a:ext uri="{FF2B5EF4-FFF2-40B4-BE49-F238E27FC236}">
                  <a16:creationId xmlns:a16="http://schemas.microsoft.com/office/drawing/2014/main" id="{E5786C16-D87B-2682-FAFD-35E2CA2ABBC2}"/>
                </a:ext>
              </a:extLst>
            </p:cNvPr>
            <p:cNvCxnSpPr>
              <a:cxnSpLocks/>
            </p:cNvCxnSpPr>
            <p:nvPr/>
          </p:nvCxnSpPr>
          <p:spPr>
            <a:xfrm>
              <a:off x="822960" y="673708"/>
              <a:ext cx="988568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EFF1C8C1-01D9-3D25-7EAE-E33B5AA71D99}"/>
                </a:ext>
              </a:extLst>
            </p:cNvPr>
            <p:cNvSpPr/>
            <p:nvPr/>
          </p:nvSpPr>
          <p:spPr>
            <a:xfrm>
              <a:off x="142240" y="653388"/>
              <a:ext cx="1158240" cy="45719"/>
            </a:xfrm>
            <a:prstGeom prst="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028" name="Picture 4" descr="HEINZ Salad Cream | EeeBeeGeeB">
            <a:extLst>
              <a:ext uri="{FF2B5EF4-FFF2-40B4-BE49-F238E27FC236}">
                <a16:creationId xmlns:a16="http://schemas.microsoft.com/office/drawing/2014/main" id="{A34F0B4B-1F2C-D60E-3884-CFEEA71ACC6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02592" y="3194554"/>
            <a:ext cx="968607" cy="585676"/>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057ADDD1-0030-8712-126E-122D1D6F106B}"/>
              </a:ext>
            </a:extLst>
          </p:cNvPr>
          <p:cNvSpPr txBox="1"/>
          <p:nvPr/>
        </p:nvSpPr>
        <p:spPr>
          <a:xfrm>
            <a:off x="7585858" y="3433125"/>
            <a:ext cx="2092750" cy="307777"/>
          </a:xfrm>
          <a:prstGeom prst="rect">
            <a:avLst/>
          </a:prstGeom>
          <a:noFill/>
        </p:spPr>
        <p:txBody>
          <a:bodyPr wrap="square" rtlCol="0">
            <a:spAutoFit/>
          </a:bodyPr>
          <a:lstStyle/>
          <a:p>
            <a:r>
              <a:rPr lang="en-US" sz="1400" b="1">
                <a:solidFill>
                  <a:srgbClr val="FF0000"/>
                </a:solidFill>
              </a:rPr>
              <a:t>PRIVATE LABEL</a:t>
            </a:r>
          </a:p>
        </p:txBody>
      </p:sp>
      <p:cxnSp>
        <p:nvCxnSpPr>
          <p:cNvPr id="34" name="Straight Arrow Connector 33">
            <a:extLst>
              <a:ext uri="{FF2B5EF4-FFF2-40B4-BE49-F238E27FC236}">
                <a16:creationId xmlns:a16="http://schemas.microsoft.com/office/drawing/2014/main" id="{7C82A55F-7E43-3BF4-7BD2-BCFCBC2A0192}"/>
              </a:ext>
            </a:extLst>
          </p:cNvPr>
          <p:cNvCxnSpPr>
            <a:cxnSpLocks/>
          </p:cNvCxnSpPr>
          <p:nvPr/>
        </p:nvCxnSpPr>
        <p:spPr>
          <a:xfrm flipV="1">
            <a:off x="6327962" y="2282817"/>
            <a:ext cx="3169999" cy="143576"/>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36" name="Straight Arrow Connector 35">
            <a:extLst>
              <a:ext uri="{FF2B5EF4-FFF2-40B4-BE49-F238E27FC236}">
                <a16:creationId xmlns:a16="http://schemas.microsoft.com/office/drawing/2014/main" id="{EDA4AE0A-3803-D354-97BC-570E5130F5F2}"/>
              </a:ext>
            </a:extLst>
          </p:cNvPr>
          <p:cNvCxnSpPr>
            <a:cxnSpLocks/>
          </p:cNvCxnSpPr>
          <p:nvPr/>
        </p:nvCxnSpPr>
        <p:spPr>
          <a:xfrm flipV="1">
            <a:off x="1782462" y="1697893"/>
            <a:ext cx="3169999" cy="143576"/>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37" name="TextBox 36">
            <a:extLst>
              <a:ext uri="{FF2B5EF4-FFF2-40B4-BE49-F238E27FC236}">
                <a16:creationId xmlns:a16="http://schemas.microsoft.com/office/drawing/2014/main" id="{7A47F8C1-226D-E69C-75A0-86DA945CBB37}"/>
              </a:ext>
            </a:extLst>
          </p:cNvPr>
          <p:cNvSpPr txBox="1"/>
          <p:nvPr/>
        </p:nvSpPr>
        <p:spPr>
          <a:xfrm rot="21409419">
            <a:off x="2357797" y="1559086"/>
            <a:ext cx="1566926" cy="246221"/>
          </a:xfrm>
          <a:prstGeom prst="rect">
            <a:avLst/>
          </a:prstGeom>
          <a:noFill/>
        </p:spPr>
        <p:txBody>
          <a:bodyPr wrap="square" rtlCol="0">
            <a:spAutoFit/>
          </a:bodyPr>
          <a:lstStyle/>
          <a:p>
            <a:pPr algn="ctr"/>
            <a:r>
              <a:rPr lang="en-US" sz="1000" b="1"/>
              <a:t>Increasing MCV</a:t>
            </a:r>
            <a:endParaRPr lang="en-IN" sz="1000" b="1"/>
          </a:p>
        </p:txBody>
      </p:sp>
      <p:sp>
        <p:nvSpPr>
          <p:cNvPr id="38" name="TextBox 37">
            <a:extLst>
              <a:ext uri="{FF2B5EF4-FFF2-40B4-BE49-F238E27FC236}">
                <a16:creationId xmlns:a16="http://schemas.microsoft.com/office/drawing/2014/main" id="{829C7D79-4E9E-7283-679C-F02614550C3F}"/>
              </a:ext>
            </a:extLst>
          </p:cNvPr>
          <p:cNvSpPr txBox="1"/>
          <p:nvPr/>
        </p:nvSpPr>
        <p:spPr>
          <a:xfrm rot="21409419">
            <a:off x="7129497" y="2124031"/>
            <a:ext cx="1566926" cy="246221"/>
          </a:xfrm>
          <a:prstGeom prst="rect">
            <a:avLst/>
          </a:prstGeom>
          <a:noFill/>
        </p:spPr>
        <p:txBody>
          <a:bodyPr wrap="square" rtlCol="0">
            <a:spAutoFit/>
          </a:bodyPr>
          <a:lstStyle/>
          <a:p>
            <a:pPr algn="ctr"/>
            <a:r>
              <a:rPr lang="en-US" sz="1000" b="1"/>
              <a:t>Increasing MCV</a:t>
            </a:r>
            <a:endParaRPr lang="en-IN" sz="1000" b="1"/>
          </a:p>
        </p:txBody>
      </p:sp>
      <p:sp>
        <p:nvSpPr>
          <p:cNvPr id="39" name="TextBox 38">
            <a:extLst>
              <a:ext uri="{FF2B5EF4-FFF2-40B4-BE49-F238E27FC236}">
                <a16:creationId xmlns:a16="http://schemas.microsoft.com/office/drawing/2014/main" id="{2CDEB0F2-3CE9-A67B-8DCD-DC03EE5328C8}"/>
              </a:ext>
            </a:extLst>
          </p:cNvPr>
          <p:cNvSpPr txBox="1"/>
          <p:nvPr/>
        </p:nvSpPr>
        <p:spPr>
          <a:xfrm>
            <a:off x="917640" y="4532671"/>
            <a:ext cx="10723754" cy="1200329"/>
          </a:xfrm>
          <a:prstGeom prst="rect">
            <a:avLst/>
          </a:prstGeom>
          <a:noFill/>
        </p:spPr>
        <p:txBody>
          <a:bodyPr wrap="square" rtlCol="0">
            <a:spAutoFit/>
          </a:bodyPr>
          <a:lstStyle/>
          <a:p>
            <a:pPr marL="285750" indent="-285750">
              <a:buFont typeface="Arial" panose="020B0604020202020204" pitchFamily="34" charset="0"/>
              <a:buChar char="•"/>
            </a:pPr>
            <a:r>
              <a:rPr lang="en-US"/>
              <a:t>Heinz even after reducing the average prices in the last year found it’s MCV increasing thus giving a better CSF and pricing power at the current price point</a:t>
            </a:r>
          </a:p>
          <a:p>
            <a:pPr marL="285750" indent="-285750">
              <a:buFont typeface="Arial" panose="020B0604020202020204" pitchFamily="34" charset="0"/>
              <a:buChar char="•"/>
            </a:pPr>
            <a:r>
              <a:rPr lang="en-US"/>
              <a:t>Private label has increased prices by ~50% yet has seen its MCV rising and CSF still above that of Heinz inferring it still has a better market share headroom than Heinz </a:t>
            </a:r>
          </a:p>
        </p:txBody>
      </p:sp>
    </p:spTree>
    <p:extLst>
      <p:ext uri="{BB962C8B-B14F-4D97-AF65-F5344CB8AC3E}">
        <p14:creationId xmlns:p14="http://schemas.microsoft.com/office/powerpoint/2010/main" val="3542065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194CD35-7CB4-B397-E694-1F59A442A180}"/>
              </a:ext>
            </a:extLst>
          </p:cNvPr>
          <p:cNvGraphicFramePr>
            <a:graphicFrameLocks noGrp="1"/>
          </p:cNvGraphicFramePr>
          <p:nvPr>
            <p:extLst>
              <p:ext uri="{D42A27DB-BD31-4B8C-83A1-F6EECF244321}">
                <p14:modId xmlns:p14="http://schemas.microsoft.com/office/powerpoint/2010/main" val="1351203787"/>
              </p:ext>
            </p:extLst>
          </p:nvPr>
        </p:nvGraphicFramePr>
        <p:xfrm>
          <a:off x="2851150" y="1600200"/>
          <a:ext cx="7607299" cy="2956721"/>
        </p:xfrm>
        <a:graphic>
          <a:graphicData uri="http://schemas.openxmlformats.org/drawingml/2006/table">
            <a:tbl>
              <a:tblPr/>
              <a:tblGrid>
                <a:gridCol w="908112">
                  <a:extLst>
                    <a:ext uri="{9D8B030D-6E8A-4147-A177-3AD203B41FA5}">
                      <a16:colId xmlns:a16="http://schemas.microsoft.com/office/drawing/2014/main" val="1405230629"/>
                    </a:ext>
                  </a:extLst>
                </a:gridCol>
                <a:gridCol w="89323">
                  <a:extLst>
                    <a:ext uri="{9D8B030D-6E8A-4147-A177-3AD203B41FA5}">
                      <a16:colId xmlns:a16="http://schemas.microsoft.com/office/drawing/2014/main" val="2905892067"/>
                    </a:ext>
                  </a:extLst>
                </a:gridCol>
                <a:gridCol w="997435">
                  <a:extLst>
                    <a:ext uri="{9D8B030D-6E8A-4147-A177-3AD203B41FA5}">
                      <a16:colId xmlns:a16="http://schemas.microsoft.com/office/drawing/2014/main" val="3443504642"/>
                    </a:ext>
                  </a:extLst>
                </a:gridCol>
                <a:gridCol w="908112">
                  <a:extLst>
                    <a:ext uri="{9D8B030D-6E8A-4147-A177-3AD203B41FA5}">
                      <a16:colId xmlns:a16="http://schemas.microsoft.com/office/drawing/2014/main" val="2752757650"/>
                    </a:ext>
                  </a:extLst>
                </a:gridCol>
                <a:gridCol w="967660">
                  <a:extLst>
                    <a:ext uri="{9D8B030D-6E8A-4147-A177-3AD203B41FA5}">
                      <a16:colId xmlns:a16="http://schemas.microsoft.com/office/drawing/2014/main" val="2731992859"/>
                    </a:ext>
                  </a:extLst>
                </a:gridCol>
                <a:gridCol w="893225">
                  <a:extLst>
                    <a:ext uri="{9D8B030D-6E8A-4147-A177-3AD203B41FA5}">
                      <a16:colId xmlns:a16="http://schemas.microsoft.com/office/drawing/2014/main" val="968896979"/>
                    </a:ext>
                  </a:extLst>
                </a:gridCol>
                <a:gridCol w="967660">
                  <a:extLst>
                    <a:ext uri="{9D8B030D-6E8A-4147-A177-3AD203B41FA5}">
                      <a16:colId xmlns:a16="http://schemas.microsoft.com/office/drawing/2014/main" val="3662098460"/>
                    </a:ext>
                  </a:extLst>
                </a:gridCol>
                <a:gridCol w="967660">
                  <a:extLst>
                    <a:ext uri="{9D8B030D-6E8A-4147-A177-3AD203B41FA5}">
                      <a16:colId xmlns:a16="http://schemas.microsoft.com/office/drawing/2014/main" val="1553766557"/>
                    </a:ext>
                  </a:extLst>
                </a:gridCol>
                <a:gridCol w="908112">
                  <a:extLst>
                    <a:ext uri="{9D8B030D-6E8A-4147-A177-3AD203B41FA5}">
                      <a16:colId xmlns:a16="http://schemas.microsoft.com/office/drawing/2014/main" val="891663047"/>
                    </a:ext>
                  </a:extLst>
                </a:gridCol>
              </a:tblGrid>
              <a:tr h="489971">
                <a:tc>
                  <a:txBody>
                    <a:bodyPr/>
                    <a:lstStyle/>
                    <a:p>
                      <a:pPr algn="l" fontAlgn="b"/>
                      <a:r>
                        <a:rPr lang="en-GB" sz="1100" b="0" i="0" u="none" strike="noStrike">
                          <a:solidFill>
                            <a:srgbClr val="000000"/>
                          </a:solidFill>
                          <a:effectLst/>
                          <a:latin typeface="Aptos Narrow" panose="020B0004020202020204" pitchFamily="34" charset="0"/>
                        </a:rPr>
                        <a:t>Category</a:t>
                      </a:r>
                    </a:p>
                  </a:txBody>
                  <a:tcPr marL="6350" marR="6350" marT="6350" marB="0" anchor="b">
                    <a:lnL>
                      <a:noFill/>
                    </a:lnL>
                    <a:lnR>
                      <a:noFill/>
                    </a:lnR>
                    <a:lnT>
                      <a:noFill/>
                    </a:lnT>
                    <a:lnB>
                      <a:noFill/>
                    </a:lnB>
                    <a:solidFill>
                      <a:srgbClr val="FFFF00"/>
                    </a:solidFill>
                  </a:tcPr>
                </a:tc>
                <a:tc>
                  <a:txBody>
                    <a:bodyPr/>
                    <a:lstStyle/>
                    <a:p>
                      <a:pPr algn="l" fontAlgn="b"/>
                      <a:endParaRPr lang="en-GB" sz="1100" b="0" i="0" u="none" strike="noStrike">
                        <a:solidFill>
                          <a:srgbClr val="000000"/>
                        </a:solidFill>
                        <a:effectLst/>
                        <a:latin typeface="Aptos Narrow" panose="020B0004020202020204" pitchFamily="34" charset="0"/>
                      </a:endParaRPr>
                    </a:p>
                  </a:txBody>
                  <a:tcPr marL="6350" marR="6350" marT="6350" marB="0" anchor="b">
                    <a:lnL>
                      <a:noFill/>
                    </a:lnL>
                    <a:lnR>
                      <a:noFill/>
                    </a:lnR>
                    <a:lnT>
                      <a:noFill/>
                    </a:lnT>
                    <a:lnB>
                      <a:noFill/>
                    </a:lnB>
                    <a:noFill/>
                  </a:tcPr>
                </a:tc>
                <a:tc>
                  <a:txBody>
                    <a:bodyPr/>
                    <a:lstStyle/>
                    <a:p>
                      <a:pPr algn="l" fontAlgn="b"/>
                      <a:r>
                        <a:rPr lang="en-GB" sz="1100" b="0" i="0" u="none" strike="noStrike">
                          <a:solidFill>
                            <a:srgbClr val="000000"/>
                          </a:solidFill>
                          <a:effectLst/>
                          <a:latin typeface="Aptos Narrow" panose="020B0004020202020204" pitchFamily="34" charset="0"/>
                        </a:rPr>
                        <a:t>Self Elas</a:t>
                      </a:r>
                    </a:p>
                  </a:txBody>
                  <a:tcPr marL="6350" marR="6350" marT="6350" marB="0" anchor="b">
                    <a:lnL>
                      <a:noFill/>
                    </a:lnL>
                    <a:lnR>
                      <a:noFill/>
                    </a:lnR>
                    <a:lnT>
                      <a:noFill/>
                    </a:lnT>
                    <a:lnB>
                      <a:noFill/>
                    </a:lnB>
                    <a:solidFill>
                      <a:srgbClr val="FFFF00"/>
                    </a:solidFill>
                  </a:tcPr>
                </a:tc>
                <a:tc>
                  <a:txBody>
                    <a:bodyPr/>
                    <a:lstStyle/>
                    <a:p>
                      <a:pPr algn="l" fontAlgn="b"/>
                      <a:r>
                        <a:rPr lang="en-GB" sz="1100" b="1" i="0" u="none" strike="noStrike">
                          <a:solidFill>
                            <a:srgbClr val="000000"/>
                          </a:solidFill>
                          <a:effectLst/>
                          <a:latin typeface="Aptos Narrow" panose="020B0004020202020204" pitchFamily="34" charset="0"/>
                        </a:rPr>
                        <a:t>brown sauce</a:t>
                      </a:r>
                    </a:p>
                  </a:txBody>
                  <a:tcPr marL="6350" marR="6350" marT="6350" marB="0" anchor="b">
                    <a:lnL>
                      <a:noFill/>
                    </a:lnL>
                    <a:lnR>
                      <a:noFill/>
                    </a:lnR>
                    <a:lnT>
                      <a:noFill/>
                    </a:lnT>
                    <a:lnB>
                      <a:noFill/>
                    </a:lnB>
                    <a:solidFill>
                      <a:srgbClr val="FFFF00"/>
                    </a:solidFill>
                  </a:tcPr>
                </a:tc>
                <a:tc>
                  <a:txBody>
                    <a:bodyPr/>
                    <a:lstStyle/>
                    <a:p>
                      <a:pPr algn="l" fontAlgn="b"/>
                      <a:r>
                        <a:rPr lang="en-GB" sz="1100" b="1" i="0" u="none" strike="noStrike">
                          <a:solidFill>
                            <a:srgbClr val="000000"/>
                          </a:solidFill>
                          <a:effectLst/>
                          <a:latin typeface="Aptos Narrow" panose="020B0004020202020204" pitchFamily="34" charset="0"/>
                        </a:rPr>
                        <a:t>bbq sauce</a:t>
                      </a:r>
                    </a:p>
                  </a:txBody>
                  <a:tcPr marL="6350" marR="6350" marT="6350" marB="0" anchor="b">
                    <a:lnL>
                      <a:noFill/>
                    </a:lnL>
                    <a:lnR>
                      <a:noFill/>
                    </a:lnR>
                    <a:lnT>
                      <a:noFill/>
                    </a:lnT>
                    <a:lnB>
                      <a:noFill/>
                    </a:lnB>
                    <a:solidFill>
                      <a:srgbClr val="FFFF00"/>
                    </a:solidFill>
                  </a:tcPr>
                </a:tc>
                <a:tc>
                  <a:txBody>
                    <a:bodyPr/>
                    <a:lstStyle/>
                    <a:p>
                      <a:pPr algn="l" fontAlgn="b"/>
                      <a:r>
                        <a:rPr lang="en-GB" sz="1100" b="1" i="0" u="none" strike="noStrike">
                          <a:solidFill>
                            <a:srgbClr val="000000"/>
                          </a:solidFill>
                          <a:effectLst/>
                          <a:latin typeface="Aptos Narrow" panose="020B0004020202020204" pitchFamily="34" charset="0"/>
                        </a:rPr>
                        <a:t>salad cream</a:t>
                      </a:r>
                    </a:p>
                  </a:txBody>
                  <a:tcPr marL="6350" marR="6350" marT="6350" marB="0" anchor="b">
                    <a:lnL>
                      <a:noFill/>
                    </a:lnL>
                    <a:lnR>
                      <a:noFill/>
                    </a:lnR>
                    <a:lnT>
                      <a:noFill/>
                    </a:lnT>
                    <a:lnB>
                      <a:noFill/>
                    </a:lnB>
                    <a:solidFill>
                      <a:srgbClr val="FFFF00"/>
                    </a:solidFill>
                  </a:tcPr>
                </a:tc>
                <a:tc>
                  <a:txBody>
                    <a:bodyPr/>
                    <a:lstStyle/>
                    <a:p>
                      <a:pPr algn="l" fontAlgn="b"/>
                      <a:r>
                        <a:rPr lang="en-GB" sz="1100" b="1" i="0" u="none" strike="noStrike">
                          <a:solidFill>
                            <a:srgbClr val="000000"/>
                          </a:solidFill>
                          <a:effectLst/>
                          <a:latin typeface="Aptos Narrow" panose="020B0004020202020204" pitchFamily="34" charset="0"/>
                        </a:rPr>
                        <a:t>ketchup</a:t>
                      </a:r>
                    </a:p>
                  </a:txBody>
                  <a:tcPr marL="6350" marR="6350" marT="6350" marB="0" anchor="b">
                    <a:lnL>
                      <a:noFill/>
                    </a:lnL>
                    <a:lnR>
                      <a:noFill/>
                    </a:lnR>
                    <a:lnT>
                      <a:noFill/>
                    </a:lnT>
                    <a:lnB>
                      <a:noFill/>
                    </a:lnB>
                    <a:solidFill>
                      <a:srgbClr val="FFFF00"/>
                    </a:solidFill>
                  </a:tcPr>
                </a:tc>
                <a:tc>
                  <a:txBody>
                    <a:bodyPr/>
                    <a:lstStyle/>
                    <a:p>
                      <a:pPr algn="l" fontAlgn="b"/>
                      <a:r>
                        <a:rPr lang="en-GB" sz="1100" b="1" i="0" u="none" strike="noStrike">
                          <a:solidFill>
                            <a:srgbClr val="000000"/>
                          </a:solidFill>
                          <a:effectLst/>
                          <a:latin typeface="Aptos Narrow" panose="020B0004020202020204" pitchFamily="34" charset="0"/>
                        </a:rPr>
                        <a:t>mayo</a:t>
                      </a:r>
                    </a:p>
                  </a:txBody>
                  <a:tcPr marL="6350" marR="6350" marT="6350" marB="0" anchor="b">
                    <a:lnL>
                      <a:noFill/>
                    </a:lnL>
                    <a:lnR>
                      <a:noFill/>
                    </a:lnR>
                    <a:lnT>
                      <a:noFill/>
                    </a:lnT>
                    <a:lnB>
                      <a:noFill/>
                    </a:lnB>
                    <a:solidFill>
                      <a:srgbClr val="FFFF00"/>
                    </a:solidFill>
                  </a:tcPr>
                </a:tc>
                <a:tc>
                  <a:txBody>
                    <a:bodyPr/>
                    <a:lstStyle/>
                    <a:p>
                      <a:pPr algn="l" fontAlgn="b"/>
                      <a:r>
                        <a:rPr lang="en-GB" sz="1100" b="1" i="0" u="none" strike="noStrike">
                          <a:solidFill>
                            <a:srgbClr val="000000"/>
                          </a:solidFill>
                          <a:effectLst/>
                          <a:latin typeface="Aptos Narrow" panose="020B0004020202020204" pitchFamily="34" charset="0"/>
                        </a:rPr>
                        <a:t>Cat delta</a:t>
                      </a:r>
                    </a:p>
                  </a:txBody>
                  <a:tcPr marL="6350" marR="6350" marT="6350" marB="0" anchor="b">
                    <a:lnL>
                      <a:noFill/>
                    </a:lnL>
                    <a:lnR>
                      <a:noFill/>
                    </a:lnR>
                    <a:lnT>
                      <a:noFill/>
                    </a:lnT>
                    <a:lnB>
                      <a:noFill/>
                    </a:lnB>
                    <a:solidFill>
                      <a:srgbClr val="FFFF00"/>
                    </a:solidFill>
                  </a:tcPr>
                </a:tc>
                <a:extLst>
                  <a:ext uri="{0D108BD9-81ED-4DB2-BD59-A6C34878D82A}">
                    <a16:rowId xmlns:a16="http://schemas.microsoft.com/office/drawing/2014/main" val="1588940726"/>
                  </a:ext>
                </a:extLst>
              </a:tr>
              <a:tr h="489971">
                <a:tc>
                  <a:txBody>
                    <a:bodyPr/>
                    <a:lstStyle/>
                    <a:p>
                      <a:pPr algn="l" fontAlgn="b"/>
                      <a:r>
                        <a:rPr lang="en-GB" sz="1100" b="1" i="0" u="none" strike="noStrike">
                          <a:solidFill>
                            <a:srgbClr val="000000"/>
                          </a:solidFill>
                          <a:effectLst/>
                          <a:latin typeface="Aptos Narrow" panose="020B0004020202020204" pitchFamily="34" charset="0"/>
                        </a:rPr>
                        <a:t>brown sauce</a:t>
                      </a:r>
                    </a:p>
                  </a:txBody>
                  <a:tcPr marL="6350" marR="6350" marT="6350" marB="0" anchor="b">
                    <a:lnL>
                      <a:noFill/>
                    </a:lnL>
                    <a:lnR>
                      <a:noFill/>
                    </a:lnR>
                    <a:lnT>
                      <a:noFill/>
                    </a:lnT>
                    <a:lnB>
                      <a:noFill/>
                    </a:lnB>
                    <a:solidFill>
                      <a:srgbClr val="FFFF00"/>
                    </a:solidFill>
                  </a:tcPr>
                </a:tc>
                <a:tc>
                  <a:txBody>
                    <a:bodyPr/>
                    <a:lstStyle/>
                    <a:p>
                      <a:pPr algn="l" fontAlgn="b"/>
                      <a:endParaRPr lang="en-GB" sz="1100" b="0" i="0" u="none" strike="noStrike">
                        <a:solidFill>
                          <a:srgbClr val="000000"/>
                        </a:solidFill>
                        <a:effectLst/>
                        <a:latin typeface="Aptos Narrow" panose="020B0004020202020204" pitchFamily="34" charset="0"/>
                      </a:endParaRPr>
                    </a:p>
                  </a:txBody>
                  <a:tcPr marL="6350" marR="6350" marT="6350" marB="0" anchor="b">
                    <a:lnL>
                      <a:noFill/>
                    </a:lnL>
                    <a:lnR>
                      <a:noFill/>
                    </a:lnR>
                    <a:lnT>
                      <a:noFill/>
                    </a:lnT>
                    <a:lnB>
                      <a:noFill/>
                    </a:lnB>
                    <a:noFill/>
                  </a:tcPr>
                </a:tc>
                <a:tc>
                  <a:txBody>
                    <a:bodyPr/>
                    <a:lstStyle/>
                    <a:p>
                      <a:pPr algn="r" fontAlgn="b"/>
                      <a:r>
                        <a:rPr lang="en-GB" sz="1100" b="0" i="0" u="none" strike="noStrike">
                          <a:solidFill>
                            <a:srgbClr val="000000"/>
                          </a:solidFill>
                          <a:effectLst/>
                          <a:latin typeface="Aptos Narrow" panose="020B0004020202020204" pitchFamily="34" charset="0"/>
                        </a:rPr>
                        <a:t>-2.10</a:t>
                      </a:r>
                    </a:p>
                  </a:txBody>
                  <a:tcPr marL="6350" marR="6350" marT="6350" marB="0" anchor="b">
                    <a:lnL>
                      <a:noFill/>
                    </a:lnL>
                    <a:lnR>
                      <a:noFill/>
                    </a:lnR>
                    <a:lnT>
                      <a:noFill/>
                    </a:lnT>
                    <a:lnB>
                      <a:noFill/>
                    </a:lnB>
                    <a:solidFill>
                      <a:srgbClr val="FFFF00"/>
                    </a:solidFill>
                  </a:tcPr>
                </a:tc>
                <a:tc>
                  <a:txBody>
                    <a:bodyPr/>
                    <a:lstStyle/>
                    <a:p>
                      <a:pPr algn="r" fontAlgn="b"/>
                      <a:r>
                        <a:rPr lang="en-GB" sz="1100" b="0" i="0" u="none" strike="noStrike">
                          <a:solidFill>
                            <a:srgbClr val="000000"/>
                          </a:solidFill>
                          <a:effectLst/>
                          <a:latin typeface="Aptos Narrow" panose="020B0004020202020204" pitchFamily="34" charset="0"/>
                        </a:rPr>
                        <a:t>0</a:t>
                      </a:r>
                    </a:p>
                  </a:txBody>
                  <a:tcPr marL="6350" marR="6350" marT="6350" marB="0" anchor="b">
                    <a:lnL>
                      <a:noFill/>
                    </a:lnL>
                    <a:lnR>
                      <a:noFill/>
                    </a:lnR>
                    <a:lnT>
                      <a:noFill/>
                    </a:lnT>
                    <a:lnB>
                      <a:noFill/>
                    </a:lnB>
                    <a:solidFill>
                      <a:srgbClr val="FFFF00"/>
                    </a:solidFill>
                  </a:tcPr>
                </a:tc>
                <a:tc>
                  <a:txBody>
                    <a:bodyPr/>
                    <a:lstStyle/>
                    <a:p>
                      <a:pPr algn="r" fontAlgn="b"/>
                      <a:r>
                        <a:rPr lang="en-GB" sz="1100" b="0" i="0" u="none" strike="noStrike">
                          <a:solidFill>
                            <a:srgbClr val="000000"/>
                          </a:solidFill>
                          <a:effectLst/>
                          <a:latin typeface="Aptos Narrow" panose="020B0004020202020204" pitchFamily="34" charset="0"/>
                        </a:rPr>
                        <a:t>0.16</a:t>
                      </a:r>
                    </a:p>
                  </a:txBody>
                  <a:tcPr marL="6350" marR="6350" marT="6350" marB="0" anchor="b">
                    <a:lnL>
                      <a:noFill/>
                    </a:lnL>
                    <a:lnR>
                      <a:noFill/>
                    </a:lnR>
                    <a:lnT>
                      <a:noFill/>
                    </a:lnT>
                    <a:lnB>
                      <a:noFill/>
                    </a:lnB>
                    <a:solidFill>
                      <a:srgbClr val="FFFF00"/>
                    </a:solidFill>
                  </a:tcPr>
                </a:tc>
                <a:tc>
                  <a:txBody>
                    <a:bodyPr/>
                    <a:lstStyle/>
                    <a:p>
                      <a:pPr algn="r" fontAlgn="b"/>
                      <a:r>
                        <a:rPr lang="en-GB" sz="1100" b="0" i="0" u="none" strike="noStrike">
                          <a:solidFill>
                            <a:srgbClr val="000000"/>
                          </a:solidFill>
                          <a:effectLst/>
                          <a:latin typeface="Aptos Narrow" panose="020B0004020202020204" pitchFamily="34" charset="0"/>
                        </a:rPr>
                        <a:t>0</a:t>
                      </a:r>
                    </a:p>
                  </a:txBody>
                  <a:tcPr marL="6350" marR="6350" marT="6350" marB="0" anchor="b">
                    <a:lnL>
                      <a:noFill/>
                    </a:lnL>
                    <a:lnR>
                      <a:noFill/>
                    </a:lnR>
                    <a:lnT>
                      <a:noFill/>
                    </a:lnT>
                    <a:lnB>
                      <a:noFill/>
                    </a:lnB>
                    <a:solidFill>
                      <a:srgbClr val="FFFF00"/>
                    </a:solidFill>
                  </a:tcPr>
                </a:tc>
                <a:tc>
                  <a:txBody>
                    <a:bodyPr/>
                    <a:lstStyle/>
                    <a:p>
                      <a:pPr algn="r" fontAlgn="b"/>
                      <a:r>
                        <a:rPr lang="en-GB" sz="1100" b="0" i="0" u="none" strike="noStrike">
                          <a:solidFill>
                            <a:srgbClr val="000000"/>
                          </a:solidFill>
                          <a:effectLst/>
                          <a:latin typeface="Aptos Narrow" panose="020B0004020202020204" pitchFamily="34" charset="0"/>
                        </a:rPr>
                        <a:t>0.21</a:t>
                      </a:r>
                    </a:p>
                  </a:txBody>
                  <a:tcPr marL="6350" marR="6350" marT="6350" marB="0" anchor="b">
                    <a:lnL>
                      <a:noFill/>
                    </a:lnL>
                    <a:lnR>
                      <a:noFill/>
                    </a:lnR>
                    <a:lnT>
                      <a:noFill/>
                    </a:lnT>
                    <a:lnB>
                      <a:noFill/>
                    </a:lnB>
                    <a:solidFill>
                      <a:srgbClr val="FFFF00"/>
                    </a:solidFill>
                  </a:tcPr>
                </a:tc>
                <a:tc>
                  <a:txBody>
                    <a:bodyPr/>
                    <a:lstStyle/>
                    <a:p>
                      <a:pPr algn="r" fontAlgn="b"/>
                      <a:r>
                        <a:rPr lang="en-GB" sz="1100" b="0" i="0" u="none" strike="noStrike">
                          <a:solidFill>
                            <a:srgbClr val="000000"/>
                          </a:solidFill>
                          <a:effectLst/>
                          <a:latin typeface="Aptos Narrow" panose="020B0004020202020204" pitchFamily="34" charset="0"/>
                        </a:rPr>
                        <a:t>0</a:t>
                      </a:r>
                    </a:p>
                  </a:txBody>
                  <a:tcPr marL="6350" marR="6350" marT="6350" marB="0" anchor="b">
                    <a:lnL>
                      <a:noFill/>
                    </a:lnL>
                    <a:lnR>
                      <a:noFill/>
                    </a:lnR>
                    <a:lnT>
                      <a:noFill/>
                    </a:lnT>
                    <a:lnB>
                      <a:noFill/>
                    </a:lnB>
                    <a:solidFill>
                      <a:srgbClr val="FFFF00"/>
                    </a:solidFill>
                  </a:tcPr>
                </a:tc>
                <a:tc>
                  <a:txBody>
                    <a:bodyPr/>
                    <a:lstStyle/>
                    <a:p>
                      <a:pPr algn="r" fontAlgn="b"/>
                      <a:r>
                        <a:rPr lang="en-GB" sz="1100" b="0" i="0" u="none" strike="noStrike">
                          <a:solidFill>
                            <a:srgbClr val="000000"/>
                          </a:solidFill>
                          <a:effectLst/>
                          <a:latin typeface="Aptos Narrow" panose="020B0004020202020204" pitchFamily="34" charset="0"/>
                        </a:rPr>
                        <a:t>0.03</a:t>
                      </a:r>
                    </a:p>
                  </a:txBody>
                  <a:tcPr marL="6350" marR="6350" marT="6350" marB="0" anchor="b">
                    <a:lnL>
                      <a:noFill/>
                    </a:lnL>
                    <a:lnR>
                      <a:noFill/>
                    </a:lnR>
                    <a:lnT>
                      <a:noFill/>
                    </a:lnT>
                    <a:lnB>
                      <a:noFill/>
                    </a:lnB>
                    <a:solidFill>
                      <a:srgbClr val="FFFF00"/>
                    </a:solidFill>
                  </a:tcPr>
                </a:tc>
                <a:extLst>
                  <a:ext uri="{0D108BD9-81ED-4DB2-BD59-A6C34878D82A}">
                    <a16:rowId xmlns:a16="http://schemas.microsoft.com/office/drawing/2014/main" val="1263033289"/>
                  </a:ext>
                </a:extLst>
              </a:tr>
              <a:tr h="489971">
                <a:tc>
                  <a:txBody>
                    <a:bodyPr/>
                    <a:lstStyle/>
                    <a:p>
                      <a:pPr algn="l" fontAlgn="b"/>
                      <a:r>
                        <a:rPr lang="en-GB" sz="1100" b="1" i="0" u="none" strike="noStrike">
                          <a:solidFill>
                            <a:srgbClr val="000000"/>
                          </a:solidFill>
                          <a:effectLst/>
                          <a:latin typeface="Aptos Narrow" panose="020B0004020202020204" pitchFamily="34" charset="0"/>
                        </a:rPr>
                        <a:t>bbq sauce</a:t>
                      </a:r>
                    </a:p>
                  </a:txBody>
                  <a:tcPr marL="6350" marR="6350" marT="6350" marB="0" anchor="b">
                    <a:lnL>
                      <a:noFill/>
                    </a:lnL>
                    <a:lnR>
                      <a:noFill/>
                    </a:lnR>
                    <a:lnT>
                      <a:noFill/>
                    </a:lnT>
                    <a:lnB>
                      <a:noFill/>
                    </a:lnB>
                    <a:solidFill>
                      <a:srgbClr val="FFFF00"/>
                    </a:solidFill>
                  </a:tcPr>
                </a:tc>
                <a:tc>
                  <a:txBody>
                    <a:bodyPr/>
                    <a:lstStyle/>
                    <a:p>
                      <a:pPr algn="l" fontAlgn="b"/>
                      <a:endParaRPr lang="en-GB" sz="1100" b="0" i="0" u="none" strike="noStrike">
                        <a:solidFill>
                          <a:srgbClr val="000000"/>
                        </a:solidFill>
                        <a:effectLst/>
                        <a:latin typeface="Aptos Narrow" panose="020B0004020202020204" pitchFamily="34" charset="0"/>
                      </a:endParaRPr>
                    </a:p>
                  </a:txBody>
                  <a:tcPr marL="6350" marR="6350" marT="6350" marB="0" anchor="b">
                    <a:lnL>
                      <a:noFill/>
                    </a:lnL>
                    <a:lnR>
                      <a:noFill/>
                    </a:lnR>
                    <a:lnT>
                      <a:noFill/>
                    </a:lnT>
                    <a:lnB>
                      <a:noFill/>
                    </a:lnB>
                    <a:noFill/>
                  </a:tcPr>
                </a:tc>
                <a:tc>
                  <a:txBody>
                    <a:bodyPr/>
                    <a:lstStyle/>
                    <a:p>
                      <a:pPr algn="r" fontAlgn="b"/>
                      <a:r>
                        <a:rPr lang="en-GB" sz="1100" b="0" i="0" u="none" strike="noStrike">
                          <a:solidFill>
                            <a:srgbClr val="000000"/>
                          </a:solidFill>
                          <a:effectLst/>
                          <a:latin typeface="Aptos Narrow" panose="020B0004020202020204" pitchFamily="34" charset="0"/>
                        </a:rPr>
                        <a:t>-1.97</a:t>
                      </a:r>
                    </a:p>
                  </a:txBody>
                  <a:tcPr marL="6350" marR="6350" marT="6350" marB="0" anchor="b">
                    <a:lnL>
                      <a:noFill/>
                    </a:lnL>
                    <a:lnR>
                      <a:noFill/>
                    </a:lnR>
                    <a:lnT>
                      <a:noFill/>
                    </a:lnT>
                    <a:lnB>
                      <a:noFill/>
                    </a:lnB>
                    <a:solidFill>
                      <a:srgbClr val="FFFF00"/>
                    </a:solidFill>
                  </a:tcPr>
                </a:tc>
                <a:tc>
                  <a:txBody>
                    <a:bodyPr/>
                    <a:lstStyle/>
                    <a:p>
                      <a:pPr algn="r" fontAlgn="b"/>
                      <a:r>
                        <a:rPr lang="en-GB" sz="1100" b="0" i="0" u="none" strike="noStrike">
                          <a:solidFill>
                            <a:srgbClr val="000000"/>
                          </a:solidFill>
                          <a:effectLst/>
                          <a:latin typeface="Aptos Narrow" panose="020B0004020202020204" pitchFamily="34" charset="0"/>
                        </a:rPr>
                        <a:t>0.27</a:t>
                      </a:r>
                    </a:p>
                  </a:txBody>
                  <a:tcPr marL="6350" marR="6350" marT="6350" marB="0" anchor="b">
                    <a:lnL>
                      <a:noFill/>
                    </a:lnL>
                    <a:lnR>
                      <a:noFill/>
                    </a:lnR>
                    <a:lnT>
                      <a:noFill/>
                    </a:lnT>
                    <a:lnB>
                      <a:noFill/>
                    </a:lnB>
                    <a:solidFill>
                      <a:srgbClr val="FFFF00"/>
                    </a:solidFill>
                  </a:tcPr>
                </a:tc>
                <a:tc>
                  <a:txBody>
                    <a:bodyPr/>
                    <a:lstStyle/>
                    <a:p>
                      <a:pPr algn="r" fontAlgn="b"/>
                      <a:r>
                        <a:rPr lang="en-GB" sz="1100" b="0" i="0" u="none" strike="noStrike">
                          <a:solidFill>
                            <a:srgbClr val="000000"/>
                          </a:solidFill>
                          <a:effectLst/>
                          <a:latin typeface="Aptos Narrow" panose="020B0004020202020204" pitchFamily="34" charset="0"/>
                        </a:rPr>
                        <a:t>0</a:t>
                      </a:r>
                    </a:p>
                  </a:txBody>
                  <a:tcPr marL="6350" marR="6350" marT="6350" marB="0" anchor="b">
                    <a:lnL>
                      <a:noFill/>
                    </a:lnL>
                    <a:lnR>
                      <a:noFill/>
                    </a:lnR>
                    <a:lnT>
                      <a:noFill/>
                    </a:lnT>
                    <a:lnB>
                      <a:noFill/>
                    </a:lnB>
                    <a:solidFill>
                      <a:srgbClr val="FFFF00"/>
                    </a:solidFill>
                  </a:tcPr>
                </a:tc>
                <a:tc>
                  <a:txBody>
                    <a:bodyPr/>
                    <a:lstStyle/>
                    <a:p>
                      <a:pPr algn="r" fontAlgn="b"/>
                      <a:r>
                        <a:rPr lang="en-GB" sz="1100" b="0" i="0" u="none" strike="noStrike">
                          <a:solidFill>
                            <a:srgbClr val="000000"/>
                          </a:solidFill>
                          <a:effectLst/>
                          <a:latin typeface="Aptos Narrow" panose="020B0004020202020204" pitchFamily="34" charset="0"/>
                        </a:rPr>
                        <a:t>0.19</a:t>
                      </a:r>
                    </a:p>
                  </a:txBody>
                  <a:tcPr marL="6350" marR="6350" marT="6350" marB="0" anchor="b">
                    <a:lnL>
                      <a:noFill/>
                    </a:lnL>
                    <a:lnR>
                      <a:noFill/>
                    </a:lnR>
                    <a:lnT>
                      <a:noFill/>
                    </a:lnT>
                    <a:lnB>
                      <a:noFill/>
                    </a:lnB>
                    <a:solidFill>
                      <a:srgbClr val="FFFF00"/>
                    </a:solidFill>
                  </a:tcPr>
                </a:tc>
                <a:tc>
                  <a:txBody>
                    <a:bodyPr/>
                    <a:lstStyle/>
                    <a:p>
                      <a:pPr algn="r" fontAlgn="b"/>
                      <a:r>
                        <a:rPr lang="en-GB" sz="1100" b="0" i="0" u="none" strike="noStrike">
                          <a:solidFill>
                            <a:srgbClr val="000000"/>
                          </a:solidFill>
                          <a:effectLst/>
                          <a:latin typeface="Aptos Narrow" panose="020B0004020202020204" pitchFamily="34" charset="0"/>
                        </a:rPr>
                        <a:t>0.09</a:t>
                      </a:r>
                    </a:p>
                  </a:txBody>
                  <a:tcPr marL="6350" marR="6350" marT="6350" marB="0" anchor="b">
                    <a:lnL>
                      <a:noFill/>
                    </a:lnL>
                    <a:lnR>
                      <a:noFill/>
                    </a:lnR>
                    <a:lnT>
                      <a:noFill/>
                    </a:lnT>
                    <a:lnB>
                      <a:noFill/>
                    </a:lnB>
                    <a:solidFill>
                      <a:srgbClr val="FFFF00"/>
                    </a:solidFill>
                  </a:tcPr>
                </a:tc>
                <a:tc>
                  <a:txBody>
                    <a:bodyPr/>
                    <a:lstStyle/>
                    <a:p>
                      <a:pPr algn="r" fontAlgn="b"/>
                      <a:r>
                        <a:rPr lang="en-GB" sz="1100" b="0" i="0" u="none" strike="noStrike">
                          <a:solidFill>
                            <a:srgbClr val="000000"/>
                          </a:solidFill>
                          <a:effectLst/>
                          <a:latin typeface="Aptos Narrow" panose="020B0004020202020204" pitchFamily="34" charset="0"/>
                        </a:rPr>
                        <a:t>0.09</a:t>
                      </a:r>
                    </a:p>
                  </a:txBody>
                  <a:tcPr marL="6350" marR="6350" marT="6350" marB="0" anchor="b">
                    <a:lnL>
                      <a:noFill/>
                    </a:lnL>
                    <a:lnR>
                      <a:noFill/>
                    </a:lnR>
                    <a:lnT>
                      <a:noFill/>
                    </a:lnT>
                    <a:lnB>
                      <a:noFill/>
                    </a:lnB>
                    <a:solidFill>
                      <a:srgbClr val="FFFF00"/>
                    </a:solidFill>
                  </a:tcPr>
                </a:tc>
                <a:tc>
                  <a:txBody>
                    <a:bodyPr/>
                    <a:lstStyle/>
                    <a:p>
                      <a:pPr algn="r" fontAlgn="b"/>
                      <a:r>
                        <a:rPr lang="en-GB" sz="1100" b="0" i="0" u="none" strike="noStrike">
                          <a:solidFill>
                            <a:srgbClr val="000000"/>
                          </a:solidFill>
                          <a:effectLst/>
                          <a:latin typeface="Aptos Narrow" panose="020B0004020202020204" pitchFamily="34" charset="0"/>
                        </a:rPr>
                        <a:t>0.01</a:t>
                      </a:r>
                    </a:p>
                  </a:txBody>
                  <a:tcPr marL="6350" marR="6350" marT="6350" marB="0" anchor="b">
                    <a:lnL>
                      <a:noFill/>
                    </a:lnL>
                    <a:lnR>
                      <a:noFill/>
                    </a:lnR>
                    <a:lnT>
                      <a:noFill/>
                    </a:lnT>
                    <a:lnB>
                      <a:noFill/>
                    </a:lnB>
                    <a:solidFill>
                      <a:srgbClr val="FFFF00"/>
                    </a:solidFill>
                  </a:tcPr>
                </a:tc>
                <a:extLst>
                  <a:ext uri="{0D108BD9-81ED-4DB2-BD59-A6C34878D82A}">
                    <a16:rowId xmlns:a16="http://schemas.microsoft.com/office/drawing/2014/main" val="4208797507"/>
                  </a:ext>
                </a:extLst>
              </a:tr>
              <a:tr h="489971">
                <a:tc>
                  <a:txBody>
                    <a:bodyPr/>
                    <a:lstStyle/>
                    <a:p>
                      <a:pPr algn="l" fontAlgn="b"/>
                      <a:r>
                        <a:rPr lang="en-GB" sz="1100" b="1" i="0" u="none" strike="noStrike">
                          <a:solidFill>
                            <a:srgbClr val="000000"/>
                          </a:solidFill>
                          <a:effectLst/>
                          <a:latin typeface="Aptos Narrow" panose="020B0004020202020204" pitchFamily="34" charset="0"/>
                        </a:rPr>
                        <a:t>salad cream</a:t>
                      </a:r>
                    </a:p>
                  </a:txBody>
                  <a:tcPr marL="6350" marR="6350" marT="6350" marB="0" anchor="b">
                    <a:lnL>
                      <a:noFill/>
                    </a:lnL>
                    <a:lnR>
                      <a:noFill/>
                    </a:lnR>
                    <a:lnT>
                      <a:noFill/>
                    </a:lnT>
                    <a:lnB>
                      <a:noFill/>
                    </a:lnB>
                    <a:solidFill>
                      <a:srgbClr val="FFFF00"/>
                    </a:solidFill>
                  </a:tcPr>
                </a:tc>
                <a:tc>
                  <a:txBody>
                    <a:bodyPr/>
                    <a:lstStyle/>
                    <a:p>
                      <a:pPr algn="l" fontAlgn="b"/>
                      <a:endParaRPr lang="en-GB" sz="1100" b="0" i="0" u="none" strike="noStrike">
                        <a:solidFill>
                          <a:srgbClr val="000000"/>
                        </a:solidFill>
                        <a:effectLst/>
                        <a:latin typeface="Aptos Narrow" panose="020B0004020202020204" pitchFamily="34" charset="0"/>
                      </a:endParaRPr>
                    </a:p>
                  </a:txBody>
                  <a:tcPr marL="6350" marR="6350" marT="6350" marB="0" anchor="b">
                    <a:lnL>
                      <a:noFill/>
                    </a:lnL>
                    <a:lnR>
                      <a:noFill/>
                    </a:lnR>
                    <a:lnT>
                      <a:noFill/>
                    </a:lnT>
                    <a:lnB>
                      <a:noFill/>
                    </a:lnB>
                    <a:noFill/>
                  </a:tcPr>
                </a:tc>
                <a:tc>
                  <a:txBody>
                    <a:bodyPr/>
                    <a:lstStyle/>
                    <a:p>
                      <a:pPr algn="r" fontAlgn="b"/>
                      <a:r>
                        <a:rPr lang="en-GB" sz="1100" b="0" i="0" u="none" strike="noStrike">
                          <a:solidFill>
                            <a:srgbClr val="000000"/>
                          </a:solidFill>
                          <a:effectLst/>
                          <a:latin typeface="Aptos Narrow" panose="020B0004020202020204" pitchFamily="34" charset="0"/>
                        </a:rPr>
                        <a:t>-1.47</a:t>
                      </a:r>
                    </a:p>
                  </a:txBody>
                  <a:tcPr marL="6350" marR="6350" marT="6350" marB="0" anchor="b">
                    <a:lnL>
                      <a:noFill/>
                    </a:lnL>
                    <a:lnR>
                      <a:noFill/>
                    </a:lnR>
                    <a:lnT>
                      <a:noFill/>
                    </a:lnT>
                    <a:lnB>
                      <a:noFill/>
                    </a:lnB>
                    <a:solidFill>
                      <a:srgbClr val="FFFF00"/>
                    </a:solidFill>
                  </a:tcPr>
                </a:tc>
                <a:tc>
                  <a:txBody>
                    <a:bodyPr/>
                    <a:lstStyle/>
                    <a:p>
                      <a:pPr algn="r" fontAlgn="b"/>
                      <a:r>
                        <a:rPr lang="en-GB" sz="1100" b="0" i="0" u="none" strike="noStrike">
                          <a:solidFill>
                            <a:srgbClr val="000000"/>
                          </a:solidFill>
                          <a:effectLst/>
                          <a:latin typeface="Aptos Narrow" panose="020B0004020202020204" pitchFamily="34" charset="0"/>
                        </a:rPr>
                        <a:t>0</a:t>
                      </a:r>
                    </a:p>
                  </a:txBody>
                  <a:tcPr marL="6350" marR="6350" marT="6350" marB="0" anchor="b">
                    <a:lnL>
                      <a:noFill/>
                    </a:lnL>
                    <a:lnR>
                      <a:noFill/>
                    </a:lnR>
                    <a:lnT>
                      <a:noFill/>
                    </a:lnT>
                    <a:lnB>
                      <a:noFill/>
                    </a:lnB>
                    <a:solidFill>
                      <a:srgbClr val="FFFF00"/>
                    </a:solidFill>
                  </a:tcPr>
                </a:tc>
                <a:tc>
                  <a:txBody>
                    <a:bodyPr/>
                    <a:lstStyle/>
                    <a:p>
                      <a:pPr algn="r" fontAlgn="b"/>
                      <a:r>
                        <a:rPr lang="en-GB" sz="1100" b="0" i="0" u="none" strike="noStrike">
                          <a:solidFill>
                            <a:srgbClr val="000000"/>
                          </a:solidFill>
                          <a:effectLst/>
                          <a:latin typeface="Aptos Narrow" panose="020B0004020202020204" pitchFamily="34" charset="0"/>
                        </a:rPr>
                        <a:t>0</a:t>
                      </a:r>
                    </a:p>
                  </a:txBody>
                  <a:tcPr marL="6350" marR="6350" marT="6350" marB="0" anchor="b">
                    <a:lnL>
                      <a:noFill/>
                    </a:lnL>
                    <a:lnR>
                      <a:noFill/>
                    </a:lnR>
                    <a:lnT>
                      <a:noFill/>
                    </a:lnT>
                    <a:lnB>
                      <a:noFill/>
                    </a:lnB>
                    <a:solidFill>
                      <a:srgbClr val="FFFF00"/>
                    </a:solidFill>
                  </a:tcPr>
                </a:tc>
                <a:tc>
                  <a:txBody>
                    <a:bodyPr/>
                    <a:lstStyle/>
                    <a:p>
                      <a:pPr algn="r" fontAlgn="b"/>
                      <a:r>
                        <a:rPr lang="en-GB" sz="1100" b="0" i="0" u="none" strike="noStrike">
                          <a:solidFill>
                            <a:srgbClr val="000000"/>
                          </a:solidFill>
                          <a:effectLst/>
                          <a:latin typeface="Aptos Narrow" panose="020B0004020202020204" pitchFamily="34" charset="0"/>
                        </a:rPr>
                        <a:t>0</a:t>
                      </a:r>
                    </a:p>
                  </a:txBody>
                  <a:tcPr marL="6350" marR="6350" marT="6350" marB="0" anchor="b">
                    <a:lnL>
                      <a:noFill/>
                    </a:lnL>
                    <a:lnR>
                      <a:noFill/>
                    </a:lnR>
                    <a:lnT>
                      <a:noFill/>
                    </a:lnT>
                    <a:lnB>
                      <a:noFill/>
                    </a:lnB>
                    <a:solidFill>
                      <a:srgbClr val="FFFF00"/>
                    </a:solidFill>
                  </a:tcPr>
                </a:tc>
                <a:tc>
                  <a:txBody>
                    <a:bodyPr/>
                    <a:lstStyle/>
                    <a:p>
                      <a:pPr algn="r" fontAlgn="b"/>
                      <a:r>
                        <a:rPr lang="en-GB" sz="1100" b="0" i="0" u="none" strike="noStrike">
                          <a:solidFill>
                            <a:srgbClr val="000000"/>
                          </a:solidFill>
                          <a:effectLst/>
                          <a:latin typeface="Aptos Narrow" panose="020B0004020202020204" pitchFamily="34" charset="0"/>
                        </a:rPr>
                        <a:t>0</a:t>
                      </a:r>
                    </a:p>
                  </a:txBody>
                  <a:tcPr marL="6350" marR="6350" marT="6350" marB="0" anchor="b">
                    <a:lnL>
                      <a:noFill/>
                    </a:lnL>
                    <a:lnR>
                      <a:noFill/>
                    </a:lnR>
                    <a:lnT>
                      <a:noFill/>
                    </a:lnT>
                    <a:lnB>
                      <a:noFill/>
                    </a:lnB>
                    <a:solidFill>
                      <a:srgbClr val="FFFF00"/>
                    </a:solidFill>
                  </a:tcPr>
                </a:tc>
                <a:tc>
                  <a:txBody>
                    <a:bodyPr/>
                    <a:lstStyle/>
                    <a:p>
                      <a:pPr algn="r" fontAlgn="b"/>
                      <a:r>
                        <a:rPr lang="en-GB" sz="1100" b="0" i="0" u="none" strike="noStrike">
                          <a:solidFill>
                            <a:srgbClr val="000000"/>
                          </a:solidFill>
                          <a:effectLst/>
                          <a:latin typeface="Aptos Narrow" panose="020B0004020202020204" pitchFamily="34" charset="0"/>
                        </a:rPr>
                        <a:t>0.12</a:t>
                      </a:r>
                    </a:p>
                  </a:txBody>
                  <a:tcPr marL="6350" marR="6350" marT="6350" marB="0" anchor="b">
                    <a:lnL>
                      <a:noFill/>
                    </a:lnL>
                    <a:lnR>
                      <a:noFill/>
                    </a:lnR>
                    <a:lnT>
                      <a:noFill/>
                    </a:lnT>
                    <a:lnB>
                      <a:noFill/>
                    </a:lnB>
                    <a:solidFill>
                      <a:srgbClr val="FFFF00"/>
                    </a:solidFill>
                  </a:tcPr>
                </a:tc>
                <a:tc>
                  <a:txBody>
                    <a:bodyPr/>
                    <a:lstStyle/>
                    <a:p>
                      <a:pPr algn="r" fontAlgn="b"/>
                      <a:r>
                        <a:rPr lang="en-GB" sz="1100" b="0" i="0" u="none" strike="noStrike">
                          <a:solidFill>
                            <a:srgbClr val="000000"/>
                          </a:solidFill>
                          <a:effectLst/>
                          <a:latin typeface="Aptos Narrow" panose="020B0004020202020204" pitchFamily="34" charset="0"/>
                        </a:rPr>
                        <a:t>0.06</a:t>
                      </a:r>
                    </a:p>
                  </a:txBody>
                  <a:tcPr marL="6350" marR="6350" marT="6350" marB="0" anchor="b">
                    <a:lnL>
                      <a:noFill/>
                    </a:lnL>
                    <a:lnR>
                      <a:noFill/>
                    </a:lnR>
                    <a:lnT>
                      <a:noFill/>
                    </a:lnT>
                    <a:lnB>
                      <a:noFill/>
                    </a:lnB>
                    <a:solidFill>
                      <a:srgbClr val="FFFF00"/>
                    </a:solidFill>
                  </a:tcPr>
                </a:tc>
                <a:extLst>
                  <a:ext uri="{0D108BD9-81ED-4DB2-BD59-A6C34878D82A}">
                    <a16:rowId xmlns:a16="http://schemas.microsoft.com/office/drawing/2014/main" val="2626213393"/>
                  </a:ext>
                </a:extLst>
              </a:tr>
              <a:tr h="489971">
                <a:tc>
                  <a:txBody>
                    <a:bodyPr/>
                    <a:lstStyle/>
                    <a:p>
                      <a:pPr algn="l" fontAlgn="b"/>
                      <a:r>
                        <a:rPr lang="en-GB" sz="1100" b="1" i="0" u="none" strike="noStrike">
                          <a:solidFill>
                            <a:srgbClr val="000000"/>
                          </a:solidFill>
                          <a:effectLst/>
                          <a:latin typeface="Aptos Narrow" panose="020B0004020202020204" pitchFamily="34" charset="0"/>
                        </a:rPr>
                        <a:t>ketchup</a:t>
                      </a:r>
                    </a:p>
                  </a:txBody>
                  <a:tcPr marL="6350" marR="6350" marT="6350" marB="0" anchor="b">
                    <a:lnL>
                      <a:noFill/>
                    </a:lnL>
                    <a:lnR>
                      <a:noFill/>
                    </a:lnR>
                    <a:lnT>
                      <a:noFill/>
                    </a:lnT>
                    <a:lnB>
                      <a:noFill/>
                    </a:lnB>
                    <a:solidFill>
                      <a:srgbClr val="FFFF00"/>
                    </a:solidFill>
                  </a:tcPr>
                </a:tc>
                <a:tc>
                  <a:txBody>
                    <a:bodyPr/>
                    <a:lstStyle/>
                    <a:p>
                      <a:pPr algn="l" fontAlgn="b"/>
                      <a:endParaRPr lang="en-GB" sz="1100" b="0" i="0" u="none" strike="noStrike">
                        <a:solidFill>
                          <a:srgbClr val="000000"/>
                        </a:solidFill>
                        <a:effectLst/>
                        <a:latin typeface="Aptos Narrow" panose="020B0004020202020204" pitchFamily="34" charset="0"/>
                      </a:endParaRPr>
                    </a:p>
                  </a:txBody>
                  <a:tcPr marL="6350" marR="6350" marT="6350" marB="0" anchor="b">
                    <a:lnL>
                      <a:noFill/>
                    </a:lnL>
                    <a:lnR>
                      <a:noFill/>
                    </a:lnR>
                    <a:lnT>
                      <a:noFill/>
                    </a:lnT>
                    <a:lnB>
                      <a:noFill/>
                    </a:lnB>
                    <a:noFill/>
                  </a:tcPr>
                </a:tc>
                <a:tc>
                  <a:txBody>
                    <a:bodyPr/>
                    <a:lstStyle/>
                    <a:p>
                      <a:pPr algn="r" fontAlgn="b"/>
                      <a:r>
                        <a:rPr lang="en-GB" sz="1100" b="0" i="0" u="none" strike="noStrike">
                          <a:solidFill>
                            <a:srgbClr val="000000"/>
                          </a:solidFill>
                          <a:effectLst/>
                          <a:latin typeface="Aptos Narrow" panose="020B0004020202020204" pitchFamily="34" charset="0"/>
                        </a:rPr>
                        <a:t>-2.36</a:t>
                      </a:r>
                    </a:p>
                  </a:txBody>
                  <a:tcPr marL="6350" marR="6350" marT="6350" marB="0" anchor="b">
                    <a:lnL>
                      <a:noFill/>
                    </a:lnL>
                    <a:lnR>
                      <a:noFill/>
                    </a:lnR>
                    <a:lnT>
                      <a:noFill/>
                    </a:lnT>
                    <a:lnB>
                      <a:noFill/>
                    </a:lnB>
                    <a:solidFill>
                      <a:srgbClr val="FFFF00"/>
                    </a:solidFill>
                  </a:tcPr>
                </a:tc>
                <a:tc>
                  <a:txBody>
                    <a:bodyPr/>
                    <a:lstStyle/>
                    <a:p>
                      <a:pPr algn="r" fontAlgn="b"/>
                      <a:r>
                        <a:rPr lang="en-GB" sz="1100" b="0" i="0" u="none" strike="noStrike">
                          <a:solidFill>
                            <a:srgbClr val="000000"/>
                          </a:solidFill>
                          <a:effectLst/>
                          <a:latin typeface="Aptos Narrow" panose="020B0004020202020204" pitchFamily="34" charset="0"/>
                        </a:rPr>
                        <a:t>0.05</a:t>
                      </a:r>
                    </a:p>
                  </a:txBody>
                  <a:tcPr marL="6350" marR="6350" marT="6350" marB="0" anchor="b">
                    <a:lnL>
                      <a:noFill/>
                    </a:lnL>
                    <a:lnR>
                      <a:noFill/>
                    </a:lnR>
                    <a:lnT>
                      <a:noFill/>
                    </a:lnT>
                    <a:lnB>
                      <a:noFill/>
                    </a:lnB>
                    <a:solidFill>
                      <a:srgbClr val="FFFF00"/>
                    </a:solidFill>
                  </a:tcPr>
                </a:tc>
                <a:tc>
                  <a:txBody>
                    <a:bodyPr/>
                    <a:lstStyle/>
                    <a:p>
                      <a:pPr algn="r" fontAlgn="b"/>
                      <a:r>
                        <a:rPr lang="en-GB" sz="1100" b="0" i="0" u="none" strike="noStrike">
                          <a:solidFill>
                            <a:srgbClr val="000000"/>
                          </a:solidFill>
                          <a:effectLst/>
                          <a:latin typeface="Aptos Narrow" panose="020B0004020202020204" pitchFamily="34" charset="0"/>
                        </a:rPr>
                        <a:t>0.18</a:t>
                      </a:r>
                    </a:p>
                  </a:txBody>
                  <a:tcPr marL="6350" marR="6350" marT="6350" marB="0" anchor="b">
                    <a:lnL>
                      <a:noFill/>
                    </a:lnL>
                    <a:lnR>
                      <a:noFill/>
                    </a:lnR>
                    <a:lnT>
                      <a:noFill/>
                    </a:lnT>
                    <a:lnB>
                      <a:noFill/>
                    </a:lnB>
                    <a:solidFill>
                      <a:srgbClr val="FFFF00"/>
                    </a:solidFill>
                  </a:tcPr>
                </a:tc>
                <a:tc>
                  <a:txBody>
                    <a:bodyPr/>
                    <a:lstStyle/>
                    <a:p>
                      <a:pPr algn="r" fontAlgn="b"/>
                      <a:r>
                        <a:rPr lang="en-GB" sz="1100" b="0" i="0" u="none" strike="noStrike">
                          <a:solidFill>
                            <a:srgbClr val="000000"/>
                          </a:solidFill>
                          <a:effectLst/>
                          <a:latin typeface="Aptos Narrow" panose="020B0004020202020204" pitchFamily="34" charset="0"/>
                        </a:rPr>
                        <a:t>0.44</a:t>
                      </a:r>
                    </a:p>
                  </a:txBody>
                  <a:tcPr marL="6350" marR="6350" marT="6350" marB="0" anchor="b">
                    <a:lnL>
                      <a:noFill/>
                    </a:lnL>
                    <a:lnR>
                      <a:noFill/>
                    </a:lnR>
                    <a:lnT>
                      <a:noFill/>
                    </a:lnT>
                    <a:lnB>
                      <a:noFill/>
                    </a:lnB>
                    <a:solidFill>
                      <a:srgbClr val="FFFF00"/>
                    </a:solidFill>
                  </a:tcPr>
                </a:tc>
                <a:tc>
                  <a:txBody>
                    <a:bodyPr/>
                    <a:lstStyle/>
                    <a:p>
                      <a:pPr algn="r" fontAlgn="b"/>
                      <a:r>
                        <a:rPr lang="en-GB" sz="1100" b="0" i="0" u="none" strike="noStrike">
                          <a:solidFill>
                            <a:srgbClr val="000000"/>
                          </a:solidFill>
                          <a:effectLst/>
                          <a:latin typeface="Aptos Narrow" panose="020B0004020202020204" pitchFamily="34" charset="0"/>
                        </a:rPr>
                        <a:t>0</a:t>
                      </a:r>
                    </a:p>
                  </a:txBody>
                  <a:tcPr marL="6350" marR="6350" marT="6350" marB="0" anchor="b">
                    <a:lnL>
                      <a:noFill/>
                    </a:lnL>
                    <a:lnR>
                      <a:noFill/>
                    </a:lnR>
                    <a:lnT>
                      <a:noFill/>
                    </a:lnT>
                    <a:lnB>
                      <a:noFill/>
                    </a:lnB>
                    <a:solidFill>
                      <a:srgbClr val="FFFF00"/>
                    </a:solidFill>
                  </a:tcPr>
                </a:tc>
                <a:tc>
                  <a:txBody>
                    <a:bodyPr/>
                    <a:lstStyle/>
                    <a:p>
                      <a:pPr algn="r" fontAlgn="b"/>
                      <a:r>
                        <a:rPr lang="en-GB" sz="1100" b="0" i="0" u="none" strike="noStrike">
                          <a:solidFill>
                            <a:srgbClr val="000000"/>
                          </a:solidFill>
                          <a:effectLst/>
                          <a:latin typeface="Aptos Narrow" panose="020B0004020202020204" pitchFamily="34" charset="0"/>
                        </a:rPr>
                        <a:t>0.89</a:t>
                      </a:r>
                    </a:p>
                  </a:txBody>
                  <a:tcPr marL="6350" marR="6350" marT="6350" marB="0" anchor="b">
                    <a:lnL>
                      <a:noFill/>
                    </a:lnL>
                    <a:lnR>
                      <a:noFill/>
                    </a:lnR>
                    <a:lnT>
                      <a:noFill/>
                    </a:lnT>
                    <a:lnB>
                      <a:noFill/>
                    </a:lnB>
                    <a:solidFill>
                      <a:srgbClr val="FFFF00"/>
                    </a:solidFill>
                  </a:tcPr>
                </a:tc>
                <a:tc>
                  <a:txBody>
                    <a:bodyPr/>
                    <a:lstStyle/>
                    <a:p>
                      <a:pPr algn="r" fontAlgn="b"/>
                      <a:r>
                        <a:rPr lang="en-GB" sz="1100" b="0" i="0" u="none" strike="noStrike">
                          <a:solidFill>
                            <a:srgbClr val="000000"/>
                          </a:solidFill>
                          <a:effectLst/>
                          <a:latin typeface="Aptos Narrow" panose="020B0004020202020204" pitchFamily="34" charset="0"/>
                        </a:rPr>
                        <a:t>0.47</a:t>
                      </a:r>
                    </a:p>
                  </a:txBody>
                  <a:tcPr marL="6350" marR="6350" marT="6350" marB="0" anchor="b">
                    <a:lnL>
                      <a:noFill/>
                    </a:lnL>
                    <a:lnR>
                      <a:noFill/>
                    </a:lnR>
                    <a:lnT>
                      <a:noFill/>
                    </a:lnT>
                    <a:lnB>
                      <a:noFill/>
                    </a:lnB>
                    <a:solidFill>
                      <a:srgbClr val="FFFF00"/>
                    </a:solidFill>
                  </a:tcPr>
                </a:tc>
                <a:extLst>
                  <a:ext uri="{0D108BD9-81ED-4DB2-BD59-A6C34878D82A}">
                    <a16:rowId xmlns:a16="http://schemas.microsoft.com/office/drawing/2014/main" val="2067490650"/>
                  </a:ext>
                </a:extLst>
              </a:tr>
              <a:tr h="506866">
                <a:tc>
                  <a:txBody>
                    <a:bodyPr/>
                    <a:lstStyle/>
                    <a:p>
                      <a:pPr algn="l" fontAlgn="b"/>
                      <a:r>
                        <a:rPr lang="en-GB" sz="1100" b="1" i="0" u="none" strike="noStrike">
                          <a:solidFill>
                            <a:srgbClr val="000000"/>
                          </a:solidFill>
                          <a:effectLst/>
                          <a:latin typeface="Aptos Narrow" panose="020B0004020202020204" pitchFamily="34" charset="0"/>
                        </a:rPr>
                        <a:t>mayo</a:t>
                      </a:r>
                    </a:p>
                  </a:txBody>
                  <a:tcPr marL="6350" marR="6350" marT="6350" marB="0" anchor="b">
                    <a:lnL>
                      <a:noFill/>
                    </a:lnL>
                    <a:lnR>
                      <a:noFill/>
                    </a:lnR>
                    <a:lnT>
                      <a:noFill/>
                    </a:lnT>
                    <a:lnB>
                      <a:noFill/>
                    </a:lnB>
                    <a:solidFill>
                      <a:srgbClr val="FFFF00"/>
                    </a:solidFill>
                  </a:tcPr>
                </a:tc>
                <a:tc>
                  <a:txBody>
                    <a:bodyPr/>
                    <a:lstStyle/>
                    <a:p>
                      <a:pPr algn="l" fontAlgn="b"/>
                      <a:endParaRPr lang="en-GB" sz="1100" b="0" i="0" u="none" strike="noStrike">
                        <a:solidFill>
                          <a:srgbClr val="000000"/>
                        </a:solidFill>
                        <a:effectLst/>
                        <a:latin typeface="Aptos Narrow" panose="020B0004020202020204" pitchFamily="34" charset="0"/>
                      </a:endParaRPr>
                    </a:p>
                  </a:txBody>
                  <a:tcPr marL="6350" marR="6350" marT="6350" marB="0" anchor="b">
                    <a:lnL>
                      <a:noFill/>
                    </a:lnL>
                    <a:lnR>
                      <a:noFill/>
                    </a:lnR>
                    <a:lnT>
                      <a:noFill/>
                    </a:lnT>
                    <a:lnB>
                      <a:noFill/>
                    </a:lnB>
                    <a:noFill/>
                  </a:tcPr>
                </a:tc>
                <a:tc>
                  <a:txBody>
                    <a:bodyPr/>
                    <a:lstStyle/>
                    <a:p>
                      <a:pPr algn="r" fontAlgn="b"/>
                      <a:r>
                        <a:rPr lang="en-GB" sz="1100" b="0" i="0" u="none" strike="noStrike">
                          <a:solidFill>
                            <a:srgbClr val="000000"/>
                          </a:solidFill>
                          <a:effectLst/>
                          <a:latin typeface="Aptos Narrow" panose="020B0004020202020204" pitchFamily="34" charset="0"/>
                        </a:rPr>
                        <a:t>-2.66</a:t>
                      </a:r>
                    </a:p>
                  </a:txBody>
                  <a:tcPr marL="6350" marR="6350" marT="6350" marB="0" anchor="b">
                    <a:lnL>
                      <a:noFill/>
                    </a:lnL>
                    <a:lnR>
                      <a:noFill/>
                    </a:lnR>
                    <a:lnT>
                      <a:noFill/>
                    </a:lnT>
                    <a:lnB>
                      <a:noFill/>
                    </a:lnB>
                    <a:solidFill>
                      <a:srgbClr val="FFFF00"/>
                    </a:solidFill>
                  </a:tcPr>
                </a:tc>
                <a:tc>
                  <a:txBody>
                    <a:bodyPr/>
                    <a:lstStyle/>
                    <a:p>
                      <a:pPr algn="r" fontAlgn="b"/>
                      <a:r>
                        <a:rPr lang="en-GB" sz="1100" b="0" i="0" u="none" strike="noStrike">
                          <a:solidFill>
                            <a:srgbClr val="000000"/>
                          </a:solidFill>
                          <a:effectLst/>
                          <a:latin typeface="Aptos Narrow" panose="020B0004020202020204" pitchFamily="34" charset="0"/>
                        </a:rPr>
                        <a:t>0.30</a:t>
                      </a:r>
                    </a:p>
                  </a:txBody>
                  <a:tcPr marL="6350" marR="6350" marT="6350" marB="0" anchor="b">
                    <a:lnL>
                      <a:noFill/>
                    </a:lnL>
                    <a:lnR>
                      <a:noFill/>
                    </a:lnR>
                    <a:lnT>
                      <a:noFill/>
                    </a:lnT>
                    <a:lnB>
                      <a:noFill/>
                    </a:lnB>
                    <a:solidFill>
                      <a:srgbClr val="FFFF00"/>
                    </a:solidFill>
                  </a:tcPr>
                </a:tc>
                <a:tc>
                  <a:txBody>
                    <a:bodyPr/>
                    <a:lstStyle/>
                    <a:p>
                      <a:pPr algn="r" fontAlgn="b"/>
                      <a:r>
                        <a:rPr lang="en-GB" sz="1100" b="0" i="0" u="none" strike="noStrike">
                          <a:solidFill>
                            <a:srgbClr val="000000"/>
                          </a:solidFill>
                          <a:effectLst/>
                          <a:latin typeface="Aptos Narrow" panose="020B0004020202020204" pitchFamily="34" charset="0"/>
                        </a:rPr>
                        <a:t>0.82</a:t>
                      </a:r>
                    </a:p>
                  </a:txBody>
                  <a:tcPr marL="6350" marR="6350" marT="6350" marB="0" anchor="b">
                    <a:lnL>
                      <a:noFill/>
                    </a:lnL>
                    <a:lnR>
                      <a:noFill/>
                    </a:lnR>
                    <a:lnT>
                      <a:noFill/>
                    </a:lnT>
                    <a:lnB>
                      <a:noFill/>
                    </a:lnB>
                    <a:solidFill>
                      <a:srgbClr val="FFFF00"/>
                    </a:solidFill>
                  </a:tcPr>
                </a:tc>
                <a:tc>
                  <a:txBody>
                    <a:bodyPr/>
                    <a:lstStyle/>
                    <a:p>
                      <a:pPr algn="r" fontAlgn="b"/>
                      <a:r>
                        <a:rPr lang="en-GB" sz="1100" b="0" i="0" u="none" strike="noStrike">
                          <a:solidFill>
                            <a:srgbClr val="000000"/>
                          </a:solidFill>
                          <a:effectLst/>
                          <a:latin typeface="Aptos Narrow" panose="020B0004020202020204" pitchFamily="34" charset="0"/>
                        </a:rPr>
                        <a:t>1.27</a:t>
                      </a:r>
                    </a:p>
                  </a:txBody>
                  <a:tcPr marL="6350" marR="6350" marT="6350" marB="0" anchor="b">
                    <a:lnL>
                      <a:noFill/>
                    </a:lnL>
                    <a:lnR>
                      <a:noFill/>
                    </a:lnR>
                    <a:lnT>
                      <a:noFill/>
                    </a:lnT>
                    <a:lnB>
                      <a:noFill/>
                    </a:lnB>
                    <a:solidFill>
                      <a:srgbClr val="FFFF00"/>
                    </a:solidFill>
                  </a:tcPr>
                </a:tc>
                <a:tc>
                  <a:txBody>
                    <a:bodyPr/>
                    <a:lstStyle/>
                    <a:p>
                      <a:pPr algn="r" fontAlgn="b"/>
                      <a:r>
                        <a:rPr lang="en-GB" sz="1100" b="0" i="0" u="none" strike="noStrike">
                          <a:solidFill>
                            <a:srgbClr val="000000"/>
                          </a:solidFill>
                          <a:effectLst/>
                          <a:latin typeface="Aptos Narrow" panose="020B0004020202020204" pitchFamily="34" charset="0"/>
                        </a:rPr>
                        <a:t>1.02</a:t>
                      </a:r>
                    </a:p>
                  </a:txBody>
                  <a:tcPr marL="6350" marR="6350" marT="6350" marB="0" anchor="b">
                    <a:lnL>
                      <a:noFill/>
                    </a:lnL>
                    <a:lnR>
                      <a:noFill/>
                    </a:lnR>
                    <a:lnT>
                      <a:noFill/>
                    </a:lnT>
                    <a:lnB>
                      <a:noFill/>
                    </a:lnB>
                    <a:solidFill>
                      <a:srgbClr val="FFFF00"/>
                    </a:solidFill>
                  </a:tcPr>
                </a:tc>
                <a:tc>
                  <a:txBody>
                    <a:bodyPr/>
                    <a:lstStyle/>
                    <a:p>
                      <a:pPr algn="r" fontAlgn="b"/>
                      <a:r>
                        <a:rPr lang="en-GB" sz="1100" b="0" i="0" u="none" strike="noStrike">
                          <a:solidFill>
                            <a:srgbClr val="000000"/>
                          </a:solidFill>
                          <a:effectLst/>
                          <a:latin typeface="Aptos Narrow" panose="020B0004020202020204" pitchFamily="34" charset="0"/>
                        </a:rPr>
                        <a:t>0</a:t>
                      </a:r>
                    </a:p>
                  </a:txBody>
                  <a:tcPr marL="6350" marR="6350" marT="6350" marB="0" anchor="b">
                    <a:lnL>
                      <a:noFill/>
                    </a:lnL>
                    <a:lnR>
                      <a:noFill/>
                    </a:lnR>
                    <a:lnT>
                      <a:noFill/>
                    </a:lnT>
                    <a:lnB>
                      <a:noFill/>
                    </a:lnB>
                    <a:solidFill>
                      <a:srgbClr val="FFFF00"/>
                    </a:solidFill>
                  </a:tcPr>
                </a:tc>
                <a:tc>
                  <a:txBody>
                    <a:bodyPr/>
                    <a:lstStyle/>
                    <a:p>
                      <a:pPr algn="r" fontAlgn="b"/>
                      <a:r>
                        <a:rPr lang="en-GB" sz="1100" b="0" i="0" u="none" strike="noStrike">
                          <a:solidFill>
                            <a:srgbClr val="000000"/>
                          </a:solidFill>
                          <a:effectLst/>
                          <a:latin typeface="Aptos Narrow" panose="020B0004020202020204" pitchFamily="34" charset="0"/>
                        </a:rPr>
                        <a:t>0.57</a:t>
                      </a:r>
                    </a:p>
                  </a:txBody>
                  <a:tcPr marL="6350" marR="6350" marT="6350" marB="0" anchor="b">
                    <a:lnL>
                      <a:noFill/>
                    </a:lnL>
                    <a:lnR>
                      <a:noFill/>
                    </a:lnR>
                    <a:lnT>
                      <a:noFill/>
                    </a:lnT>
                    <a:lnB>
                      <a:noFill/>
                    </a:lnB>
                    <a:solidFill>
                      <a:srgbClr val="FFFF00"/>
                    </a:solidFill>
                  </a:tcPr>
                </a:tc>
                <a:extLst>
                  <a:ext uri="{0D108BD9-81ED-4DB2-BD59-A6C34878D82A}">
                    <a16:rowId xmlns:a16="http://schemas.microsoft.com/office/drawing/2014/main" val="340938118"/>
                  </a:ext>
                </a:extLst>
              </a:tr>
            </a:tbl>
          </a:graphicData>
        </a:graphic>
      </p:graphicFrame>
    </p:spTree>
    <p:extLst>
      <p:ext uri="{BB962C8B-B14F-4D97-AF65-F5344CB8AC3E}">
        <p14:creationId xmlns:p14="http://schemas.microsoft.com/office/powerpoint/2010/main" val="28591106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O6HdZSkssZOGfmLyjSiX.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O6HdZSkssZOGfmLyjSiX.g"/>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O6HdZSkssZOGfmLyjSiX.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O6HdZSkssZOGfmLyjSiX.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5CF2E3EC4ADBB4FA2A1653C958171E8" ma:contentTypeVersion="3" ma:contentTypeDescription="Create a new document." ma:contentTypeScope="" ma:versionID="837b945b98af50590e4dfab64fd6b6d1">
  <xsd:schema xmlns:xsd="http://www.w3.org/2001/XMLSchema" xmlns:xs="http://www.w3.org/2001/XMLSchema" xmlns:p="http://schemas.microsoft.com/office/2006/metadata/properties" xmlns:ns2="139c670c-dbb6-41ce-b2fe-264d5f410e6b" targetNamespace="http://schemas.microsoft.com/office/2006/metadata/properties" ma:root="true" ma:fieldsID="b73e6417a344fa1eead2b047cb75a632" ns2:_="">
    <xsd:import namespace="139c670c-dbb6-41ce-b2fe-264d5f410e6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9c670c-dbb6-41ce-b2fe-264d5f410e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980D22F-5439-438B-B7D9-02F83E2EB30D}"/>
</file>

<file path=customXml/itemProps2.xml><?xml version="1.0" encoding="utf-8"?>
<ds:datastoreItem xmlns:ds="http://schemas.openxmlformats.org/officeDocument/2006/customXml" ds:itemID="{CE129943-EC7B-420C-A525-C732C59B3C5D}"/>
</file>

<file path=customXml/itemProps3.xml><?xml version="1.0" encoding="utf-8"?>
<ds:datastoreItem xmlns:ds="http://schemas.openxmlformats.org/officeDocument/2006/customXml" ds:itemID="{E55EE4C2-AEFC-4887-961C-8E4D7A5CF2A0}"/>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20</Slides>
  <Notes>10</Notes>
  <HiddenSlides>1</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Consumer Surplus Factor (CSF) study skad KHC – UK : BBQ and Salad Cream  June 2025</vt:lpstr>
      <vt:lpstr>Agenda</vt:lpstr>
      <vt:lpstr>CSF Methodology</vt:lpstr>
      <vt:lpstr>PowerPoint Presentation</vt:lpstr>
      <vt:lpstr>PowerPoint Presentation</vt:lpstr>
      <vt:lpstr>PowerPoint Presentation</vt:lpstr>
      <vt:lpstr>PowerPoint Presentation</vt:lpstr>
      <vt:lpstr>PowerPoint Presentation</vt:lpstr>
      <vt:lpstr>UK – BBQ</vt:lpstr>
      <vt:lpstr>PowerPoint Presentation</vt:lpstr>
      <vt:lpstr>PowerPoint Presentation</vt:lpstr>
      <vt:lpstr>PowerPoint Presentation</vt:lpstr>
      <vt:lpstr>PowerPoint Presentation</vt:lpstr>
      <vt:lpstr>PowerPoint Presentation</vt:lpstr>
      <vt:lpstr>UK – Salad Cream</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Manan Mehta</dc:creator>
  <cp:revision>1</cp:revision>
  <dcterms:created xsi:type="dcterms:W3CDTF">2025-06-10T06:09:29Z</dcterms:created>
  <dcterms:modified xsi:type="dcterms:W3CDTF">2025-06-24T13:04:20Z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0x01010035CF2E3EC4ADBB4FA2A1653C958171E8</vt:lpwstr>
  </property>
</Properties>
</file>